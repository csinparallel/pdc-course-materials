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8" r:id="rId4"/>
    <p:sldId id="281" r:id="rId5"/>
    <p:sldId id="280" r:id="rId6"/>
    <p:sldId id="257" r:id="rId7"/>
    <p:sldId id="259" r:id="rId8"/>
    <p:sldId id="260" r:id="rId9"/>
    <p:sldId id="262" r:id="rId10"/>
    <p:sldId id="261" r:id="rId11"/>
    <p:sldId id="274" r:id="rId12"/>
    <p:sldId id="267" r:id="rId13"/>
    <p:sldId id="276" r:id="rId14"/>
    <p:sldId id="264" r:id="rId15"/>
    <p:sldId id="265" r:id="rId16"/>
    <p:sldId id="266" r:id="rId17"/>
    <p:sldId id="268" r:id="rId18"/>
    <p:sldId id="269" r:id="rId19"/>
    <p:sldId id="270" r:id="rId20"/>
    <p:sldId id="278" r:id="rId21"/>
    <p:sldId id="271" r:id="rId22"/>
    <p:sldId id="277" r:id="rId23"/>
    <p:sldId id="272" r:id="rId24"/>
    <p:sldId id="279" r:id="rId25"/>
    <p:sldId id="273" r:id="rId26"/>
    <p:sldId id="27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599"/>
    <p:restoredTop sz="96405"/>
  </p:normalViewPr>
  <p:slideViewPr>
    <p:cSldViewPr snapToGrid="0" snapToObjects="1">
      <p:cViewPr varScale="1">
        <p:scale>
          <a:sx n="131" d="100"/>
          <a:sy n="131" d="100"/>
        </p:scale>
        <p:origin x="6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2F2CFB-B9D9-0347-8C82-1A463FED2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735EB2-C00A-0F45-B47A-115D1C0D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D23B3-3698-8348-B5F0-FBA4DB9AB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1B99A-70EB-764A-8A71-D04AD7952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EAB5B-DDFF-DC4E-8E08-74636B6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525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C138A-9BEC-E748-B32B-3480D57CD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198" y="179888"/>
            <a:ext cx="10515600" cy="501149"/>
          </a:xfrm>
        </p:spPr>
        <p:txBody>
          <a:bodyPr>
            <a:noAutofit/>
          </a:bodyPr>
          <a:lstStyle>
            <a:lvl1pPr algn="ctr">
              <a:defRPr sz="32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FA5FC-38B9-1849-9B97-67F8642B3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4115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754FF-469B-5241-92A1-6B0FB51FA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488FF-C544-EE4F-94BE-BC977C8F0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D8A44-5402-F44C-8FAF-A46B0A2FE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98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6C8A8-C4BF-6D4B-B2E2-62B5F1E30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FF2076-2626-6648-AC43-CF23755A6D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2CF57-C8D4-8B47-837F-F3FABDF64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60A8FB-AC28-C249-91CE-B2B70263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74117C-62F0-6C48-874B-605E5F294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78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53357-14B8-A74D-976F-CCC6ADD09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9514"/>
            <a:ext cx="10515600" cy="491523"/>
          </a:xfrm>
        </p:spPr>
        <p:txBody>
          <a:bodyPr>
            <a:noAutofit/>
          </a:bodyPr>
          <a:lstStyle>
            <a:lvl1pPr algn="ctr">
              <a:defRPr sz="4000">
                <a:solidFill>
                  <a:schemeClr val="accent5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F1537-708E-BA44-B740-00A80BD14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764" y="988226"/>
            <a:ext cx="5500036" cy="44500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74D18E-AB89-214A-80F6-AED6E054DB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988227"/>
            <a:ext cx="5329187" cy="44500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6789A-F040-E241-9153-81B8368A1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6BED59-0F05-CB42-971F-06F288F13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D06800-CDC3-B44E-9AC8-50E9DB14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7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899CA-270D-C04D-9BAB-4160608C26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68B1E-725C-F746-A421-12E70C8A07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1F14B-39D0-3E47-977B-CB4D32538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2001A9-4D9B-D24E-AFCC-E62A5C78F4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7EAD10-CBCB-3645-9FDB-B4541176CE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B8E3AA-1007-974B-89AC-134FFAAE4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74C07F-994D-E147-B9C4-4D2DA79FE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99B744-A6AB-B84D-814D-27AFAAA59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387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9B2A6-D0A5-5842-9326-C3248661D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CBE5BB-7D4A-3443-8011-50BFA20FB1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01EC94-4F6E-A842-B2B4-745B72879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FEA374-F9D1-5047-8E00-EEBC558E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054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4E34A2-FF06-4646-9B11-3960AAD81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602A72-9F03-3047-A58F-5478424B8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7045E1-1CAC-6540-AC9E-33B763897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681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05D1BE-D122-7443-B909-666D7E00B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62548-6163-DF42-8D6F-E0DF3CD999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292E66-003D-CB49-91E5-89A87B22C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6E865-8FAD-AB45-8489-9C2AA820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49390D-6CA7-334E-BFE4-ADD6E1237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10F00F-8DAC-6B45-A36C-CE3F9122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878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0B418-47B0-DC4F-AD09-F59EBFBA6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876A39-FD73-2C42-9F0E-A75F94321F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3EE543-5E7F-2D4E-ACC3-81F598670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ACE77D-1E65-A543-870E-17E38C699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C2DB8-1E2E-9744-9E99-8F5A7BB6E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D143D-B79E-C44A-A040-D785D07EB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684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1D784D-E7A9-E848-B261-413FCAA98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47E922-260A-DB4E-9833-35B0C3BCF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677AC-6170-254E-A053-DE7A25AA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DA906-7BEF-1B45-899D-93233ACC4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45448D-80D6-EC47-8869-6FC033A4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98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D4714-F165-6A49-83C2-6099569240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4160F5-13DB-3E4A-813A-01FB9ABFD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7A2AB-D055-C647-830B-BCC123099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ECAB2-8B81-5843-AFAD-4CEA8ADCE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2BE4B-ED0D-664C-8695-58D23CDCC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23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65F063-E93D-BB4B-A024-282AB21ED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5589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D538-68DF-DA4B-AD57-2CBD80BC2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9" y="766845"/>
            <a:ext cx="10596613" cy="48158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38257B-4037-8B41-8672-5C16900FA3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D9E5A-6977-4640-B621-2F6686AF40B9}" type="datetimeFigureOut">
              <a:rPr lang="en-US" smtClean="0"/>
              <a:t>9/17/24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CD5B-6D1E-0245-BBB5-6DB2BF2FB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99468-12B3-E843-93F2-1CFFE8CF74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A33E12-7BD3-BD48-ACF8-D026339020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144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5">
              <a:lumMod val="40000"/>
              <a:lumOff val="60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koclab.cs.ucsb.edu/teaching/cren/project/2018/Lau+Yu.pdf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numbercrunch.de/trng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BB5A4-BE90-E44E-9AF0-D5382E6853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Pseudo Random Number Generators</a:t>
            </a:r>
            <a:br>
              <a:rPr lang="en-US" dirty="0"/>
            </a:br>
            <a:r>
              <a:rPr lang="en-US" dirty="0"/>
              <a:t>or PRNGs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240833-E985-E147-8665-E003AB61BB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COMP 445</a:t>
            </a:r>
          </a:p>
        </p:txBody>
      </p:sp>
    </p:spTree>
    <p:extLst>
      <p:ext uri="{BB962C8B-B14F-4D97-AF65-F5344CB8AC3E}">
        <p14:creationId xmlns:p14="http://schemas.microsoft.com/office/powerpoint/2010/main" val="2320625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34E8C-9BF2-4B4E-836F-BA544E31D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A1937F-23CB-E04B-B209-6AC117582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“The Monte Carlo method is a major industry and random numbers are its key resource”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Stephan Mertens </a:t>
            </a:r>
          </a:p>
          <a:p>
            <a:pPr lvl="1"/>
            <a:r>
              <a:rPr lang="en-US" dirty="0"/>
              <a:t>Lecture given at the International Summer School Modern Computational Science (August 16-28, 2009, Oldenburg, Germany)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Some examples are traffic simulations, economics, game simulations, physics simulations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9E2134-4CB4-8F48-9590-C2E91525531E}"/>
              </a:ext>
            </a:extLst>
          </p:cNvPr>
          <p:cNvSpPr txBox="1"/>
          <p:nvPr/>
        </p:nvSpPr>
        <p:spPr>
          <a:xfrm>
            <a:off x="2166626" y="3097746"/>
            <a:ext cx="7147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shorter paper provided for the </a:t>
            </a:r>
            <a:r>
              <a:rPr lang="en-US" dirty="0" err="1"/>
              <a:t>trng</a:t>
            </a:r>
            <a:r>
              <a:rPr lang="en-US" dirty="0"/>
              <a:t> library:</a:t>
            </a:r>
          </a:p>
          <a:p>
            <a:r>
              <a:rPr lang="en-US" dirty="0"/>
              <a:t>Random Number Generators: A Survival Guide for Large Scale Simulations </a:t>
            </a:r>
          </a:p>
          <a:p>
            <a:r>
              <a:rPr lang="en-US" dirty="0"/>
              <a:t>Stephan Mertens </a:t>
            </a:r>
          </a:p>
        </p:txBody>
      </p:sp>
    </p:spTree>
    <p:extLst>
      <p:ext uri="{BB962C8B-B14F-4D97-AF65-F5344CB8AC3E}">
        <p14:creationId xmlns:p14="http://schemas.microsoft.com/office/powerpoint/2010/main" val="1324026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44FDD-D375-434D-8CE5-A71327D6D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98102-8210-A245-81B8-7C77D9D32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847345"/>
          </a:xfrm>
        </p:spPr>
        <p:txBody>
          <a:bodyPr>
            <a:normAutofit fontScale="92500"/>
          </a:bodyPr>
          <a:lstStyle/>
          <a:p>
            <a:r>
              <a:rPr lang="en-US" dirty="0"/>
              <a:t>Some material here is copied from these sources:</a:t>
            </a:r>
          </a:p>
          <a:p>
            <a:endParaRPr lang="en-US" dirty="0"/>
          </a:p>
          <a:p>
            <a:r>
              <a:rPr lang="en-US" dirty="0"/>
              <a:t>Tutorial: Random Number Generation </a:t>
            </a:r>
          </a:p>
          <a:p>
            <a:r>
              <a:rPr lang="en-US" dirty="0"/>
              <a:t>By John Lau Henry Yu </a:t>
            </a:r>
          </a:p>
          <a:p>
            <a:r>
              <a:rPr lang="en-US" dirty="0"/>
              <a:t>June 2018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http://koclab.cs.ucsb.edu/teaching/cren/project/2018/Lau+Yu.pdf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endParaRPr lang="en-US" dirty="0"/>
          </a:p>
          <a:p>
            <a:r>
              <a:rPr lang="en-US" dirty="0"/>
              <a:t>Random Number Generators: A Survival Guide for Large Scale Simulations </a:t>
            </a:r>
          </a:p>
          <a:p>
            <a:r>
              <a:rPr lang="en-US" dirty="0"/>
              <a:t>Stephan Mertens </a:t>
            </a:r>
          </a:p>
          <a:p>
            <a:r>
              <a:rPr lang="en-US" dirty="0"/>
              <a:t>Found as ‘shorter paper’ on our </a:t>
            </a:r>
            <a:r>
              <a:rPr lang="en-US" dirty="0" err="1"/>
              <a:t>moodle</a:t>
            </a:r>
            <a:r>
              <a:rPr lang="en-US" dirty="0"/>
              <a:t> site (References and OpenMP section)</a:t>
            </a:r>
          </a:p>
        </p:txBody>
      </p:sp>
    </p:spTree>
    <p:extLst>
      <p:ext uri="{BB962C8B-B14F-4D97-AF65-F5344CB8AC3E}">
        <p14:creationId xmlns:p14="http://schemas.microsoft.com/office/powerpoint/2010/main" val="4635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7650-A330-E64E-B337-C1D97E07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Computer generated random number statistical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1F71-19BC-1B41-9D9E-4ED5A3D1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5"/>
            <a:ext cx="11308882" cy="1851225"/>
          </a:xfrm>
        </p:spPr>
        <p:txBody>
          <a:bodyPr>
            <a:normAutofit/>
          </a:bodyPr>
          <a:lstStyle/>
          <a:p>
            <a:r>
              <a:rPr lang="en-US" sz="2000" dirty="0"/>
              <a:t>A sequence of random numbers R1, ... Ri must fulfill two statistical properties: </a:t>
            </a:r>
          </a:p>
          <a:p>
            <a:r>
              <a:rPr lang="en-US" sz="2000" dirty="0"/>
              <a:t>1.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Uniformity</a:t>
            </a:r>
            <a:r>
              <a:rPr lang="en-US" sz="2000" dirty="0"/>
              <a:t> – If the interval [0,1] is divided into n classes, or sub intervals of equal length, the expected number of observations in each interval is N/n, where N is the total number of observations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BCB119-4202-10EA-A189-3B287AF8A435}"/>
              </a:ext>
            </a:extLst>
          </p:cNvPr>
          <p:cNvSpPr txBox="1"/>
          <p:nvPr/>
        </p:nvSpPr>
        <p:spPr>
          <a:xfrm>
            <a:off x="7898860" y="3314061"/>
            <a:ext cx="36400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droid sans"/>
              </a:rPr>
              <a:t>Generally computer RNGs are not perfect, but very close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  <a:latin typeface="droid sans"/>
            </a:endParaRPr>
          </a:p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droid sans"/>
              </a:rPr>
              <a:t>If N = 1000 and n = 10</a:t>
            </a: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droid sans"/>
              </a:rPr>
              <a:t>1000/10 = 100</a:t>
            </a:r>
            <a:endParaRPr lang="en-US" b="0" i="0" dirty="0">
              <a:solidFill>
                <a:schemeClr val="tx1">
                  <a:lumMod val="95000"/>
                </a:schemeClr>
              </a:solidFill>
              <a:effectLst/>
              <a:latin typeface="droid sans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08115F-41FE-1EBE-FD2F-2B8FB6612AC7}"/>
              </a:ext>
            </a:extLst>
          </p:cNvPr>
          <p:cNvGrpSpPr/>
          <p:nvPr/>
        </p:nvGrpSpPr>
        <p:grpSpPr>
          <a:xfrm>
            <a:off x="625011" y="2035467"/>
            <a:ext cx="7001474" cy="4488106"/>
            <a:chOff x="790381" y="1675544"/>
            <a:chExt cx="7001474" cy="4488106"/>
          </a:xfrm>
        </p:grpSpPr>
        <p:pic>
          <p:nvPicPr>
            <p:cNvPr id="3074" name="Picture 2" descr="An editable high resolution scientific image depicting Histogram, Uniform Distribution">
              <a:extLst>
                <a:ext uri="{FF2B5EF4-FFF2-40B4-BE49-F238E27FC236}">
                  <a16:creationId xmlns:a16="http://schemas.microsoft.com/office/drawing/2014/main" id="{0EC4957F-3767-0085-EE19-5294D4EA81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0381" y="1675544"/>
              <a:ext cx="7001474" cy="44881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2A0CB80-E0AF-6AA4-57D4-C9EBBBAFD279}"/>
                </a:ext>
              </a:extLst>
            </p:cNvPr>
            <p:cNvSpPr txBox="1"/>
            <p:nvPr/>
          </p:nvSpPr>
          <p:spPr>
            <a:xfrm>
              <a:off x="2538272" y="5719804"/>
              <a:ext cx="34932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solidFill>
                    <a:schemeClr val="bg1"/>
                  </a:solidFill>
                  <a:latin typeface="Monaco" pitchFamily="2" charset="77"/>
                </a:rPr>
                <a:t> 0  0.1 0.2 0.3 0.4 0.5 0.6 0.7 0.8 0.9 1.0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A679DFBD-E918-C6BD-160E-032AB2CF38EC}"/>
              </a:ext>
            </a:extLst>
          </p:cNvPr>
          <p:cNvSpPr txBox="1"/>
          <p:nvPr/>
        </p:nvSpPr>
        <p:spPr>
          <a:xfrm>
            <a:off x="1643974" y="3443585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ndale Mono" panose="020B0509000000000004" pitchFamily="49" charset="0"/>
              </a:rPr>
              <a:t>100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1C47AC-D2DC-1983-A6BA-3A01987BAC0B}"/>
              </a:ext>
            </a:extLst>
          </p:cNvPr>
          <p:cNvSpPr txBox="1"/>
          <p:nvPr/>
        </p:nvSpPr>
        <p:spPr>
          <a:xfrm>
            <a:off x="1787456" y="5833505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ndale Mono" panose="020B0509000000000004" pitchFamily="49" charset="0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504207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7650-A330-E64E-B337-C1D97E07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Computer generated random number statistical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1F71-19BC-1B41-9D9E-4ED5A3D1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5"/>
            <a:ext cx="11308882" cy="1287021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A sequence of random numbers R1, ... Ri must fulfill two statistical properties: </a:t>
            </a:r>
          </a:p>
          <a:p>
            <a:r>
              <a:rPr lang="en-US" sz="2000" dirty="0"/>
              <a:t>1. </a:t>
            </a:r>
            <a:r>
              <a:rPr lang="en-US" sz="2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Uniformity</a:t>
            </a:r>
            <a:r>
              <a:rPr lang="en-US" sz="2000" dirty="0"/>
              <a:t> – Consequence of this property: If the interval [0,1] is divided into n classes, or sub intervals of equal length, the expected number of observations in each interval is N/n, where N is the total number of observations </a:t>
            </a:r>
          </a:p>
        </p:txBody>
      </p:sp>
      <p:pic>
        <p:nvPicPr>
          <p:cNvPr id="1026" name="Picture 2" descr="Bar chart of discrete uniform distribution.">
            <a:extLst>
              <a:ext uri="{FF2B5EF4-FFF2-40B4-BE49-F238E27FC236}">
                <a16:creationId xmlns:a16="http://schemas.microsoft.com/office/drawing/2014/main" id="{DA59C6DD-906C-4B6F-3480-538E1DDE1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57" y="2549256"/>
            <a:ext cx="5767700" cy="3845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7BCB119-4202-10EA-A189-3B287AF8A435}"/>
              </a:ext>
            </a:extLst>
          </p:cNvPr>
          <p:cNvSpPr txBox="1"/>
          <p:nvPr/>
        </p:nvSpPr>
        <p:spPr>
          <a:xfrm>
            <a:off x="7213230" y="2954138"/>
            <a:ext cx="44910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droid sans"/>
              </a:rPr>
              <a:t>Perfect case shown left:</a:t>
            </a:r>
          </a:p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droid sans"/>
              </a:rPr>
              <a:t>Rolling dice has six outcomes that are uniformly distributed. 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  <a:latin typeface="droid sans"/>
            </a:endParaRPr>
          </a:p>
          <a:p>
            <a:r>
              <a:rPr lang="en-US" b="0" i="0" dirty="0">
                <a:solidFill>
                  <a:schemeClr val="tx1">
                    <a:lumMod val="95000"/>
                  </a:schemeClr>
                </a:solidFill>
                <a:effectLst/>
                <a:latin typeface="droid sans"/>
              </a:rPr>
              <a:t>Therefore, each one has a likelihood of 1/6 = 0.167. The bar chart below displays the rectangular-shaped distribution.</a:t>
            </a:r>
          </a:p>
          <a:p>
            <a:endParaRPr lang="en-US" dirty="0">
              <a:solidFill>
                <a:schemeClr val="tx1">
                  <a:lumMod val="95000"/>
                </a:schemeClr>
              </a:solidFill>
              <a:latin typeface="droid sans"/>
            </a:endParaRPr>
          </a:p>
          <a:p>
            <a:r>
              <a:rPr lang="en-US" dirty="0">
                <a:solidFill>
                  <a:schemeClr val="tx1">
                    <a:lumMod val="95000"/>
                  </a:schemeClr>
                </a:solidFill>
                <a:latin typeface="droid sans"/>
              </a:rPr>
              <a:t>If we randomly generate numbers between 1 and 6, the number of times each occurs should be uniformly distributed</a:t>
            </a:r>
            <a:endParaRPr lang="en-US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E782AD-0C09-A221-36B2-C03348EC09F2}"/>
              </a:ext>
            </a:extLst>
          </p:cNvPr>
          <p:cNvSpPr txBox="1"/>
          <p:nvPr/>
        </p:nvSpPr>
        <p:spPr>
          <a:xfrm>
            <a:off x="100280" y="6550223"/>
            <a:ext cx="462004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statisticsbyjim.com</a:t>
            </a:r>
            <a:r>
              <a:rPr lang="en-US" sz="1400" dirty="0"/>
              <a:t>/probability/uniform-distribution/</a:t>
            </a:r>
          </a:p>
        </p:txBody>
      </p:sp>
      <p:pic>
        <p:nvPicPr>
          <p:cNvPr id="1028" name="Picture 4" descr="Dice PNG Images &amp; PSDs for Download | PixelSquid - S111696840">
            <a:extLst>
              <a:ext uri="{FF2B5EF4-FFF2-40B4-BE49-F238E27FC236}">
                <a16:creationId xmlns:a16="http://schemas.microsoft.com/office/drawing/2014/main" id="{D3C0288F-7F53-47A3-131C-7365218BB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18703" y="1972027"/>
            <a:ext cx="1177859" cy="115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47725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67650-A330-E64E-B337-C1D97E079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Computer generated random number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101F71-19BC-1B41-9D9E-4ED5A3D189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2853175"/>
          </a:xfrm>
        </p:spPr>
        <p:txBody>
          <a:bodyPr>
            <a:normAutofit/>
          </a:bodyPr>
          <a:lstStyle/>
          <a:p>
            <a:r>
              <a:rPr lang="en-US" dirty="0"/>
              <a:t>A sequence of random numbers R1, ... Ri must fulfill two statistical properties: </a:t>
            </a:r>
          </a:p>
          <a:p>
            <a:endParaRPr lang="en-US" dirty="0"/>
          </a:p>
          <a:p>
            <a:r>
              <a:rPr lang="en-US" dirty="0"/>
              <a:t>2.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Independence</a:t>
            </a:r>
            <a:r>
              <a:rPr lang="en-US" dirty="0"/>
              <a:t> – Consequence of this property: The probability of observing a value in a particular interval is independent of the previous value drawn</a:t>
            </a:r>
          </a:p>
        </p:txBody>
      </p:sp>
      <p:pic>
        <p:nvPicPr>
          <p:cNvPr id="4" name="Picture 4" descr="Dice PNG Images &amp; PSDs for Download | PixelSquid - S111696840">
            <a:extLst>
              <a:ext uri="{FF2B5EF4-FFF2-40B4-BE49-F238E27FC236}">
                <a16:creationId xmlns:a16="http://schemas.microsoft.com/office/drawing/2014/main" id="{920BC4A4-1E0A-B522-A0F8-D6C0AA99B8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3869" y="4481763"/>
            <a:ext cx="1177859" cy="1154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D84EAF6-2DAC-F78A-7DA7-5BCF7362C635}"/>
              </a:ext>
            </a:extLst>
          </p:cNvPr>
          <p:cNvSpPr txBox="1"/>
          <p:nvPr/>
        </p:nvSpPr>
        <p:spPr>
          <a:xfrm>
            <a:off x="761198" y="4297097"/>
            <a:ext cx="575747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Rolling a 1 is independent of rolling a 5 on the previous roll.</a:t>
            </a:r>
          </a:p>
          <a:p>
            <a:endParaRPr lang="en-US" dirty="0"/>
          </a:p>
          <a:p>
            <a:r>
              <a:rPr lang="en-US" dirty="0"/>
              <a:t>So too for generating numbers between 1 and 6</a:t>
            </a:r>
          </a:p>
        </p:txBody>
      </p:sp>
    </p:spTree>
    <p:extLst>
      <p:ext uri="{BB962C8B-B14F-4D97-AF65-F5344CB8AC3E}">
        <p14:creationId xmlns:p14="http://schemas.microsoft.com/office/powerpoint/2010/main" val="2018778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075CC-07FA-2949-82F9-14C6749A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properties that random number generators should have: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51008-FFB9-2E4C-9419-3C02A8BBF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Efficiency – The generator should be fast and efficient. </a:t>
            </a:r>
          </a:p>
          <a:p>
            <a:endParaRPr lang="en-US" dirty="0"/>
          </a:p>
          <a:p>
            <a:r>
              <a:rPr lang="en-US" dirty="0"/>
              <a:t>• Reproducibility – The generator should be able to generate the same stream of random numbers repeatedly. This is mainly for testing and debugging purposes. </a:t>
            </a:r>
          </a:p>
          <a:p>
            <a:endParaRPr lang="en-US" dirty="0"/>
          </a:p>
          <a:p>
            <a:r>
              <a:rPr lang="en-US" dirty="0"/>
              <a:t>• Long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Cycle Length </a:t>
            </a:r>
            <a:r>
              <a:rPr lang="en-US" dirty="0"/>
              <a:t>– The generator should take a very long time before numbers start to repeat.</a:t>
            </a:r>
          </a:p>
        </p:txBody>
      </p:sp>
    </p:spTree>
    <p:extLst>
      <p:ext uri="{BB962C8B-B14F-4D97-AF65-F5344CB8AC3E}">
        <p14:creationId xmlns:p14="http://schemas.microsoft.com/office/powerpoint/2010/main" val="1436446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01337-5B9A-964D-87BB-1F39FF31A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Popular method: Linear Congruential Method, LCM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1DDA0-1285-7643-A088-F6B8CF6B2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 produce a sequence of integers, X1, X2, . . . between 0 and m-1 by following a recursive relationship</a:t>
            </a:r>
          </a:p>
          <a:p>
            <a:endParaRPr lang="en-US" dirty="0"/>
          </a:p>
          <a:p>
            <a:pPr lvl="1"/>
            <a:r>
              <a:rPr lang="en-US" dirty="0"/>
              <a:t>X</a:t>
            </a:r>
            <a:r>
              <a:rPr lang="en-US" baseline="-25000" dirty="0"/>
              <a:t>i+1</a:t>
            </a:r>
            <a:r>
              <a:rPr lang="en-US" dirty="0"/>
              <a:t> = (</a:t>
            </a:r>
            <a:r>
              <a:rPr lang="en-US" dirty="0" err="1"/>
              <a:t>aX</a:t>
            </a:r>
            <a:r>
              <a:rPr lang="en-US" baseline="-25000" dirty="0" err="1"/>
              <a:t>i</a:t>
            </a:r>
            <a:r>
              <a:rPr lang="en-US" dirty="0"/>
              <a:t> + c) mod m</a:t>
            </a:r>
          </a:p>
          <a:p>
            <a:pPr lvl="1"/>
            <a:endParaRPr lang="en-US" dirty="0"/>
          </a:p>
          <a:p>
            <a:pPr lvl="1"/>
            <a:r>
              <a:rPr lang="en-US" dirty="0" err="1"/>
              <a:t>i</a:t>
            </a:r>
            <a:r>
              <a:rPr lang="en-US" dirty="0"/>
              <a:t> = 0, 1, 2, …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X</a:t>
            </a:r>
            <a:r>
              <a:rPr lang="en-US" baseline="-25000" dirty="0">
                <a:solidFill>
                  <a:schemeClr val="accent4"/>
                </a:solidFill>
              </a:rPr>
              <a:t>0</a:t>
            </a:r>
            <a:r>
              <a:rPr lang="en-US" dirty="0">
                <a:solidFill>
                  <a:schemeClr val="accent4"/>
                </a:solidFill>
              </a:rPr>
              <a:t> = is a ‘seed’ value, typically a large integer</a:t>
            </a:r>
          </a:p>
          <a:p>
            <a:pPr lvl="1"/>
            <a:endParaRPr lang="en-US" dirty="0"/>
          </a:p>
          <a:p>
            <a:r>
              <a:rPr lang="en-US" dirty="0"/>
              <a:t>The selection of the values for a, c, m, and X</a:t>
            </a:r>
            <a:r>
              <a:rPr lang="en-US" baseline="-25000" dirty="0"/>
              <a:t>0</a:t>
            </a:r>
            <a:r>
              <a:rPr lang="en-US" dirty="0"/>
              <a:t> drastically affects the statistical properties and the cycle length.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8B1F41-8653-C633-FB3E-ED95F080EC93}"/>
              </a:ext>
            </a:extLst>
          </p:cNvPr>
          <p:cNvSpPr/>
          <p:nvPr/>
        </p:nvSpPr>
        <p:spPr>
          <a:xfrm>
            <a:off x="593387" y="3326860"/>
            <a:ext cx="6284068" cy="797668"/>
          </a:xfrm>
          <a:prstGeom prst="rect">
            <a:avLst/>
          </a:prstGeom>
          <a:noFill/>
          <a:ln w="2857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B8328C6A-D247-D223-9BF2-9A81CED5555B}"/>
              </a:ext>
            </a:extLst>
          </p:cNvPr>
          <p:cNvSpPr/>
          <p:nvPr/>
        </p:nvSpPr>
        <p:spPr>
          <a:xfrm>
            <a:off x="6663447" y="1953316"/>
            <a:ext cx="2529192" cy="1050588"/>
          </a:xfrm>
          <a:prstGeom prst="wedgeRoundRectCallout">
            <a:avLst>
              <a:gd name="adj1" fmla="val -42756"/>
              <a:gd name="adj2" fmla="val 8194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Important concept:</a:t>
            </a:r>
          </a:p>
          <a:p>
            <a:pPr algn="ctr"/>
            <a:r>
              <a:rPr lang="en-US" dirty="0"/>
              <a:t>Different seeds produce different streams of random values</a:t>
            </a:r>
          </a:p>
        </p:txBody>
      </p:sp>
    </p:spTree>
    <p:extLst>
      <p:ext uri="{BB962C8B-B14F-4D97-AF65-F5344CB8AC3E}">
        <p14:creationId xmlns:p14="http://schemas.microsoft.com/office/powerpoint/2010/main" val="31385492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ACC7-641A-CA46-9896-F583157E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Issue with LCM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CD6C6-097F-CC4A-A3EC-7AF58243A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numbers generated fall into planes. </a:t>
            </a:r>
          </a:p>
          <a:p>
            <a:endParaRPr lang="en-US" dirty="0"/>
          </a:p>
          <a:p>
            <a:r>
              <a:rPr lang="en-US" dirty="0"/>
              <a:t>If k random numbers at a time are used to plot points in k-dimensional space, then the points lie on k-1 dimensional planes rather than filling up all k-space. </a:t>
            </a:r>
          </a:p>
          <a:p>
            <a:endParaRPr lang="en-US" dirty="0"/>
          </a:p>
          <a:p>
            <a:r>
              <a:rPr lang="en-US" dirty="0"/>
              <a:t>There are at most m/k planes, or fewer (which is even worse) if a, c, or m are not well chosen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But modern versions have overcome this and they are quite fast, uniform, and independent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CA63B-5C46-774C-8B41-5E9590A55241}"/>
              </a:ext>
            </a:extLst>
          </p:cNvPr>
          <p:cNvSpPr txBox="1"/>
          <p:nvPr/>
        </p:nvSpPr>
        <p:spPr>
          <a:xfrm>
            <a:off x="8454712" y="263286"/>
            <a:ext cx="3249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i+1</a:t>
            </a:r>
            <a:r>
              <a:rPr lang="en-US" sz="2800" dirty="0"/>
              <a:t> = (</a:t>
            </a:r>
            <a:r>
              <a:rPr lang="en-US" sz="2800" dirty="0" err="1"/>
              <a:t>aX</a:t>
            </a:r>
            <a:r>
              <a:rPr lang="en-US" sz="2800" baseline="-25000" dirty="0" err="1"/>
              <a:t>i</a:t>
            </a:r>
            <a:r>
              <a:rPr lang="en-US" sz="2800" dirty="0"/>
              <a:t> + c) mod m</a:t>
            </a:r>
          </a:p>
        </p:txBody>
      </p:sp>
    </p:spTree>
    <p:extLst>
      <p:ext uri="{BB962C8B-B14F-4D97-AF65-F5344CB8AC3E}">
        <p14:creationId xmlns:p14="http://schemas.microsoft.com/office/powerpoint/2010/main" val="1468540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BACC7-641A-CA46-9896-F583157EC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Issue with LCM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CD6C6-097F-CC4A-A3EC-7AF58243A0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numbers generated fall into planes. </a:t>
            </a:r>
          </a:p>
          <a:p>
            <a:endParaRPr lang="en-US" dirty="0"/>
          </a:p>
          <a:p>
            <a:r>
              <a:rPr lang="en-US" dirty="0"/>
              <a:t>If k random numbers at a time are used to plot points in k-dimensional space, then the points lie on k-1 dimensional planes rather than filling up all k-space. </a:t>
            </a:r>
          </a:p>
          <a:p>
            <a:endParaRPr lang="en-US" dirty="0"/>
          </a:p>
          <a:p>
            <a:r>
              <a:rPr lang="en-US" dirty="0"/>
              <a:t>There are at most m1/k planes, or fewer (which is even worse) if a, c, or M are not well chosen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0CA63B-5C46-774C-8B41-5E9590A55241}"/>
              </a:ext>
            </a:extLst>
          </p:cNvPr>
          <p:cNvSpPr txBox="1"/>
          <p:nvPr/>
        </p:nvSpPr>
        <p:spPr>
          <a:xfrm>
            <a:off x="8454712" y="263286"/>
            <a:ext cx="3249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X</a:t>
            </a:r>
            <a:r>
              <a:rPr lang="en-US" sz="2800" baseline="-25000" dirty="0"/>
              <a:t>i+1</a:t>
            </a:r>
            <a:r>
              <a:rPr lang="en-US" sz="2800" dirty="0"/>
              <a:t> = (</a:t>
            </a:r>
            <a:r>
              <a:rPr lang="en-US" sz="2800" dirty="0" err="1"/>
              <a:t>aX</a:t>
            </a:r>
            <a:r>
              <a:rPr lang="en-US" sz="2800" baseline="-25000" dirty="0" err="1"/>
              <a:t>i</a:t>
            </a:r>
            <a:r>
              <a:rPr lang="en-US" sz="2800" dirty="0"/>
              <a:t> + c) mod 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1D3F4D-A7A8-7D4C-99F3-6EAFCCD5C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121" y="786506"/>
            <a:ext cx="11080607" cy="47266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E69801-E91A-7846-AFE6-4080C0090C5E}"/>
              </a:ext>
            </a:extLst>
          </p:cNvPr>
          <p:cNvSpPr txBox="1"/>
          <p:nvPr/>
        </p:nvSpPr>
        <p:spPr>
          <a:xfrm>
            <a:off x="2244448" y="5549165"/>
            <a:ext cx="7147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shorter paper provided for the </a:t>
            </a:r>
            <a:r>
              <a:rPr lang="en-US" dirty="0" err="1"/>
              <a:t>trng</a:t>
            </a:r>
            <a:r>
              <a:rPr lang="en-US" dirty="0"/>
              <a:t> library:</a:t>
            </a:r>
          </a:p>
          <a:p>
            <a:r>
              <a:rPr lang="en-US" dirty="0"/>
              <a:t>Random Number Generators: A Survival Guide for Large Scale Simulations </a:t>
            </a:r>
          </a:p>
          <a:p>
            <a:r>
              <a:rPr lang="en-US" dirty="0"/>
              <a:t>Stephan Mertens </a:t>
            </a:r>
          </a:p>
        </p:txBody>
      </p:sp>
    </p:spTree>
    <p:extLst>
      <p:ext uri="{BB962C8B-B14F-4D97-AF65-F5344CB8AC3E}">
        <p14:creationId xmlns:p14="http://schemas.microsoft.com/office/powerpoint/2010/main" val="5006124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9A9E0-24FC-F848-B4CE-B9A2A757A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variation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09AC8-FE30-0F4A-B3D9-2566EBBDB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feedback shift register sequences, or </a:t>
            </a: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LFSR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To generate pseudo random integers between 0 and some prime number p is the linear recurrence </a:t>
            </a:r>
          </a:p>
          <a:p>
            <a:endParaRPr lang="en-US" dirty="0"/>
          </a:p>
          <a:p>
            <a:pPr lvl="1"/>
            <a:r>
              <a:rPr lang="en-US" sz="3200" dirty="0" err="1"/>
              <a:t>r</a:t>
            </a:r>
            <a:r>
              <a:rPr lang="en-US" sz="3200" baseline="-25000" dirty="0" err="1"/>
              <a:t>i</a:t>
            </a:r>
            <a:r>
              <a:rPr lang="en-US" sz="600" dirty="0"/>
              <a:t>     </a:t>
            </a:r>
            <a:r>
              <a:rPr lang="en-US" sz="3200" dirty="0"/>
              <a:t>=  a</a:t>
            </a:r>
            <a:r>
              <a:rPr lang="en-US" sz="3600" baseline="-25000" dirty="0"/>
              <a:t>1</a:t>
            </a:r>
            <a:r>
              <a:rPr lang="en-US" sz="3200" dirty="0"/>
              <a:t>r</a:t>
            </a:r>
            <a:r>
              <a:rPr lang="en-US" sz="3200" baseline="-25000" dirty="0"/>
              <a:t>i−1</a:t>
            </a:r>
            <a:r>
              <a:rPr lang="en-US" sz="1400" dirty="0"/>
              <a:t>  </a:t>
            </a:r>
            <a:r>
              <a:rPr lang="en-US" sz="3200" dirty="0"/>
              <a:t>+  a</a:t>
            </a:r>
            <a:r>
              <a:rPr lang="en-US" sz="2800" baseline="-25000" dirty="0"/>
              <a:t>2</a:t>
            </a:r>
            <a:r>
              <a:rPr lang="en-US" sz="3200" dirty="0"/>
              <a:t>r</a:t>
            </a:r>
            <a:r>
              <a:rPr lang="en-US" sz="3600" baseline="-25000" dirty="0"/>
              <a:t>i</a:t>
            </a:r>
            <a:r>
              <a:rPr lang="en-US" sz="3200" baseline="-25000" dirty="0"/>
              <a:t>−2</a:t>
            </a:r>
            <a:r>
              <a:rPr lang="en-US" sz="600" dirty="0"/>
              <a:t>       </a:t>
            </a:r>
            <a:r>
              <a:rPr lang="en-US" sz="3200" dirty="0"/>
              <a:t>+  ...  +  </a:t>
            </a:r>
            <a:r>
              <a:rPr lang="en-US" sz="3200" dirty="0" err="1"/>
              <a:t>a</a:t>
            </a:r>
            <a:r>
              <a:rPr lang="en-US" sz="3600" baseline="-25000" dirty="0" err="1"/>
              <a:t>n</a:t>
            </a:r>
            <a:r>
              <a:rPr lang="en-US" sz="3200" dirty="0" err="1"/>
              <a:t>r</a:t>
            </a:r>
            <a:r>
              <a:rPr lang="en-US" sz="3200" baseline="-25000" dirty="0" err="1"/>
              <a:t>i</a:t>
            </a:r>
            <a:r>
              <a:rPr lang="en-US" sz="3200" baseline="-25000" dirty="0"/>
              <a:t>−n</a:t>
            </a:r>
            <a:r>
              <a:rPr lang="en-US" sz="600" dirty="0"/>
              <a:t>  </a:t>
            </a:r>
            <a:r>
              <a:rPr lang="en-US" sz="3200" dirty="0"/>
              <a:t>mod p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2569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D1029-90F3-1D40-9A30-FEAABE2BB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Non-linear 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5198A1-F60F-6B4D-96EA-5C13E607FA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 alleviate problems with linear methods,</a:t>
            </a:r>
          </a:p>
          <a:p>
            <a:endParaRPr lang="en-US" dirty="0"/>
          </a:p>
          <a:p>
            <a:r>
              <a:rPr lang="en-US" dirty="0"/>
              <a:t>Many non-linear generators have been tried, for example:</a:t>
            </a:r>
          </a:p>
          <a:p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“Mersenne Twister” </a:t>
            </a:r>
          </a:p>
          <a:p>
            <a:pPr lvl="1"/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Yet another random number generator (YARN)</a:t>
            </a:r>
          </a:p>
          <a:p>
            <a:pPr lvl="2"/>
            <a:r>
              <a:rPr lang="en-US" dirty="0"/>
              <a:t>feed a stream of numbers from a PRNG to the </a:t>
            </a:r>
            <a:r>
              <a:rPr lang="en-US" dirty="0" err="1"/>
              <a:t>Berlekamp</a:t>
            </a:r>
            <a:r>
              <a:rPr lang="en-US" dirty="0"/>
              <a:t>-Massey algorithm 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“Measured in terms of linear complexity, YARN generators are as random and nonlinear as it can get.” 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6984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1A4C34D-15EA-FFFA-A674-2DB858E0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 in parallel?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847AAA-F400-1D1F-9A91-5EA573E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need to split the ‘stream’ of random values across the threads/processes</a:t>
            </a:r>
          </a:p>
        </p:txBody>
      </p:sp>
    </p:spTree>
    <p:extLst>
      <p:ext uri="{BB962C8B-B14F-4D97-AF65-F5344CB8AC3E}">
        <p14:creationId xmlns:p14="http://schemas.microsoft.com/office/powerpoint/2010/main" val="2405144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6046E-552C-0240-BF0F-F972527C0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PRNG in parallel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3692-3773-AD47-B55D-7F71C0C84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parallel applications we need to generate streams </a:t>
            </a:r>
          </a:p>
          <a:p>
            <a:pPr lvl="1"/>
            <a:r>
              <a:rPr lang="en-US" sz="2800" dirty="0" err="1"/>
              <a:t>r</a:t>
            </a:r>
            <a:r>
              <a:rPr lang="en-US" sz="2800" baseline="-25000" dirty="0" err="1"/>
              <a:t>j,i</a:t>
            </a:r>
            <a:r>
              <a:rPr lang="en-US" sz="2800" dirty="0"/>
              <a:t> of random numbers </a:t>
            </a:r>
          </a:p>
          <a:p>
            <a:endParaRPr lang="en-US" dirty="0"/>
          </a:p>
          <a:p>
            <a:pPr lvl="1"/>
            <a:r>
              <a:rPr lang="en-US" dirty="0"/>
              <a:t>where j = 0,1,...,p − 1 represents streams for each of the p threads/processes. </a:t>
            </a:r>
          </a:p>
          <a:p>
            <a:pPr lvl="1"/>
            <a:endParaRPr lang="en-US" dirty="0"/>
          </a:p>
          <a:p>
            <a:r>
              <a:rPr lang="en-US" dirty="0"/>
              <a:t>We require statistical independency of the </a:t>
            </a:r>
            <a:r>
              <a:rPr lang="en-US" dirty="0" err="1"/>
              <a:t>r</a:t>
            </a:r>
            <a:r>
              <a:rPr lang="en-US" baseline="-25000" dirty="0" err="1"/>
              <a:t>j,i</a:t>
            </a:r>
            <a:r>
              <a:rPr lang="en-US" dirty="0"/>
              <a:t> within each stream and between the streams.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78336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A25BA-9E1F-B14A-B7B6-F0C2EE57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Efficient generation of numbers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82773-C53E-F445-91CE-95354BACB1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will see with examples:</a:t>
            </a:r>
          </a:p>
          <a:p>
            <a:pPr lvl="1"/>
            <a:r>
              <a:rPr lang="en-US" dirty="0"/>
              <a:t>random numbers are very often needed in the innermost loop of a simulation that has nested loops</a:t>
            </a:r>
          </a:p>
          <a:p>
            <a:endParaRPr lang="en-US" dirty="0"/>
          </a:p>
          <a:p>
            <a:r>
              <a:rPr lang="en-US" dirty="0"/>
              <a:t>Thus, efficiency of a PRNG is very important. </a:t>
            </a:r>
          </a:p>
          <a:p>
            <a:endParaRPr lang="en-US" dirty="0"/>
          </a:p>
          <a:p>
            <a:r>
              <a:rPr lang="en-US" dirty="0"/>
              <a:t>We require that a PRNG can be parallelized without loosing its efficiency.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505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D7AAA-12CF-CF48-9487-6EC34F399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Still must be reproducible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07BB6-DC6D-AF47-9381-0D097A86D5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Stephan Mertens called this ‘play fair’:</a:t>
            </a:r>
          </a:p>
          <a:p>
            <a:endParaRPr lang="en-US" dirty="0"/>
          </a:p>
          <a:p>
            <a:r>
              <a:rPr lang="en-US" dirty="0"/>
              <a:t>“Fair play implies the use of the same pseudo random numbers in the same context, independently of the number of parallel processes.”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9220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E54D-606B-BA46-95CD-93F2184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parallel methods have been tried?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0E6A-2DCA-F443-B7AC-7AC9113AD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514350" indent="-514350">
              <a:buAutoNum type="arabicPeriod"/>
            </a:pPr>
            <a:r>
              <a:rPr lang="en-US" dirty="0"/>
              <a:t>Random Seeding</a:t>
            </a:r>
          </a:p>
          <a:p>
            <a:pPr lvl="1"/>
            <a:r>
              <a:rPr lang="en-US" dirty="0"/>
              <a:t>All processes use the same PRNG but a different “random” seed. The hope is that they will generate non-overlapping and uncorrelated subsequences of the original PRNG.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You may have done this before (or will see code that does it)</a:t>
            </a:r>
          </a:p>
          <a:p>
            <a:pPr lvl="2"/>
            <a:r>
              <a:rPr lang="en-US" dirty="0"/>
              <a:t>It’s easy to code using existing random libraries in a language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But it turns out to be a poor way to provide one of the guarantees we want:</a:t>
            </a:r>
          </a:p>
          <a:p>
            <a:pPr lvl="2"/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 simulation does not play fair because its results will be different depending on the number of threads/processes used</a:t>
            </a:r>
          </a:p>
          <a:p>
            <a:pPr lvl="2"/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The set of numbers generated together by all threads does not match a sequential version with one seed</a:t>
            </a:r>
          </a:p>
          <a:p>
            <a:pPr lvl="2"/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2"/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80448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E54D-606B-BA46-95CD-93F2184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 in parallel?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0E6A-2DCA-F443-B7AC-7AC9113AD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2. Parameterization</a:t>
            </a:r>
          </a:p>
          <a:p>
            <a:pPr lvl="1"/>
            <a:r>
              <a:rPr lang="en-US" dirty="0"/>
              <a:t>Use different parameters in the same type of generator, for example:</a:t>
            </a:r>
          </a:p>
          <a:p>
            <a:pPr lvl="1"/>
            <a:endParaRPr lang="en-US" dirty="0"/>
          </a:p>
          <a:p>
            <a:r>
              <a:rPr lang="en-US" dirty="0"/>
              <a:t>linear congruential generators with additive constant </a:t>
            </a:r>
            <a:r>
              <a:rPr lang="en-US" dirty="0" err="1"/>
              <a:t>b</a:t>
            </a:r>
            <a:r>
              <a:rPr lang="en-US" sz="2000" dirty="0" err="1"/>
              <a:t>j</a:t>
            </a:r>
            <a:r>
              <a:rPr lang="en-US" sz="1600" dirty="0"/>
              <a:t> </a:t>
            </a:r>
            <a:r>
              <a:rPr lang="en-US" sz="800" dirty="0"/>
              <a:t> </a:t>
            </a:r>
            <a:r>
              <a:rPr lang="en-US" dirty="0"/>
              <a:t>for the </a:t>
            </a:r>
            <a:r>
              <a:rPr lang="en-US" dirty="0" err="1"/>
              <a:t>jth</a:t>
            </a:r>
            <a:r>
              <a:rPr lang="en-US" dirty="0"/>
              <a:t> stream created on each thread or process</a:t>
            </a:r>
          </a:p>
          <a:p>
            <a:r>
              <a:rPr lang="en-US" dirty="0"/>
              <a:t> </a:t>
            </a:r>
          </a:p>
          <a:p>
            <a:pPr lvl="1"/>
            <a:r>
              <a:rPr lang="en-US" sz="3600" dirty="0" err="1"/>
              <a:t>r</a:t>
            </a:r>
            <a:r>
              <a:rPr lang="en-US" sz="1800" dirty="0" err="1"/>
              <a:t>j,i</a:t>
            </a:r>
            <a:r>
              <a:rPr lang="en-US" sz="700" dirty="0"/>
              <a:t> </a:t>
            </a:r>
            <a:r>
              <a:rPr lang="en-US" sz="3600" dirty="0"/>
              <a:t>= a · r</a:t>
            </a:r>
            <a:r>
              <a:rPr lang="en-US" sz="1800" dirty="0"/>
              <a:t>j,i−1</a:t>
            </a:r>
            <a:r>
              <a:rPr lang="en-US" sz="700" dirty="0"/>
              <a:t> </a:t>
            </a:r>
            <a:r>
              <a:rPr lang="en-US" sz="3600" dirty="0"/>
              <a:t>+ </a:t>
            </a:r>
            <a:r>
              <a:rPr lang="en-US" sz="3600" dirty="0" err="1"/>
              <a:t>b</a:t>
            </a:r>
            <a:r>
              <a:rPr lang="en-US" dirty="0" err="1"/>
              <a:t>j</a:t>
            </a:r>
            <a:r>
              <a:rPr lang="en-US" sz="1100" dirty="0"/>
              <a:t> </a:t>
            </a:r>
            <a:r>
              <a:rPr lang="en-US" sz="3600" dirty="0"/>
              <a:t>mod m  </a:t>
            </a:r>
            <a:endParaRPr lang="en-US" dirty="0"/>
          </a:p>
          <a:p>
            <a:r>
              <a:rPr lang="en-US" dirty="0"/>
              <a:t>where the </a:t>
            </a:r>
            <a:r>
              <a:rPr lang="en-US" dirty="0" err="1"/>
              <a:t>b</a:t>
            </a:r>
            <a:r>
              <a:rPr lang="en-US" baseline="-25000" dirty="0" err="1"/>
              <a:t>j</a:t>
            </a:r>
            <a:r>
              <a:rPr lang="en-US" sz="1400" dirty="0"/>
              <a:t>  </a:t>
            </a:r>
            <a:r>
              <a:rPr lang="en-US" dirty="0"/>
              <a:t> are different prime numbers just below m/2. 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Like random seeding, parameterization prevents fair play</a:t>
            </a:r>
            <a:endParaRPr lang="en-US" dirty="0"/>
          </a:p>
          <a:p>
            <a:endParaRPr lang="en-US" dirty="0"/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545834-D44F-C24E-AA96-B467C87D226C}"/>
              </a:ext>
            </a:extLst>
          </p:cNvPr>
          <p:cNvSpPr txBox="1"/>
          <p:nvPr/>
        </p:nvSpPr>
        <p:spPr>
          <a:xfrm>
            <a:off x="8546954" y="759396"/>
            <a:ext cx="32496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X</a:t>
            </a:r>
            <a:r>
              <a:rPr lang="en-US" sz="2800" baseline="-25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i+1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= (</a:t>
            </a:r>
            <a:r>
              <a:rPr lang="en-US" sz="28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aX</a:t>
            </a:r>
            <a:r>
              <a:rPr lang="en-US" sz="2800" baseline="-25000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i</a:t>
            </a:r>
            <a:r>
              <a:rPr lang="en-US" sz="28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+ c) mod m</a:t>
            </a:r>
          </a:p>
        </p:txBody>
      </p:sp>
    </p:spTree>
    <p:extLst>
      <p:ext uri="{BB962C8B-B14F-4D97-AF65-F5344CB8AC3E}">
        <p14:creationId xmlns:p14="http://schemas.microsoft.com/office/powerpoint/2010/main" val="2263047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E54D-606B-BA46-95CD-93F2184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 in parallel?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0E6A-2DCA-F443-B7AC-7AC9113A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6161005" cy="5557464"/>
          </a:xfrm>
        </p:spPr>
        <p:txBody>
          <a:bodyPr>
            <a:normAutofit fontScale="85000" lnSpcReduction="20000"/>
          </a:bodyPr>
          <a:lstStyle/>
          <a:p>
            <a:pPr marL="514350" indent="-514350">
              <a:buAutoNum type="arabicPeriod" startAt="3"/>
            </a:pPr>
            <a:r>
              <a:rPr lang="en-US" dirty="0"/>
              <a:t>Block Splitting</a:t>
            </a:r>
          </a:p>
          <a:p>
            <a:pPr lvl="1"/>
            <a:r>
              <a:rPr lang="en-US" dirty="0"/>
              <a:t>break up a single stream of random numbers into non-overlapping, consecutive blocks of numbers and assign each block to one of the threads/processes.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Do this by: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Let M be the maximum number of calls to a PRNG by each thread/process</a:t>
            </a:r>
            <a:r>
              <a:rPr lang="en-US" dirty="0"/>
              <a:t>, and let p be the number of threads/processes. Then we can split the sequence (r) of a sequential PRNG into consecutive blocks of length M </a:t>
            </a:r>
          </a:p>
          <a:p>
            <a:pPr lvl="1"/>
            <a:endParaRPr lang="en-US" dirty="0"/>
          </a:p>
          <a:p>
            <a:r>
              <a:rPr lang="en-US" dirty="0"/>
              <a:t>Issues:</a:t>
            </a:r>
          </a:p>
          <a:p>
            <a:pPr lvl="1"/>
            <a:r>
              <a:rPr lang="en-US" dirty="0"/>
              <a:t>This method works only if we know M in advance or can at least safely estimate an upper bound for M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an efficient block splitting, it is necessary to jump from the </a:t>
            </a:r>
            <a:r>
              <a:rPr lang="en-US" dirty="0" err="1"/>
              <a:t>ith</a:t>
            </a:r>
            <a:r>
              <a:rPr lang="en-US" dirty="0"/>
              <a:t> random number to the (</a:t>
            </a:r>
            <a:r>
              <a:rPr lang="en-US" dirty="0" err="1"/>
              <a:t>i</a:t>
            </a:r>
            <a:r>
              <a:rPr lang="en-US" dirty="0"/>
              <a:t> + M )</a:t>
            </a:r>
            <a:r>
              <a:rPr lang="en-US" dirty="0" err="1"/>
              <a:t>th</a:t>
            </a:r>
            <a:r>
              <a:rPr lang="en-US" dirty="0"/>
              <a:t> number without calculating the numbers in between.</a:t>
            </a:r>
          </a:p>
          <a:p>
            <a:pPr lvl="1"/>
            <a:endParaRPr lang="en-US" dirty="0"/>
          </a:p>
          <a:p>
            <a:pPr lvl="1"/>
            <a:r>
              <a:rPr lang="en-US"/>
              <a:t>Total Numbers </a:t>
            </a:r>
            <a:r>
              <a:rPr lang="en-US" dirty="0"/>
              <a:t>needed should be divisible by p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B78A90-0A3A-8245-82E9-D5359D060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114" y="1806373"/>
            <a:ext cx="5361886" cy="281066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B56B44-3A1B-5341-9DE3-4AE05B98A624}"/>
              </a:ext>
            </a:extLst>
          </p:cNvPr>
          <p:cNvSpPr txBox="1"/>
          <p:nvPr/>
        </p:nvSpPr>
        <p:spPr>
          <a:xfrm>
            <a:off x="8346332" y="1059039"/>
            <a:ext cx="2054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 random numbers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A99848-48EC-7B5D-8C05-AA04E736BC8F}"/>
              </a:ext>
            </a:extLst>
          </p:cNvPr>
          <p:cNvCxnSpPr>
            <a:stCxn id="6" idx="2"/>
          </p:cNvCxnSpPr>
          <p:nvPr/>
        </p:nvCxnSpPr>
        <p:spPr>
          <a:xfrm flipH="1">
            <a:off x="8317149" y="1428371"/>
            <a:ext cx="1056516" cy="64362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4E8AAA-C93C-8698-E969-DE037D6EE022}"/>
              </a:ext>
            </a:extLst>
          </p:cNvPr>
          <p:cNvCxnSpPr>
            <a:cxnSpLocks/>
          </p:cNvCxnSpPr>
          <p:nvPr/>
        </p:nvCxnSpPr>
        <p:spPr>
          <a:xfrm>
            <a:off x="9511057" y="1428371"/>
            <a:ext cx="294424" cy="64362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D03B35-25DE-9B4C-CD1B-067CEC5984A2}"/>
              </a:ext>
            </a:extLst>
          </p:cNvPr>
          <p:cNvCxnSpPr>
            <a:cxnSpLocks/>
          </p:cNvCxnSpPr>
          <p:nvPr/>
        </p:nvCxnSpPr>
        <p:spPr>
          <a:xfrm>
            <a:off x="9808815" y="1428371"/>
            <a:ext cx="1354739" cy="643620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EDE20D-ED49-DD8C-81A4-2C5D4091AA7B}"/>
              </a:ext>
            </a:extLst>
          </p:cNvPr>
          <p:cNvSpPr txBox="1"/>
          <p:nvPr/>
        </p:nvSpPr>
        <p:spPr>
          <a:xfrm>
            <a:off x="7568118" y="5152630"/>
            <a:ext cx="4324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This will be fair and reproducible</a:t>
            </a:r>
          </a:p>
        </p:txBody>
      </p:sp>
    </p:spTree>
    <p:extLst>
      <p:ext uri="{BB962C8B-B14F-4D97-AF65-F5344CB8AC3E}">
        <p14:creationId xmlns:p14="http://schemas.microsoft.com/office/powerpoint/2010/main" val="8435993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7B27F4C-7682-0F85-0B8A-CD77D03E6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6429" y="2175705"/>
            <a:ext cx="7772400" cy="280570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968E54D-606B-BA46-95CD-93F2184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 in parallel?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0E6A-2DCA-F443-B7AC-7AC9113A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3900991" cy="5557464"/>
          </a:xfrm>
        </p:spPr>
        <p:txBody>
          <a:bodyPr>
            <a:normAutofit fontScale="62500" lnSpcReduction="20000"/>
          </a:bodyPr>
          <a:lstStyle/>
          <a:p>
            <a:pPr marL="514350" indent="-514350">
              <a:buAutoNum type="arabicPeriod" startAt="3"/>
            </a:pPr>
            <a:r>
              <a:rPr lang="en-US" dirty="0"/>
              <a:t>Block Splitting</a:t>
            </a:r>
          </a:p>
          <a:p>
            <a:pPr lvl="1"/>
            <a:r>
              <a:rPr lang="en-US" dirty="0"/>
              <a:t>break up a single stream of random numbers into non-overlapping, consecutive blocks of numbers and assign each block to one of the threads/processes.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Do this by:</a:t>
            </a:r>
          </a:p>
          <a:p>
            <a:pPr lvl="1"/>
            <a:r>
              <a:rPr lang="en-US" dirty="0">
                <a:solidFill>
                  <a:schemeClr val="accent4"/>
                </a:solidFill>
              </a:rPr>
              <a:t>Let M be the maximum number of calls to a PRNG by each thread/process</a:t>
            </a:r>
            <a:r>
              <a:rPr lang="en-US" dirty="0"/>
              <a:t>, and </a:t>
            </a:r>
          </a:p>
          <a:p>
            <a:pPr lvl="1"/>
            <a:r>
              <a:rPr lang="en-US" dirty="0"/>
              <a:t>let p be the number of threads/processes. </a:t>
            </a:r>
          </a:p>
          <a:p>
            <a:pPr lvl="1"/>
            <a:r>
              <a:rPr lang="en-US" dirty="0"/>
              <a:t>Then we can split the sequence (r) of a sequential PRNG into consecutive blocks of length M </a:t>
            </a:r>
          </a:p>
          <a:p>
            <a:pPr lvl="1"/>
            <a:endParaRPr lang="en-US" dirty="0"/>
          </a:p>
          <a:p>
            <a:r>
              <a:rPr lang="en-US" dirty="0"/>
              <a:t>Issues:</a:t>
            </a:r>
          </a:p>
          <a:p>
            <a:pPr lvl="1"/>
            <a:r>
              <a:rPr lang="en-US" dirty="0"/>
              <a:t>This method works only if we know M in advance or can at least safely estimate an upper bound for M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For an efficient block splitting, it is necessary to jump from the </a:t>
            </a:r>
            <a:r>
              <a:rPr lang="en-US" dirty="0" err="1"/>
              <a:t>ith</a:t>
            </a:r>
            <a:r>
              <a:rPr lang="en-US" dirty="0"/>
              <a:t> random number to the (</a:t>
            </a:r>
            <a:r>
              <a:rPr lang="en-US" dirty="0" err="1"/>
              <a:t>i</a:t>
            </a:r>
            <a:r>
              <a:rPr lang="en-US" dirty="0"/>
              <a:t> + p )</a:t>
            </a:r>
            <a:r>
              <a:rPr lang="en-US" dirty="0" err="1"/>
              <a:t>th</a:t>
            </a:r>
            <a:r>
              <a:rPr lang="en-US" dirty="0"/>
              <a:t> number without calculating the numbers in between.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rgbClr val="FFC000"/>
                </a:solidFill>
              </a:rPr>
              <a:t>Total Numbers needed should be divisible by p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B56B44-3A1B-5341-9DE3-4AE05B98A624}"/>
              </a:ext>
            </a:extLst>
          </p:cNvPr>
          <p:cNvSpPr txBox="1"/>
          <p:nvPr/>
        </p:nvSpPr>
        <p:spPr>
          <a:xfrm>
            <a:off x="8346332" y="1059039"/>
            <a:ext cx="26109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M=12/4 random numbers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FA99848-48EC-7B5D-8C05-AA04E736BC8F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7146151" y="1428371"/>
            <a:ext cx="2505635" cy="1614506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E4E8AAA-C93C-8698-E969-DE037D6EE022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8682958" y="1428371"/>
            <a:ext cx="968828" cy="2000629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2D03B35-25DE-9B4C-CD1B-067CEC5984A2}"/>
              </a:ext>
            </a:extLst>
          </p:cNvPr>
          <p:cNvCxnSpPr>
            <a:cxnSpLocks/>
          </p:cNvCxnSpPr>
          <p:nvPr/>
        </p:nvCxnSpPr>
        <p:spPr>
          <a:xfrm>
            <a:off x="9808815" y="1428371"/>
            <a:ext cx="179597" cy="2429014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1EDE20D-ED49-DD8C-81A4-2C5D4091AA7B}"/>
              </a:ext>
            </a:extLst>
          </p:cNvPr>
          <p:cNvSpPr txBox="1"/>
          <p:nvPr/>
        </p:nvSpPr>
        <p:spPr>
          <a:xfrm>
            <a:off x="7568118" y="5152630"/>
            <a:ext cx="43244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This will be fair and reproducible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71D4FFF-F395-8B57-F6A0-466FF4B1A861}"/>
              </a:ext>
            </a:extLst>
          </p:cNvPr>
          <p:cNvCxnSpPr>
            <a:cxnSpLocks/>
          </p:cNvCxnSpPr>
          <p:nvPr/>
        </p:nvCxnSpPr>
        <p:spPr>
          <a:xfrm>
            <a:off x="9920087" y="1428371"/>
            <a:ext cx="1356711" cy="2958105"/>
          </a:xfrm>
          <a:prstGeom prst="straightConnector1">
            <a:avLst/>
          </a:prstGeom>
          <a:ln w="381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57842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E54D-606B-BA46-95CD-93F2184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 in parallel?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0E6A-2DCA-F443-B7AC-7AC9113A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7" y="891974"/>
            <a:ext cx="5966451" cy="5168358"/>
          </a:xfrm>
        </p:spPr>
        <p:txBody>
          <a:bodyPr/>
          <a:lstStyle/>
          <a:p>
            <a:r>
              <a:rPr lang="en-US" dirty="0"/>
              <a:t>4. Leap Frogging</a:t>
            </a:r>
          </a:p>
          <a:p>
            <a:pPr lvl="1"/>
            <a:r>
              <a:rPr lang="en-US" dirty="0"/>
              <a:t>The leapfrog method distributes a sequence (r) of random numbers over d processes (shown right)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does not require an a priori estimate of how many random numbers will be consumed by each processor. 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Can in general be implemented to ensure fair play. And it reproduces the same values regardless of numbers of threads.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80AB36-F4A2-004E-92BA-40485E2C0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215" y="1371600"/>
            <a:ext cx="5534223" cy="290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0835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E54D-606B-BA46-95CD-93F2184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 in parallel?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0E6A-2DCA-F443-B7AC-7AC9113A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7" y="891974"/>
            <a:ext cx="3940653" cy="516835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4. Leap Frogging</a:t>
            </a:r>
          </a:p>
          <a:p>
            <a:pPr lvl="1"/>
            <a:r>
              <a:rPr lang="en-US" dirty="0"/>
              <a:t>The leapfrog method distributes a sequence (r) of random numbers over d processes (shown right)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does not require an a priori estimate of how many random numbers will be consumed by each processor. 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solidFill>
                  <a:schemeClr val="accent4"/>
                </a:solidFill>
              </a:rPr>
              <a:t>Can in general be implemented to ensure fair play. And it reproduces the same overall set of values regardless of numbers of threads.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63F44F-9C6F-0A7F-AD3D-FA0A2ED0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090" y="891974"/>
            <a:ext cx="7772400" cy="3261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227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E54D-606B-BA46-95CD-93F2184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 in parallel?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0E6A-2DCA-F443-B7AC-7AC9113A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8203813" cy="441154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To do the last 2 efficiently in each thread/process will:</a:t>
            </a:r>
          </a:p>
          <a:p>
            <a:endParaRPr lang="en-US" dirty="0"/>
          </a:p>
          <a:p>
            <a:r>
              <a:rPr lang="en-US" dirty="0"/>
              <a:t>Modify a PRNG to generate directly only every </a:t>
            </a:r>
            <a:r>
              <a:rPr lang="en-US" dirty="0" err="1"/>
              <a:t>dth</a:t>
            </a:r>
            <a:r>
              <a:rPr lang="en-US" dirty="0"/>
              <a:t> element of the original sequence (for leapfrogging) </a:t>
            </a:r>
          </a:p>
          <a:p>
            <a:endParaRPr lang="en-US" dirty="0"/>
          </a:p>
          <a:p>
            <a:r>
              <a:rPr lang="en-US" dirty="0"/>
              <a:t>or </a:t>
            </a:r>
          </a:p>
          <a:p>
            <a:r>
              <a:rPr lang="en-US" dirty="0"/>
              <a:t>Directly advance the PRNG stream by M steps (for block splitting) 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Techniques for doing this have been developed, including for LSFR and YARN algorithms for generating the numbers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047D89-A7CD-AD43-8B5D-66FC12CB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2111" y="891974"/>
            <a:ext cx="3438187" cy="18022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732DBD5-C3F3-4D46-A8C5-6CE8584465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4829" y="3136129"/>
            <a:ext cx="3592749" cy="188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1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8E54D-606B-BA46-95CD-93F2184AD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is this done in parallel?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F0E6A-2DCA-F443-B7AC-7AC9113AD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123" y="961130"/>
            <a:ext cx="6074518" cy="5247569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To do the last 2 efficiently, each thread/process will:</a:t>
            </a:r>
          </a:p>
          <a:p>
            <a:endParaRPr lang="en-US" dirty="0"/>
          </a:p>
          <a:p>
            <a:r>
              <a:rPr lang="en-US" dirty="0"/>
              <a:t>Directly advance the PRNG stream by M steps, then generate each number in order</a:t>
            </a:r>
          </a:p>
          <a:p>
            <a:r>
              <a:rPr lang="en-US" dirty="0"/>
              <a:t>for block splitting</a:t>
            </a:r>
          </a:p>
          <a:p>
            <a:endParaRPr lang="en-US" dirty="0"/>
          </a:p>
          <a:p>
            <a:r>
              <a:rPr lang="en-US" dirty="0"/>
              <a:t>or </a:t>
            </a:r>
          </a:p>
          <a:p>
            <a:endParaRPr lang="en-US" dirty="0"/>
          </a:p>
          <a:p>
            <a:r>
              <a:rPr lang="en-US" dirty="0"/>
              <a:t>Modify a PRNG to generate directly only every </a:t>
            </a:r>
          </a:p>
          <a:p>
            <a:r>
              <a:rPr lang="en-US" sz="3800" dirty="0" err="1"/>
              <a:t>r</a:t>
            </a:r>
            <a:r>
              <a:rPr lang="en-US" sz="3800" baseline="-25000" dirty="0" err="1"/>
              <a:t>pid</a:t>
            </a:r>
            <a:r>
              <a:rPr lang="en-US" sz="3800" dirty="0"/>
              <a:t> ,  </a:t>
            </a:r>
            <a:r>
              <a:rPr lang="en-US" sz="3800" dirty="0" err="1"/>
              <a:t>r</a:t>
            </a:r>
            <a:r>
              <a:rPr lang="en-US" sz="3800" baseline="-25000" dirty="0" err="1"/>
              <a:t>pid+p</a:t>
            </a:r>
            <a:r>
              <a:rPr lang="en-US" sz="3800" baseline="-25000" dirty="0"/>
              <a:t> </a:t>
            </a:r>
            <a:r>
              <a:rPr lang="en-US" sz="3800" dirty="0"/>
              <a:t>, r</a:t>
            </a:r>
            <a:r>
              <a:rPr lang="en-US" sz="3800" baseline="-25000" dirty="0"/>
              <a:t>pid+2p </a:t>
            </a:r>
            <a:r>
              <a:rPr lang="en-US" sz="3800" dirty="0"/>
              <a:t>, </a:t>
            </a:r>
            <a:r>
              <a:rPr lang="en-US" sz="3800" dirty="0" err="1"/>
              <a:t>etc</a:t>
            </a:r>
            <a:endParaRPr lang="en-US" sz="3800" dirty="0"/>
          </a:p>
          <a:p>
            <a:endParaRPr lang="en-US" dirty="0"/>
          </a:p>
          <a:p>
            <a:r>
              <a:rPr lang="en-US" dirty="0"/>
              <a:t>element of the original sequence</a:t>
            </a:r>
          </a:p>
          <a:p>
            <a:r>
              <a:rPr lang="en-US" dirty="0"/>
              <a:t>for leapfrogging</a:t>
            </a:r>
          </a:p>
          <a:p>
            <a:endParaRPr lang="en-US" dirty="0"/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Techniques for doing this have been developed, including for LSFR and YARN algorithms for generating the numbers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8F268-A865-9B4F-D3B9-BB03ACE49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7347" y="1067933"/>
            <a:ext cx="4936713" cy="17820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EA9D2F-9D84-43F3-60E6-32B26CB38E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347" y="3236899"/>
            <a:ext cx="4927100" cy="2067813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91D72CAC-1759-2C76-AA54-66814F45E960}"/>
              </a:ext>
            </a:extLst>
          </p:cNvPr>
          <p:cNvSpPr/>
          <p:nvPr/>
        </p:nvSpPr>
        <p:spPr>
          <a:xfrm>
            <a:off x="2766252" y="2120792"/>
            <a:ext cx="4303059" cy="2535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939681E4-2A40-E044-28A0-BE62F6497147}"/>
              </a:ext>
            </a:extLst>
          </p:cNvPr>
          <p:cNvSpPr/>
          <p:nvPr/>
        </p:nvSpPr>
        <p:spPr>
          <a:xfrm>
            <a:off x="2766252" y="4717223"/>
            <a:ext cx="4303059" cy="2535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0278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CB3A1-1086-E440-A41B-1C3EF6465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library we will use: TRNG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8F2C4-DDAC-E544-B83B-2C173693BA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5"/>
            <a:ext cx="11308882" cy="259958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TRNG (Tina’s random number generator library)</a:t>
            </a:r>
          </a:p>
          <a:p>
            <a:pPr lvl="1"/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https://www.numbercrunch.de/trng/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lvl="1"/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Has several different ways of generating numbers, including LCM, LFSR and YARN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/>
              <a:t>Using either leap-frogging or block splitting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C++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Has many different </a:t>
            </a:r>
            <a:r>
              <a:rPr lang="en-US" i="1" dirty="0"/>
              <a:t>distributions </a:t>
            </a:r>
            <a:r>
              <a:rPr lang="en-US" dirty="0"/>
              <a:t>of the numbers, e.g.</a:t>
            </a:r>
          </a:p>
          <a:p>
            <a:endParaRPr lang="en-US" dirty="0"/>
          </a:p>
        </p:txBody>
      </p:sp>
      <p:pic>
        <p:nvPicPr>
          <p:cNvPr id="1026" name="Picture 2" descr="uniform-histogram">
            <a:extLst>
              <a:ext uri="{FF2B5EF4-FFF2-40B4-BE49-F238E27FC236}">
                <a16:creationId xmlns:a16="http://schemas.microsoft.com/office/drawing/2014/main" id="{F9FE5B2A-EAA2-A64F-8A57-ADF2CDF2C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38" y="4426404"/>
            <a:ext cx="2598915" cy="173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bell-shaped-histogram">
            <a:extLst>
              <a:ext uri="{FF2B5EF4-FFF2-40B4-BE49-F238E27FC236}">
                <a16:creationId xmlns:a16="http://schemas.microsoft.com/office/drawing/2014/main" id="{C97816E3-FFF1-9C4E-96A8-8611770BE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149" y="4426404"/>
            <a:ext cx="2742851" cy="18285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istogram of a random sample from an exponential distribution with... |  Download Scientific Diagram">
            <a:extLst>
              <a:ext uri="{FF2B5EF4-FFF2-40B4-BE49-F238E27FC236}">
                <a16:creationId xmlns:a16="http://schemas.microsoft.com/office/drawing/2014/main" id="{1D739191-DE58-4146-B241-99C69FA86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7116" y="4448465"/>
            <a:ext cx="2678454" cy="178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EED118C-FFDB-A648-AB65-89DE8F4796B1}"/>
              </a:ext>
            </a:extLst>
          </p:cNvPr>
          <p:cNvSpPr txBox="1"/>
          <p:nvPr/>
        </p:nvSpPr>
        <p:spPr>
          <a:xfrm>
            <a:off x="960884" y="4043629"/>
            <a:ext cx="933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uniform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62C54F-F9CF-A44E-9C49-F5753A0AD8A9}"/>
              </a:ext>
            </a:extLst>
          </p:cNvPr>
          <p:cNvSpPr txBox="1"/>
          <p:nvPr/>
        </p:nvSpPr>
        <p:spPr>
          <a:xfrm>
            <a:off x="4442788" y="4043629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E6BF6D-FFA0-3844-957D-279A0F49ECF4}"/>
              </a:ext>
            </a:extLst>
          </p:cNvPr>
          <p:cNvSpPr txBox="1"/>
          <p:nvPr/>
        </p:nvSpPr>
        <p:spPr>
          <a:xfrm>
            <a:off x="9931359" y="4031838"/>
            <a:ext cx="1289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exponential</a:t>
            </a:r>
          </a:p>
        </p:txBody>
      </p:sp>
      <p:pic>
        <p:nvPicPr>
          <p:cNvPr id="1034" name="Picture 10" descr="Example poisson distribution data Suppose the actual original data set... |  Download Scientific Diagram">
            <a:extLst>
              <a:ext uri="{FF2B5EF4-FFF2-40B4-BE49-F238E27FC236}">
                <a16:creationId xmlns:a16="http://schemas.microsoft.com/office/drawing/2014/main" id="{75B817E7-18C2-CA44-B8A8-6FDCFE6E0F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5955" y="4458396"/>
            <a:ext cx="2612277" cy="178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EE14829-1D77-034E-B640-230F8811207C}"/>
              </a:ext>
            </a:extLst>
          </p:cNvPr>
          <p:cNvSpPr txBox="1"/>
          <p:nvPr/>
        </p:nvSpPr>
        <p:spPr>
          <a:xfrm>
            <a:off x="7201787" y="4031838"/>
            <a:ext cx="904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poisson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3DD80-E666-1A4B-BF60-007986E0FE43}"/>
              </a:ext>
            </a:extLst>
          </p:cNvPr>
          <p:cNvSpPr txBox="1"/>
          <p:nvPr/>
        </p:nvSpPr>
        <p:spPr>
          <a:xfrm>
            <a:off x="7851640" y="2299363"/>
            <a:ext cx="227318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‘bins’ :</a:t>
            </a:r>
          </a:p>
          <a:p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Shows how many values generated in that range of numbers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1367FD9-4ECC-464F-973D-916148FC201B}"/>
              </a:ext>
            </a:extLst>
          </p:cNvPr>
          <p:cNvCxnSpPr>
            <a:cxnSpLocks/>
            <a:stCxn id="7" idx="1"/>
          </p:cNvCxnSpPr>
          <p:nvPr/>
        </p:nvCxnSpPr>
        <p:spPr>
          <a:xfrm flipH="1">
            <a:off x="1956677" y="2899528"/>
            <a:ext cx="5894963" cy="1931751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DFF7683-6126-374F-87F1-8A1B458F132F}"/>
              </a:ext>
            </a:extLst>
          </p:cNvPr>
          <p:cNvCxnSpPr>
            <a:cxnSpLocks/>
          </p:cNvCxnSpPr>
          <p:nvPr/>
        </p:nvCxnSpPr>
        <p:spPr>
          <a:xfrm flipH="1">
            <a:off x="5035204" y="3513135"/>
            <a:ext cx="3953028" cy="1408251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95D7C2A-456D-CC4F-BD02-A976CF9CCEDF}"/>
              </a:ext>
            </a:extLst>
          </p:cNvPr>
          <p:cNvCxnSpPr>
            <a:cxnSpLocks/>
            <a:stCxn id="7" idx="2"/>
          </p:cNvCxnSpPr>
          <p:nvPr/>
        </p:nvCxnSpPr>
        <p:spPr>
          <a:xfrm flipH="1">
            <a:off x="8210436" y="3499692"/>
            <a:ext cx="777796" cy="1208408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A7637F0-683E-774F-8455-71DF66F47714}"/>
              </a:ext>
            </a:extLst>
          </p:cNvPr>
          <p:cNvCxnSpPr>
            <a:cxnSpLocks/>
          </p:cNvCxnSpPr>
          <p:nvPr/>
        </p:nvCxnSpPr>
        <p:spPr>
          <a:xfrm>
            <a:off x="8988232" y="3521270"/>
            <a:ext cx="766082" cy="1606784"/>
          </a:xfrm>
          <a:prstGeom prst="straightConnector1">
            <a:avLst/>
          </a:prstGeom>
          <a:ln w="603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575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E6D67-DDDD-BE41-B88C-F2C8E4FA4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practice random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A8377-E0F4-4E4F-BA74-04D0A7085A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438" y="891974"/>
            <a:ext cx="11308882" cy="4623609"/>
          </a:xfrm>
        </p:spPr>
        <p:txBody>
          <a:bodyPr>
            <a:normAutofit/>
          </a:bodyPr>
          <a:lstStyle/>
          <a:p>
            <a:r>
              <a:rPr lang="en-US" dirty="0"/>
              <a:t>Note sequential versions that use this same </a:t>
            </a:r>
            <a:r>
              <a:rPr lang="en-US" dirty="0" err="1"/>
              <a:t>trng</a:t>
            </a:r>
            <a:r>
              <a:rPr lang="en-US" dirty="0"/>
              <a:t> library 	</a:t>
            </a:r>
          </a:p>
          <a:p>
            <a:endParaRPr lang="en-US" dirty="0"/>
          </a:p>
          <a:p>
            <a:r>
              <a:rPr lang="en-US" dirty="0"/>
              <a:t>Note the code is C++</a:t>
            </a:r>
          </a:p>
          <a:p>
            <a:r>
              <a:rPr lang="en-US" dirty="0"/>
              <a:t>	study </a:t>
            </a:r>
            <a:r>
              <a:rPr lang="en-US" dirty="0" err="1"/>
              <a:t>makefiles</a:t>
            </a:r>
            <a:endParaRPr lang="en-US" dirty="0"/>
          </a:p>
          <a:p>
            <a:r>
              <a:rPr lang="en-US" dirty="0"/>
              <a:t>	study code looking for C++ features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636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005BB9AB-CB83-2F4A-B8D3-3923B16C45C5}" vid="{6DAF6F60-9D35-814E-917A-A7202DE102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7625</TotalTime>
  <Words>2037</Words>
  <Application>Microsoft Macintosh PowerPoint</Application>
  <PresentationFormat>Widescreen</PresentationFormat>
  <Paragraphs>245</Paragraphs>
  <Slides>26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Andale Mono</vt:lpstr>
      <vt:lpstr>Arial</vt:lpstr>
      <vt:lpstr>Calibri</vt:lpstr>
      <vt:lpstr>Calibri Light</vt:lpstr>
      <vt:lpstr>droid sans</vt:lpstr>
      <vt:lpstr>Monaco</vt:lpstr>
      <vt:lpstr>Office Theme</vt:lpstr>
      <vt:lpstr>Pseudo Random Number Generators or PRNGs</vt:lpstr>
      <vt:lpstr>Motivation</vt:lpstr>
      <vt:lpstr>References</vt:lpstr>
      <vt:lpstr>Computer generated random number statistical properties</vt:lpstr>
      <vt:lpstr>Computer generated random number statistical properties</vt:lpstr>
      <vt:lpstr>Computer generated random number properties</vt:lpstr>
      <vt:lpstr>Other properties that random number generators should have:</vt:lpstr>
      <vt:lpstr>Popular method: Linear Congruential Method, LCM</vt:lpstr>
      <vt:lpstr>An Issue with LCM</vt:lpstr>
      <vt:lpstr>An Issue with LCM</vt:lpstr>
      <vt:lpstr>A variation</vt:lpstr>
      <vt:lpstr>Non-linear generators</vt:lpstr>
      <vt:lpstr>How is this done in parallel?</vt:lpstr>
      <vt:lpstr>PRNG in parallel</vt:lpstr>
      <vt:lpstr>Efficient generation of numbers is important</vt:lpstr>
      <vt:lpstr>Still must be reproducible</vt:lpstr>
      <vt:lpstr>What parallel methods have been tried?</vt:lpstr>
      <vt:lpstr>How is this done in parallel?</vt:lpstr>
      <vt:lpstr>How is this done in parallel?</vt:lpstr>
      <vt:lpstr>How is this done in parallel?</vt:lpstr>
      <vt:lpstr>How is this done in parallel?</vt:lpstr>
      <vt:lpstr>How is this done in parallel?</vt:lpstr>
      <vt:lpstr>How is this done in parallel?</vt:lpstr>
      <vt:lpstr>How is this done in parallel?</vt:lpstr>
      <vt:lpstr>A library we will use: TRNG</vt:lpstr>
      <vt:lpstr>Activity: practice random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41</cp:revision>
  <dcterms:created xsi:type="dcterms:W3CDTF">2022-02-08T16:24:49Z</dcterms:created>
  <dcterms:modified xsi:type="dcterms:W3CDTF">2024-09-17T18:49:47Z</dcterms:modified>
</cp:coreProperties>
</file>