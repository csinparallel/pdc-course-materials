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331" r:id="rId3"/>
    <p:sldId id="332" r:id="rId4"/>
    <p:sldId id="341" r:id="rId5"/>
    <p:sldId id="334" r:id="rId6"/>
    <p:sldId id="343" r:id="rId7"/>
    <p:sldId id="337" r:id="rId8"/>
    <p:sldId id="338" r:id="rId9"/>
    <p:sldId id="339" r:id="rId10"/>
    <p:sldId id="340" r:id="rId11"/>
    <p:sldId id="34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6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80"/>
    <p:restoredTop sz="96405"/>
  </p:normalViewPr>
  <p:slideViewPr>
    <p:cSldViewPr snapToGrid="0" snapToObjects="1">
      <p:cViewPr varScale="1">
        <p:scale>
          <a:sx n="106" d="100"/>
          <a:sy n="106" d="100"/>
        </p:scale>
        <p:origin x="19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2CFB-B9D9-0347-8C82-1A463FED2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35EB2-C00A-0F45-B47A-115D1C0D6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D23B3-3698-8348-B5F0-FBA4DB9A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B99A-70EB-764A-8A71-D04AD795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EAB5B-DDFF-DC4E-8E08-74636B6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2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138A-9BEC-E748-B32B-3480D57C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198" y="179888"/>
            <a:ext cx="10515600" cy="501149"/>
          </a:xfrm>
        </p:spPr>
        <p:txBody>
          <a:bodyPr>
            <a:noAutofit/>
          </a:bodyPr>
          <a:lstStyle>
            <a:lvl1pPr algn="ctr">
              <a:defRPr sz="3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A5FC-38B9-1849-9B97-67F8642B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411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54FF-469B-5241-92A1-6B0FB51F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488FF-C544-EE4F-94BE-BC977C8F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8A44-5402-F44C-8FAF-A46B0A2F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C8A8-C4BF-6D4B-B2E2-62B5F1E3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F2076-2626-6648-AC43-CF23755A6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2CF57-C8D4-8B47-837F-F3FABDF6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A8FB-AC28-C249-91CE-B2B70263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4117C-62F0-6C48-874B-605E5F29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7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3357-14B8-A74D-976F-CCC6ADD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514"/>
            <a:ext cx="10515600" cy="491523"/>
          </a:xfrm>
        </p:spPr>
        <p:txBody>
          <a:bodyPr>
            <a:noAutofit/>
          </a:bodyPr>
          <a:lstStyle>
            <a:lvl1pPr algn="ctr">
              <a:defRPr sz="40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F1537-708E-BA44-B740-00A80BD14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764" y="988226"/>
            <a:ext cx="5500036" cy="4450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4D18E-AB89-214A-80F6-AED6E054D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988227"/>
            <a:ext cx="5329187" cy="44500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6789A-F040-E241-9153-81B8368A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BED59-0F05-CB42-971F-06F288F1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6800-CDC3-B44E-9AC8-50E9DB14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99CA-270D-C04D-9BAB-4160608C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68B1E-725C-F746-A421-12E70C8A0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1F14B-39D0-3E47-977B-CB4D3253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001A9-4D9B-D24E-AFCC-E62A5C78F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7EAD10-CBCB-3645-9FDB-B4541176C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8E3AA-1007-974B-89AC-134FFAAE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4C07F-994D-E147-B9C4-4D2DA79F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9B744-A6AB-B84D-814D-27AFAAA5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8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B2A6-D0A5-5842-9326-C3248661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BE5BB-7D4A-3443-8011-50BFA20F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1EC94-4F6E-A842-B2B4-745B7287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EA374-F9D1-5047-8E00-EEBC558E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4E34A2-FF06-4646-9B11-3960AAD8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02A72-9F03-3047-A58F-5478424B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045E1-1CAC-6540-AC9E-33B76389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6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D1BE-D122-7443-B909-666D7E00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2548-6163-DF42-8D6F-E0DF3CD99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92E66-003D-CB49-91E5-89A87B22C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6E865-8FAD-AB45-8489-9C2AA820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9390D-6CA7-334E-BFE4-ADD6E123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0F00F-8DAC-6B45-A36C-CE3F9122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7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B418-47B0-DC4F-AD09-F59EBFBA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76A39-FD73-2C42-9F0E-A75F94321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EE543-5E7F-2D4E-ACC3-81F598670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CE77D-1E65-A543-870E-17E38C69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C2DB8-1E2E-9744-9E99-8F5A7BB6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D143D-B79E-C44A-A040-D785D07E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6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784D-E7A9-E848-B261-413FCAA9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7E922-260A-DB4E-9833-35B0C3BCF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677AC-6170-254E-A053-DE7A25AA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DA906-7BEF-1B45-899D-93233A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5448D-80D6-EC47-8869-6FC033A4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8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D4714-F165-6A49-83C2-609956924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160F5-13DB-3E4A-813A-01FB9ABFD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7A2AB-D055-C647-830B-BCC12309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ECAB2-8B81-5843-AFAD-4CEA8ADC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2BE4B-ED0D-664C-8695-58D23CDC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2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5F063-E93D-BB4B-A024-282AB21E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58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7D538-68DF-DA4B-AD57-2CBD80BC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766845"/>
            <a:ext cx="10596613" cy="4815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8257B-4037-8B41-8672-5C16900FA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D9E5A-6977-4640-B621-2F6686AF40B9}" type="datetimeFigureOut">
              <a:rPr lang="en-US" smtClean="0"/>
              <a:t>9/3/24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5CD5B-6D1E-0245-BBB5-6DB2BF2FB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9468-12B3-E843-93F2-1CFFE8CF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4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5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7C407E-4B08-3409-2862-A38A916A14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Parallel and Distributed Computing</a:t>
            </a:r>
            <a:br>
              <a:rPr lang="en-US" dirty="0"/>
            </a:br>
            <a:r>
              <a:rPr lang="en-US" dirty="0"/>
              <a:t>PDC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E9F598EA-9FBC-49BB-9DCB-1191E1F012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78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6DEB8-F5A5-C64D-80B1-4199CC023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12542" y="835882"/>
            <a:ext cx="7772400" cy="1470025"/>
          </a:xfrm>
        </p:spPr>
        <p:txBody>
          <a:bodyPr/>
          <a:lstStyle/>
          <a:p>
            <a:r>
              <a:rPr lang="en-US" dirty="0"/>
              <a:t>Ultimate Goal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63A246-6318-B849-A696-8D3191D7B0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98342" y="2591656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Faster, more effective programs by exploiting parallelism</a:t>
            </a:r>
          </a:p>
        </p:txBody>
      </p:sp>
    </p:spTree>
    <p:extLst>
      <p:ext uri="{BB962C8B-B14F-4D97-AF65-F5344CB8AC3E}">
        <p14:creationId xmlns:p14="http://schemas.microsoft.com/office/powerpoint/2010/main" val="1818708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B277-D9FB-F54B-891F-39057B364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is parallelism?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AC749-9C2C-274F-BA57-B2B9B5CC0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0670" y="1532614"/>
            <a:ext cx="9384666" cy="379277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“The term </a:t>
            </a:r>
            <a:r>
              <a:rPr lang="en-US" b="1" dirty="0"/>
              <a:t>Parallelism</a:t>
            </a:r>
            <a:r>
              <a:rPr lang="en-US" dirty="0"/>
              <a:t> refers to techniques to make programs faster by performing several computations </a:t>
            </a:r>
            <a:r>
              <a:rPr lang="en-US" u="sng" dirty="0"/>
              <a:t>at the same time</a:t>
            </a:r>
            <a:r>
              <a:rPr lang="en-US" dirty="0"/>
              <a:t>. This requires </a:t>
            </a:r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hardware with multiple processing units</a:t>
            </a:r>
            <a:r>
              <a:rPr lang="en-US" dirty="0"/>
              <a:t>. ”</a:t>
            </a:r>
          </a:p>
          <a:p>
            <a:pPr algn="r"/>
            <a:endParaRPr lang="en-US" sz="2000" dirty="0"/>
          </a:p>
          <a:p>
            <a:pPr algn="r"/>
            <a:endParaRPr lang="en-US" sz="2000" dirty="0"/>
          </a:p>
          <a:p>
            <a:pPr algn="r"/>
            <a:r>
              <a:rPr lang="en-US" sz="2000" dirty="0"/>
              <a:t>https://</a:t>
            </a:r>
            <a:r>
              <a:rPr lang="en-US" sz="2000" dirty="0" err="1"/>
              <a:t>wiki.haskell.org</a:t>
            </a:r>
            <a:r>
              <a:rPr lang="en-US" sz="2000" dirty="0"/>
              <a:t>/</a:t>
            </a:r>
            <a:r>
              <a:rPr lang="en-US" sz="2000" dirty="0" err="1"/>
              <a:t>Parallelism_vs._Concurrency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07407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61E4-E7C5-2ECD-625A-32A087705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3232"/>
            <a:ext cx="10515600" cy="1325563"/>
          </a:xfrm>
        </p:spPr>
        <p:txBody>
          <a:bodyPr/>
          <a:lstStyle/>
          <a:p>
            <a:r>
              <a:rPr lang="en-US" dirty="0"/>
              <a:t>Sequential vs. Parallel Programs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4C4528-14D1-9D63-D99E-890EA635D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1156" y="1056958"/>
            <a:ext cx="4050264" cy="823912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Sequential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AA1FA41-7E36-CFAC-48FF-9427A0B897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71155" y="1880870"/>
            <a:ext cx="4241095" cy="2399306"/>
          </a:xfrm>
        </p:spPr>
        <p:txBody>
          <a:bodyPr/>
          <a:lstStyle/>
          <a:p>
            <a:r>
              <a:rPr lang="en-US" dirty="0"/>
              <a:t>Each instruction of whole program is executed serially, one at a time</a:t>
            </a:r>
          </a:p>
          <a:p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One processing unit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E75F9F2-F357-A8D7-524F-5C920D3C52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52788" y="1056958"/>
            <a:ext cx="3798736" cy="823912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Parallel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5CE0184-B819-1B85-164E-3FC55CB1AA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52788" y="1880870"/>
            <a:ext cx="4363278" cy="2160767"/>
          </a:xfrm>
        </p:spPr>
        <p:txBody>
          <a:bodyPr/>
          <a:lstStyle/>
          <a:p>
            <a:r>
              <a:rPr lang="en-US" dirty="0"/>
              <a:t>At points in a program, execution of some instructions happens concurrently in time</a:t>
            </a:r>
          </a:p>
          <a:p>
            <a:r>
              <a:rPr lang="en-US" i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Multiple processing units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D666DB-7607-C125-AA1F-01D2722E5C82}"/>
              </a:ext>
            </a:extLst>
          </p:cNvPr>
          <p:cNvSpPr txBox="1"/>
          <p:nvPr/>
        </p:nvSpPr>
        <p:spPr>
          <a:xfrm>
            <a:off x="1545146" y="4080121"/>
            <a:ext cx="99674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We often start with sequential versions of programs and parallelize them to make them faster.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4A9C30-5B51-1E7B-C5ED-0F3581CC45A1}"/>
              </a:ext>
            </a:extLst>
          </p:cNvPr>
          <p:cNvSpPr txBox="1"/>
          <p:nvPr/>
        </p:nvSpPr>
        <p:spPr>
          <a:xfrm>
            <a:off x="1545146" y="4797877"/>
            <a:ext cx="79426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This enables us to solve larger problems. </a:t>
            </a:r>
          </a:p>
          <a:p>
            <a:r>
              <a:rPr lang="en-US" sz="2000" dirty="0"/>
              <a:t>We are interested in SCALE and scalability of our parallel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394507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  <p:bldP spid="6" grpId="0" build="p"/>
      <p:bldP spid="7" grpId="0" build="p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8FA8E-395F-D64C-A027-4A0D8E2AE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What enables us to create parallelism?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22642-A453-1B44-8F59-93228A453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559" y="1096011"/>
            <a:ext cx="11308882" cy="5257081"/>
          </a:xfrm>
        </p:spPr>
        <p:txBody>
          <a:bodyPr>
            <a:normAutofit/>
          </a:bodyPr>
          <a:lstStyle/>
          <a:p>
            <a:r>
              <a:rPr lang="en-US" dirty="0"/>
              <a:t>Parallel and Distributed Hardware with multiple </a:t>
            </a:r>
            <a:r>
              <a:rPr lang="en-US" i="1" dirty="0"/>
              <a:t>processing units (PUs)</a:t>
            </a:r>
            <a:endParaRPr lang="en-US" dirty="0"/>
          </a:p>
          <a:p>
            <a:endParaRPr lang="en-US" dirty="0"/>
          </a:p>
          <a:p>
            <a:r>
              <a:rPr lang="en-US" dirty="0"/>
              <a:t>Software to run on such hardware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56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C827D7A-225F-BEC6-0663-BFE5E892B7EC}"/>
              </a:ext>
            </a:extLst>
          </p:cNvPr>
          <p:cNvSpPr/>
          <p:nvPr/>
        </p:nvSpPr>
        <p:spPr>
          <a:xfrm>
            <a:off x="97277" y="846306"/>
            <a:ext cx="4593988" cy="313669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78FA8E-395F-D64C-A027-4A0D8E2AE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809" y="136525"/>
            <a:ext cx="10967977" cy="558900"/>
          </a:xfrm>
        </p:spPr>
        <p:txBody>
          <a:bodyPr>
            <a:noAutofit/>
          </a:bodyPr>
          <a:lstStyle/>
          <a:p>
            <a:r>
              <a:rPr lang="en-US" sz="3600" dirty="0"/>
              <a:t>Processing Unit Computation: Threads vs. Processes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AFE658-0950-1A50-4B7B-CBF6BEC4682C}"/>
              </a:ext>
            </a:extLst>
          </p:cNvPr>
          <p:cNvSpPr txBox="1"/>
          <p:nvPr/>
        </p:nvSpPr>
        <p:spPr>
          <a:xfrm>
            <a:off x="555603" y="1073668"/>
            <a:ext cx="32620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Threads</a:t>
            </a:r>
          </a:p>
          <a:p>
            <a:r>
              <a:rPr lang="en-US" dirty="0"/>
              <a:t>Share 1 Memory Space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AF068B-0C42-CCF1-FFC2-8CD3666EC765}"/>
              </a:ext>
            </a:extLst>
          </p:cNvPr>
          <p:cNvSpPr/>
          <p:nvPr/>
        </p:nvSpPr>
        <p:spPr>
          <a:xfrm>
            <a:off x="4708187" y="846306"/>
            <a:ext cx="7368640" cy="575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B9C749-9735-A4DA-278A-D98C1CDECFA2}"/>
              </a:ext>
            </a:extLst>
          </p:cNvPr>
          <p:cNvSpPr txBox="1"/>
          <p:nvPr/>
        </p:nvSpPr>
        <p:spPr>
          <a:xfrm>
            <a:off x="5364258" y="965508"/>
            <a:ext cx="48351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Processes</a:t>
            </a:r>
            <a:r>
              <a:rPr lang="en-US" dirty="0"/>
              <a:t> have</a:t>
            </a:r>
          </a:p>
          <a:p>
            <a:r>
              <a:rPr lang="en-US" dirty="0"/>
              <a:t>Independent Memory spaces,</a:t>
            </a:r>
          </a:p>
          <a:p>
            <a:r>
              <a:rPr lang="en-US" dirty="0"/>
              <a:t>Must communicate to share data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9770DD7-2A56-4DD2-8F8B-38E0204D2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331" y="1888838"/>
            <a:ext cx="4142942" cy="9233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9229B8F-B4F6-6CAB-1F00-07AF9F677E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50" y="3145968"/>
            <a:ext cx="4546543" cy="34099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0BC8D44-1A9C-FEDA-2088-23738EEAC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872" y="1998625"/>
            <a:ext cx="4220936" cy="92333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EAD3428-A743-BD7C-BC40-AE516352908D}"/>
              </a:ext>
            </a:extLst>
          </p:cNvPr>
          <p:cNvSpPr txBox="1"/>
          <p:nvPr/>
        </p:nvSpPr>
        <p:spPr>
          <a:xfrm>
            <a:off x="244529" y="4415757"/>
            <a:ext cx="2400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is multicore!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05B9AC-FECC-4267-0AF4-2CE904ACD7CB}"/>
              </a:ext>
            </a:extLst>
          </p:cNvPr>
          <p:cNvSpPr txBox="1"/>
          <p:nvPr/>
        </p:nvSpPr>
        <p:spPr>
          <a:xfrm>
            <a:off x="189331" y="5044054"/>
            <a:ext cx="42581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Computing using any combination of these together is referred to as PDC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BA6D4F-59E2-F4BD-9E51-B44591B2B2DF}"/>
              </a:ext>
            </a:extLst>
          </p:cNvPr>
          <p:cNvSpPr txBox="1"/>
          <p:nvPr/>
        </p:nvSpPr>
        <p:spPr>
          <a:xfrm>
            <a:off x="9546493" y="2460290"/>
            <a:ext cx="20326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machine</a:t>
            </a:r>
          </a:p>
          <a:p>
            <a:endParaRPr lang="en-US" dirty="0"/>
          </a:p>
          <a:p>
            <a:r>
              <a:rPr lang="en-US" dirty="0"/>
              <a:t>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Cluster of machines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D7F667-0B74-11A5-0B83-2130892DD567}"/>
              </a:ext>
            </a:extLst>
          </p:cNvPr>
          <p:cNvSpPr txBox="1"/>
          <p:nvPr/>
        </p:nvSpPr>
        <p:spPr>
          <a:xfrm>
            <a:off x="312211" y="3059668"/>
            <a:ext cx="41272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Single shared memory, multicore machine</a:t>
            </a:r>
          </a:p>
          <a:p>
            <a:endParaRPr lang="en-US" dirty="0"/>
          </a:p>
          <a:p>
            <a:r>
              <a:rPr lang="en-US" dirty="0"/>
              <a:t>Or GPU card with thousands of cores</a:t>
            </a:r>
          </a:p>
        </p:txBody>
      </p:sp>
    </p:spTree>
    <p:extLst>
      <p:ext uri="{BB962C8B-B14F-4D97-AF65-F5344CB8AC3E}">
        <p14:creationId xmlns:p14="http://schemas.microsoft.com/office/powerpoint/2010/main" val="4285299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7" grpId="0"/>
      <p:bldP spid="6" grpId="0"/>
      <p:bldP spid="11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4346" y="76525"/>
            <a:ext cx="10515600" cy="501149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/>
              <a:t>Parallel Hardware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58684" y="331749"/>
            <a:ext cx="167821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Parallel Systems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522490" y="709346"/>
            <a:ext cx="7892762" cy="2606546"/>
            <a:chOff x="2012798" y="1049127"/>
            <a:chExt cx="7892762" cy="2606546"/>
          </a:xfrm>
        </p:grpSpPr>
        <p:sp>
          <p:nvSpPr>
            <p:cNvPr id="6" name="TextBox 5"/>
            <p:cNvSpPr txBox="1"/>
            <p:nvPr/>
          </p:nvSpPr>
          <p:spPr>
            <a:xfrm>
              <a:off x="2012798" y="2101442"/>
              <a:ext cx="988925" cy="646331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Shared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Memory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36779" y="2178345"/>
              <a:ext cx="1868781" cy="1477328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Distributed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Memory,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Networked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multicore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computer clusters</a:t>
              </a:r>
            </a:p>
          </p:txBody>
        </p:sp>
        <p:cxnSp>
          <p:nvCxnSpPr>
            <p:cNvPr id="8" name="Elbow Connector 7"/>
            <p:cNvCxnSpPr>
              <a:stCxn id="6" idx="0"/>
              <a:endCxn id="7" idx="0"/>
            </p:cNvCxnSpPr>
            <p:nvPr/>
          </p:nvCxnSpPr>
          <p:spPr>
            <a:xfrm rot="16200000" flipH="1">
              <a:off x="5700763" y="-1092061"/>
              <a:ext cx="76903" cy="6463909"/>
            </a:xfrm>
            <a:prstGeom prst="bentConnector3">
              <a:avLst>
                <a:gd name="adj1" fmla="val -297258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Isosceles Triangle 9"/>
            <p:cNvSpPr/>
            <p:nvPr/>
          </p:nvSpPr>
          <p:spPr>
            <a:xfrm>
              <a:off x="5659084" y="1049127"/>
              <a:ext cx="320571" cy="286806"/>
            </a:xfrm>
            <a:prstGeom prst="triangle">
              <a:avLst>
                <a:gd name="adj" fmla="val 56069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163819" y="2412409"/>
            <a:ext cx="4355225" cy="2283648"/>
            <a:chOff x="-147047" y="3351622"/>
            <a:chExt cx="4355225" cy="2283648"/>
          </a:xfrm>
        </p:grpSpPr>
        <p:cxnSp>
          <p:nvCxnSpPr>
            <p:cNvPr id="18" name="Straight Connector 17"/>
            <p:cNvCxnSpPr>
              <a:endCxn id="19" idx="0"/>
            </p:cNvCxnSpPr>
            <p:nvPr/>
          </p:nvCxnSpPr>
          <p:spPr>
            <a:xfrm flipH="1" flipV="1">
              <a:off x="2712482" y="3351622"/>
              <a:ext cx="1530" cy="56900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Isosceles Triangle 18"/>
            <p:cNvSpPr/>
            <p:nvPr/>
          </p:nvSpPr>
          <p:spPr>
            <a:xfrm>
              <a:off x="2552196" y="3351622"/>
              <a:ext cx="320571" cy="28680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-147047" y="4164194"/>
              <a:ext cx="1511504" cy="92333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Multicore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CPU,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Main memory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616204" y="4157942"/>
              <a:ext cx="1591974" cy="1477328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Multicore CPU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+ “manycore”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Accelerator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Card 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with memory</a:t>
              </a:r>
            </a:p>
          </p:txBody>
        </p:sp>
        <p:cxnSp>
          <p:nvCxnSpPr>
            <p:cNvPr id="22" name="Elbow Connector 21"/>
            <p:cNvCxnSpPr>
              <a:stCxn id="21" idx="0"/>
              <a:endCxn id="20" idx="0"/>
            </p:cNvCxnSpPr>
            <p:nvPr/>
          </p:nvCxnSpPr>
          <p:spPr>
            <a:xfrm rot="16200000" flipH="1" flipV="1">
              <a:off x="2007322" y="2759325"/>
              <a:ext cx="6252" cy="2803486"/>
            </a:xfrm>
            <a:prstGeom prst="bentConnector3">
              <a:avLst>
                <a:gd name="adj1" fmla="val -365643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/>
          <p:cNvGrpSpPr/>
          <p:nvPr/>
        </p:nvGrpSpPr>
        <p:grpSpPr>
          <a:xfrm>
            <a:off x="4310856" y="4692269"/>
            <a:ext cx="816728" cy="839984"/>
            <a:chOff x="3009252" y="4848849"/>
            <a:chExt cx="816728" cy="839984"/>
          </a:xfrm>
        </p:grpSpPr>
        <p:cxnSp>
          <p:nvCxnSpPr>
            <p:cNvPr id="24" name="Straight Connector 23"/>
            <p:cNvCxnSpPr>
              <a:cxnSpLocks/>
              <a:endCxn id="25" idx="0"/>
            </p:cNvCxnSpPr>
            <p:nvPr/>
          </p:nvCxnSpPr>
          <p:spPr>
            <a:xfrm flipV="1">
              <a:off x="3419963" y="4848849"/>
              <a:ext cx="0" cy="467167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Isosceles Triangle 24"/>
            <p:cNvSpPr/>
            <p:nvPr/>
          </p:nvSpPr>
          <p:spPr>
            <a:xfrm>
              <a:off x="3325096" y="4848849"/>
              <a:ext cx="189733" cy="28680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09252" y="5319501"/>
              <a:ext cx="816728" cy="369332"/>
            </a:xfrm>
            <a:prstGeom prst="rect">
              <a:avLst/>
            </a:prstGeom>
            <a:solidFill>
              <a:srgbClr val="CCFFCC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GPUs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558684" y="996152"/>
            <a:ext cx="1624419" cy="1602143"/>
            <a:chOff x="5149558" y="1490380"/>
            <a:chExt cx="1624419" cy="1602143"/>
          </a:xfrm>
        </p:grpSpPr>
        <p:sp>
          <p:nvSpPr>
            <p:cNvPr id="45" name="TextBox 44"/>
            <p:cNvSpPr txBox="1"/>
            <p:nvPr/>
          </p:nvSpPr>
          <p:spPr>
            <a:xfrm>
              <a:off x="5149558" y="2446192"/>
              <a:ext cx="1624419" cy="646331"/>
            </a:xfrm>
            <a:prstGeom prst="rect">
              <a:avLst/>
            </a:prstGeom>
            <a:gradFill flip="none" rotWithShape="1">
              <a:gsLst>
                <a:gs pos="33000">
                  <a:srgbClr val="CCFFCC"/>
                </a:gs>
                <a:gs pos="100000">
                  <a:srgbClr val="FFFF00"/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Heterogeneous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Clusters</a:t>
              </a:r>
            </a:p>
          </p:txBody>
        </p:sp>
        <p:cxnSp>
          <p:nvCxnSpPr>
            <p:cNvPr id="55" name="Straight Connector 54"/>
            <p:cNvCxnSpPr>
              <a:cxnSpLocks/>
              <a:stCxn id="45" idx="0"/>
              <a:endCxn id="10" idx="3"/>
            </p:cNvCxnSpPr>
            <p:nvPr/>
          </p:nvCxnSpPr>
          <p:spPr>
            <a:xfrm flipH="1" flipV="1">
              <a:off x="5939391" y="1490380"/>
              <a:ext cx="22377" cy="95581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/>
          <p:cNvGrpSpPr/>
          <p:nvPr/>
        </p:nvGrpSpPr>
        <p:grpSpPr>
          <a:xfrm>
            <a:off x="9845759" y="3354764"/>
            <a:ext cx="1359218" cy="1378264"/>
            <a:chOff x="7249975" y="3529896"/>
            <a:chExt cx="1359218" cy="1378264"/>
          </a:xfrm>
        </p:grpSpPr>
        <p:sp>
          <p:nvSpPr>
            <p:cNvPr id="14" name="TextBox 13"/>
            <p:cNvSpPr txBox="1"/>
            <p:nvPr/>
          </p:nvSpPr>
          <p:spPr>
            <a:xfrm>
              <a:off x="7249975" y="4261829"/>
              <a:ext cx="1359218" cy="646331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Raspberry Pi</a:t>
              </a:r>
            </a:p>
            <a:p>
              <a:pPr algn="ctr"/>
              <a:r>
                <a:rPr lang="en-US" dirty="0">
                  <a:solidFill>
                    <a:schemeClr val="bg1"/>
                  </a:solidFill>
                </a:rPr>
                <a:t>Clusters</a:t>
              </a:r>
            </a:p>
          </p:txBody>
        </p:sp>
        <p:cxnSp>
          <p:nvCxnSpPr>
            <p:cNvPr id="40" name="Straight Connector 39"/>
            <p:cNvCxnSpPr>
              <a:stCxn id="14" idx="0"/>
              <a:endCxn id="41" idx="0"/>
            </p:cNvCxnSpPr>
            <p:nvPr/>
          </p:nvCxnSpPr>
          <p:spPr>
            <a:xfrm flipH="1" flipV="1">
              <a:off x="7915138" y="3529896"/>
              <a:ext cx="14446" cy="731933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Isosceles Triangle 40"/>
            <p:cNvSpPr/>
            <p:nvPr/>
          </p:nvSpPr>
          <p:spPr>
            <a:xfrm>
              <a:off x="7754852" y="3529896"/>
              <a:ext cx="320571" cy="28680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6060926" y="2614826"/>
            <a:ext cx="2570673" cy="1648595"/>
            <a:chOff x="4682658" y="3529896"/>
            <a:chExt cx="2570673" cy="1648595"/>
          </a:xfrm>
        </p:grpSpPr>
        <p:cxnSp>
          <p:nvCxnSpPr>
            <p:cNvPr id="12" name="Straight Connector 11"/>
            <p:cNvCxnSpPr>
              <a:endCxn id="13" idx="0"/>
            </p:cNvCxnSpPr>
            <p:nvPr/>
          </p:nvCxnSpPr>
          <p:spPr>
            <a:xfrm flipV="1">
              <a:off x="5992627" y="3529896"/>
              <a:ext cx="0" cy="49845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Isosceles Triangle 12"/>
            <p:cNvSpPr/>
            <p:nvPr/>
          </p:nvSpPr>
          <p:spPr>
            <a:xfrm>
              <a:off x="5832341" y="3529896"/>
              <a:ext cx="320571" cy="286806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039601" y="4255161"/>
              <a:ext cx="1213730" cy="923330"/>
            </a:xfrm>
            <a:prstGeom prst="rect">
              <a:avLst/>
            </a:prstGeom>
            <a:gradFill flip="none" rotWithShape="1">
              <a:gsLst>
                <a:gs pos="33000">
                  <a:srgbClr val="CCFFCC"/>
                </a:gs>
                <a:gs pos="100000">
                  <a:srgbClr val="FFFF00"/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400"/>
              </a:lvl1pPr>
            </a:lstStyle>
            <a:p>
              <a:r>
                <a:rPr lang="en-US" sz="1800" dirty="0">
                  <a:solidFill>
                    <a:schemeClr val="bg1"/>
                  </a:solidFill>
                </a:rPr>
                <a:t>Modern</a:t>
              </a:r>
            </a:p>
            <a:p>
              <a:r>
                <a:rPr lang="en-US" sz="1800" dirty="0">
                  <a:solidFill>
                    <a:schemeClr val="bg1"/>
                  </a:solidFill>
                </a:rPr>
                <a:t>Super</a:t>
              </a:r>
            </a:p>
            <a:p>
              <a:r>
                <a:rPr lang="en-US" sz="1800" dirty="0">
                  <a:solidFill>
                    <a:schemeClr val="bg1"/>
                  </a:solidFill>
                </a:rPr>
                <a:t>Computers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682658" y="4255161"/>
              <a:ext cx="925831" cy="646331"/>
            </a:xfrm>
            <a:prstGeom prst="rect">
              <a:avLst/>
            </a:prstGeom>
            <a:gradFill flip="none" rotWithShape="1">
              <a:gsLst>
                <a:gs pos="33000">
                  <a:srgbClr val="CCFFCC"/>
                </a:gs>
                <a:gs pos="100000">
                  <a:srgbClr val="FFFF00"/>
                </a:gs>
              </a:gsLst>
              <a:lin ang="0" scaled="1"/>
              <a:tileRect/>
            </a:gra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2400"/>
              </a:lvl1pPr>
            </a:lstStyle>
            <a:p>
              <a:r>
                <a:rPr lang="en-US" sz="1800" dirty="0">
                  <a:solidFill>
                    <a:schemeClr val="bg1"/>
                  </a:solidFill>
                </a:rPr>
                <a:t>Newer</a:t>
              </a:r>
            </a:p>
            <a:p>
              <a:r>
                <a:rPr lang="en-US" sz="1800" dirty="0">
                  <a:solidFill>
                    <a:schemeClr val="bg1"/>
                  </a:solidFill>
                </a:rPr>
                <a:t>Clusters</a:t>
              </a:r>
            </a:p>
          </p:txBody>
        </p:sp>
        <p:cxnSp>
          <p:nvCxnSpPr>
            <p:cNvPr id="50" name="Elbow Connector 49"/>
            <p:cNvCxnSpPr>
              <a:stCxn id="15" idx="0"/>
              <a:endCxn id="48" idx="0"/>
            </p:cNvCxnSpPr>
            <p:nvPr/>
          </p:nvCxnSpPr>
          <p:spPr>
            <a:xfrm rot="16200000" flipV="1">
              <a:off x="5896020" y="3504715"/>
              <a:ext cx="12700" cy="1500892"/>
            </a:xfrm>
            <a:prstGeom prst="bentConnector3">
              <a:avLst>
                <a:gd name="adj1" fmla="val 180000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Oval 35"/>
          <p:cNvSpPr/>
          <p:nvPr/>
        </p:nvSpPr>
        <p:spPr>
          <a:xfrm>
            <a:off x="806209" y="2939806"/>
            <a:ext cx="2217057" cy="1466571"/>
          </a:xfrm>
          <a:prstGeom prst="ellipse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/>
          <p:cNvSpPr/>
          <p:nvPr/>
        </p:nvSpPr>
        <p:spPr>
          <a:xfrm>
            <a:off x="9352037" y="1750005"/>
            <a:ext cx="2351165" cy="3328861"/>
          </a:xfrm>
          <a:prstGeom prst="ellipse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3A2F648-A5A1-1416-E859-B0F97EC0FF0F}"/>
              </a:ext>
            </a:extLst>
          </p:cNvPr>
          <p:cNvSpPr/>
          <p:nvPr/>
        </p:nvSpPr>
        <p:spPr>
          <a:xfrm>
            <a:off x="3502345" y="2847492"/>
            <a:ext cx="2427332" cy="2893508"/>
          </a:xfrm>
          <a:prstGeom prst="ellipse">
            <a:avLst/>
          </a:prstGeom>
          <a:noFill/>
          <a:ln w="444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478430-6C21-3ED5-F54A-E2540EFFC473}"/>
              </a:ext>
            </a:extLst>
          </p:cNvPr>
          <p:cNvSpPr txBox="1"/>
          <p:nvPr/>
        </p:nvSpPr>
        <p:spPr>
          <a:xfrm>
            <a:off x="4444968" y="2624661"/>
            <a:ext cx="133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C000"/>
                </a:solidFill>
              </a:rPr>
              <a:t>mscs</a:t>
            </a:r>
            <a:r>
              <a:rPr lang="en-US" dirty="0">
                <a:solidFill>
                  <a:srgbClr val="FFC000"/>
                </a:solidFill>
              </a:rPr>
              <a:t>  server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815A51-3F12-7BDD-3428-E35D52BA1FDE}"/>
              </a:ext>
            </a:extLst>
          </p:cNvPr>
          <p:cNvSpPr txBox="1">
            <a:spLocks/>
          </p:cNvSpPr>
          <p:nvPr/>
        </p:nvSpPr>
        <p:spPr>
          <a:xfrm>
            <a:off x="714346" y="562474"/>
            <a:ext cx="10515600" cy="501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chemeClr val="tx1"/>
                </a:solidFill>
              </a:rPr>
              <a:t>Plus Software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656E17-BE0A-E2DE-5327-DDA7E9D347F6}"/>
              </a:ext>
            </a:extLst>
          </p:cNvPr>
          <p:cNvSpPr txBox="1"/>
          <p:nvPr/>
        </p:nvSpPr>
        <p:spPr>
          <a:xfrm>
            <a:off x="488798" y="4259615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OpenMP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B57C1-EE4A-FEFB-FE5A-71447AD602EF}"/>
              </a:ext>
            </a:extLst>
          </p:cNvPr>
          <p:cNvSpPr txBox="1"/>
          <p:nvPr/>
        </p:nvSpPr>
        <p:spPr>
          <a:xfrm>
            <a:off x="8631599" y="5038912"/>
            <a:ext cx="3127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MPI, Message passing interface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F776635-5016-B608-08E7-6A4FCBD91767}"/>
              </a:ext>
            </a:extLst>
          </p:cNvPr>
          <p:cNvSpPr txBox="1">
            <a:spLocks/>
          </p:cNvSpPr>
          <p:nvPr/>
        </p:nvSpPr>
        <p:spPr>
          <a:xfrm>
            <a:off x="714346" y="992081"/>
            <a:ext cx="10515600" cy="5011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accent5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>
                <a:solidFill>
                  <a:srgbClr val="F46F80"/>
                </a:solidFill>
              </a:rPr>
              <a:t>Plus processing units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038EE5-D1D6-AF04-5ED6-4F14BE27DB08}"/>
              </a:ext>
            </a:extLst>
          </p:cNvPr>
          <p:cNvSpPr txBox="1"/>
          <p:nvPr/>
        </p:nvSpPr>
        <p:spPr>
          <a:xfrm>
            <a:off x="488798" y="4560881"/>
            <a:ext cx="89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46F80"/>
                </a:solidFill>
              </a:rPr>
              <a:t>threads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1423A1-2BD9-59CD-E4C2-17EC612F6A92}"/>
              </a:ext>
            </a:extLst>
          </p:cNvPr>
          <p:cNvSpPr txBox="1"/>
          <p:nvPr/>
        </p:nvSpPr>
        <p:spPr>
          <a:xfrm>
            <a:off x="8670804" y="5344796"/>
            <a:ext cx="11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46F80"/>
                </a:solidFill>
              </a:rPr>
              <a:t>processes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60CDF77-9B24-202C-41AD-53ECF4563009}"/>
              </a:ext>
            </a:extLst>
          </p:cNvPr>
          <p:cNvSpPr txBox="1"/>
          <p:nvPr/>
        </p:nvSpPr>
        <p:spPr>
          <a:xfrm>
            <a:off x="3951548" y="5681253"/>
            <a:ext cx="172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CUDA, </a:t>
            </a:r>
            <a:r>
              <a:rPr lang="en-US" dirty="0" err="1"/>
              <a:t>OpenACC</a:t>
            </a:r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E9772F-334C-5F09-2BD5-3BDA29B71C49}"/>
              </a:ext>
            </a:extLst>
          </p:cNvPr>
          <p:cNvSpPr txBox="1"/>
          <p:nvPr/>
        </p:nvSpPr>
        <p:spPr>
          <a:xfrm>
            <a:off x="3945805" y="5955268"/>
            <a:ext cx="89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46F80"/>
                </a:solidFill>
              </a:rPr>
              <a:t>threads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A80D4F-DD9E-B3A6-AAA8-0BDA5515DA20}"/>
              </a:ext>
            </a:extLst>
          </p:cNvPr>
          <p:cNvSpPr txBox="1"/>
          <p:nvPr/>
        </p:nvSpPr>
        <p:spPr>
          <a:xfrm>
            <a:off x="488798" y="4936876"/>
            <a:ext cx="1074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OpenACC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5A01EA0-E61F-A5AB-BD83-88088C92731D}"/>
              </a:ext>
            </a:extLst>
          </p:cNvPr>
          <p:cNvSpPr txBox="1"/>
          <p:nvPr/>
        </p:nvSpPr>
        <p:spPr>
          <a:xfrm>
            <a:off x="488798" y="5210891"/>
            <a:ext cx="898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46F80"/>
                </a:solidFill>
              </a:rPr>
              <a:t>threads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7557BE-E9D5-0589-D911-85F702E34293}"/>
              </a:ext>
            </a:extLst>
          </p:cNvPr>
          <p:cNvSpPr txBox="1"/>
          <p:nvPr/>
        </p:nvSpPr>
        <p:spPr>
          <a:xfrm>
            <a:off x="488798" y="5563231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MPI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075EA8-7819-4AA6-0AD3-64EC75948BC8}"/>
              </a:ext>
            </a:extLst>
          </p:cNvPr>
          <p:cNvSpPr txBox="1"/>
          <p:nvPr/>
        </p:nvSpPr>
        <p:spPr>
          <a:xfrm>
            <a:off x="488798" y="5837246"/>
            <a:ext cx="11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46F80"/>
                </a:solidFill>
              </a:rPr>
              <a:t>processes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26D588-7A81-16DE-39AB-1169D2D4BFCE}"/>
              </a:ext>
            </a:extLst>
          </p:cNvPr>
          <p:cNvSpPr txBox="1"/>
          <p:nvPr/>
        </p:nvSpPr>
        <p:spPr>
          <a:xfrm>
            <a:off x="1192512" y="2538780"/>
            <a:ext cx="1337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C000"/>
                </a:solidFill>
              </a:rPr>
              <a:t>mscs</a:t>
            </a:r>
            <a:r>
              <a:rPr lang="en-US" dirty="0">
                <a:solidFill>
                  <a:srgbClr val="FFC000"/>
                </a:solidFill>
              </a:rPr>
              <a:t>  server</a:t>
            </a:r>
          </a:p>
        </p:txBody>
      </p:sp>
      <p:pic>
        <p:nvPicPr>
          <p:cNvPr id="54" name="Content Placeholder 4">
            <a:extLst>
              <a:ext uri="{FF2B5EF4-FFF2-40B4-BE49-F238E27FC236}">
                <a16:creationId xmlns:a16="http://schemas.microsoft.com/office/drawing/2014/main" id="{5F3F8C19-2799-D520-0432-8474258F7E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72" y="2647144"/>
            <a:ext cx="830333" cy="1501167"/>
          </a:xfr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86D462F-65D5-3F5E-3058-47A07ACC0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4" y="2099664"/>
            <a:ext cx="2103015" cy="468695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194992EC-62E6-32E6-913F-DFEF399B2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1855" y="94812"/>
            <a:ext cx="2222462" cy="166684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BCF2BD5-4002-1F50-631A-65243B3604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783" y="6189586"/>
            <a:ext cx="2123525" cy="464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41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 animBg="1"/>
      <p:bldP spid="43" grpId="0" animBg="1"/>
      <p:bldP spid="47" grpId="0"/>
      <p:bldP spid="3" grpId="0"/>
      <p:bldP spid="9" grpId="0"/>
      <p:bldP spid="11" grpId="0"/>
      <p:bldP spid="16" grpId="0"/>
      <p:bldP spid="29" grpId="0"/>
      <p:bldP spid="34" grpId="0"/>
      <p:bldP spid="35" grpId="0"/>
      <p:bldP spid="39" grpId="0"/>
      <p:bldP spid="44" grpId="0"/>
      <p:bldP spid="46" grpId="0"/>
      <p:bldP spid="49" grpId="0"/>
      <p:bldP spid="51" grpId="0"/>
      <p:bldP spid="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C3C3F-03E8-4B95-AAE8-4A3245FA2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‘heterogeneous’ system</a:t>
            </a:r>
          </a:p>
        </p:txBody>
      </p:sp>
      <p:pic>
        <p:nvPicPr>
          <p:cNvPr id="4" name="Picture 3" descr="nuggleInside.JPG">
            <a:extLst>
              <a:ext uri="{FF2B5EF4-FFF2-40B4-BE49-F238E27FC236}">
                <a16:creationId xmlns:a16="http://schemas.microsoft.com/office/drawing/2014/main" id="{B4B4A7E3-A784-F8CA-9602-D6158776A0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737" y="1168841"/>
            <a:ext cx="5200152" cy="3900113"/>
          </a:xfrm>
          <a:prstGeom prst="rect">
            <a:avLst/>
          </a:prstGeom>
        </p:spPr>
      </p:pic>
      <p:sp>
        <p:nvSpPr>
          <p:cNvPr id="5" name="Up Arrow 4">
            <a:extLst>
              <a:ext uri="{FF2B5EF4-FFF2-40B4-BE49-F238E27FC236}">
                <a16:creationId xmlns:a16="http://schemas.microsoft.com/office/drawing/2014/main" id="{3C346791-59A0-7B59-7118-D6C819EF8FA4}"/>
              </a:ext>
            </a:extLst>
          </p:cNvPr>
          <p:cNvSpPr/>
          <p:nvPr/>
        </p:nvSpPr>
        <p:spPr>
          <a:xfrm>
            <a:off x="5525382" y="3453962"/>
            <a:ext cx="452208" cy="1825929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Up Arrow 5">
            <a:extLst>
              <a:ext uri="{FF2B5EF4-FFF2-40B4-BE49-F238E27FC236}">
                <a16:creationId xmlns:a16="http://schemas.microsoft.com/office/drawing/2014/main" id="{582770CC-C30B-3C62-CB4C-A20BCAF31CD2}"/>
              </a:ext>
            </a:extLst>
          </p:cNvPr>
          <p:cNvSpPr/>
          <p:nvPr/>
        </p:nvSpPr>
        <p:spPr>
          <a:xfrm>
            <a:off x="6620189" y="3685095"/>
            <a:ext cx="452208" cy="1685297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40BC88-4722-333D-8A3A-8C606F4488B1}"/>
              </a:ext>
            </a:extLst>
          </p:cNvPr>
          <p:cNvSpPr txBox="1"/>
          <p:nvPr/>
        </p:nvSpPr>
        <p:spPr>
          <a:xfrm>
            <a:off x="5404126" y="5435672"/>
            <a:ext cx="24161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Multicore CPUs</a:t>
            </a:r>
          </a:p>
          <a:p>
            <a:r>
              <a:rPr lang="en-US" dirty="0"/>
              <a:t>(underneath heat sinks)</a:t>
            </a:r>
          </a:p>
        </p:txBody>
      </p:sp>
      <p:sp>
        <p:nvSpPr>
          <p:cNvPr id="8" name="Up Arrow 7">
            <a:extLst>
              <a:ext uri="{FF2B5EF4-FFF2-40B4-BE49-F238E27FC236}">
                <a16:creationId xmlns:a16="http://schemas.microsoft.com/office/drawing/2014/main" id="{AFBD1E02-E737-41F5-CE9F-6475630DBA9D}"/>
              </a:ext>
            </a:extLst>
          </p:cNvPr>
          <p:cNvSpPr/>
          <p:nvPr/>
        </p:nvSpPr>
        <p:spPr>
          <a:xfrm rot="5400000">
            <a:off x="4382410" y="342689"/>
            <a:ext cx="452208" cy="2738151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Up Arrow 8">
            <a:extLst>
              <a:ext uri="{FF2B5EF4-FFF2-40B4-BE49-F238E27FC236}">
                <a16:creationId xmlns:a16="http://schemas.microsoft.com/office/drawing/2014/main" id="{295EA9B8-46B3-3D32-8824-AF220E39C7F0}"/>
              </a:ext>
            </a:extLst>
          </p:cNvPr>
          <p:cNvSpPr/>
          <p:nvPr/>
        </p:nvSpPr>
        <p:spPr>
          <a:xfrm rot="5400000">
            <a:off x="4382409" y="794898"/>
            <a:ext cx="452208" cy="2738151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8B6C7D-FBE2-33EF-F7B2-9A7FEE410058}"/>
              </a:ext>
            </a:extLst>
          </p:cNvPr>
          <p:cNvSpPr txBox="1"/>
          <p:nvPr/>
        </p:nvSpPr>
        <p:spPr>
          <a:xfrm>
            <a:off x="1191317" y="1668455"/>
            <a:ext cx="1654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Many-core GPU</a:t>
            </a:r>
          </a:p>
          <a:p>
            <a:r>
              <a:rPr lang="en-US" dirty="0"/>
              <a:t>cards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F4F07E4-7C6C-F7DE-454C-821E5C0259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6325" y="1095586"/>
            <a:ext cx="25527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6291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AED0C-0482-5FD5-4075-30F7422D1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45" y="30162"/>
            <a:ext cx="2816889" cy="501149"/>
          </a:xfrm>
        </p:spPr>
        <p:txBody>
          <a:bodyPr/>
          <a:lstStyle/>
          <a:p>
            <a:r>
              <a:rPr lang="en-US" dirty="0"/>
              <a:t>Clusters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E91BF-514C-C768-682D-4565E59191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5DA40-9F2C-2EE9-31EA-A2A4044FE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35" y="568818"/>
            <a:ext cx="5580177" cy="55801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736BA84-DC9A-4449-1651-752B49A84F24}"/>
              </a:ext>
            </a:extLst>
          </p:cNvPr>
          <p:cNvSpPr txBox="1"/>
          <p:nvPr/>
        </p:nvSpPr>
        <p:spPr>
          <a:xfrm>
            <a:off x="6427498" y="6024123"/>
            <a:ext cx="55214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By OLCF at ORNL - https://</a:t>
            </a:r>
            <a:r>
              <a:rPr lang="en-US" sz="1400" dirty="0" err="1"/>
              <a:t>www.flickr.com</a:t>
            </a:r>
            <a:r>
              <a:rPr lang="en-US" sz="1400" dirty="0"/>
              <a:t>/photos/</a:t>
            </a:r>
            <a:r>
              <a:rPr lang="en-US" sz="1400" dirty="0" err="1"/>
              <a:t>olcf</a:t>
            </a:r>
            <a:r>
              <a:rPr lang="en-US" sz="1400" dirty="0"/>
              <a:t>/52117623843/, CC BY 2.0, https://</a:t>
            </a:r>
            <a:r>
              <a:rPr lang="en-US" sz="1400" dirty="0" err="1"/>
              <a:t>commons.wikimedia.org</a:t>
            </a:r>
            <a:r>
              <a:rPr lang="en-US" sz="1400" dirty="0"/>
              <a:t>/w/</a:t>
            </a:r>
            <a:r>
              <a:rPr lang="en-US" sz="1400" dirty="0" err="1"/>
              <a:t>index.php?curid</a:t>
            </a:r>
            <a:r>
              <a:rPr lang="en-US" sz="1400" dirty="0"/>
              <a:t>=119231238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58A0E0-827B-7F5A-A6C0-9343990BB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37" y="531311"/>
            <a:ext cx="6624817" cy="5434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F486D77-3BF0-EB2B-0E84-B86AA66663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7779" y="3687323"/>
            <a:ext cx="3124200" cy="233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E2BB1B-49AB-33BF-677F-168F99E083FB}"/>
              </a:ext>
            </a:extLst>
          </p:cNvPr>
          <p:cNvSpPr txBox="1"/>
          <p:nvPr/>
        </p:nvSpPr>
        <p:spPr>
          <a:xfrm>
            <a:off x="983446" y="6077379"/>
            <a:ext cx="32810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Beowulf clusters using “COTS”:</a:t>
            </a:r>
          </a:p>
          <a:p>
            <a:r>
              <a:rPr lang="en-US" dirty="0"/>
              <a:t>Commodity off-the-shelf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59B330-D641-1173-4D2D-7EE5043124ED}"/>
              </a:ext>
            </a:extLst>
          </p:cNvPr>
          <p:cNvSpPr txBox="1"/>
          <p:nvPr/>
        </p:nvSpPr>
        <p:spPr>
          <a:xfrm>
            <a:off x="7898690" y="198677"/>
            <a:ext cx="1711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supercomputers</a:t>
            </a:r>
          </a:p>
        </p:txBody>
      </p:sp>
      <p:pic>
        <p:nvPicPr>
          <p:cNvPr id="6" name="Content Placeholder 2" descr="croppedNetSide.png">
            <a:extLst>
              <a:ext uri="{FF2B5EF4-FFF2-40B4-BE49-F238E27FC236}">
                <a16:creationId xmlns:a16="http://schemas.microsoft.com/office/drawing/2014/main" id="{BDF769CD-90AD-5857-DEFC-EA4D78D092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374" b="11374"/>
          <a:stretch>
            <a:fillRect/>
          </a:stretch>
        </p:blipFill>
        <p:spPr>
          <a:xfrm>
            <a:off x="86485" y="3644120"/>
            <a:ext cx="4347519" cy="250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60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67CB7-374E-FAB4-0E5D-ED20D4FEC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C20ED-BE59-25EF-2838-544DBECE1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Learn by doing</a:t>
            </a:r>
          </a:p>
          <a:p>
            <a:pPr lvl="1" fontAlgn="base"/>
            <a:r>
              <a:rPr lang="en-US" dirty="0"/>
              <a:t>Start with some code, not from scratch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Practice Activities, hw0 are low stakes</a:t>
            </a:r>
          </a:p>
          <a:p>
            <a:pPr lvl="1" fontAlgn="base"/>
            <a:r>
              <a:rPr lang="en-US" dirty="0"/>
              <a:t>Learn and practice as prep for homework</a:t>
            </a:r>
          </a:p>
          <a:p>
            <a:pPr lvl="1" fontAlgn="base"/>
            <a:r>
              <a:rPr lang="en-US" dirty="0"/>
              <a:t>Suggested reading before class on the schedule</a:t>
            </a:r>
          </a:p>
          <a:p>
            <a:pPr fontAlgn="base"/>
            <a:r>
              <a:rPr lang="en-US" dirty="0"/>
              <a:t>Homework assignments with suggested deadlines (flexible)</a:t>
            </a:r>
          </a:p>
          <a:p>
            <a:pPr lvl="1" fontAlgn="base"/>
            <a:r>
              <a:rPr lang="en-US" dirty="0"/>
              <a:t>Coding and a report</a:t>
            </a:r>
          </a:p>
          <a:p>
            <a:pPr fontAlgn="base"/>
            <a:r>
              <a:rPr lang="en-US" dirty="0"/>
              <a:t>Course project</a:t>
            </a:r>
          </a:p>
          <a:p>
            <a:pPr lvl="1" fontAlgn="base"/>
            <a:r>
              <a:rPr lang="en-US" dirty="0"/>
              <a:t>Coding, report, presentation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573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CB90D1-AE02-7635-FF91-3519572B6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8854" y="892174"/>
            <a:ext cx="8953275" cy="6714957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DF7C1D-8BEF-E6F9-65E5-727D851E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Method of work on code for course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AC015-B19B-4855-B99C-6D1F4A8E1DC1}"/>
              </a:ext>
            </a:extLst>
          </p:cNvPr>
          <p:cNvSpPr txBox="1"/>
          <p:nvPr/>
        </p:nvSpPr>
        <p:spPr>
          <a:xfrm>
            <a:off x="3416381" y="1863524"/>
            <a:ext cx="729206" cy="2769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445f24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FA4751-F0D0-FE79-C4E9-832DD0822C7B}"/>
              </a:ext>
            </a:extLst>
          </p:cNvPr>
          <p:cNvSpPr txBox="1"/>
          <p:nvPr/>
        </p:nvSpPr>
        <p:spPr>
          <a:xfrm>
            <a:off x="2060750" y="5370482"/>
            <a:ext cx="77434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Reports for homework should be placed on Google Drive provided by instructor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31E8278-125B-8410-F34F-6E17CDDFB400}"/>
              </a:ext>
            </a:extLst>
          </p:cNvPr>
          <p:cNvSpPr/>
          <p:nvPr/>
        </p:nvSpPr>
        <p:spPr>
          <a:xfrm>
            <a:off x="5510463" y="1479884"/>
            <a:ext cx="1082842" cy="383640"/>
          </a:xfrm>
          <a:prstGeom prst="ellipse">
            <a:avLst/>
          </a:prstGeom>
          <a:noFill/>
          <a:ln w="349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3AC732-0C04-7FD5-D7B7-6D4625E336C4}"/>
              </a:ext>
            </a:extLst>
          </p:cNvPr>
          <p:cNvCxnSpPr/>
          <p:nvPr/>
        </p:nvCxnSpPr>
        <p:spPr>
          <a:xfrm>
            <a:off x="3416381" y="2140523"/>
            <a:ext cx="1709072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2CF0C1A-F4B9-DDC8-799B-850B20471CFB}"/>
              </a:ext>
            </a:extLst>
          </p:cNvPr>
          <p:cNvCxnSpPr/>
          <p:nvPr/>
        </p:nvCxnSpPr>
        <p:spPr>
          <a:xfrm>
            <a:off x="3376269" y="2401211"/>
            <a:ext cx="1709072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CF5DFA-581F-AE07-97E2-3C590114AF8E}"/>
              </a:ext>
            </a:extLst>
          </p:cNvPr>
          <p:cNvCxnSpPr/>
          <p:nvPr/>
        </p:nvCxnSpPr>
        <p:spPr>
          <a:xfrm>
            <a:off x="3408349" y="2950667"/>
            <a:ext cx="1709072" cy="0"/>
          </a:xfrm>
          <a:prstGeom prst="line">
            <a:avLst/>
          </a:prstGeom>
          <a:ln w="222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94363AA5-307D-6276-2B44-45ECC4930372}"/>
              </a:ext>
            </a:extLst>
          </p:cNvPr>
          <p:cNvSpPr/>
          <p:nvPr/>
        </p:nvSpPr>
        <p:spPr>
          <a:xfrm>
            <a:off x="4664237" y="3400939"/>
            <a:ext cx="1082842" cy="383640"/>
          </a:xfrm>
          <a:prstGeom prst="ellipse">
            <a:avLst/>
          </a:prstGeom>
          <a:noFill/>
          <a:ln w="349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E4E9B2A-1262-5E77-BC72-B5B54C7FC0D3}"/>
              </a:ext>
            </a:extLst>
          </p:cNvPr>
          <p:cNvSpPr/>
          <p:nvPr/>
        </p:nvSpPr>
        <p:spPr>
          <a:xfrm>
            <a:off x="6284499" y="4058681"/>
            <a:ext cx="2318079" cy="383640"/>
          </a:xfrm>
          <a:prstGeom prst="ellipse">
            <a:avLst/>
          </a:prstGeom>
          <a:noFill/>
          <a:ln w="349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00844AD-9650-6DBF-E8F8-652D3BA5E01C}"/>
              </a:ext>
            </a:extLst>
          </p:cNvPr>
          <p:cNvSpPr/>
          <p:nvPr/>
        </p:nvSpPr>
        <p:spPr>
          <a:xfrm>
            <a:off x="6426451" y="2068330"/>
            <a:ext cx="2176127" cy="710483"/>
          </a:xfrm>
          <a:prstGeom prst="ellipse">
            <a:avLst/>
          </a:prstGeom>
          <a:noFill/>
          <a:ln w="3492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859AAE-C681-0527-BC4E-72E52CA24864}"/>
              </a:ext>
            </a:extLst>
          </p:cNvPr>
          <p:cNvSpPr txBox="1"/>
          <p:nvPr/>
        </p:nvSpPr>
        <p:spPr>
          <a:xfrm>
            <a:off x="6702007" y="3537614"/>
            <a:ext cx="729206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   </a:t>
            </a:r>
            <a:r>
              <a:rPr lang="en-US" sz="2000" dirty="0" err="1">
                <a:solidFill>
                  <a:schemeClr val="bg1"/>
                </a:solidFill>
              </a:rPr>
              <a:t>mscs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204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005BB9AB-CB83-2F4A-B8D3-3923B16C45C5}" vid="{6DAF6F60-9D35-814E-917A-A7202DE102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8313</TotalTime>
  <Words>427</Words>
  <Application>Microsoft Macintosh PowerPoint</Application>
  <PresentationFormat>Widescreen</PresentationFormat>
  <Paragraphs>105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Parallel and Distributed Computing PDC</vt:lpstr>
      <vt:lpstr>Ultimate Goal</vt:lpstr>
      <vt:lpstr>What is parallelism?</vt:lpstr>
      <vt:lpstr>Sequential vs. Parallel Programs</vt:lpstr>
      <vt:lpstr>What enables us to create parallelism?</vt:lpstr>
      <vt:lpstr>Processing Unit Computation: Threads vs. Processes</vt:lpstr>
      <vt:lpstr>Parallel Hardware Systems</vt:lpstr>
      <vt:lpstr>A ‘heterogeneous’ system</vt:lpstr>
      <vt:lpstr>Clusters</vt:lpstr>
      <vt:lpstr>Course outline</vt:lpstr>
      <vt:lpstr>Method of work on code for course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Libby Shoop</dc:creator>
  <cp:lastModifiedBy>Microsoft Office User</cp:lastModifiedBy>
  <cp:revision>31</cp:revision>
  <dcterms:created xsi:type="dcterms:W3CDTF">2021-03-24T21:27:02Z</dcterms:created>
  <dcterms:modified xsi:type="dcterms:W3CDTF">2024-09-03T15:42:54Z</dcterms:modified>
</cp:coreProperties>
</file>