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1" r:id="rId2"/>
    <p:sldId id="267" r:id="rId3"/>
    <p:sldId id="362" r:id="rId4"/>
    <p:sldId id="258" r:id="rId5"/>
    <p:sldId id="261" r:id="rId6"/>
    <p:sldId id="364" r:id="rId7"/>
    <p:sldId id="259" r:id="rId8"/>
    <p:sldId id="381" r:id="rId9"/>
    <p:sldId id="265" r:id="rId10"/>
    <p:sldId id="263" r:id="rId11"/>
    <p:sldId id="260" r:id="rId12"/>
    <p:sldId id="379" r:id="rId13"/>
    <p:sldId id="3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2CFB-B9D9-0347-8C82-1A463FED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5EB2-C00A-0F45-B47A-115D1C0D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23B3-3698-8348-B5F0-FBA4DB9A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B99A-70EB-764A-8A71-D04AD79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AB5B-DDFF-DC4E-8E08-74636B6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38A-9BEC-E748-B32B-3480D5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501149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A5FC-38B9-1849-9B97-67F8642B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411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54FF-469B-5241-92A1-6B0FB51F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88FF-C544-EE4F-94BE-BC977C8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A44-5402-F44C-8FAF-A46B0A2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8A8-C4BF-6D4B-B2E2-62B5F1E3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2076-2626-6648-AC43-CF23755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CF57-C8D4-8B47-837F-F3FABDF6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A8FB-AC28-C249-91CE-B2B7026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117C-62F0-6C48-874B-605E5F29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3357-14B8-A74D-976F-CCC6ADD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10515600" cy="491523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1537-708E-BA44-B740-00A80BD14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4" y="988226"/>
            <a:ext cx="5500036" cy="4450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D18E-AB89-214A-80F6-AED6E05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88227"/>
            <a:ext cx="5329187" cy="4450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6789A-F040-E241-9153-81B8368A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ED59-0F05-CB42-971F-06F288F1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800-CDC3-B44E-9AC8-50E9DB14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99CA-270D-C04D-9BAB-4160608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8B1E-725C-F746-A421-12E70C8A0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14B-39D0-3E47-977B-CB4D325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01A9-4D9B-D24E-AFCC-E62A5C7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AD10-CBCB-3645-9FDB-B4541176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8E3AA-1007-974B-89AC-134FFAAE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4C07F-994D-E147-B9C4-4D2DA79F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B744-A6AB-B84D-814D-27AFAAA5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2A6-D0A5-5842-9326-C3248661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BE5BB-7D4A-3443-8011-50BFA20F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1EC94-4F6E-A842-B2B4-745B728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EA374-F9D1-5047-8E00-EEBC558E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E34A2-FF06-4646-9B11-3960AAD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02A72-9F03-3047-A58F-5478424B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45E1-1CAC-6540-AC9E-33B763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D1BE-D122-7443-B909-666D7E00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2548-6163-DF42-8D6F-E0DF3CD9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2E66-003D-CB49-91E5-89A87B22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E865-8FAD-AB45-8489-9C2AA8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390D-6CA7-334E-BFE4-ADD6E12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F00F-8DAC-6B45-A36C-CE3F9122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B418-47B0-DC4F-AD09-F59EBFB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76A39-FD73-2C42-9F0E-A75F94321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E543-5E7F-2D4E-ACC3-81F59867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E77D-1E65-A543-870E-17E38C6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2DB8-1E2E-9744-9E99-8F5A7BB6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143D-B79E-C44A-A040-D785D0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784D-E7A9-E848-B261-413FCAA9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E922-260A-DB4E-9833-35B0C3BC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77AC-6170-254E-A053-DE7A25AA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A906-7BEF-1B45-899D-93233A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448D-80D6-EC47-8869-6FC033A4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4714-F165-6A49-83C2-609956924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160F5-13DB-3E4A-813A-01FB9ABF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A2AB-D055-C647-830B-BCC12309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AB2-8B81-5843-AFAD-4CEA8AD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BE4B-ED0D-664C-8695-58D23CD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063-E93D-BB4B-A024-282AB21E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58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538-68DF-DA4B-AD57-2CBD80B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66845"/>
            <a:ext cx="10596613" cy="4815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257B-4037-8B41-8672-5C16900F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D9E5A-6977-4640-B621-2F6686AF40B9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CD5B-6D1E-0245-BBB5-6DB2BF2FB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9468-12B3-E843-93F2-1CFFE8CF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5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024DBA-1A11-BE4C-BB74-AB3EAA408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found in a code example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512C7-503A-2743-8AE7-1E43B2B5D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trap_omp.c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07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96C731-B0B7-BD46-8AAD-136972C32780}"/>
              </a:ext>
            </a:extLst>
          </p:cNvPr>
          <p:cNvSpPr txBox="1"/>
          <p:nvPr/>
        </p:nvSpPr>
        <p:spPr>
          <a:xfrm>
            <a:off x="687491" y="598349"/>
            <a:ext cx="5075433" cy="563231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  double start = </a:t>
            </a:r>
            <a:r>
              <a:rPr lang="en-US" dirty="0" err="1">
                <a:latin typeface="Andale Mono" panose="020B0509000000000004" pitchFamily="49" charset="0"/>
              </a:rPr>
              <a:t>omp_get_wtime</a:t>
            </a:r>
            <a:r>
              <a:rPr lang="en-US" dirty="0">
                <a:latin typeface="Andale Mono" panose="020B0509000000000004" pitchFamily="49" charset="0"/>
              </a:rPr>
              <a:t>();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dirty="0">
                <a:latin typeface="Andale Mono" panose="020B0509000000000004" pitchFamily="49" charset="0"/>
              </a:rPr>
              <a:t>  for(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= 1;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 &lt; n; </a:t>
            </a:r>
            <a:r>
              <a:rPr lang="en-US" dirty="0" err="1">
                <a:latin typeface="Andale Mono" panose="020B0509000000000004" pitchFamily="49" charset="0"/>
              </a:rPr>
              <a:t>i</a:t>
            </a:r>
            <a:r>
              <a:rPr lang="en-US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dirty="0">
                <a:latin typeface="Andale Mono" panose="020B0509000000000004" pitchFamily="49" charset="0"/>
              </a:rPr>
              <a:t>    integral += f(</a:t>
            </a:r>
            <a:r>
              <a:rPr lang="en-US" dirty="0" err="1">
                <a:latin typeface="Andale Mono" panose="020B0509000000000004" pitchFamily="49" charset="0"/>
              </a:rPr>
              <a:t>a+i</a:t>
            </a:r>
            <a:r>
              <a:rPr lang="en-US" dirty="0">
                <a:latin typeface="Andale Mono" panose="020B0509000000000004" pitchFamily="49" charset="0"/>
              </a:rPr>
              <a:t>*h);</a:t>
            </a:r>
          </a:p>
          <a:p>
            <a:r>
              <a:rPr lang="en-US" dirty="0">
                <a:latin typeface="Andale Mono" panose="020B0509000000000004" pitchFamily="49" charset="0"/>
              </a:rPr>
              <a:t>  }</a:t>
            </a:r>
          </a:p>
          <a:p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>
                <a:latin typeface="Andale Mono" panose="020B0509000000000004" pitchFamily="49" charset="0"/>
              </a:rPr>
              <a:t>  // Measuring the elapsed time</a:t>
            </a:r>
          </a:p>
          <a:p>
            <a:r>
              <a:rPr lang="en-US" dirty="0">
                <a:latin typeface="Andale Mono" panose="020B0509000000000004" pitchFamily="49" charset="0"/>
              </a:rPr>
              <a:t>  double end = </a:t>
            </a:r>
            <a:r>
              <a:rPr lang="en-US" dirty="0" err="1">
                <a:latin typeface="Andale Mono" panose="020B0509000000000004" pitchFamily="49" charset="0"/>
              </a:rPr>
              <a:t>omp_get_wtime</a:t>
            </a:r>
            <a:r>
              <a:rPr lang="en-US" dirty="0">
                <a:latin typeface="Andale Mono" panose="020B0509000000000004" pitchFamily="49" charset="0"/>
              </a:rPr>
              <a:t>();</a:t>
            </a:r>
          </a:p>
          <a:p>
            <a:r>
              <a:rPr lang="en-US" dirty="0">
                <a:latin typeface="Andale Mono" panose="020B0509000000000004" pitchFamily="49" charset="0"/>
              </a:rPr>
              <a:t>  // Time calculation (in seconds)</a:t>
            </a:r>
          </a:p>
          <a:p>
            <a:r>
              <a:rPr lang="en-US" dirty="0">
                <a:latin typeface="Andale Mono" panose="020B0509000000000004" pitchFamily="49" charset="0"/>
              </a:rPr>
              <a:t>  double </a:t>
            </a:r>
            <a:r>
              <a:rPr lang="en-US" dirty="0" err="1">
                <a:latin typeface="Andale Mono" panose="020B0509000000000004" pitchFamily="49" charset="0"/>
              </a:rPr>
              <a:t>elapsed_time</a:t>
            </a:r>
            <a:r>
              <a:rPr lang="en-US" dirty="0">
                <a:latin typeface="Andale Mono" panose="020B0509000000000004" pitchFamily="49" charset="0"/>
              </a:rPr>
              <a:t> = end - start;</a:t>
            </a:r>
          </a:p>
          <a:p>
            <a:endParaRPr lang="en-US" dirty="0">
              <a:latin typeface="Andale Mono" panose="020B0509000000000004" pitchFamily="49" charset="0"/>
            </a:endParaRPr>
          </a:p>
          <a:p>
            <a:r>
              <a:rPr lang="en-US" dirty="0">
                <a:latin typeface="Andale Mono" panose="020B0509000000000004" pitchFamily="49" charset="0"/>
              </a:rPr>
              <a:t>  </a:t>
            </a:r>
            <a:r>
              <a:rPr lang="en-US" dirty="0" err="1">
                <a:latin typeface="Andale Mono" panose="020B0509000000000004" pitchFamily="49" charset="0"/>
              </a:rPr>
              <a:t>printf</a:t>
            </a:r>
            <a:r>
              <a:rPr lang="en-US" dirty="0">
                <a:latin typeface="Andale Mono" panose="020B0509000000000004" pitchFamily="49" charset="0"/>
              </a:rPr>
              <a:t>("%</a:t>
            </a:r>
            <a:r>
              <a:rPr lang="en-US" dirty="0" err="1">
                <a:latin typeface="Andale Mono" panose="020B0509000000000004" pitchFamily="49" charset="0"/>
              </a:rPr>
              <a:t>lf</a:t>
            </a:r>
            <a:r>
              <a:rPr lang="en-US" dirty="0">
                <a:latin typeface="Andale Mono" panose="020B0509000000000004" pitchFamily="49" charset="0"/>
              </a:rPr>
              <a:t>\t",</a:t>
            </a:r>
            <a:r>
              <a:rPr lang="en-US" dirty="0" err="1">
                <a:latin typeface="Andale Mono" panose="020B0509000000000004" pitchFamily="49" charset="0"/>
              </a:rPr>
              <a:t>elapsed_time</a:t>
            </a:r>
            <a:r>
              <a:rPr lang="en-US" dirty="0">
                <a:latin typeface="Andale Mono" panose="020B0509000000000004" pitchFamily="49" charset="0"/>
              </a:rPr>
              <a:t>);</a:t>
            </a:r>
          </a:p>
          <a:p>
            <a:endParaRPr lang="en-US" dirty="0">
              <a:latin typeface="Andale Mono" panose="020B050900000000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71050-EF2C-6B4E-9799-85C573D8637C}"/>
              </a:ext>
            </a:extLst>
          </p:cNvPr>
          <p:cNvSpPr txBox="1"/>
          <p:nvPr/>
        </p:nvSpPr>
        <p:spPr>
          <a:xfrm>
            <a:off x="6763821" y="598349"/>
            <a:ext cx="37823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trap-</a:t>
            </a:r>
            <a:r>
              <a:rPr lang="en-US" sz="2800" dirty="0" err="1"/>
              <a:t>omp</a:t>
            </a:r>
            <a:r>
              <a:rPr lang="en-US" sz="2800" dirty="0"/>
              <a:t> example:</a:t>
            </a:r>
          </a:p>
          <a:p>
            <a:endParaRPr lang="en-US" sz="2800" dirty="0"/>
          </a:p>
          <a:p>
            <a:r>
              <a:rPr lang="en-US" sz="2800" dirty="0"/>
              <a:t>What patterns are used?</a:t>
            </a:r>
          </a:p>
        </p:txBody>
      </p:sp>
    </p:spTree>
    <p:extLst>
      <p:ext uri="{BB962C8B-B14F-4D97-AF65-F5344CB8AC3E}">
        <p14:creationId xmlns:p14="http://schemas.microsoft.com/office/powerpoint/2010/main" val="187262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96562" y="975437"/>
            <a:ext cx="2335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patterns framework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43FC75-B873-10D5-AD08-1E656129A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49056"/>
            <a:ext cx="8894151" cy="67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6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7F1AA8-DB71-1E8D-F476-835BAAC06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179" y="6159249"/>
            <a:ext cx="202449" cy="2024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E9CB95-9D76-4C45-975F-FA26FE7EFDFB}"/>
              </a:ext>
            </a:extLst>
          </p:cNvPr>
          <p:cNvSpPr txBox="1"/>
          <p:nvPr/>
        </p:nvSpPr>
        <p:spPr>
          <a:xfrm>
            <a:off x="116444" y="244485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98EFC-4039-8845-A7A8-F7342609F5EC}"/>
              </a:ext>
            </a:extLst>
          </p:cNvPr>
          <p:cNvSpPr/>
          <p:nvPr/>
        </p:nvSpPr>
        <p:spPr>
          <a:xfrm>
            <a:off x="57751" y="423325"/>
            <a:ext cx="2350229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C8223F-CCD2-BC4D-AB9E-C8700101341B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407980" y="551752"/>
            <a:ext cx="8243544" cy="5708722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864711-1699-6648-9875-B7769DADB55C}"/>
              </a:ext>
            </a:extLst>
          </p:cNvPr>
          <p:cNvSpPr txBox="1"/>
          <p:nvPr/>
        </p:nvSpPr>
        <p:spPr>
          <a:xfrm>
            <a:off x="116445" y="3865088"/>
            <a:ext cx="2828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OpenMP is based on systems where instructions run independently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dirty="0">
                <a:solidFill>
                  <a:schemeClr val="accent4"/>
                </a:solidFill>
              </a:rPr>
              <a:t>with no guarantee of order, each acting on its own shared or private data</a:t>
            </a:r>
          </a:p>
        </p:txBody>
      </p:sp>
    </p:spTree>
    <p:extLst>
      <p:ext uri="{BB962C8B-B14F-4D97-AF65-F5344CB8AC3E}">
        <p14:creationId xmlns:p14="http://schemas.microsoft.com/office/powerpoint/2010/main" val="98994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E92344-7387-EF7D-42C2-DAC629E0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239" y="6104248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018" y="1737562"/>
            <a:ext cx="202449" cy="2024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E9CB95-9D76-4C45-975F-FA26FE7EFDFB}"/>
              </a:ext>
            </a:extLst>
          </p:cNvPr>
          <p:cNvSpPr txBox="1"/>
          <p:nvPr/>
        </p:nvSpPr>
        <p:spPr>
          <a:xfrm>
            <a:off x="84674" y="164385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98EFC-4039-8845-A7A8-F7342609F5EC}"/>
              </a:ext>
            </a:extLst>
          </p:cNvPr>
          <p:cNvSpPr/>
          <p:nvPr/>
        </p:nvSpPr>
        <p:spPr>
          <a:xfrm>
            <a:off x="23030" y="422876"/>
            <a:ext cx="2350229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C8223F-CCD2-BC4D-AB9E-C8700101341B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373259" y="551303"/>
            <a:ext cx="8314214" cy="1388708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7E10B6-CF20-264F-B4D2-CDA65F82441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373259" y="551303"/>
            <a:ext cx="8314214" cy="556529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864711-1699-6648-9875-B7769DADB55C}"/>
              </a:ext>
            </a:extLst>
          </p:cNvPr>
          <p:cNvSpPr txBox="1"/>
          <p:nvPr/>
        </p:nvSpPr>
        <p:spPr>
          <a:xfrm>
            <a:off x="111973" y="3440710"/>
            <a:ext cx="2705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OpenMP is implemented so that a group of threads is created as a ‘pool’ and used as needed</a:t>
            </a:r>
          </a:p>
        </p:txBody>
      </p:sp>
    </p:spTree>
    <p:extLst>
      <p:ext uri="{BB962C8B-B14F-4D97-AF65-F5344CB8AC3E}">
        <p14:creationId xmlns:p14="http://schemas.microsoft.com/office/powerpoint/2010/main" val="320591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71BC18-D45E-81D9-51B9-C8A55375C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213" y="6107683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089" y="1836731"/>
            <a:ext cx="202449" cy="2024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E9CB95-9D76-4C45-975F-FA26FE7EFDFB}"/>
              </a:ext>
            </a:extLst>
          </p:cNvPr>
          <p:cNvSpPr txBox="1"/>
          <p:nvPr/>
        </p:nvSpPr>
        <p:spPr>
          <a:xfrm>
            <a:off x="61644" y="127762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98EFC-4039-8845-A7A8-F7342609F5EC}"/>
              </a:ext>
            </a:extLst>
          </p:cNvPr>
          <p:cNvSpPr/>
          <p:nvPr/>
        </p:nvSpPr>
        <p:spPr>
          <a:xfrm>
            <a:off x="0" y="386253"/>
            <a:ext cx="2350229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7E10B6-CF20-264F-B4D2-CDA65F82441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350229" y="514680"/>
            <a:ext cx="5382686" cy="30366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864711-1699-6648-9875-B7769DADB55C}"/>
              </a:ext>
            </a:extLst>
          </p:cNvPr>
          <p:cNvSpPr txBox="1"/>
          <p:nvPr/>
        </p:nvSpPr>
        <p:spPr>
          <a:xfrm>
            <a:off x="291780" y="3961473"/>
            <a:ext cx="2350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OpenMP is implemented so that only one program is written</a:t>
            </a:r>
          </a:p>
        </p:txBody>
      </p:sp>
      <p:pic>
        <p:nvPicPr>
          <p:cNvPr id="10" name="Picture 9" descr="checkmark-xxl.png">
            <a:extLst>
              <a:ext uri="{FF2B5EF4-FFF2-40B4-BE49-F238E27FC236}">
                <a16:creationId xmlns:a16="http://schemas.microsoft.com/office/drawing/2014/main" id="{07745D14-EF38-EA4D-8837-D63DF7A07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691" y="3502690"/>
            <a:ext cx="202449" cy="20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3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DFD4C7-F5A5-0835-2512-C7E3BC715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9623" y="6101762"/>
            <a:ext cx="202449" cy="202449"/>
          </a:xfrm>
          <a:prstGeom prst="rect">
            <a:avLst/>
          </a:prstGeom>
        </p:spPr>
      </p:pic>
      <p:pic>
        <p:nvPicPr>
          <p:cNvPr id="10" name="Picture 9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20" y="3432373"/>
            <a:ext cx="202449" cy="202449"/>
          </a:xfrm>
          <a:prstGeom prst="rect">
            <a:avLst/>
          </a:prstGeom>
        </p:spPr>
      </p:pic>
      <p:pic>
        <p:nvPicPr>
          <p:cNvPr id="11" name="Picture 10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150" y="3841455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30" y="1848059"/>
            <a:ext cx="202449" cy="2024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93D8BC-AC26-7E46-9316-C52A5791B192}"/>
              </a:ext>
            </a:extLst>
          </p:cNvPr>
          <p:cNvSpPr txBox="1"/>
          <p:nvPr/>
        </p:nvSpPr>
        <p:spPr>
          <a:xfrm>
            <a:off x="0" y="120635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B45C0B-351A-634F-AF96-3FC29566542F}"/>
              </a:ext>
            </a:extLst>
          </p:cNvPr>
          <p:cNvSpPr/>
          <p:nvPr/>
        </p:nvSpPr>
        <p:spPr>
          <a:xfrm>
            <a:off x="3856235" y="410967"/>
            <a:ext cx="482885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D9FB4D-3A09-1C48-BC96-B21C4311C982}"/>
              </a:ext>
            </a:extLst>
          </p:cNvPr>
          <p:cNvCxnSpPr>
            <a:cxnSpLocks/>
          </p:cNvCxnSpPr>
          <p:nvPr/>
        </p:nvCxnSpPr>
        <p:spPr>
          <a:xfrm>
            <a:off x="2350229" y="643107"/>
            <a:ext cx="5339396" cy="322000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E39D35C-763C-8A45-B3DB-233991D9D490}"/>
              </a:ext>
            </a:extLst>
          </p:cNvPr>
          <p:cNvSpPr txBox="1"/>
          <p:nvPr/>
        </p:nvSpPr>
        <p:spPr>
          <a:xfrm>
            <a:off x="76405" y="3529079"/>
            <a:ext cx="2870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OpenMP parallel keyword automatically forks threads and joins them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dirty="0">
                <a:solidFill>
                  <a:schemeClr val="accent4"/>
                </a:solidFill>
              </a:rPr>
              <a:t>when completed.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48A7DB-D4C3-B7CA-19F5-214AC8152BF3}"/>
              </a:ext>
            </a:extLst>
          </p:cNvPr>
          <p:cNvSpPr/>
          <p:nvPr/>
        </p:nvSpPr>
        <p:spPr>
          <a:xfrm>
            <a:off x="0" y="386253"/>
            <a:ext cx="2302255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6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F49F68-5DA4-F517-7374-7C92EBFD4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6" name="Picture 5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505" y="2786186"/>
            <a:ext cx="202449" cy="202449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479" y="6077048"/>
            <a:ext cx="202449" cy="202449"/>
          </a:xfrm>
          <a:prstGeom prst="rect">
            <a:avLst/>
          </a:prstGeom>
        </p:spPr>
      </p:pic>
      <p:pic>
        <p:nvPicPr>
          <p:cNvPr id="10" name="Picture 9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191" y="3407659"/>
            <a:ext cx="202449" cy="202449"/>
          </a:xfrm>
          <a:prstGeom prst="rect">
            <a:avLst/>
          </a:prstGeom>
        </p:spPr>
      </p:pic>
      <p:pic>
        <p:nvPicPr>
          <p:cNvPr id="11" name="Picture 10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150" y="3804384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30" y="1848059"/>
            <a:ext cx="202449" cy="202449"/>
          </a:xfrm>
          <a:prstGeom prst="rect">
            <a:avLst/>
          </a:prstGeom>
        </p:spPr>
      </p:pic>
      <p:pic>
        <p:nvPicPr>
          <p:cNvPr id="13" name="Picture 12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488" y="4584200"/>
            <a:ext cx="202449" cy="2024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93D8BC-AC26-7E46-9316-C52A5791B192}"/>
              </a:ext>
            </a:extLst>
          </p:cNvPr>
          <p:cNvSpPr txBox="1"/>
          <p:nvPr/>
        </p:nvSpPr>
        <p:spPr>
          <a:xfrm>
            <a:off x="0" y="120635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B45C0B-351A-634F-AF96-3FC29566542F}"/>
              </a:ext>
            </a:extLst>
          </p:cNvPr>
          <p:cNvSpPr/>
          <p:nvPr/>
        </p:nvSpPr>
        <p:spPr>
          <a:xfrm>
            <a:off x="3856235" y="410967"/>
            <a:ext cx="482885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EA093C-E743-E241-B99C-032D30FA9680}"/>
              </a:ext>
            </a:extLst>
          </p:cNvPr>
          <p:cNvCxnSpPr>
            <a:cxnSpLocks/>
          </p:cNvCxnSpPr>
          <p:nvPr/>
        </p:nvCxnSpPr>
        <p:spPr>
          <a:xfrm>
            <a:off x="2412460" y="635979"/>
            <a:ext cx="5282477" cy="397293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C00E1E-C775-3B45-B58C-AD034895DC5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725236" y="635979"/>
            <a:ext cx="3612494" cy="21502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E39D35C-763C-8A45-B3DB-233991D9D490}"/>
              </a:ext>
            </a:extLst>
          </p:cNvPr>
          <p:cNvSpPr txBox="1"/>
          <p:nvPr/>
        </p:nvSpPr>
        <p:spPr>
          <a:xfrm>
            <a:off x="76405" y="3529079"/>
            <a:ext cx="28708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OpenMP for keyword implies geometric decomposition of data among threads,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dirty="0">
                <a:solidFill>
                  <a:schemeClr val="accent4"/>
                </a:solidFill>
              </a:rPr>
              <a:t>using the parallel for loop.</a:t>
            </a:r>
          </a:p>
        </p:txBody>
      </p:sp>
    </p:spTree>
    <p:extLst>
      <p:ext uri="{BB962C8B-B14F-4D97-AF65-F5344CB8AC3E}">
        <p14:creationId xmlns:p14="http://schemas.microsoft.com/office/powerpoint/2010/main" val="489322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D340CF-36D1-6ECF-7D2A-7D8F6805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6" name="Picture 5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314" y="3377203"/>
            <a:ext cx="202449" cy="202449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584" y="6034746"/>
            <a:ext cx="202449" cy="202449"/>
          </a:xfrm>
          <a:prstGeom prst="rect">
            <a:avLst/>
          </a:prstGeom>
        </p:spPr>
      </p:pic>
      <p:pic>
        <p:nvPicPr>
          <p:cNvPr id="10" name="Picture 9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388" y="2806057"/>
            <a:ext cx="202449" cy="202449"/>
          </a:xfrm>
          <a:prstGeom prst="rect">
            <a:avLst/>
          </a:prstGeom>
        </p:spPr>
      </p:pic>
      <p:pic>
        <p:nvPicPr>
          <p:cNvPr id="11" name="Picture 10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11616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451" y="1829269"/>
            <a:ext cx="202449" cy="202449"/>
          </a:xfrm>
          <a:prstGeom prst="rect">
            <a:avLst/>
          </a:prstGeom>
        </p:spPr>
      </p:pic>
      <p:pic>
        <p:nvPicPr>
          <p:cNvPr id="13" name="Picture 12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771" y="4540802"/>
            <a:ext cx="202449" cy="202449"/>
          </a:xfrm>
          <a:prstGeom prst="rect">
            <a:avLst/>
          </a:prstGeom>
        </p:spPr>
      </p:pic>
      <p:pic>
        <p:nvPicPr>
          <p:cNvPr id="14" name="Picture 13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233" y="3442108"/>
            <a:ext cx="202449" cy="2024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E9CB95-9D76-4C45-975F-FA26FE7EFDFB}"/>
              </a:ext>
            </a:extLst>
          </p:cNvPr>
          <p:cNvSpPr txBox="1"/>
          <p:nvPr/>
        </p:nvSpPr>
        <p:spPr>
          <a:xfrm>
            <a:off x="111741" y="90692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B45C0B-351A-634F-AF96-3FC29566542F}"/>
              </a:ext>
            </a:extLst>
          </p:cNvPr>
          <p:cNvSpPr/>
          <p:nvPr/>
        </p:nvSpPr>
        <p:spPr>
          <a:xfrm>
            <a:off x="119460" y="955359"/>
            <a:ext cx="1777430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6810D6-FF84-D844-A020-AA0B129FF31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896890" y="1083786"/>
            <a:ext cx="6936343" cy="227832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97B75C-DAA6-DD4D-9891-97D77FEF46B5}"/>
              </a:ext>
            </a:extLst>
          </p:cNvPr>
          <p:cNvSpPr txBox="1"/>
          <p:nvPr/>
        </p:nvSpPr>
        <p:spPr>
          <a:xfrm>
            <a:off x="82323" y="3362112"/>
            <a:ext cx="2599093" cy="95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Almost all OpenMP threaded programs use shared data</a:t>
            </a:r>
          </a:p>
        </p:txBody>
      </p:sp>
    </p:spTree>
    <p:extLst>
      <p:ext uri="{BB962C8B-B14F-4D97-AF65-F5344CB8AC3E}">
        <p14:creationId xmlns:p14="http://schemas.microsoft.com/office/powerpoint/2010/main" val="181208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62EA7E-240B-F62C-A988-C2BD9E006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6" name="Picture 5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606" y="3350509"/>
            <a:ext cx="202449" cy="202449"/>
          </a:xfrm>
          <a:prstGeom prst="rect">
            <a:avLst/>
          </a:prstGeom>
        </p:spPr>
      </p:pic>
      <p:pic>
        <p:nvPicPr>
          <p:cNvPr id="7" name="Picture 6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653" y="3317787"/>
            <a:ext cx="202449" cy="202449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463" y="6084175"/>
            <a:ext cx="202449" cy="202449"/>
          </a:xfrm>
          <a:prstGeom prst="rect">
            <a:avLst/>
          </a:prstGeom>
        </p:spPr>
      </p:pic>
      <p:pic>
        <p:nvPicPr>
          <p:cNvPr id="10" name="Picture 9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4563346"/>
            <a:ext cx="202449" cy="202449"/>
          </a:xfrm>
          <a:prstGeom prst="rect">
            <a:avLst/>
          </a:prstGeom>
        </p:spPr>
      </p:pic>
      <p:pic>
        <p:nvPicPr>
          <p:cNvPr id="11" name="Picture 10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3777739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684" y="1814543"/>
            <a:ext cx="202449" cy="202449"/>
          </a:xfrm>
          <a:prstGeom prst="rect">
            <a:avLst/>
          </a:prstGeom>
        </p:spPr>
      </p:pic>
      <p:pic>
        <p:nvPicPr>
          <p:cNvPr id="13" name="Picture 12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005" y="2859672"/>
            <a:ext cx="202449" cy="202449"/>
          </a:xfrm>
          <a:prstGeom prst="rect">
            <a:avLst/>
          </a:prstGeom>
        </p:spPr>
      </p:pic>
      <p:pic>
        <p:nvPicPr>
          <p:cNvPr id="14" name="Picture 13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054" y="4624219"/>
            <a:ext cx="202449" cy="2024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E9CB95-9D76-4C45-975F-FA26FE7EFDFB}"/>
              </a:ext>
            </a:extLst>
          </p:cNvPr>
          <p:cNvSpPr txBox="1"/>
          <p:nvPr/>
        </p:nvSpPr>
        <p:spPr>
          <a:xfrm>
            <a:off x="194743" y="121039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210B9A-964D-C54A-B6F1-C9F6370A18CE}"/>
              </a:ext>
            </a:extLst>
          </p:cNvPr>
          <p:cNvSpPr/>
          <p:nvPr/>
        </p:nvSpPr>
        <p:spPr>
          <a:xfrm>
            <a:off x="202462" y="1201464"/>
            <a:ext cx="2342509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9B7E55-B8F0-1F4B-933B-50DA531CD556}"/>
              </a:ext>
            </a:extLst>
          </p:cNvPr>
          <p:cNvCxnSpPr>
            <a:cxnSpLocks/>
          </p:cNvCxnSpPr>
          <p:nvPr/>
        </p:nvCxnSpPr>
        <p:spPr>
          <a:xfrm>
            <a:off x="2544971" y="1335027"/>
            <a:ext cx="8439246" cy="33386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C4CD8E0-C0EE-6C4C-BEFD-713B4CA76B2F}"/>
              </a:ext>
            </a:extLst>
          </p:cNvPr>
          <p:cNvSpPr txBox="1"/>
          <p:nvPr/>
        </p:nvSpPr>
        <p:spPr>
          <a:xfrm>
            <a:off x="28830" y="3350509"/>
            <a:ext cx="3019170" cy="234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Reduction is a common OpenMP pattern that is used to ensure threaded programs avoid using mutual exclusion to ‘lock’ a shared variable that each thread needs to update. Each thread keeps a private copy instead.</a:t>
            </a:r>
          </a:p>
        </p:txBody>
      </p:sp>
    </p:spTree>
    <p:extLst>
      <p:ext uri="{BB962C8B-B14F-4D97-AF65-F5344CB8AC3E}">
        <p14:creationId xmlns:p14="http://schemas.microsoft.com/office/powerpoint/2010/main" val="3994074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5C39F0-6949-87E1-5A6D-5EB224960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6" name="Picture 5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547" y="3226551"/>
            <a:ext cx="202449" cy="202449"/>
          </a:xfrm>
          <a:prstGeom prst="rect">
            <a:avLst/>
          </a:prstGeom>
        </p:spPr>
      </p:pic>
      <p:pic>
        <p:nvPicPr>
          <p:cNvPr id="7" name="Picture 6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054" y="6080039"/>
            <a:ext cx="202449" cy="202449"/>
          </a:xfrm>
          <a:prstGeom prst="rect">
            <a:avLst/>
          </a:prstGeom>
        </p:spPr>
      </p:pic>
      <p:pic>
        <p:nvPicPr>
          <p:cNvPr id="8" name="Picture 7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788" y="3799259"/>
            <a:ext cx="202449" cy="202449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352" y="4586547"/>
            <a:ext cx="202449" cy="202449"/>
          </a:xfrm>
          <a:prstGeom prst="rect">
            <a:avLst/>
          </a:prstGeom>
        </p:spPr>
      </p:pic>
      <p:pic>
        <p:nvPicPr>
          <p:cNvPr id="10" name="Picture 9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3819011"/>
            <a:ext cx="202449" cy="202449"/>
          </a:xfrm>
          <a:prstGeom prst="rect">
            <a:avLst/>
          </a:prstGeom>
        </p:spPr>
      </p:pic>
      <p:pic>
        <p:nvPicPr>
          <p:cNvPr id="11" name="Picture 10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3429000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83" y="1848971"/>
            <a:ext cx="202449" cy="202449"/>
          </a:xfrm>
          <a:prstGeom prst="rect">
            <a:avLst/>
          </a:prstGeom>
        </p:spPr>
      </p:pic>
      <p:pic>
        <p:nvPicPr>
          <p:cNvPr id="13" name="Picture 12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441" y="2641270"/>
            <a:ext cx="202449" cy="202449"/>
          </a:xfrm>
          <a:prstGeom prst="rect">
            <a:avLst/>
          </a:prstGeom>
        </p:spPr>
      </p:pic>
      <p:pic>
        <p:nvPicPr>
          <p:cNvPr id="14" name="Picture 13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4" y="4547859"/>
            <a:ext cx="202449" cy="2024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E9CB95-9D76-4C45-975F-FA26FE7EFDFB}"/>
              </a:ext>
            </a:extLst>
          </p:cNvPr>
          <p:cNvSpPr txBox="1"/>
          <p:nvPr/>
        </p:nvSpPr>
        <p:spPr>
          <a:xfrm>
            <a:off x="0" y="49475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2B0F72-F223-BB44-94D7-E1C8F9DAF590}"/>
              </a:ext>
            </a:extLst>
          </p:cNvPr>
          <p:cNvSpPr/>
          <p:nvPr/>
        </p:nvSpPr>
        <p:spPr>
          <a:xfrm>
            <a:off x="108944" y="1986727"/>
            <a:ext cx="2342509" cy="256854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63B8CD-38BB-4C43-9102-9C37C1146F9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488524" y="2095576"/>
            <a:ext cx="8419489" cy="17036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C44E81-A349-0B42-B969-D7AA4DBBCCC3}"/>
              </a:ext>
            </a:extLst>
          </p:cNvPr>
          <p:cNvSpPr txBox="1"/>
          <p:nvPr/>
        </p:nvSpPr>
        <p:spPr>
          <a:xfrm>
            <a:off x="108944" y="3386837"/>
            <a:ext cx="27659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At the end of every parallel for data decomposition, there is an implied ‘barrier’ used to ensure that all threads complete before the main thread continues.</a:t>
            </a:r>
          </a:p>
        </p:txBody>
      </p:sp>
    </p:spTree>
    <p:extLst>
      <p:ext uri="{BB962C8B-B14F-4D97-AF65-F5344CB8AC3E}">
        <p14:creationId xmlns:p14="http://schemas.microsoft.com/office/powerpoint/2010/main" val="4136389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4D3A0D-2527-F4BC-C13A-CC189E59D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6" name="Picture 5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547" y="3226551"/>
            <a:ext cx="202449" cy="202449"/>
          </a:xfrm>
          <a:prstGeom prst="rect">
            <a:avLst/>
          </a:prstGeom>
        </p:spPr>
      </p:pic>
      <p:pic>
        <p:nvPicPr>
          <p:cNvPr id="7" name="Picture 6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196" y="6080039"/>
            <a:ext cx="202449" cy="202449"/>
          </a:xfrm>
          <a:prstGeom prst="rect">
            <a:avLst/>
          </a:prstGeom>
        </p:spPr>
      </p:pic>
      <p:pic>
        <p:nvPicPr>
          <p:cNvPr id="8" name="Picture 7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717" y="3762188"/>
            <a:ext cx="202449" cy="202449"/>
          </a:xfrm>
          <a:prstGeom prst="rect">
            <a:avLst/>
          </a:prstGeom>
        </p:spPr>
      </p:pic>
      <p:pic>
        <p:nvPicPr>
          <p:cNvPr id="9" name="Picture 8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352" y="4574190"/>
            <a:ext cx="202449" cy="202449"/>
          </a:xfrm>
          <a:prstGeom prst="rect">
            <a:avLst/>
          </a:prstGeom>
        </p:spPr>
      </p:pic>
      <p:pic>
        <p:nvPicPr>
          <p:cNvPr id="10" name="Picture 9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3819011"/>
            <a:ext cx="202449" cy="202449"/>
          </a:xfrm>
          <a:prstGeom prst="rect">
            <a:avLst/>
          </a:prstGeom>
        </p:spPr>
      </p:pic>
      <p:pic>
        <p:nvPicPr>
          <p:cNvPr id="11" name="Picture 10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3429000"/>
            <a:ext cx="202449" cy="202449"/>
          </a:xfrm>
          <a:prstGeom prst="rect">
            <a:avLst/>
          </a:prstGeom>
        </p:spPr>
      </p:pic>
      <p:pic>
        <p:nvPicPr>
          <p:cNvPr id="12" name="Picture 11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83" y="1824257"/>
            <a:ext cx="202449" cy="202449"/>
          </a:xfrm>
          <a:prstGeom prst="rect">
            <a:avLst/>
          </a:prstGeom>
        </p:spPr>
      </p:pic>
      <p:pic>
        <p:nvPicPr>
          <p:cNvPr id="13" name="Picture 12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12" y="2641270"/>
            <a:ext cx="202449" cy="202449"/>
          </a:xfrm>
          <a:prstGeom prst="rect">
            <a:avLst/>
          </a:prstGeom>
        </p:spPr>
      </p:pic>
      <p:pic>
        <p:nvPicPr>
          <p:cNvPr id="14" name="Picture 13" descr="checkmark-xx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4" y="4547859"/>
            <a:ext cx="202449" cy="20244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3EE078-C9C2-5F48-9653-C1E0F1F1F41E}"/>
              </a:ext>
            </a:extLst>
          </p:cNvPr>
          <p:cNvSpPr txBox="1"/>
          <p:nvPr/>
        </p:nvSpPr>
        <p:spPr>
          <a:xfrm>
            <a:off x="267624" y="2942575"/>
            <a:ext cx="233563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trap-</a:t>
            </a:r>
            <a:r>
              <a:rPr lang="en-US" sz="2800" dirty="0" err="1"/>
              <a:t>omp</a:t>
            </a:r>
            <a:r>
              <a:rPr lang="en-US" sz="2800" dirty="0"/>
              <a:t> </a:t>
            </a:r>
          </a:p>
          <a:p>
            <a:r>
              <a:rPr lang="en-US" sz="2800" dirty="0"/>
              <a:t>example</a:t>
            </a:r>
          </a:p>
          <a:p>
            <a:endParaRPr lang="en-US" sz="2800" dirty="0"/>
          </a:p>
          <a:p>
            <a:r>
              <a:rPr lang="en-US" sz="2800" dirty="0"/>
              <a:t>Patterns found</a:t>
            </a:r>
          </a:p>
          <a:p>
            <a:endParaRPr lang="en-US" sz="2800" dirty="0"/>
          </a:p>
          <a:p>
            <a:r>
              <a:rPr lang="en-US" sz="2800" dirty="0"/>
              <a:t>Built into </a:t>
            </a:r>
          </a:p>
          <a:p>
            <a:r>
              <a:rPr lang="en-US" sz="2800" dirty="0"/>
              <a:t>OpenMP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1D4E95-8ABA-7D49-A112-EC21915B9F07}"/>
              </a:ext>
            </a:extLst>
          </p:cNvPr>
          <p:cNvSpPr txBox="1"/>
          <p:nvPr/>
        </p:nvSpPr>
        <p:spPr>
          <a:xfrm>
            <a:off x="0" y="49475"/>
            <a:ext cx="3634499" cy="28931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… //setup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#pragma 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omp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 parallel for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default(none)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private(</a:t>
            </a:r>
            <a:r>
              <a:rPr lang="en-US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i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shared(n, a, h) \</a:t>
            </a:r>
          </a:p>
          <a:p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dale Mono" panose="020B0509000000000004" pitchFamily="49" charset="0"/>
              </a:rPr>
              <a:t>reduction(+:integral)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for(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= 1;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 &lt; n; </a:t>
            </a:r>
            <a:r>
              <a:rPr lang="en-US" sz="1400" dirty="0" err="1">
                <a:latin typeface="Andale Mono" panose="020B0509000000000004" pitchFamily="49" charset="0"/>
              </a:rPr>
              <a:t>i</a:t>
            </a:r>
            <a:r>
              <a:rPr lang="en-US" sz="1400" dirty="0">
                <a:latin typeface="Andale Mono" panose="020B0509000000000004" pitchFamily="49" charset="0"/>
              </a:rPr>
              <a:t>++) {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integral += f(</a:t>
            </a:r>
            <a:r>
              <a:rPr lang="en-US" sz="1400" dirty="0" err="1">
                <a:latin typeface="Andale Mono" panose="020B0509000000000004" pitchFamily="49" charset="0"/>
              </a:rPr>
              <a:t>a+i</a:t>
            </a:r>
            <a:r>
              <a:rPr lang="en-US" sz="1400" dirty="0">
                <a:latin typeface="Andale Mono" panose="020B0509000000000004" pitchFamily="49" charset="0"/>
              </a:rPr>
              <a:t>*h);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}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integral = integral * h;</a:t>
            </a:r>
          </a:p>
          <a:p>
            <a:endParaRPr lang="en-US" sz="1400" dirty="0">
              <a:latin typeface="Andale Mono" panose="020B05090000000000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</a:rPr>
              <a:t>  …  // finish</a:t>
            </a:r>
          </a:p>
        </p:txBody>
      </p:sp>
    </p:spTree>
    <p:extLst>
      <p:ext uri="{BB962C8B-B14F-4D97-AF65-F5344CB8AC3E}">
        <p14:creationId xmlns:p14="http://schemas.microsoft.com/office/powerpoint/2010/main" val="3959063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43EE078-C9C2-5F48-9653-C1E0F1F1F41E}"/>
              </a:ext>
            </a:extLst>
          </p:cNvPr>
          <p:cNvSpPr txBox="1"/>
          <p:nvPr/>
        </p:nvSpPr>
        <p:spPr>
          <a:xfrm>
            <a:off x="177114" y="2009612"/>
            <a:ext cx="249093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trng</a:t>
            </a:r>
            <a:r>
              <a:rPr lang="en-US" sz="2800" dirty="0"/>
              <a:t> random </a:t>
            </a:r>
          </a:p>
          <a:p>
            <a:r>
              <a:rPr lang="en-US" sz="2800" dirty="0"/>
              <a:t>demo </a:t>
            </a:r>
          </a:p>
          <a:p>
            <a:r>
              <a:rPr lang="en-US" sz="2800" dirty="0"/>
              <a:t>example</a:t>
            </a:r>
          </a:p>
          <a:p>
            <a:endParaRPr lang="en-US" sz="2800" dirty="0"/>
          </a:p>
          <a:p>
            <a:r>
              <a:rPr lang="en-US" sz="2800" dirty="0"/>
              <a:t>Patterns found</a:t>
            </a:r>
          </a:p>
          <a:p>
            <a:endParaRPr lang="en-US" sz="2800" dirty="0"/>
          </a:p>
          <a:p>
            <a:r>
              <a:rPr lang="en-US" sz="2800" dirty="0"/>
              <a:t>Some Built into </a:t>
            </a:r>
          </a:p>
          <a:p>
            <a:r>
              <a:rPr lang="en-US" sz="2800" dirty="0"/>
              <a:t>OpenMP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F7BC84-1EDD-1997-BF0F-143CBD010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9" y="135555"/>
            <a:ext cx="8894151" cy="6759887"/>
          </a:xfrm>
          <a:prstGeom prst="rect">
            <a:avLst/>
          </a:prstGeom>
        </p:spPr>
      </p:pic>
      <p:pic>
        <p:nvPicPr>
          <p:cNvPr id="3" name="Picture 2" descr="checkmark-xxl.png">
            <a:extLst>
              <a:ext uri="{FF2B5EF4-FFF2-40B4-BE49-F238E27FC236}">
                <a16:creationId xmlns:a16="http://schemas.microsoft.com/office/drawing/2014/main" id="{21926D5E-C24F-0546-6500-57F87DAA2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547" y="3226551"/>
            <a:ext cx="202449" cy="202449"/>
          </a:xfrm>
          <a:prstGeom prst="rect">
            <a:avLst/>
          </a:prstGeom>
        </p:spPr>
      </p:pic>
      <p:pic>
        <p:nvPicPr>
          <p:cNvPr id="4" name="Picture 3" descr="checkmark-xxl.png">
            <a:extLst>
              <a:ext uri="{FF2B5EF4-FFF2-40B4-BE49-F238E27FC236}">
                <a16:creationId xmlns:a16="http://schemas.microsoft.com/office/drawing/2014/main" id="{EAC20EE3-C62E-61BB-010E-73AA50028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196" y="6080039"/>
            <a:ext cx="202449" cy="202449"/>
          </a:xfrm>
          <a:prstGeom prst="rect">
            <a:avLst/>
          </a:prstGeom>
        </p:spPr>
      </p:pic>
      <p:pic>
        <p:nvPicPr>
          <p:cNvPr id="5" name="Picture 4" descr="checkmark-xxl.png">
            <a:extLst>
              <a:ext uri="{FF2B5EF4-FFF2-40B4-BE49-F238E27FC236}">
                <a16:creationId xmlns:a16="http://schemas.microsoft.com/office/drawing/2014/main" id="{C0F26157-B0E3-8354-E5E3-29F2BEAB5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717" y="3762188"/>
            <a:ext cx="202449" cy="202449"/>
          </a:xfrm>
          <a:prstGeom prst="rect">
            <a:avLst/>
          </a:prstGeom>
        </p:spPr>
      </p:pic>
      <p:pic>
        <p:nvPicPr>
          <p:cNvPr id="15" name="Picture 14" descr="checkmark-xxl.png">
            <a:extLst>
              <a:ext uri="{FF2B5EF4-FFF2-40B4-BE49-F238E27FC236}">
                <a16:creationId xmlns:a16="http://schemas.microsoft.com/office/drawing/2014/main" id="{CCEB0469-442F-5E64-16B6-915EEDEA9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3819011"/>
            <a:ext cx="202449" cy="202449"/>
          </a:xfrm>
          <a:prstGeom prst="rect">
            <a:avLst/>
          </a:prstGeom>
        </p:spPr>
      </p:pic>
      <p:pic>
        <p:nvPicPr>
          <p:cNvPr id="16" name="Picture 15" descr="checkmark-xxl.png">
            <a:extLst>
              <a:ext uri="{FF2B5EF4-FFF2-40B4-BE49-F238E27FC236}">
                <a16:creationId xmlns:a16="http://schemas.microsoft.com/office/drawing/2014/main" id="{5FF906B2-D1FE-795A-7F57-EDB2FA8BD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5" y="3429000"/>
            <a:ext cx="202449" cy="202449"/>
          </a:xfrm>
          <a:prstGeom prst="rect">
            <a:avLst/>
          </a:prstGeom>
        </p:spPr>
      </p:pic>
      <p:pic>
        <p:nvPicPr>
          <p:cNvPr id="17" name="Picture 16" descr="checkmark-xxl.png">
            <a:extLst>
              <a:ext uri="{FF2B5EF4-FFF2-40B4-BE49-F238E27FC236}">
                <a16:creationId xmlns:a16="http://schemas.microsoft.com/office/drawing/2014/main" id="{6D25B4D6-C4D0-BFF9-73A7-26352FE3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83" y="1824257"/>
            <a:ext cx="202449" cy="202449"/>
          </a:xfrm>
          <a:prstGeom prst="rect">
            <a:avLst/>
          </a:prstGeom>
        </p:spPr>
      </p:pic>
      <p:pic>
        <p:nvPicPr>
          <p:cNvPr id="18" name="Picture 17" descr="checkmark-xxl.png">
            <a:extLst>
              <a:ext uri="{FF2B5EF4-FFF2-40B4-BE49-F238E27FC236}">
                <a16:creationId xmlns:a16="http://schemas.microsoft.com/office/drawing/2014/main" id="{14CC465E-D0A6-ADB3-75A6-A239AC164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12" y="2641270"/>
            <a:ext cx="202449" cy="202449"/>
          </a:xfrm>
          <a:prstGeom prst="rect">
            <a:avLst/>
          </a:prstGeom>
        </p:spPr>
      </p:pic>
      <p:pic>
        <p:nvPicPr>
          <p:cNvPr id="19" name="Picture 18" descr="checkmark-xxl.png">
            <a:extLst>
              <a:ext uri="{FF2B5EF4-FFF2-40B4-BE49-F238E27FC236}">
                <a16:creationId xmlns:a16="http://schemas.microsoft.com/office/drawing/2014/main" id="{1A0F700B-3831-FA49-D0D2-3D6A78DD4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384" y="4547859"/>
            <a:ext cx="202449" cy="20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1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05BB9AB-CB83-2F4A-B8D3-3923B16C45C5}" vid="{6DAF6F60-9D35-814E-917A-A7202DE102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7196</TotalTime>
  <Words>950</Words>
  <Application>Microsoft Macintosh PowerPoint</Application>
  <PresentationFormat>Widescreen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Andale Mono</vt:lpstr>
      <vt:lpstr>Arial</vt:lpstr>
      <vt:lpstr>Calibri</vt:lpstr>
      <vt:lpstr>Calibri Light</vt:lpstr>
      <vt:lpstr>Office Theme</vt:lpstr>
      <vt:lpstr>Patterns found in a code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Libby Shoop</dc:creator>
  <cp:lastModifiedBy>Microsoft Office User</cp:lastModifiedBy>
  <cp:revision>56</cp:revision>
  <dcterms:created xsi:type="dcterms:W3CDTF">2021-03-25T20:00:21Z</dcterms:created>
  <dcterms:modified xsi:type="dcterms:W3CDTF">2023-09-02T00:08:41Z</dcterms:modified>
</cp:coreProperties>
</file>