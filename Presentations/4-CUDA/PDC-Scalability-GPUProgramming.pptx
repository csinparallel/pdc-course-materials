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649" r:id="rId2"/>
    <p:sldId id="273" r:id="rId3"/>
    <p:sldId id="656" r:id="rId4"/>
    <p:sldId id="275" r:id="rId5"/>
    <p:sldId id="276" r:id="rId6"/>
    <p:sldId id="282" r:id="rId7"/>
    <p:sldId id="277" r:id="rId8"/>
    <p:sldId id="651" r:id="rId9"/>
    <p:sldId id="652" r:id="rId10"/>
    <p:sldId id="653" r:id="rId11"/>
    <p:sldId id="654" r:id="rId12"/>
    <p:sldId id="640" r:id="rId13"/>
    <p:sldId id="639" r:id="rId14"/>
    <p:sldId id="615" r:id="rId15"/>
    <p:sldId id="641" r:id="rId16"/>
    <p:sldId id="272" r:id="rId17"/>
    <p:sldId id="644" r:id="rId18"/>
    <p:sldId id="655" r:id="rId19"/>
    <p:sldId id="642" r:id="rId20"/>
    <p:sldId id="256" r:id="rId21"/>
    <p:sldId id="647" r:id="rId22"/>
    <p:sldId id="259" r:id="rId23"/>
    <p:sldId id="646" r:id="rId24"/>
    <p:sldId id="279" r:id="rId25"/>
    <p:sldId id="645" r:id="rId26"/>
    <p:sldId id="278" r:id="rId27"/>
    <p:sldId id="281" r:id="rId28"/>
    <p:sldId id="648" r:id="rId29"/>
    <p:sldId id="260" r:id="rId30"/>
    <p:sldId id="280" r:id="rId31"/>
    <p:sldId id="643" r:id="rId32"/>
    <p:sldId id="650" r:id="rId33"/>
    <p:sldId id="262" r:id="rId34"/>
    <p:sldId id="263" r:id="rId35"/>
    <p:sldId id="257" r:id="rId36"/>
    <p:sldId id="264" r:id="rId37"/>
    <p:sldId id="265" r:id="rId38"/>
    <p:sldId id="266" r:id="rId39"/>
    <p:sldId id="267" r:id="rId40"/>
    <p:sldId id="268" r:id="rId41"/>
    <p:sldId id="269" r:id="rId42"/>
    <p:sldId id="270"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B3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73"/>
    <p:restoredTop sz="96405"/>
  </p:normalViewPr>
  <p:slideViewPr>
    <p:cSldViewPr snapToGrid="0" snapToObjects="1">
      <p:cViewPr>
        <p:scale>
          <a:sx n="224" d="100"/>
          <a:sy n="224" d="100"/>
        </p:scale>
        <p:origin x="16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2CFB-B9D9-0347-8C82-1A463FED2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735EB2-C00A-0F45-B47A-115D1C0D6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D23B3-3698-8348-B5F0-FBA4DB9ABD05}"/>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5" name="Footer Placeholder 4">
            <a:extLst>
              <a:ext uri="{FF2B5EF4-FFF2-40B4-BE49-F238E27FC236}">
                <a16:creationId xmlns:a16="http://schemas.microsoft.com/office/drawing/2014/main" id="{2C91B99A-70EB-764A-8A71-D04AD7952B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4EAB5B-DDFF-DC4E-8E08-74636B65FEDB}"/>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2094525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138A-9BEC-E748-B32B-3480D57CD8A9}"/>
              </a:ext>
            </a:extLst>
          </p:cNvPr>
          <p:cNvSpPr>
            <a:spLocks noGrp="1"/>
          </p:cNvSpPr>
          <p:nvPr>
            <p:ph type="title"/>
          </p:nvPr>
        </p:nvSpPr>
        <p:spPr>
          <a:xfrm>
            <a:off x="761198" y="179888"/>
            <a:ext cx="10515600" cy="501149"/>
          </a:xfrm>
        </p:spPr>
        <p:txBody>
          <a:bodyPr>
            <a:noAutofit/>
          </a:bodyPr>
          <a:lstStyle>
            <a:lvl1pPr algn="ctr">
              <a:defRPr sz="3200">
                <a:solidFill>
                  <a:schemeClr val="accent5">
                    <a:lumMod val="40000"/>
                    <a:lumOff val="60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86FA5FC-38B9-1849-9B97-67F8642B3374}"/>
              </a:ext>
            </a:extLst>
          </p:cNvPr>
          <p:cNvSpPr>
            <a:spLocks noGrp="1"/>
          </p:cNvSpPr>
          <p:nvPr>
            <p:ph idx="1"/>
          </p:nvPr>
        </p:nvSpPr>
        <p:spPr>
          <a:xfrm>
            <a:off x="395438" y="891974"/>
            <a:ext cx="11308882" cy="44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5754FF-469B-5241-92A1-6B0FB51FA87D}"/>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5" name="Footer Placeholder 4">
            <a:extLst>
              <a:ext uri="{FF2B5EF4-FFF2-40B4-BE49-F238E27FC236}">
                <a16:creationId xmlns:a16="http://schemas.microsoft.com/office/drawing/2014/main" id="{5BD488FF-C544-EE4F-94BE-BC977C8F01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D8A44-5402-F44C-8FAF-A46B0A2FEF18}"/>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32989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6C8A8-C4BF-6D4B-B2E2-62B5F1E30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FF2076-2626-6648-AC43-CF23755A6D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C2CF57-C8D4-8B47-837F-F3FABDF647D5}"/>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5" name="Footer Placeholder 4">
            <a:extLst>
              <a:ext uri="{FF2B5EF4-FFF2-40B4-BE49-F238E27FC236}">
                <a16:creationId xmlns:a16="http://schemas.microsoft.com/office/drawing/2014/main" id="{A060A8FB-AC28-C249-91CE-B2B702638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74117C-62F0-6C48-874B-605E5F294864}"/>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1509778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3357-14B8-A74D-976F-CCC6ADD09163}"/>
              </a:ext>
            </a:extLst>
          </p:cNvPr>
          <p:cNvSpPr>
            <a:spLocks noGrp="1"/>
          </p:cNvSpPr>
          <p:nvPr>
            <p:ph type="title"/>
          </p:nvPr>
        </p:nvSpPr>
        <p:spPr>
          <a:xfrm>
            <a:off x="838200" y="189514"/>
            <a:ext cx="10515600" cy="491523"/>
          </a:xfrm>
        </p:spPr>
        <p:txBody>
          <a:bodyPr>
            <a:noAutofit/>
          </a:bodyPr>
          <a:lstStyle>
            <a:lvl1pPr algn="ctr">
              <a:defRPr sz="4000">
                <a:solidFill>
                  <a:schemeClr val="accent5">
                    <a:lumMod val="40000"/>
                    <a:lumOff val="60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F3F1537-708E-BA44-B740-00A80BD14BD0}"/>
              </a:ext>
            </a:extLst>
          </p:cNvPr>
          <p:cNvSpPr>
            <a:spLocks noGrp="1"/>
          </p:cNvSpPr>
          <p:nvPr>
            <p:ph sz="half" idx="1"/>
          </p:nvPr>
        </p:nvSpPr>
        <p:spPr>
          <a:xfrm>
            <a:off x="519764" y="988226"/>
            <a:ext cx="5500036" cy="4450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74D18E-AB89-214A-80F6-AED6E054DBEF}"/>
              </a:ext>
            </a:extLst>
          </p:cNvPr>
          <p:cNvSpPr>
            <a:spLocks noGrp="1"/>
          </p:cNvSpPr>
          <p:nvPr>
            <p:ph sz="half" idx="2"/>
          </p:nvPr>
        </p:nvSpPr>
        <p:spPr>
          <a:xfrm>
            <a:off x="6095999" y="988227"/>
            <a:ext cx="5329187" cy="44500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66789A-F040-E241-9153-81B8368A16F1}"/>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6" name="Footer Placeholder 5">
            <a:extLst>
              <a:ext uri="{FF2B5EF4-FFF2-40B4-BE49-F238E27FC236}">
                <a16:creationId xmlns:a16="http://schemas.microsoft.com/office/drawing/2014/main" id="{326BED59-0F05-CB42-971F-06F288F130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D06800-CDC3-B44E-9AC8-50E9DB14321E}"/>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3779470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99CA-270D-C04D-9BAB-4160608C26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068B1E-725C-F746-A421-12E70C8A07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61F14B-39D0-3E47-977B-CB4D32538A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2001A9-4D9B-D24E-AFCC-E62A5C78F4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7EAD10-CBCB-3645-9FDB-B4541176CE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B8E3AA-1007-974B-89AC-134FFAAE41B2}"/>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8" name="Footer Placeholder 7">
            <a:extLst>
              <a:ext uri="{FF2B5EF4-FFF2-40B4-BE49-F238E27FC236}">
                <a16:creationId xmlns:a16="http://schemas.microsoft.com/office/drawing/2014/main" id="{0674C07F-994D-E147-B9C4-4D2DA79FE0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9B744-A6AB-B84D-814D-27AFAAA59D6D}"/>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265338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B2A6-D0A5-5842-9326-C3248661DE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CBE5BB-7D4A-3443-8011-50BFA20FB1DF}"/>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4" name="Footer Placeholder 3">
            <a:extLst>
              <a:ext uri="{FF2B5EF4-FFF2-40B4-BE49-F238E27FC236}">
                <a16:creationId xmlns:a16="http://schemas.microsoft.com/office/drawing/2014/main" id="{A401EC94-4F6E-A842-B2B4-745B72879B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FEA374-F9D1-5047-8E00-EEBC558E530B}"/>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4005054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4E34A2-FF06-4646-9B11-3960AAD81C8F}"/>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3" name="Footer Placeholder 2">
            <a:extLst>
              <a:ext uri="{FF2B5EF4-FFF2-40B4-BE49-F238E27FC236}">
                <a16:creationId xmlns:a16="http://schemas.microsoft.com/office/drawing/2014/main" id="{6F602A72-9F03-3047-A58F-5478424B86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7045E1-1CAC-6540-AC9E-33B763897408}"/>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1109468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D1BE-D122-7443-B909-666D7E00B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962548-6163-DF42-8D6F-E0DF3CD999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292E66-003D-CB49-91E5-89A87B22CB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86E865-8FAD-AB45-8489-9C2AA8200CE0}"/>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6" name="Footer Placeholder 5">
            <a:extLst>
              <a:ext uri="{FF2B5EF4-FFF2-40B4-BE49-F238E27FC236}">
                <a16:creationId xmlns:a16="http://schemas.microsoft.com/office/drawing/2014/main" id="{8C49390D-6CA7-334E-BFE4-ADD6E1237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0F00F-8DAC-6B45-A36C-CE3F91225712}"/>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4216878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0B418-47B0-DC4F-AD09-F59EBFBA68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876A39-FD73-2C42-9F0E-A75F94321F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03EE543-5E7F-2D4E-ACC3-81F598670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CE77D-1E65-A543-870E-17E38C699AAC}"/>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6" name="Footer Placeholder 5">
            <a:extLst>
              <a:ext uri="{FF2B5EF4-FFF2-40B4-BE49-F238E27FC236}">
                <a16:creationId xmlns:a16="http://schemas.microsoft.com/office/drawing/2014/main" id="{F2BC2DB8-1E2E-9744-9E99-8F5A7BB6ED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D143D-B79E-C44A-A040-D785D07EB4E0}"/>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99226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784D-E7A9-E848-B261-413FCAA988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47E922-260A-DB4E-9833-35B0C3BCFE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3677AC-6170-254E-A053-DE7A25AA64E5}"/>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5" name="Footer Placeholder 4">
            <a:extLst>
              <a:ext uri="{FF2B5EF4-FFF2-40B4-BE49-F238E27FC236}">
                <a16:creationId xmlns:a16="http://schemas.microsoft.com/office/drawing/2014/main" id="{E6ADA906-7BEF-1B45-899D-93233ACC4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5448D-80D6-EC47-8869-6FC033A403AD}"/>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209698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D4714-F165-6A49-83C2-6099569240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4160F5-13DB-3E4A-813A-01FB9ABFDD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47A2AB-D055-C647-830B-BCC1230991A0}"/>
              </a:ext>
            </a:extLst>
          </p:cNvPr>
          <p:cNvSpPr>
            <a:spLocks noGrp="1"/>
          </p:cNvSpPr>
          <p:nvPr>
            <p:ph type="dt" sz="half" idx="10"/>
          </p:nvPr>
        </p:nvSpPr>
        <p:spPr/>
        <p:txBody>
          <a:bodyPr/>
          <a:lstStyle/>
          <a:p>
            <a:fld id="{75DD9E5A-6977-4640-B621-2F6686AF40B9}" type="datetimeFigureOut">
              <a:rPr lang="en-US" smtClean="0"/>
              <a:t>6/12/23</a:t>
            </a:fld>
            <a:endParaRPr lang="en-US"/>
          </a:p>
        </p:txBody>
      </p:sp>
      <p:sp>
        <p:nvSpPr>
          <p:cNvPr id="5" name="Footer Placeholder 4">
            <a:extLst>
              <a:ext uri="{FF2B5EF4-FFF2-40B4-BE49-F238E27FC236}">
                <a16:creationId xmlns:a16="http://schemas.microsoft.com/office/drawing/2014/main" id="{506ECAB2-8B81-5843-AFAD-4CEA8ADCED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2BE4B-ED0D-664C-8695-58D23CDCC1E1}"/>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4052723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65F063-E93D-BB4B-A024-282AB21ED38D}"/>
              </a:ext>
            </a:extLst>
          </p:cNvPr>
          <p:cNvSpPr>
            <a:spLocks noGrp="1"/>
          </p:cNvSpPr>
          <p:nvPr>
            <p:ph type="title"/>
          </p:nvPr>
        </p:nvSpPr>
        <p:spPr>
          <a:xfrm>
            <a:off x="838200" y="136525"/>
            <a:ext cx="10515600" cy="558900"/>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DCF7D538-68DF-DA4B-AD57-2CBD80BC2662}"/>
              </a:ext>
            </a:extLst>
          </p:cNvPr>
          <p:cNvSpPr>
            <a:spLocks noGrp="1"/>
          </p:cNvSpPr>
          <p:nvPr>
            <p:ph type="body" idx="1"/>
          </p:nvPr>
        </p:nvSpPr>
        <p:spPr>
          <a:xfrm>
            <a:off x="838199" y="766845"/>
            <a:ext cx="10596613" cy="48158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938257B-4037-8B41-8672-5C16900FA3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DD9E5A-6977-4640-B621-2F6686AF40B9}" type="datetimeFigureOut">
              <a:rPr lang="en-US" smtClean="0"/>
              <a:t>6/12/23</a:t>
            </a:fld>
            <a:endParaRPr lang="en-US"/>
          </a:p>
        </p:txBody>
      </p:sp>
      <p:sp>
        <p:nvSpPr>
          <p:cNvPr id="5" name="Footer Placeholder 4">
            <a:extLst>
              <a:ext uri="{FF2B5EF4-FFF2-40B4-BE49-F238E27FC236}">
                <a16:creationId xmlns:a16="http://schemas.microsoft.com/office/drawing/2014/main" id="{6865CD5B-6D1E-0245-BBB5-6DB2BF2FB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A99468-12B3-E843-93F2-1CFFE8CF74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33E12-7BD3-BD48-ACF8-D02633902001}" type="slidenum">
              <a:rPr lang="en-US" smtClean="0"/>
              <a:t>‹#›</a:t>
            </a:fld>
            <a:endParaRPr lang="en-US"/>
          </a:p>
        </p:txBody>
      </p:sp>
    </p:spTree>
    <p:extLst>
      <p:ext uri="{BB962C8B-B14F-4D97-AF65-F5344CB8AC3E}">
        <p14:creationId xmlns:p14="http://schemas.microsoft.com/office/powerpoint/2010/main" val="15141443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200" kern="1200">
          <a:solidFill>
            <a:schemeClr val="accent5">
              <a:lumMod val="40000"/>
              <a:lumOff val="60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sciencedirect.com/topics/computer-science/convolutional-neural-networ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www.youtube.com/embed/-P28LKWTzrI?feature=oembed"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hyperlink" Target="https://medium.com/distributed-knowledge/towards-microarchitectural-design-of-nvidia-gpus-part-1-abe2fd5d9e52"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C525B2-BC6F-4CE6-F463-F7237FA1090F}"/>
              </a:ext>
            </a:extLst>
          </p:cNvPr>
          <p:cNvSpPr>
            <a:spLocks noGrp="1"/>
          </p:cNvSpPr>
          <p:nvPr>
            <p:ph type="ctrTitle"/>
          </p:nvPr>
        </p:nvSpPr>
        <p:spPr/>
        <p:txBody>
          <a:bodyPr/>
          <a:lstStyle/>
          <a:p>
            <a:r>
              <a:rPr lang="en-US" dirty="0"/>
              <a:t>A brief Introduction to multicore and GPU computing</a:t>
            </a:r>
          </a:p>
        </p:txBody>
      </p:sp>
      <p:sp>
        <p:nvSpPr>
          <p:cNvPr id="5" name="Subtitle 4">
            <a:extLst>
              <a:ext uri="{FF2B5EF4-FFF2-40B4-BE49-F238E27FC236}">
                <a16:creationId xmlns:a16="http://schemas.microsoft.com/office/drawing/2014/main" id="{B3EAB7A6-584D-8DF5-E037-AF37838916C8}"/>
              </a:ext>
            </a:extLst>
          </p:cNvPr>
          <p:cNvSpPr>
            <a:spLocks noGrp="1"/>
          </p:cNvSpPr>
          <p:nvPr>
            <p:ph type="subTitle" idx="1"/>
          </p:nvPr>
        </p:nvSpPr>
        <p:spPr/>
        <p:txBody>
          <a:bodyPr/>
          <a:lstStyle/>
          <a:p>
            <a:r>
              <a:rPr lang="en-US" dirty="0"/>
              <a:t>By way of demonstration</a:t>
            </a:r>
          </a:p>
        </p:txBody>
      </p:sp>
    </p:spTree>
    <p:extLst>
      <p:ext uri="{BB962C8B-B14F-4D97-AF65-F5344CB8AC3E}">
        <p14:creationId xmlns:p14="http://schemas.microsoft.com/office/powerpoint/2010/main" val="1005975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859C0-CA9B-0B5C-229C-0ECC736704DF}"/>
              </a:ext>
            </a:extLst>
          </p:cNvPr>
          <p:cNvSpPr>
            <a:spLocks noGrp="1"/>
          </p:cNvSpPr>
          <p:nvPr>
            <p:ph type="title"/>
          </p:nvPr>
        </p:nvSpPr>
        <p:spPr/>
        <p:txBody>
          <a:bodyPr/>
          <a:lstStyle/>
          <a:p>
            <a:r>
              <a:rPr lang="en-US" dirty="0"/>
              <a:t>Matrix Multiply Example</a:t>
            </a:r>
          </a:p>
        </p:txBody>
      </p:sp>
      <p:sp>
        <p:nvSpPr>
          <p:cNvPr id="3" name="Content Placeholder 2">
            <a:extLst>
              <a:ext uri="{FF2B5EF4-FFF2-40B4-BE49-F238E27FC236}">
                <a16:creationId xmlns:a16="http://schemas.microsoft.com/office/drawing/2014/main" id="{FEDE36B3-E071-942E-C7F3-B91882ACDA8A}"/>
              </a:ext>
            </a:extLst>
          </p:cNvPr>
          <p:cNvSpPr>
            <a:spLocks noGrp="1"/>
          </p:cNvSpPr>
          <p:nvPr>
            <p:ph idx="1"/>
          </p:nvPr>
        </p:nvSpPr>
        <p:spPr/>
        <p:txBody>
          <a:bodyPr/>
          <a:lstStyle/>
          <a:p>
            <a:r>
              <a:rPr lang="en-US" dirty="0">
                <a:solidFill>
                  <a:schemeClr val="accent3">
                    <a:lumMod val="20000"/>
                    <a:lumOff val="80000"/>
                  </a:schemeClr>
                </a:solidFill>
              </a:rPr>
              <a:t>Basic Linear Algebra technique</a:t>
            </a:r>
          </a:p>
          <a:p>
            <a:endParaRPr lang="en-US" dirty="0">
              <a:solidFill>
                <a:schemeClr val="accent3">
                  <a:lumMod val="20000"/>
                  <a:lumOff val="80000"/>
                </a:schemeClr>
              </a:solidFill>
            </a:endParaRPr>
          </a:p>
          <a:p>
            <a:r>
              <a:rPr lang="en-US" dirty="0">
                <a:solidFill>
                  <a:schemeClr val="accent3">
                    <a:lumMod val="20000"/>
                    <a:lumOff val="80000"/>
                  </a:schemeClr>
                </a:solidFill>
              </a:rPr>
              <a:t>A</a:t>
            </a:r>
            <a:r>
              <a:rPr lang="en-US" b="0" i="0" dirty="0">
                <a:solidFill>
                  <a:schemeClr val="accent3">
                    <a:lumMod val="20000"/>
                    <a:lumOff val="80000"/>
                  </a:schemeClr>
                </a:solidFill>
                <a:effectLst/>
              </a:rPr>
              <a:t>pplications such as image processing, genetic analysis, and many others:</a:t>
            </a:r>
          </a:p>
          <a:p>
            <a:r>
              <a:rPr lang="en-US" dirty="0">
                <a:solidFill>
                  <a:schemeClr val="accent3">
                    <a:lumMod val="20000"/>
                    <a:lumOff val="80000"/>
                  </a:schemeClr>
                </a:solidFill>
              </a:rPr>
              <a:t>	</a:t>
            </a:r>
            <a:r>
              <a:rPr lang="en-US" b="0" i="0" dirty="0">
                <a:solidFill>
                  <a:schemeClr val="accent3">
                    <a:lumMod val="20000"/>
                    <a:lumOff val="80000"/>
                  </a:schemeClr>
                </a:solidFill>
                <a:effectLst/>
              </a:rPr>
              <a:t>multiply matrices in order to solve systems of linear equations</a:t>
            </a:r>
          </a:p>
          <a:p>
            <a:endParaRPr lang="en-US" b="0" i="0" dirty="0">
              <a:solidFill>
                <a:schemeClr val="accent3">
                  <a:lumMod val="20000"/>
                  <a:lumOff val="80000"/>
                </a:schemeClr>
              </a:solidFill>
              <a:effectLst/>
            </a:endParaRPr>
          </a:p>
          <a:p>
            <a:r>
              <a:rPr lang="en-US" b="0" i="0" dirty="0">
                <a:solidFill>
                  <a:schemeClr val="accent3">
                    <a:lumMod val="20000"/>
                    <a:lumOff val="80000"/>
                  </a:schemeClr>
                </a:solidFill>
                <a:effectLst/>
              </a:rPr>
              <a:t>It is also an important computation for deep learning using </a:t>
            </a:r>
            <a:r>
              <a:rPr lang="en-US" b="0" i="0" dirty="0">
                <a:solidFill>
                  <a:schemeClr val="accent3">
                    <a:lumMod val="20000"/>
                    <a:lumOff val="80000"/>
                  </a:schemeClr>
                </a:solidFill>
                <a:effectLst/>
                <a:hlinkClick r:id="rId2" tooltip="Learn more about convolutional neural networks from ScienceDirect's AI-generated Topic Pages">
                  <a:extLst>
                    <a:ext uri="{A12FA001-AC4F-418D-AE19-62706E023703}">
                      <ahyp:hlinkClr xmlns:ahyp="http://schemas.microsoft.com/office/drawing/2018/hyperlinkcolor" val="tx"/>
                    </a:ext>
                  </a:extLst>
                </a:hlinkClick>
              </a:rPr>
              <a:t>convolutional neural networks</a:t>
            </a:r>
            <a:endParaRPr lang="en-US" dirty="0"/>
          </a:p>
        </p:txBody>
      </p:sp>
    </p:spTree>
    <p:extLst>
      <p:ext uri="{BB962C8B-B14F-4D97-AF65-F5344CB8AC3E}">
        <p14:creationId xmlns:p14="http://schemas.microsoft.com/office/powerpoint/2010/main" val="305040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562CB-E6B1-E9DD-032C-68A84B5F46D6}"/>
              </a:ext>
            </a:extLst>
          </p:cNvPr>
          <p:cNvSpPr>
            <a:spLocks noGrp="1"/>
          </p:cNvSpPr>
          <p:nvPr>
            <p:ph type="title"/>
          </p:nvPr>
        </p:nvSpPr>
        <p:spPr/>
        <p:txBody>
          <a:bodyPr/>
          <a:lstStyle/>
          <a:p>
            <a:r>
              <a:rPr lang="en-US" dirty="0"/>
              <a:t>Dot Product of 2 vectors</a:t>
            </a:r>
          </a:p>
        </p:txBody>
      </p:sp>
      <p:graphicFrame>
        <p:nvGraphicFramePr>
          <p:cNvPr id="4" name="Table 4">
            <a:extLst>
              <a:ext uri="{FF2B5EF4-FFF2-40B4-BE49-F238E27FC236}">
                <a16:creationId xmlns:a16="http://schemas.microsoft.com/office/drawing/2014/main" id="{B764C057-BF58-A73D-8F2C-3E0911126532}"/>
              </a:ext>
            </a:extLst>
          </p:cNvPr>
          <p:cNvGraphicFramePr>
            <a:graphicFrameLocks noGrp="1"/>
          </p:cNvGraphicFramePr>
          <p:nvPr>
            <p:ph idx="1"/>
            <p:extLst>
              <p:ext uri="{D42A27DB-BD31-4B8C-83A1-F6EECF244321}">
                <p14:modId xmlns:p14="http://schemas.microsoft.com/office/powerpoint/2010/main" val="668586523"/>
              </p:ext>
            </p:extLst>
          </p:nvPr>
        </p:nvGraphicFramePr>
        <p:xfrm>
          <a:off x="4912778" y="1420369"/>
          <a:ext cx="2378892" cy="370840"/>
        </p:xfrm>
        <a:graphic>
          <a:graphicData uri="http://schemas.openxmlformats.org/drawingml/2006/table">
            <a:tbl>
              <a:tblPr firstRow="1" bandRow="1">
                <a:tableStyleId>{2D5ABB26-0587-4C30-8999-92F81FD0307C}</a:tableStyleId>
              </a:tblPr>
              <a:tblGrid>
                <a:gridCol w="594723">
                  <a:extLst>
                    <a:ext uri="{9D8B030D-6E8A-4147-A177-3AD203B41FA5}">
                      <a16:colId xmlns:a16="http://schemas.microsoft.com/office/drawing/2014/main" val="1333280379"/>
                    </a:ext>
                  </a:extLst>
                </a:gridCol>
                <a:gridCol w="594723">
                  <a:extLst>
                    <a:ext uri="{9D8B030D-6E8A-4147-A177-3AD203B41FA5}">
                      <a16:colId xmlns:a16="http://schemas.microsoft.com/office/drawing/2014/main" val="3910968929"/>
                    </a:ext>
                  </a:extLst>
                </a:gridCol>
                <a:gridCol w="594723">
                  <a:extLst>
                    <a:ext uri="{9D8B030D-6E8A-4147-A177-3AD203B41FA5}">
                      <a16:colId xmlns:a16="http://schemas.microsoft.com/office/drawing/2014/main" val="163056987"/>
                    </a:ext>
                  </a:extLst>
                </a:gridCol>
                <a:gridCol w="594723">
                  <a:extLst>
                    <a:ext uri="{9D8B030D-6E8A-4147-A177-3AD203B41FA5}">
                      <a16:colId xmlns:a16="http://schemas.microsoft.com/office/drawing/2014/main" val="143976183"/>
                    </a:ext>
                  </a:extLst>
                </a:gridCol>
              </a:tblGrid>
              <a:tr h="37084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1375021"/>
                  </a:ext>
                </a:extLst>
              </a:tr>
            </a:tbl>
          </a:graphicData>
        </a:graphic>
      </p:graphicFrame>
      <p:graphicFrame>
        <p:nvGraphicFramePr>
          <p:cNvPr id="5" name="Table 4">
            <a:extLst>
              <a:ext uri="{FF2B5EF4-FFF2-40B4-BE49-F238E27FC236}">
                <a16:creationId xmlns:a16="http://schemas.microsoft.com/office/drawing/2014/main" id="{91599802-E9C9-17A8-7209-2F0F1F0A4EE2}"/>
              </a:ext>
            </a:extLst>
          </p:cNvPr>
          <p:cNvGraphicFramePr>
            <a:graphicFrameLocks/>
          </p:cNvGraphicFramePr>
          <p:nvPr>
            <p:extLst>
              <p:ext uri="{D42A27DB-BD31-4B8C-83A1-F6EECF244321}">
                <p14:modId xmlns:p14="http://schemas.microsoft.com/office/powerpoint/2010/main" val="1354081883"/>
              </p:ext>
            </p:extLst>
          </p:nvPr>
        </p:nvGraphicFramePr>
        <p:xfrm>
          <a:off x="4912778" y="2242950"/>
          <a:ext cx="2378892" cy="370840"/>
        </p:xfrm>
        <a:graphic>
          <a:graphicData uri="http://schemas.openxmlformats.org/drawingml/2006/table">
            <a:tbl>
              <a:tblPr firstRow="1" bandRow="1">
                <a:tableStyleId>{2D5ABB26-0587-4C30-8999-92F81FD0307C}</a:tableStyleId>
              </a:tblPr>
              <a:tblGrid>
                <a:gridCol w="594723">
                  <a:extLst>
                    <a:ext uri="{9D8B030D-6E8A-4147-A177-3AD203B41FA5}">
                      <a16:colId xmlns:a16="http://schemas.microsoft.com/office/drawing/2014/main" val="1333280379"/>
                    </a:ext>
                  </a:extLst>
                </a:gridCol>
                <a:gridCol w="594723">
                  <a:extLst>
                    <a:ext uri="{9D8B030D-6E8A-4147-A177-3AD203B41FA5}">
                      <a16:colId xmlns:a16="http://schemas.microsoft.com/office/drawing/2014/main" val="3910968929"/>
                    </a:ext>
                  </a:extLst>
                </a:gridCol>
                <a:gridCol w="594723">
                  <a:extLst>
                    <a:ext uri="{9D8B030D-6E8A-4147-A177-3AD203B41FA5}">
                      <a16:colId xmlns:a16="http://schemas.microsoft.com/office/drawing/2014/main" val="163056987"/>
                    </a:ext>
                  </a:extLst>
                </a:gridCol>
                <a:gridCol w="594723">
                  <a:extLst>
                    <a:ext uri="{9D8B030D-6E8A-4147-A177-3AD203B41FA5}">
                      <a16:colId xmlns:a16="http://schemas.microsoft.com/office/drawing/2014/main" val="143976183"/>
                    </a:ext>
                  </a:extLst>
                </a:gridCol>
              </a:tblGrid>
              <a:tr h="37084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1375021"/>
                  </a:ext>
                </a:extLst>
              </a:tr>
            </a:tbl>
          </a:graphicData>
        </a:graphic>
      </p:graphicFrame>
      <p:graphicFrame>
        <p:nvGraphicFramePr>
          <p:cNvPr id="6" name="Table 5">
            <a:extLst>
              <a:ext uri="{FF2B5EF4-FFF2-40B4-BE49-F238E27FC236}">
                <a16:creationId xmlns:a16="http://schemas.microsoft.com/office/drawing/2014/main" id="{EFDD9CEF-8EE2-1FA7-5CEE-212ADB198F11}"/>
              </a:ext>
            </a:extLst>
          </p:cNvPr>
          <p:cNvGraphicFramePr>
            <a:graphicFrameLocks/>
          </p:cNvGraphicFramePr>
          <p:nvPr>
            <p:extLst>
              <p:ext uri="{D42A27DB-BD31-4B8C-83A1-F6EECF244321}">
                <p14:modId xmlns:p14="http://schemas.microsoft.com/office/powerpoint/2010/main" val="2520028019"/>
              </p:ext>
            </p:extLst>
          </p:nvPr>
        </p:nvGraphicFramePr>
        <p:xfrm>
          <a:off x="4912778" y="1831659"/>
          <a:ext cx="2378892" cy="370840"/>
        </p:xfrm>
        <a:graphic>
          <a:graphicData uri="http://schemas.openxmlformats.org/drawingml/2006/table">
            <a:tbl>
              <a:tblPr firstRow="1" bandRow="1">
                <a:tableStyleId>{2D5ABB26-0587-4C30-8999-92F81FD0307C}</a:tableStyleId>
              </a:tblPr>
              <a:tblGrid>
                <a:gridCol w="594723">
                  <a:extLst>
                    <a:ext uri="{9D8B030D-6E8A-4147-A177-3AD203B41FA5}">
                      <a16:colId xmlns:a16="http://schemas.microsoft.com/office/drawing/2014/main" val="1333280379"/>
                    </a:ext>
                  </a:extLst>
                </a:gridCol>
                <a:gridCol w="594723">
                  <a:extLst>
                    <a:ext uri="{9D8B030D-6E8A-4147-A177-3AD203B41FA5}">
                      <a16:colId xmlns:a16="http://schemas.microsoft.com/office/drawing/2014/main" val="3910968929"/>
                    </a:ext>
                  </a:extLst>
                </a:gridCol>
                <a:gridCol w="594723">
                  <a:extLst>
                    <a:ext uri="{9D8B030D-6E8A-4147-A177-3AD203B41FA5}">
                      <a16:colId xmlns:a16="http://schemas.microsoft.com/office/drawing/2014/main" val="163056987"/>
                    </a:ext>
                  </a:extLst>
                </a:gridCol>
                <a:gridCol w="594723">
                  <a:extLst>
                    <a:ext uri="{9D8B030D-6E8A-4147-A177-3AD203B41FA5}">
                      <a16:colId xmlns:a16="http://schemas.microsoft.com/office/drawing/2014/main" val="143976183"/>
                    </a:ext>
                  </a:extLst>
                </a:gridCol>
              </a:tblGrid>
              <a:tr h="370840">
                <a:tc>
                  <a:txBody>
                    <a:bodyPr/>
                    <a:lstStyle/>
                    <a:p>
                      <a:pPr algn="ctr"/>
                      <a:r>
                        <a:rPr lang="en-US" dirty="0"/>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1375021"/>
                  </a:ext>
                </a:extLst>
              </a:tr>
            </a:tbl>
          </a:graphicData>
        </a:graphic>
      </p:graphicFrame>
      <p:graphicFrame>
        <p:nvGraphicFramePr>
          <p:cNvPr id="7" name="Table 6">
            <a:extLst>
              <a:ext uri="{FF2B5EF4-FFF2-40B4-BE49-F238E27FC236}">
                <a16:creationId xmlns:a16="http://schemas.microsoft.com/office/drawing/2014/main" id="{0319629B-581E-0CBC-03F9-0DFEFD7F09B2}"/>
              </a:ext>
            </a:extLst>
          </p:cNvPr>
          <p:cNvGraphicFramePr>
            <a:graphicFrameLocks/>
          </p:cNvGraphicFramePr>
          <p:nvPr>
            <p:extLst>
              <p:ext uri="{D42A27DB-BD31-4B8C-83A1-F6EECF244321}">
                <p14:modId xmlns:p14="http://schemas.microsoft.com/office/powerpoint/2010/main" val="1608604845"/>
              </p:ext>
            </p:extLst>
          </p:nvPr>
        </p:nvGraphicFramePr>
        <p:xfrm>
          <a:off x="4992291" y="2864382"/>
          <a:ext cx="2378892" cy="370840"/>
        </p:xfrm>
        <a:graphic>
          <a:graphicData uri="http://schemas.openxmlformats.org/drawingml/2006/table">
            <a:tbl>
              <a:tblPr firstRow="1" bandRow="1">
                <a:tableStyleId>{2D5ABB26-0587-4C30-8999-92F81FD0307C}</a:tableStyleId>
              </a:tblPr>
              <a:tblGrid>
                <a:gridCol w="594723">
                  <a:extLst>
                    <a:ext uri="{9D8B030D-6E8A-4147-A177-3AD203B41FA5}">
                      <a16:colId xmlns:a16="http://schemas.microsoft.com/office/drawing/2014/main" val="1333280379"/>
                    </a:ext>
                  </a:extLst>
                </a:gridCol>
                <a:gridCol w="594723">
                  <a:extLst>
                    <a:ext uri="{9D8B030D-6E8A-4147-A177-3AD203B41FA5}">
                      <a16:colId xmlns:a16="http://schemas.microsoft.com/office/drawing/2014/main" val="3910968929"/>
                    </a:ext>
                  </a:extLst>
                </a:gridCol>
                <a:gridCol w="594723">
                  <a:extLst>
                    <a:ext uri="{9D8B030D-6E8A-4147-A177-3AD203B41FA5}">
                      <a16:colId xmlns:a16="http://schemas.microsoft.com/office/drawing/2014/main" val="163056987"/>
                    </a:ext>
                  </a:extLst>
                </a:gridCol>
                <a:gridCol w="594723">
                  <a:extLst>
                    <a:ext uri="{9D8B030D-6E8A-4147-A177-3AD203B41FA5}">
                      <a16:colId xmlns:a16="http://schemas.microsoft.com/office/drawing/2014/main" val="143976183"/>
                    </a:ext>
                  </a:extLst>
                </a:gridCol>
              </a:tblGrid>
              <a:tr h="370840">
                <a:tc>
                  <a:txBody>
                    <a:bodyPr/>
                    <a:lstStyle/>
                    <a:p>
                      <a:pPr algn="ctr"/>
                      <a:r>
                        <a:rPr lang="en-US" dirty="0"/>
                        <a:t>0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6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1375021"/>
                  </a:ext>
                </a:extLst>
              </a:tr>
            </a:tbl>
          </a:graphicData>
        </a:graphic>
      </p:graphicFrame>
      <p:sp>
        <p:nvSpPr>
          <p:cNvPr id="8" name="TextBox 7">
            <a:extLst>
              <a:ext uri="{FF2B5EF4-FFF2-40B4-BE49-F238E27FC236}">
                <a16:creationId xmlns:a16="http://schemas.microsoft.com/office/drawing/2014/main" id="{433D32A8-2CDB-1388-EEAF-E71CF7FC486D}"/>
              </a:ext>
            </a:extLst>
          </p:cNvPr>
          <p:cNvSpPr txBox="1"/>
          <p:nvPr/>
        </p:nvSpPr>
        <p:spPr>
          <a:xfrm>
            <a:off x="7468554" y="2865890"/>
            <a:ext cx="639919" cy="369332"/>
          </a:xfrm>
          <a:prstGeom prst="rect">
            <a:avLst/>
          </a:prstGeom>
          <a:noFill/>
        </p:spPr>
        <p:txBody>
          <a:bodyPr wrap="none" rtlCol="0">
            <a:spAutoFit/>
          </a:bodyPr>
          <a:lstStyle/>
          <a:p>
            <a:r>
              <a:rPr lang="en-US" dirty="0"/>
              <a:t>=  12</a:t>
            </a:r>
          </a:p>
        </p:txBody>
      </p:sp>
      <p:sp>
        <p:nvSpPr>
          <p:cNvPr id="9" name="TextBox 8">
            <a:extLst>
              <a:ext uri="{FF2B5EF4-FFF2-40B4-BE49-F238E27FC236}">
                <a16:creationId xmlns:a16="http://schemas.microsoft.com/office/drawing/2014/main" id="{725CF42F-1750-9B50-08BB-4925B6F82E50}"/>
              </a:ext>
            </a:extLst>
          </p:cNvPr>
          <p:cNvSpPr txBox="1"/>
          <p:nvPr/>
        </p:nvSpPr>
        <p:spPr>
          <a:xfrm>
            <a:off x="4299390" y="3708230"/>
            <a:ext cx="4596130" cy="1477328"/>
          </a:xfrm>
          <a:prstGeom prst="rect">
            <a:avLst/>
          </a:prstGeom>
          <a:noFill/>
        </p:spPr>
        <p:txBody>
          <a:bodyPr wrap="none" rtlCol="0">
            <a:spAutoFit/>
          </a:bodyPr>
          <a:lstStyle/>
          <a:p>
            <a:r>
              <a:rPr lang="en-US" dirty="0" err="1">
                <a:latin typeface="Andale Mono" panose="020B0509000000000004" pitchFamily="49" charset="0"/>
              </a:rPr>
              <a:t>tmp</a:t>
            </a:r>
            <a:r>
              <a:rPr lang="en-US" dirty="0">
                <a:latin typeface="Andale Mono" panose="020B0509000000000004" pitchFamily="49" charset="0"/>
              </a:rPr>
              <a:t> = 0;</a:t>
            </a:r>
          </a:p>
          <a:p>
            <a:r>
              <a:rPr lang="en-US" dirty="0">
                <a:latin typeface="Andale Mono" panose="020B0509000000000004" pitchFamily="49" charset="0"/>
              </a:rPr>
              <a:t>for (int k = 0; k &lt; cols; ++k) {</a:t>
            </a:r>
          </a:p>
          <a:p>
            <a:r>
              <a:rPr lang="en-US" dirty="0">
                <a:latin typeface="Andale Mono" panose="020B0509000000000004" pitchFamily="49" charset="0"/>
              </a:rPr>
              <a:t>   </a:t>
            </a:r>
            <a:r>
              <a:rPr lang="en-US" dirty="0" err="1">
                <a:latin typeface="Andale Mono" panose="020B0509000000000004" pitchFamily="49" charset="0"/>
              </a:rPr>
              <a:t>tmp</a:t>
            </a:r>
            <a:r>
              <a:rPr lang="en-US" dirty="0">
                <a:latin typeface="Andale Mono" panose="020B0509000000000004" pitchFamily="49" charset="0"/>
              </a:rPr>
              <a:t> += A[k] * B[k];</a:t>
            </a:r>
          </a:p>
          <a:p>
            <a:r>
              <a:rPr lang="en-US" dirty="0">
                <a:latin typeface="Andale Mono" panose="020B0509000000000004" pitchFamily="49" charset="0"/>
              </a:rPr>
              <a:t>}</a:t>
            </a:r>
          </a:p>
          <a:p>
            <a:endParaRPr lang="en-US" dirty="0"/>
          </a:p>
        </p:txBody>
      </p:sp>
      <p:sp>
        <p:nvSpPr>
          <p:cNvPr id="10" name="TextBox 9">
            <a:extLst>
              <a:ext uri="{FF2B5EF4-FFF2-40B4-BE49-F238E27FC236}">
                <a16:creationId xmlns:a16="http://schemas.microsoft.com/office/drawing/2014/main" id="{EFBFBA05-811C-B042-1CA0-8D8B2CCC8543}"/>
              </a:ext>
            </a:extLst>
          </p:cNvPr>
          <p:cNvSpPr txBox="1"/>
          <p:nvPr/>
        </p:nvSpPr>
        <p:spPr>
          <a:xfrm>
            <a:off x="4291374" y="1462327"/>
            <a:ext cx="317716" cy="369332"/>
          </a:xfrm>
          <a:prstGeom prst="rect">
            <a:avLst/>
          </a:prstGeom>
          <a:noFill/>
        </p:spPr>
        <p:txBody>
          <a:bodyPr wrap="none" rtlCol="0">
            <a:spAutoFit/>
          </a:bodyPr>
          <a:lstStyle/>
          <a:p>
            <a:r>
              <a:rPr lang="en-US" dirty="0"/>
              <a:t>A</a:t>
            </a:r>
          </a:p>
        </p:txBody>
      </p:sp>
      <p:sp>
        <p:nvSpPr>
          <p:cNvPr id="11" name="TextBox 10">
            <a:extLst>
              <a:ext uri="{FF2B5EF4-FFF2-40B4-BE49-F238E27FC236}">
                <a16:creationId xmlns:a16="http://schemas.microsoft.com/office/drawing/2014/main" id="{7B045B72-1D69-8554-B6C7-337E4A86834B}"/>
              </a:ext>
            </a:extLst>
          </p:cNvPr>
          <p:cNvSpPr txBox="1"/>
          <p:nvPr/>
        </p:nvSpPr>
        <p:spPr>
          <a:xfrm>
            <a:off x="4299390" y="2277073"/>
            <a:ext cx="309700" cy="369332"/>
          </a:xfrm>
          <a:prstGeom prst="rect">
            <a:avLst/>
          </a:prstGeom>
          <a:noFill/>
        </p:spPr>
        <p:txBody>
          <a:bodyPr wrap="none" rtlCol="0">
            <a:spAutoFit/>
          </a:bodyPr>
          <a:lstStyle/>
          <a:p>
            <a:r>
              <a:rPr lang="en-US" dirty="0"/>
              <a:t>B</a:t>
            </a:r>
          </a:p>
        </p:txBody>
      </p:sp>
    </p:spTree>
    <p:extLst>
      <p:ext uri="{BB962C8B-B14F-4D97-AF65-F5344CB8AC3E}">
        <p14:creationId xmlns:p14="http://schemas.microsoft.com/office/powerpoint/2010/main" val="324922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E1AD-65D5-D079-0917-9E7112182738}"/>
              </a:ext>
            </a:extLst>
          </p:cNvPr>
          <p:cNvSpPr>
            <a:spLocks noGrp="1"/>
          </p:cNvSpPr>
          <p:nvPr>
            <p:ph type="title"/>
          </p:nvPr>
        </p:nvSpPr>
        <p:spPr>
          <a:xfrm>
            <a:off x="761198" y="179888"/>
            <a:ext cx="3998762" cy="501149"/>
          </a:xfrm>
        </p:spPr>
        <p:txBody>
          <a:bodyPr/>
          <a:lstStyle/>
          <a:p>
            <a:pPr algn="l"/>
            <a:r>
              <a:rPr lang="en-US" dirty="0"/>
              <a:t>Matrix Multiply Example</a:t>
            </a:r>
          </a:p>
        </p:txBody>
      </p:sp>
      <p:sp>
        <p:nvSpPr>
          <p:cNvPr id="3" name="Content Placeholder 2">
            <a:extLst>
              <a:ext uri="{FF2B5EF4-FFF2-40B4-BE49-F238E27FC236}">
                <a16:creationId xmlns:a16="http://schemas.microsoft.com/office/drawing/2014/main" id="{F11BE665-622A-4CB5-CE1A-F2152DB94CC0}"/>
              </a:ext>
            </a:extLst>
          </p:cNvPr>
          <p:cNvSpPr>
            <a:spLocks noGrp="1"/>
          </p:cNvSpPr>
          <p:nvPr>
            <p:ph idx="1"/>
          </p:nvPr>
        </p:nvSpPr>
        <p:spPr>
          <a:xfrm>
            <a:off x="354798" y="1223227"/>
            <a:ext cx="3790482" cy="4411545"/>
          </a:xfrm>
        </p:spPr>
        <p:txBody>
          <a:bodyPr/>
          <a:lstStyle/>
          <a:p>
            <a:r>
              <a:rPr lang="en-US" dirty="0"/>
              <a:t>2 square matrices</a:t>
            </a:r>
          </a:p>
          <a:p>
            <a:endParaRPr lang="en-US" dirty="0"/>
          </a:p>
          <a:p>
            <a:r>
              <a:rPr lang="en-US" dirty="0"/>
              <a:t>For A x B = C</a:t>
            </a:r>
          </a:p>
          <a:p>
            <a:r>
              <a:rPr lang="en-US" dirty="0"/>
              <a:t>One cell in new matrix C is dot product of row in A and column in B</a:t>
            </a:r>
          </a:p>
        </p:txBody>
      </p:sp>
      <p:pic>
        <p:nvPicPr>
          <p:cNvPr id="5" name="Picture 4">
            <a:extLst>
              <a:ext uri="{FF2B5EF4-FFF2-40B4-BE49-F238E27FC236}">
                <a16:creationId xmlns:a16="http://schemas.microsoft.com/office/drawing/2014/main" id="{4B666C60-BF3E-B8EE-33F1-5C2A3E82A60B}"/>
              </a:ext>
            </a:extLst>
          </p:cNvPr>
          <p:cNvPicPr>
            <a:picLocks noChangeAspect="1"/>
          </p:cNvPicPr>
          <p:nvPr/>
        </p:nvPicPr>
        <p:blipFill>
          <a:blip r:embed="rId2"/>
          <a:stretch>
            <a:fillRect/>
          </a:stretch>
        </p:blipFill>
        <p:spPr>
          <a:xfrm>
            <a:off x="4274820" y="88900"/>
            <a:ext cx="6934200" cy="6680200"/>
          </a:xfrm>
          <a:prstGeom prst="rect">
            <a:avLst/>
          </a:prstGeom>
        </p:spPr>
      </p:pic>
    </p:spTree>
    <p:extLst>
      <p:ext uri="{BB962C8B-B14F-4D97-AF65-F5344CB8AC3E}">
        <p14:creationId xmlns:p14="http://schemas.microsoft.com/office/powerpoint/2010/main" val="261019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E1AD-65D5-D079-0917-9E7112182738}"/>
              </a:ext>
            </a:extLst>
          </p:cNvPr>
          <p:cNvSpPr>
            <a:spLocks noGrp="1"/>
          </p:cNvSpPr>
          <p:nvPr>
            <p:ph type="title"/>
          </p:nvPr>
        </p:nvSpPr>
        <p:spPr>
          <a:xfrm>
            <a:off x="761198" y="179888"/>
            <a:ext cx="5243362" cy="501149"/>
          </a:xfrm>
        </p:spPr>
        <p:txBody>
          <a:bodyPr/>
          <a:lstStyle/>
          <a:p>
            <a:pPr algn="l"/>
            <a:r>
              <a:rPr lang="en-US" dirty="0"/>
              <a:t>Matrix Multiply Example</a:t>
            </a:r>
          </a:p>
        </p:txBody>
      </p:sp>
      <p:pic>
        <p:nvPicPr>
          <p:cNvPr id="5" name="Picture 4">
            <a:extLst>
              <a:ext uri="{FF2B5EF4-FFF2-40B4-BE49-F238E27FC236}">
                <a16:creationId xmlns:a16="http://schemas.microsoft.com/office/drawing/2014/main" id="{4B666C60-BF3E-B8EE-33F1-5C2A3E82A60B}"/>
              </a:ext>
            </a:extLst>
          </p:cNvPr>
          <p:cNvPicPr>
            <a:picLocks noChangeAspect="1"/>
          </p:cNvPicPr>
          <p:nvPr/>
        </p:nvPicPr>
        <p:blipFill>
          <a:blip r:embed="rId2"/>
          <a:stretch>
            <a:fillRect/>
          </a:stretch>
        </p:blipFill>
        <p:spPr>
          <a:xfrm>
            <a:off x="7432042" y="430462"/>
            <a:ext cx="4558643" cy="4391660"/>
          </a:xfrm>
          <a:prstGeom prst="rect">
            <a:avLst/>
          </a:prstGeom>
        </p:spPr>
      </p:pic>
      <p:sp>
        <p:nvSpPr>
          <p:cNvPr id="6" name="TextBox 5">
            <a:extLst>
              <a:ext uri="{FF2B5EF4-FFF2-40B4-BE49-F238E27FC236}">
                <a16:creationId xmlns:a16="http://schemas.microsoft.com/office/drawing/2014/main" id="{AAF4EC6C-590B-FD4D-ACE0-8A50202D177C}"/>
              </a:ext>
            </a:extLst>
          </p:cNvPr>
          <p:cNvSpPr txBox="1"/>
          <p:nvPr/>
        </p:nvSpPr>
        <p:spPr>
          <a:xfrm>
            <a:off x="235620" y="681037"/>
            <a:ext cx="6801862" cy="5078313"/>
          </a:xfrm>
          <a:prstGeom prst="rect">
            <a:avLst/>
          </a:prstGeom>
          <a:noFill/>
        </p:spPr>
        <p:txBody>
          <a:bodyPr wrap="none" rtlCol="0">
            <a:spAutoFit/>
          </a:bodyPr>
          <a:lstStyle/>
          <a:p>
            <a:endParaRPr lang="en-US" dirty="0">
              <a:latin typeface="Andale Mono" panose="020B0509000000000004" pitchFamily="49" charset="0"/>
            </a:endParaRPr>
          </a:p>
          <a:p>
            <a:r>
              <a:rPr lang="en-US" dirty="0">
                <a:latin typeface="Andale Mono" panose="020B0509000000000004" pitchFamily="49" charset="0"/>
              </a:rPr>
              <a:t>// function to multiply two matrices</a:t>
            </a:r>
          </a:p>
          <a:p>
            <a:r>
              <a:rPr lang="en-US" dirty="0">
                <a:latin typeface="Andale Mono" panose="020B0509000000000004" pitchFamily="49" charset="0"/>
              </a:rPr>
              <a:t>void </a:t>
            </a:r>
            <a:r>
              <a:rPr lang="en-US" dirty="0" err="1">
                <a:latin typeface="Andale Mono" panose="020B0509000000000004" pitchFamily="49" charset="0"/>
              </a:rPr>
              <a:t>multiplyMatrices</a:t>
            </a:r>
            <a:r>
              <a:rPr lang="en-US" dirty="0">
                <a:latin typeface="Andale Mono" panose="020B0509000000000004" pitchFamily="49" charset="0"/>
              </a:rPr>
              <a:t>(float A[][],</a:t>
            </a:r>
          </a:p>
          <a:p>
            <a:r>
              <a:rPr lang="en-US" dirty="0">
                <a:latin typeface="Andale Mono" panose="020B0509000000000004" pitchFamily="49" charset="0"/>
              </a:rPr>
              <a:t>                      float B[][],</a:t>
            </a:r>
          </a:p>
          <a:p>
            <a:r>
              <a:rPr lang="en-US" dirty="0">
                <a:latin typeface="Andale Mono" panose="020B0509000000000004" pitchFamily="49" charset="0"/>
              </a:rPr>
              <a:t>                      float C[][],</a:t>
            </a:r>
          </a:p>
          <a:p>
            <a:r>
              <a:rPr lang="en-US" dirty="0">
                <a:latin typeface="Andale Mono" panose="020B0509000000000004" pitchFamily="49" charset="0"/>
              </a:rPr>
              <a:t>                      int rows, int cols) {</a:t>
            </a:r>
          </a:p>
          <a:p>
            <a:endParaRPr lang="en-US" dirty="0">
              <a:latin typeface="Andale Mono" panose="020B0509000000000004" pitchFamily="49" charset="0"/>
            </a:endParaRPr>
          </a:p>
          <a:p>
            <a:endParaRPr lang="en-US" dirty="0">
              <a:latin typeface="Andale Mono" panose="020B0509000000000004" pitchFamily="49" charset="0"/>
            </a:endParaRPr>
          </a:p>
          <a:p>
            <a:r>
              <a:rPr lang="en-US" dirty="0">
                <a:latin typeface="Andale Mono" panose="020B0509000000000004" pitchFamily="49" charset="0"/>
              </a:rPr>
              <a:t>   // Multiplying first and second matrices and </a:t>
            </a:r>
          </a:p>
          <a:p>
            <a:r>
              <a:rPr lang="en-US" dirty="0">
                <a:latin typeface="Andale Mono" panose="020B0509000000000004" pitchFamily="49" charset="0"/>
              </a:rPr>
              <a:t>   // storing it in result C</a:t>
            </a:r>
          </a:p>
          <a:p>
            <a:r>
              <a:rPr lang="en-US" dirty="0">
                <a:latin typeface="Andale Mono" panose="020B0509000000000004" pitchFamily="49" charset="0"/>
              </a:rPr>
              <a:t>   for (int </a:t>
            </a:r>
            <a:r>
              <a:rPr lang="en-US" dirty="0" err="1">
                <a:latin typeface="Andale Mono" panose="020B0509000000000004" pitchFamily="49" charset="0"/>
              </a:rPr>
              <a:t>i</a:t>
            </a:r>
            <a:r>
              <a:rPr lang="en-US" dirty="0">
                <a:latin typeface="Andale Mono" panose="020B0509000000000004" pitchFamily="49" charset="0"/>
              </a:rPr>
              <a:t> = 0; </a:t>
            </a:r>
            <a:r>
              <a:rPr lang="en-US" dirty="0" err="1">
                <a:latin typeface="Andale Mono" panose="020B0509000000000004" pitchFamily="49" charset="0"/>
              </a:rPr>
              <a:t>i</a:t>
            </a:r>
            <a:r>
              <a:rPr lang="en-US" dirty="0">
                <a:latin typeface="Andale Mono" panose="020B0509000000000004" pitchFamily="49" charset="0"/>
              </a:rPr>
              <a:t> &lt; rows; ++</a:t>
            </a:r>
            <a:r>
              <a:rPr lang="en-US" dirty="0" err="1">
                <a:latin typeface="Andale Mono" panose="020B0509000000000004" pitchFamily="49" charset="0"/>
              </a:rPr>
              <a:t>i</a:t>
            </a:r>
            <a:r>
              <a:rPr lang="en-US" dirty="0">
                <a:latin typeface="Andale Mono" panose="020B0509000000000004" pitchFamily="49" charset="0"/>
              </a:rPr>
              <a:t>) {</a:t>
            </a:r>
          </a:p>
          <a:p>
            <a:r>
              <a:rPr lang="en-US" dirty="0">
                <a:latin typeface="Andale Mono" panose="020B0509000000000004" pitchFamily="49" charset="0"/>
              </a:rPr>
              <a:t>      for (int j = 0; j &lt; cols; ++j) {</a:t>
            </a:r>
          </a:p>
          <a:p>
            <a:r>
              <a:rPr lang="en-US" dirty="0">
                <a:latin typeface="Andale Mono" panose="020B0509000000000004" pitchFamily="49" charset="0"/>
              </a:rPr>
              <a:t>         for (int k = 0; k &lt; cols; ++k) {</a:t>
            </a:r>
          </a:p>
          <a:p>
            <a:r>
              <a:rPr lang="en-US" dirty="0">
                <a:latin typeface="Andale Mono" panose="020B0509000000000004" pitchFamily="49" charset="0"/>
              </a:rPr>
              <a:t>            C[</a:t>
            </a:r>
            <a:r>
              <a:rPr lang="en-US" dirty="0" err="1">
                <a:latin typeface="Andale Mono" panose="020B0509000000000004" pitchFamily="49" charset="0"/>
              </a:rPr>
              <a:t>i</a:t>
            </a:r>
            <a:r>
              <a:rPr lang="en-US" dirty="0">
                <a:latin typeface="Andale Mono" panose="020B0509000000000004" pitchFamily="49" charset="0"/>
              </a:rPr>
              <a:t>][j] += A[</a:t>
            </a:r>
            <a:r>
              <a:rPr lang="en-US" dirty="0" err="1">
                <a:latin typeface="Andale Mono" panose="020B0509000000000004" pitchFamily="49" charset="0"/>
              </a:rPr>
              <a:t>i</a:t>
            </a:r>
            <a:r>
              <a:rPr lang="en-US" dirty="0">
                <a:latin typeface="Andale Mono" panose="020B0509000000000004" pitchFamily="49" charset="0"/>
              </a:rPr>
              <a:t>][k] * B[k][j];</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a:t>
            </a:r>
          </a:p>
        </p:txBody>
      </p:sp>
      <p:sp>
        <p:nvSpPr>
          <p:cNvPr id="7" name="TextBox 6">
            <a:extLst>
              <a:ext uri="{FF2B5EF4-FFF2-40B4-BE49-F238E27FC236}">
                <a16:creationId xmlns:a16="http://schemas.microsoft.com/office/drawing/2014/main" id="{85DD3544-A6D9-311E-EB44-6EE280699337}"/>
              </a:ext>
            </a:extLst>
          </p:cNvPr>
          <p:cNvSpPr txBox="1"/>
          <p:nvPr/>
        </p:nvSpPr>
        <p:spPr>
          <a:xfrm>
            <a:off x="10825219" y="4978609"/>
            <a:ext cx="575799" cy="646331"/>
          </a:xfrm>
          <a:prstGeom prst="rect">
            <a:avLst/>
          </a:prstGeom>
          <a:noFill/>
        </p:spPr>
        <p:txBody>
          <a:bodyPr wrap="none" rtlCol="0">
            <a:spAutoFit/>
          </a:bodyPr>
          <a:lstStyle/>
          <a:p>
            <a:r>
              <a:rPr lang="en-US" dirty="0" err="1"/>
              <a:t>i</a:t>
            </a:r>
            <a:r>
              <a:rPr lang="en-US" dirty="0"/>
              <a:t> = 2</a:t>
            </a:r>
          </a:p>
          <a:p>
            <a:r>
              <a:rPr lang="en-US" dirty="0"/>
              <a:t>j = 4</a:t>
            </a:r>
          </a:p>
        </p:txBody>
      </p:sp>
      <p:sp>
        <p:nvSpPr>
          <p:cNvPr id="3" name="TextBox 2">
            <a:extLst>
              <a:ext uri="{FF2B5EF4-FFF2-40B4-BE49-F238E27FC236}">
                <a16:creationId xmlns:a16="http://schemas.microsoft.com/office/drawing/2014/main" id="{F3F68E29-1B88-E853-2396-0E3A72324C9B}"/>
              </a:ext>
            </a:extLst>
          </p:cNvPr>
          <p:cNvSpPr txBox="1"/>
          <p:nvPr/>
        </p:nvSpPr>
        <p:spPr>
          <a:xfrm>
            <a:off x="7192652" y="3101419"/>
            <a:ext cx="237566" cy="369332"/>
          </a:xfrm>
          <a:prstGeom prst="rect">
            <a:avLst/>
          </a:prstGeom>
          <a:noFill/>
        </p:spPr>
        <p:txBody>
          <a:bodyPr wrap="none" rtlCol="0">
            <a:spAutoFit/>
          </a:bodyPr>
          <a:lstStyle/>
          <a:p>
            <a:r>
              <a:rPr lang="en-US" dirty="0" err="1">
                <a:solidFill>
                  <a:schemeClr val="accent4">
                    <a:lumMod val="60000"/>
                    <a:lumOff val="40000"/>
                  </a:schemeClr>
                </a:solidFill>
              </a:rPr>
              <a:t>i</a:t>
            </a:r>
            <a:endParaRPr lang="en-US" dirty="0">
              <a:solidFill>
                <a:schemeClr val="accent4">
                  <a:lumMod val="60000"/>
                  <a:lumOff val="40000"/>
                </a:schemeClr>
              </a:solidFill>
            </a:endParaRPr>
          </a:p>
        </p:txBody>
      </p:sp>
      <p:cxnSp>
        <p:nvCxnSpPr>
          <p:cNvPr id="8" name="Straight Arrow Connector 7">
            <a:extLst>
              <a:ext uri="{FF2B5EF4-FFF2-40B4-BE49-F238E27FC236}">
                <a16:creationId xmlns:a16="http://schemas.microsoft.com/office/drawing/2014/main" id="{1A20BAEA-ED53-A829-A804-0B076F86A1E9}"/>
              </a:ext>
            </a:extLst>
          </p:cNvPr>
          <p:cNvCxnSpPr/>
          <p:nvPr/>
        </p:nvCxnSpPr>
        <p:spPr>
          <a:xfrm>
            <a:off x="7311435" y="3677363"/>
            <a:ext cx="0" cy="1144759"/>
          </a:xfrm>
          <a:prstGeom prst="straightConnector1">
            <a:avLst/>
          </a:prstGeom>
          <a:ln w="412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BB0710-E076-38B6-BDE2-3757343D0D09}"/>
              </a:ext>
            </a:extLst>
          </p:cNvPr>
          <p:cNvSpPr txBox="1"/>
          <p:nvPr/>
        </p:nvSpPr>
        <p:spPr>
          <a:xfrm>
            <a:off x="9813303" y="75412"/>
            <a:ext cx="239168" cy="369332"/>
          </a:xfrm>
          <a:prstGeom prst="rect">
            <a:avLst/>
          </a:prstGeom>
          <a:noFill/>
        </p:spPr>
        <p:txBody>
          <a:bodyPr wrap="none" rtlCol="0">
            <a:spAutoFit/>
          </a:bodyPr>
          <a:lstStyle/>
          <a:p>
            <a:r>
              <a:rPr lang="en-US" dirty="0">
                <a:solidFill>
                  <a:schemeClr val="accent4">
                    <a:lumMod val="60000"/>
                    <a:lumOff val="40000"/>
                  </a:schemeClr>
                </a:solidFill>
              </a:rPr>
              <a:t>j</a:t>
            </a:r>
          </a:p>
        </p:txBody>
      </p:sp>
      <p:cxnSp>
        <p:nvCxnSpPr>
          <p:cNvPr id="10" name="Straight Arrow Connector 9">
            <a:extLst>
              <a:ext uri="{FF2B5EF4-FFF2-40B4-BE49-F238E27FC236}">
                <a16:creationId xmlns:a16="http://schemas.microsoft.com/office/drawing/2014/main" id="{D364E1DE-40A7-761E-7C72-3546C5310E7E}"/>
              </a:ext>
            </a:extLst>
          </p:cNvPr>
          <p:cNvCxnSpPr>
            <a:cxnSpLocks/>
          </p:cNvCxnSpPr>
          <p:nvPr/>
        </p:nvCxnSpPr>
        <p:spPr>
          <a:xfrm>
            <a:off x="10159901" y="260078"/>
            <a:ext cx="1501056" cy="0"/>
          </a:xfrm>
          <a:prstGeom prst="straightConnector1">
            <a:avLst/>
          </a:prstGeom>
          <a:ln w="412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D106C25-DD6C-937D-7653-AA07450B8F33}"/>
              </a:ext>
            </a:extLst>
          </p:cNvPr>
          <p:cNvSpPr txBox="1"/>
          <p:nvPr/>
        </p:nvSpPr>
        <p:spPr>
          <a:xfrm>
            <a:off x="449204" y="5798834"/>
            <a:ext cx="7078797" cy="461665"/>
          </a:xfrm>
          <a:prstGeom prst="rect">
            <a:avLst/>
          </a:prstGeom>
          <a:noFill/>
        </p:spPr>
        <p:txBody>
          <a:bodyPr wrap="none" rtlCol="0">
            <a:spAutoFit/>
          </a:bodyPr>
          <a:lstStyle/>
          <a:p>
            <a:r>
              <a:rPr lang="en-US" sz="2400" dirty="0">
                <a:solidFill>
                  <a:schemeClr val="accent4">
                    <a:lumMod val="60000"/>
                    <a:lumOff val="40000"/>
                  </a:schemeClr>
                </a:solidFill>
              </a:rPr>
              <a:t>When rows = cols = N, what is big-Oh of this algorithm?</a:t>
            </a:r>
          </a:p>
        </p:txBody>
      </p:sp>
      <p:sp>
        <p:nvSpPr>
          <p:cNvPr id="13" name="TextBox 12">
            <a:extLst>
              <a:ext uri="{FF2B5EF4-FFF2-40B4-BE49-F238E27FC236}">
                <a16:creationId xmlns:a16="http://schemas.microsoft.com/office/drawing/2014/main" id="{A27DADE2-8A1C-CB53-BC84-FF9C7825EB2C}"/>
              </a:ext>
            </a:extLst>
          </p:cNvPr>
          <p:cNvSpPr txBox="1"/>
          <p:nvPr/>
        </p:nvSpPr>
        <p:spPr>
          <a:xfrm>
            <a:off x="8220173" y="5802995"/>
            <a:ext cx="1111202" cy="584775"/>
          </a:xfrm>
          <a:prstGeom prst="rect">
            <a:avLst/>
          </a:prstGeom>
          <a:noFill/>
        </p:spPr>
        <p:txBody>
          <a:bodyPr wrap="none" rtlCol="0">
            <a:spAutoFit/>
          </a:bodyPr>
          <a:lstStyle/>
          <a:p>
            <a:r>
              <a:rPr lang="en-US" sz="3200" dirty="0">
                <a:solidFill>
                  <a:schemeClr val="accent4">
                    <a:lumMod val="60000"/>
                    <a:lumOff val="40000"/>
                  </a:schemeClr>
                </a:solidFill>
              </a:rPr>
              <a:t>O(N</a:t>
            </a:r>
            <a:r>
              <a:rPr lang="en-US" sz="3200" baseline="30000" dirty="0">
                <a:solidFill>
                  <a:schemeClr val="accent4">
                    <a:lumMod val="60000"/>
                    <a:lumOff val="40000"/>
                  </a:schemeClr>
                </a:solidFill>
              </a:rPr>
              <a:t>3</a:t>
            </a:r>
            <a:r>
              <a:rPr lang="en-US" sz="3200" dirty="0">
                <a:solidFill>
                  <a:schemeClr val="accent4">
                    <a:lumMod val="60000"/>
                    <a:lumOff val="40000"/>
                  </a:schemeClr>
                </a:solidFill>
              </a:rPr>
              <a:t>)</a:t>
            </a:r>
          </a:p>
        </p:txBody>
      </p:sp>
    </p:spTree>
    <p:extLst>
      <p:ext uri="{BB962C8B-B14F-4D97-AF65-F5344CB8AC3E}">
        <p14:creationId xmlns:p14="http://schemas.microsoft.com/office/powerpoint/2010/main" val="11912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E1AD-65D5-D079-0917-9E7112182738}"/>
              </a:ext>
            </a:extLst>
          </p:cNvPr>
          <p:cNvSpPr>
            <a:spLocks noGrp="1"/>
          </p:cNvSpPr>
          <p:nvPr>
            <p:ph type="title"/>
          </p:nvPr>
        </p:nvSpPr>
        <p:spPr>
          <a:xfrm>
            <a:off x="761198" y="179888"/>
            <a:ext cx="5243362" cy="501149"/>
          </a:xfrm>
        </p:spPr>
        <p:txBody>
          <a:bodyPr/>
          <a:lstStyle/>
          <a:p>
            <a:pPr algn="l"/>
            <a:r>
              <a:rPr lang="en-US" dirty="0"/>
              <a:t>Matrix Multiply Example</a:t>
            </a:r>
          </a:p>
        </p:txBody>
      </p:sp>
      <p:pic>
        <p:nvPicPr>
          <p:cNvPr id="5" name="Picture 4">
            <a:extLst>
              <a:ext uri="{FF2B5EF4-FFF2-40B4-BE49-F238E27FC236}">
                <a16:creationId xmlns:a16="http://schemas.microsoft.com/office/drawing/2014/main" id="{4B666C60-BF3E-B8EE-33F1-5C2A3E82A60B}"/>
              </a:ext>
            </a:extLst>
          </p:cNvPr>
          <p:cNvPicPr>
            <a:picLocks noChangeAspect="1"/>
          </p:cNvPicPr>
          <p:nvPr/>
        </p:nvPicPr>
        <p:blipFill>
          <a:blip r:embed="rId2"/>
          <a:stretch>
            <a:fillRect/>
          </a:stretch>
        </p:blipFill>
        <p:spPr>
          <a:xfrm>
            <a:off x="7432042" y="430462"/>
            <a:ext cx="4558643" cy="4391660"/>
          </a:xfrm>
          <a:prstGeom prst="rect">
            <a:avLst/>
          </a:prstGeom>
        </p:spPr>
      </p:pic>
      <p:sp>
        <p:nvSpPr>
          <p:cNvPr id="6" name="TextBox 5">
            <a:extLst>
              <a:ext uri="{FF2B5EF4-FFF2-40B4-BE49-F238E27FC236}">
                <a16:creationId xmlns:a16="http://schemas.microsoft.com/office/drawing/2014/main" id="{AAF4EC6C-590B-FD4D-ACE0-8A50202D177C}"/>
              </a:ext>
            </a:extLst>
          </p:cNvPr>
          <p:cNvSpPr txBox="1"/>
          <p:nvPr/>
        </p:nvSpPr>
        <p:spPr>
          <a:xfrm>
            <a:off x="235620" y="681037"/>
            <a:ext cx="6801862" cy="5078313"/>
          </a:xfrm>
          <a:prstGeom prst="rect">
            <a:avLst/>
          </a:prstGeom>
          <a:noFill/>
        </p:spPr>
        <p:txBody>
          <a:bodyPr wrap="none" rtlCol="0">
            <a:spAutoFit/>
          </a:bodyPr>
          <a:lstStyle/>
          <a:p>
            <a:endParaRPr lang="en-US" dirty="0">
              <a:latin typeface="Andale Mono" panose="020B0509000000000004" pitchFamily="49" charset="0"/>
            </a:endParaRPr>
          </a:p>
          <a:p>
            <a:r>
              <a:rPr lang="en-US" dirty="0">
                <a:latin typeface="Andale Mono" panose="020B0509000000000004" pitchFamily="49" charset="0"/>
              </a:rPr>
              <a:t>// function to multiply two matrices</a:t>
            </a:r>
          </a:p>
          <a:p>
            <a:r>
              <a:rPr lang="en-US" dirty="0">
                <a:latin typeface="Andale Mono" panose="020B0509000000000004" pitchFamily="49" charset="0"/>
              </a:rPr>
              <a:t>void </a:t>
            </a:r>
            <a:r>
              <a:rPr lang="en-US" dirty="0" err="1">
                <a:latin typeface="Andale Mono" panose="020B0509000000000004" pitchFamily="49" charset="0"/>
              </a:rPr>
              <a:t>multiplyMatrices</a:t>
            </a:r>
            <a:r>
              <a:rPr lang="en-US" dirty="0">
                <a:latin typeface="Andale Mono" panose="020B0509000000000004" pitchFamily="49" charset="0"/>
              </a:rPr>
              <a:t>(float A[][],</a:t>
            </a:r>
          </a:p>
          <a:p>
            <a:r>
              <a:rPr lang="en-US" dirty="0">
                <a:latin typeface="Andale Mono" panose="020B0509000000000004" pitchFamily="49" charset="0"/>
              </a:rPr>
              <a:t>                      float B[][],</a:t>
            </a:r>
          </a:p>
          <a:p>
            <a:r>
              <a:rPr lang="en-US" dirty="0">
                <a:latin typeface="Andale Mono" panose="020B0509000000000004" pitchFamily="49" charset="0"/>
              </a:rPr>
              <a:t>                      float C[][],</a:t>
            </a:r>
          </a:p>
          <a:p>
            <a:r>
              <a:rPr lang="en-US" dirty="0">
                <a:latin typeface="Andale Mono" panose="020B0509000000000004" pitchFamily="49" charset="0"/>
              </a:rPr>
              <a:t>                      int rows, int cols) {</a:t>
            </a:r>
          </a:p>
          <a:p>
            <a:endParaRPr lang="en-US" dirty="0">
              <a:latin typeface="Andale Mono" panose="020B0509000000000004" pitchFamily="49" charset="0"/>
            </a:endParaRPr>
          </a:p>
          <a:p>
            <a:endParaRPr lang="en-US" dirty="0">
              <a:latin typeface="Andale Mono" panose="020B0509000000000004" pitchFamily="49" charset="0"/>
            </a:endParaRPr>
          </a:p>
          <a:p>
            <a:r>
              <a:rPr lang="en-US" dirty="0">
                <a:latin typeface="Andale Mono" panose="020B0509000000000004" pitchFamily="49" charset="0"/>
              </a:rPr>
              <a:t>   // Multiplying first and second matrices and </a:t>
            </a:r>
          </a:p>
          <a:p>
            <a:r>
              <a:rPr lang="en-US" dirty="0">
                <a:latin typeface="Andale Mono" panose="020B0509000000000004" pitchFamily="49" charset="0"/>
              </a:rPr>
              <a:t>   // storing it in result C</a:t>
            </a:r>
          </a:p>
          <a:p>
            <a:r>
              <a:rPr lang="en-US" dirty="0">
                <a:latin typeface="Andale Mono" panose="020B0509000000000004" pitchFamily="49" charset="0"/>
              </a:rPr>
              <a:t>   for (int </a:t>
            </a:r>
            <a:r>
              <a:rPr lang="en-US" dirty="0" err="1">
                <a:latin typeface="Andale Mono" panose="020B0509000000000004" pitchFamily="49" charset="0"/>
              </a:rPr>
              <a:t>i</a:t>
            </a:r>
            <a:r>
              <a:rPr lang="en-US" dirty="0">
                <a:latin typeface="Andale Mono" panose="020B0509000000000004" pitchFamily="49" charset="0"/>
              </a:rPr>
              <a:t> = 0; </a:t>
            </a:r>
            <a:r>
              <a:rPr lang="en-US" dirty="0" err="1">
                <a:latin typeface="Andale Mono" panose="020B0509000000000004" pitchFamily="49" charset="0"/>
              </a:rPr>
              <a:t>i</a:t>
            </a:r>
            <a:r>
              <a:rPr lang="en-US" dirty="0">
                <a:latin typeface="Andale Mono" panose="020B0509000000000004" pitchFamily="49" charset="0"/>
              </a:rPr>
              <a:t> &lt; rows; ++</a:t>
            </a:r>
            <a:r>
              <a:rPr lang="en-US" dirty="0" err="1">
                <a:latin typeface="Andale Mono" panose="020B0509000000000004" pitchFamily="49" charset="0"/>
              </a:rPr>
              <a:t>i</a:t>
            </a:r>
            <a:r>
              <a:rPr lang="en-US" dirty="0">
                <a:latin typeface="Andale Mono" panose="020B0509000000000004" pitchFamily="49" charset="0"/>
              </a:rPr>
              <a:t>) {</a:t>
            </a:r>
          </a:p>
          <a:p>
            <a:r>
              <a:rPr lang="en-US" dirty="0">
                <a:latin typeface="Andale Mono" panose="020B0509000000000004" pitchFamily="49" charset="0"/>
              </a:rPr>
              <a:t>      for (int j = 0; j &lt; cols; ++j) {</a:t>
            </a:r>
          </a:p>
          <a:p>
            <a:r>
              <a:rPr lang="en-US" dirty="0">
                <a:latin typeface="Andale Mono" panose="020B0509000000000004" pitchFamily="49" charset="0"/>
              </a:rPr>
              <a:t>         for (int k = 0; k &lt; cols; ++k) {</a:t>
            </a:r>
          </a:p>
          <a:p>
            <a:r>
              <a:rPr lang="en-US" dirty="0">
                <a:latin typeface="Andale Mono" panose="020B0509000000000004" pitchFamily="49" charset="0"/>
              </a:rPr>
              <a:t>            C[</a:t>
            </a:r>
            <a:r>
              <a:rPr lang="en-US" dirty="0" err="1">
                <a:latin typeface="Andale Mono" panose="020B0509000000000004" pitchFamily="49" charset="0"/>
              </a:rPr>
              <a:t>i</a:t>
            </a:r>
            <a:r>
              <a:rPr lang="en-US" dirty="0">
                <a:latin typeface="Andale Mono" panose="020B0509000000000004" pitchFamily="49" charset="0"/>
              </a:rPr>
              <a:t>][j] += A[</a:t>
            </a:r>
            <a:r>
              <a:rPr lang="en-US" dirty="0" err="1">
                <a:latin typeface="Andale Mono" panose="020B0509000000000004" pitchFamily="49" charset="0"/>
              </a:rPr>
              <a:t>i</a:t>
            </a:r>
            <a:r>
              <a:rPr lang="en-US" dirty="0">
                <a:latin typeface="Andale Mono" panose="020B0509000000000004" pitchFamily="49" charset="0"/>
              </a:rPr>
              <a:t>][k] * B[k][j];</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a:t>
            </a:r>
          </a:p>
        </p:txBody>
      </p:sp>
      <p:sp>
        <p:nvSpPr>
          <p:cNvPr id="7" name="TextBox 6">
            <a:extLst>
              <a:ext uri="{FF2B5EF4-FFF2-40B4-BE49-F238E27FC236}">
                <a16:creationId xmlns:a16="http://schemas.microsoft.com/office/drawing/2014/main" id="{85DD3544-A6D9-311E-EB44-6EE280699337}"/>
              </a:ext>
            </a:extLst>
          </p:cNvPr>
          <p:cNvSpPr txBox="1"/>
          <p:nvPr/>
        </p:nvSpPr>
        <p:spPr>
          <a:xfrm>
            <a:off x="10825219" y="4978609"/>
            <a:ext cx="575799" cy="646331"/>
          </a:xfrm>
          <a:prstGeom prst="rect">
            <a:avLst/>
          </a:prstGeom>
          <a:noFill/>
        </p:spPr>
        <p:txBody>
          <a:bodyPr wrap="none" rtlCol="0">
            <a:spAutoFit/>
          </a:bodyPr>
          <a:lstStyle/>
          <a:p>
            <a:r>
              <a:rPr lang="en-US" dirty="0" err="1"/>
              <a:t>i</a:t>
            </a:r>
            <a:r>
              <a:rPr lang="en-US" dirty="0"/>
              <a:t> = 2</a:t>
            </a:r>
          </a:p>
          <a:p>
            <a:r>
              <a:rPr lang="en-US" dirty="0"/>
              <a:t>j = 4</a:t>
            </a:r>
          </a:p>
        </p:txBody>
      </p:sp>
      <p:sp>
        <p:nvSpPr>
          <p:cNvPr id="3" name="TextBox 2">
            <a:extLst>
              <a:ext uri="{FF2B5EF4-FFF2-40B4-BE49-F238E27FC236}">
                <a16:creationId xmlns:a16="http://schemas.microsoft.com/office/drawing/2014/main" id="{F3F68E29-1B88-E853-2396-0E3A72324C9B}"/>
              </a:ext>
            </a:extLst>
          </p:cNvPr>
          <p:cNvSpPr txBox="1"/>
          <p:nvPr/>
        </p:nvSpPr>
        <p:spPr>
          <a:xfrm>
            <a:off x="7192652" y="3101419"/>
            <a:ext cx="237566" cy="369332"/>
          </a:xfrm>
          <a:prstGeom prst="rect">
            <a:avLst/>
          </a:prstGeom>
          <a:noFill/>
        </p:spPr>
        <p:txBody>
          <a:bodyPr wrap="none" rtlCol="0">
            <a:spAutoFit/>
          </a:bodyPr>
          <a:lstStyle/>
          <a:p>
            <a:r>
              <a:rPr lang="en-US" dirty="0" err="1">
                <a:solidFill>
                  <a:schemeClr val="accent4">
                    <a:lumMod val="60000"/>
                    <a:lumOff val="40000"/>
                  </a:schemeClr>
                </a:solidFill>
              </a:rPr>
              <a:t>i</a:t>
            </a:r>
            <a:endParaRPr lang="en-US" dirty="0">
              <a:solidFill>
                <a:schemeClr val="accent4">
                  <a:lumMod val="60000"/>
                  <a:lumOff val="40000"/>
                </a:schemeClr>
              </a:solidFill>
            </a:endParaRPr>
          </a:p>
        </p:txBody>
      </p:sp>
      <p:cxnSp>
        <p:nvCxnSpPr>
          <p:cNvPr id="8" name="Straight Arrow Connector 7">
            <a:extLst>
              <a:ext uri="{FF2B5EF4-FFF2-40B4-BE49-F238E27FC236}">
                <a16:creationId xmlns:a16="http://schemas.microsoft.com/office/drawing/2014/main" id="{1A20BAEA-ED53-A829-A804-0B076F86A1E9}"/>
              </a:ext>
            </a:extLst>
          </p:cNvPr>
          <p:cNvCxnSpPr/>
          <p:nvPr/>
        </p:nvCxnSpPr>
        <p:spPr>
          <a:xfrm>
            <a:off x="7311435" y="3677363"/>
            <a:ext cx="0" cy="1144759"/>
          </a:xfrm>
          <a:prstGeom prst="straightConnector1">
            <a:avLst/>
          </a:prstGeom>
          <a:ln w="412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BB0710-E076-38B6-BDE2-3757343D0D09}"/>
              </a:ext>
            </a:extLst>
          </p:cNvPr>
          <p:cNvSpPr txBox="1"/>
          <p:nvPr/>
        </p:nvSpPr>
        <p:spPr>
          <a:xfrm>
            <a:off x="9813303" y="75412"/>
            <a:ext cx="239168" cy="369332"/>
          </a:xfrm>
          <a:prstGeom prst="rect">
            <a:avLst/>
          </a:prstGeom>
          <a:noFill/>
        </p:spPr>
        <p:txBody>
          <a:bodyPr wrap="none" rtlCol="0">
            <a:spAutoFit/>
          </a:bodyPr>
          <a:lstStyle/>
          <a:p>
            <a:r>
              <a:rPr lang="en-US" dirty="0">
                <a:solidFill>
                  <a:schemeClr val="accent4">
                    <a:lumMod val="60000"/>
                    <a:lumOff val="40000"/>
                  </a:schemeClr>
                </a:solidFill>
              </a:rPr>
              <a:t>j</a:t>
            </a:r>
          </a:p>
        </p:txBody>
      </p:sp>
      <p:cxnSp>
        <p:nvCxnSpPr>
          <p:cNvPr id="10" name="Straight Arrow Connector 9">
            <a:extLst>
              <a:ext uri="{FF2B5EF4-FFF2-40B4-BE49-F238E27FC236}">
                <a16:creationId xmlns:a16="http://schemas.microsoft.com/office/drawing/2014/main" id="{D364E1DE-40A7-761E-7C72-3546C5310E7E}"/>
              </a:ext>
            </a:extLst>
          </p:cNvPr>
          <p:cNvCxnSpPr>
            <a:cxnSpLocks/>
          </p:cNvCxnSpPr>
          <p:nvPr/>
        </p:nvCxnSpPr>
        <p:spPr>
          <a:xfrm>
            <a:off x="10159901" y="260078"/>
            <a:ext cx="1501056" cy="0"/>
          </a:xfrm>
          <a:prstGeom prst="straightConnector1">
            <a:avLst/>
          </a:prstGeom>
          <a:ln w="412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D106C25-DD6C-937D-7653-AA07450B8F33}"/>
              </a:ext>
            </a:extLst>
          </p:cNvPr>
          <p:cNvSpPr txBox="1"/>
          <p:nvPr/>
        </p:nvSpPr>
        <p:spPr>
          <a:xfrm>
            <a:off x="609460" y="5576798"/>
            <a:ext cx="7204152" cy="1200329"/>
          </a:xfrm>
          <a:prstGeom prst="rect">
            <a:avLst/>
          </a:prstGeom>
          <a:noFill/>
        </p:spPr>
        <p:txBody>
          <a:bodyPr wrap="none" rtlCol="0">
            <a:spAutoFit/>
          </a:bodyPr>
          <a:lstStyle/>
          <a:p>
            <a:r>
              <a:rPr lang="en-US" sz="2400" dirty="0">
                <a:solidFill>
                  <a:schemeClr val="accent4">
                    <a:lumMod val="60000"/>
                    <a:lumOff val="40000"/>
                  </a:schemeClr>
                </a:solidFill>
              </a:rPr>
              <a:t>Note when rows is doubled, run time increases by 8 (2</a:t>
            </a:r>
            <a:r>
              <a:rPr lang="en-US" sz="2400" baseline="30000" dirty="0">
                <a:solidFill>
                  <a:schemeClr val="accent4">
                    <a:lumMod val="60000"/>
                    <a:lumOff val="40000"/>
                  </a:schemeClr>
                </a:solidFill>
              </a:rPr>
              <a:t>3</a:t>
            </a:r>
            <a:r>
              <a:rPr lang="en-US" sz="2400" dirty="0">
                <a:solidFill>
                  <a:schemeClr val="accent4">
                    <a:lumMod val="60000"/>
                    <a:lumOff val="40000"/>
                  </a:schemeClr>
                </a:solidFill>
              </a:rPr>
              <a:t>).</a:t>
            </a:r>
          </a:p>
          <a:p>
            <a:r>
              <a:rPr lang="en-US" sz="2400" dirty="0">
                <a:solidFill>
                  <a:schemeClr val="accent4">
                    <a:lumMod val="60000"/>
                    <a:lumOff val="40000"/>
                  </a:schemeClr>
                </a:solidFill>
              </a:rPr>
              <a:t>Suppose when rows = cols = 64, run time is 1 second.</a:t>
            </a:r>
          </a:p>
          <a:p>
            <a:r>
              <a:rPr lang="en-US" sz="2400" dirty="0">
                <a:solidFill>
                  <a:schemeClr val="accent4">
                    <a:lumMod val="60000"/>
                    <a:lumOff val="40000"/>
                  </a:schemeClr>
                </a:solidFill>
              </a:rPr>
              <a:t>What should run time be if rows = cols = 128?</a:t>
            </a:r>
          </a:p>
        </p:txBody>
      </p:sp>
      <p:sp>
        <p:nvSpPr>
          <p:cNvPr id="13" name="TextBox 12">
            <a:extLst>
              <a:ext uri="{FF2B5EF4-FFF2-40B4-BE49-F238E27FC236}">
                <a16:creationId xmlns:a16="http://schemas.microsoft.com/office/drawing/2014/main" id="{A27DADE2-8A1C-CB53-BC84-FF9C7825EB2C}"/>
              </a:ext>
            </a:extLst>
          </p:cNvPr>
          <p:cNvSpPr txBox="1"/>
          <p:nvPr/>
        </p:nvSpPr>
        <p:spPr>
          <a:xfrm>
            <a:off x="8220173" y="5802995"/>
            <a:ext cx="1111202" cy="584775"/>
          </a:xfrm>
          <a:prstGeom prst="rect">
            <a:avLst/>
          </a:prstGeom>
          <a:noFill/>
        </p:spPr>
        <p:txBody>
          <a:bodyPr wrap="none" rtlCol="0">
            <a:spAutoFit/>
          </a:bodyPr>
          <a:lstStyle/>
          <a:p>
            <a:r>
              <a:rPr lang="en-US" sz="3200" dirty="0">
                <a:solidFill>
                  <a:schemeClr val="accent4">
                    <a:lumMod val="60000"/>
                    <a:lumOff val="40000"/>
                  </a:schemeClr>
                </a:solidFill>
              </a:rPr>
              <a:t>O(N</a:t>
            </a:r>
            <a:r>
              <a:rPr lang="en-US" sz="3200" baseline="30000" dirty="0">
                <a:solidFill>
                  <a:schemeClr val="accent4">
                    <a:lumMod val="60000"/>
                    <a:lumOff val="40000"/>
                  </a:schemeClr>
                </a:solidFill>
              </a:rPr>
              <a:t>3</a:t>
            </a:r>
            <a:r>
              <a:rPr lang="en-US" sz="3200" dirty="0">
                <a:solidFill>
                  <a:schemeClr val="accent4">
                    <a:lumMod val="60000"/>
                    <a:lumOff val="40000"/>
                  </a:schemeClr>
                </a:solidFill>
              </a:rPr>
              <a:t>)</a:t>
            </a:r>
          </a:p>
        </p:txBody>
      </p:sp>
    </p:spTree>
    <p:extLst>
      <p:ext uri="{BB962C8B-B14F-4D97-AF65-F5344CB8AC3E}">
        <p14:creationId xmlns:p14="http://schemas.microsoft.com/office/powerpoint/2010/main" val="108184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166-B4F4-1306-3336-F39004F49504}"/>
              </a:ext>
            </a:extLst>
          </p:cNvPr>
          <p:cNvSpPr>
            <a:spLocks noGrp="1"/>
          </p:cNvSpPr>
          <p:nvPr>
            <p:ph type="title"/>
          </p:nvPr>
        </p:nvSpPr>
        <p:spPr/>
        <p:txBody>
          <a:bodyPr/>
          <a:lstStyle/>
          <a:p>
            <a:r>
              <a:rPr lang="en-US" dirty="0"/>
              <a:t>Multicore Parallelism with OpenMP</a:t>
            </a:r>
          </a:p>
        </p:txBody>
      </p:sp>
      <p:pic>
        <p:nvPicPr>
          <p:cNvPr id="5" name="Content Placeholder 4">
            <a:extLst>
              <a:ext uri="{FF2B5EF4-FFF2-40B4-BE49-F238E27FC236}">
                <a16:creationId xmlns:a16="http://schemas.microsoft.com/office/drawing/2014/main" id="{8E65E52F-87C5-8E7A-373B-BC4827360B90}"/>
              </a:ext>
            </a:extLst>
          </p:cNvPr>
          <p:cNvPicPr>
            <a:picLocks noGrp="1" noChangeAspect="1"/>
          </p:cNvPicPr>
          <p:nvPr>
            <p:ph idx="1"/>
          </p:nvPr>
        </p:nvPicPr>
        <p:blipFill>
          <a:blip r:embed="rId2"/>
          <a:stretch>
            <a:fillRect/>
          </a:stretch>
        </p:blipFill>
        <p:spPr>
          <a:xfrm>
            <a:off x="3760260" y="892175"/>
            <a:ext cx="4579406" cy="4411663"/>
          </a:xfrm>
        </p:spPr>
      </p:pic>
      <p:sp>
        <p:nvSpPr>
          <p:cNvPr id="6" name="Rectangle 5">
            <a:extLst>
              <a:ext uri="{FF2B5EF4-FFF2-40B4-BE49-F238E27FC236}">
                <a16:creationId xmlns:a16="http://schemas.microsoft.com/office/drawing/2014/main" id="{DBACC5C5-670A-E676-BDB0-FF720C11A0C4}"/>
              </a:ext>
            </a:extLst>
          </p:cNvPr>
          <p:cNvSpPr/>
          <p:nvPr/>
        </p:nvSpPr>
        <p:spPr>
          <a:xfrm>
            <a:off x="4155440" y="3291840"/>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9C34C1-4753-5D4A-1316-F854BCF5C98F}"/>
              </a:ext>
            </a:extLst>
          </p:cNvPr>
          <p:cNvSpPr/>
          <p:nvPr/>
        </p:nvSpPr>
        <p:spPr>
          <a:xfrm>
            <a:off x="4155440" y="4297839"/>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467165-3A18-1829-732A-BE320CDA5135}"/>
              </a:ext>
            </a:extLst>
          </p:cNvPr>
          <p:cNvSpPr/>
          <p:nvPr/>
        </p:nvSpPr>
        <p:spPr>
          <a:xfrm rot="5400000">
            <a:off x="5425305" y="1993185"/>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279DF9A-1004-D87A-D888-C674DB78A9CD}"/>
              </a:ext>
            </a:extLst>
          </p:cNvPr>
          <p:cNvSpPr/>
          <p:nvPr/>
        </p:nvSpPr>
        <p:spPr>
          <a:xfrm rot="5400000">
            <a:off x="6329043" y="3271369"/>
            <a:ext cx="233680" cy="273474"/>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6A481F-B86F-B76E-B0BA-231A9725D1BF}"/>
              </a:ext>
            </a:extLst>
          </p:cNvPr>
          <p:cNvSpPr/>
          <p:nvPr/>
        </p:nvSpPr>
        <p:spPr>
          <a:xfrm rot="5400000">
            <a:off x="6329043" y="4277944"/>
            <a:ext cx="233679" cy="273474"/>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C2D050-9B46-79F3-D5C3-F3B2235DA22B}"/>
              </a:ext>
            </a:extLst>
          </p:cNvPr>
          <p:cNvSpPr/>
          <p:nvPr/>
        </p:nvSpPr>
        <p:spPr>
          <a:xfrm rot="5400000">
            <a:off x="9382546" y="2008505"/>
            <a:ext cx="2032000" cy="23368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B9E020-B141-B490-4637-F33D355A0916}"/>
              </a:ext>
            </a:extLst>
          </p:cNvPr>
          <p:cNvSpPr/>
          <p:nvPr/>
        </p:nvSpPr>
        <p:spPr>
          <a:xfrm rot="5400000">
            <a:off x="8545826" y="2008505"/>
            <a:ext cx="2032000" cy="233680"/>
          </a:xfrm>
          <a:prstGeom prst="rect">
            <a:avLst/>
          </a:prstGeom>
          <a:solidFill>
            <a:schemeClr val="accent1">
              <a:lumMod val="60000"/>
              <a:lumOff val="40000"/>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F679BF-27F6-25FB-2F3E-73A28CC078F0}"/>
              </a:ext>
            </a:extLst>
          </p:cNvPr>
          <p:cNvSpPr/>
          <p:nvPr/>
        </p:nvSpPr>
        <p:spPr>
          <a:xfrm rot="5400000">
            <a:off x="5448736" y="1993185"/>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BB52F1-E8D4-CB0E-644E-679BC2BF00AE}"/>
              </a:ext>
            </a:extLst>
          </p:cNvPr>
          <p:cNvSpPr/>
          <p:nvPr/>
        </p:nvSpPr>
        <p:spPr>
          <a:xfrm>
            <a:off x="4155440" y="354675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3E7D0C6-95E3-A0AE-3E5C-692F25A027EC}"/>
              </a:ext>
            </a:extLst>
          </p:cNvPr>
          <p:cNvSpPr/>
          <p:nvPr/>
        </p:nvSpPr>
        <p:spPr>
          <a:xfrm rot="5400000">
            <a:off x="5677639" y="1993186"/>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BB9EFC-EFA4-9A64-F96F-EE61F95B8239}"/>
              </a:ext>
            </a:extLst>
          </p:cNvPr>
          <p:cNvSpPr/>
          <p:nvPr/>
        </p:nvSpPr>
        <p:spPr>
          <a:xfrm rot="5400000">
            <a:off x="6582521" y="3301856"/>
            <a:ext cx="23368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4799DB2-82E1-D2C8-E903-161A54036227}"/>
              </a:ext>
            </a:extLst>
          </p:cNvPr>
          <p:cNvSpPr/>
          <p:nvPr/>
        </p:nvSpPr>
        <p:spPr>
          <a:xfrm>
            <a:off x="4152840" y="4559800"/>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B2E29A0-FA99-A933-F9AF-67587D8861C7}"/>
              </a:ext>
            </a:extLst>
          </p:cNvPr>
          <p:cNvSpPr/>
          <p:nvPr/>
        </p:nvSpPr>
        <p:spPr>
          <a:xfrm rot="5400000">
            <a:off x="6588476" y="4295514"/>
            <a:ext cx="233679" cy="238332"/>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34A3B73-A1FF-B2B1-36F4-B42FA3741AF1}"/>
              </a:ext>
            </a:extLst>
          </p:cNvPr>
          <p:cNvSpPr/>
          <p:nvPr/>
        </p:nvSpPr>
        <p:spPr>
          <a:xfrm rot="5400000">
            <a:off x="5701069" y="2002158"/>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D24978E-917C-604C-B2F4-77F0425F2D0B}"/>
              </a:ext>
            </a:extLst>
          </p:cNvPr>
          <p:cNvSpPr txBox="1"/>
          <p:nvPr/>
        </p:nvSpPr>
        <p:spPr>
          <a:xfrm>
            <a:off x="9147004" y="3223011"/>
            <a:ext cx="896592" cy="646331"/>
          </a:xfrm>
          <a:prstGeom prst="rect">
            <a:avLst/>
          </a:prstGeom>
          <a:noFill/>
        </p:spPr>
        <p:txBody>
          <a:bodyPr wrap="none" rtlCol="0">
            <a:spAutoFit/>
          </a:bodyPr>
          <a:lstStyle/>
          <a:p>
            <a:pPr algn="ctr"/>
            <a:r>
              <a:rPr lang="en-US" dirty="0"/>
              <a:t>Thread </a:t>
            </a:r>
          </a:p>
          <a:p>
            <a:pPr algn="ctr"/>
            <a:r>
              <a:rPr lang="en-US" dirty="0"/>
              <a:t>0</a:t>
            </a:r>
          </a:p>
        </p:txBody>
      </p:sp>
      <p:sp>
        <p:nvSpPr>
          <p:cNvPr id="22" name="TextBox 21">
            <a:extLst>
              <a:ext uri="{FF2B5EF4-FFF2-40B4-BE49-F238E27FC236}">
                <a16:creationId xmlns:a16="http://schemas.microsoft.com/office/drawing/2014/main" id="{9B3512D2-E9B0-0234-FD1C-0710000612AB}"/>
              </a:ext>
            </a:extLst>
          </p:cNvPr>
          <p:cNvSpPr txBox="1"/>
          <p:nvPr/>
        </p:nvSpPr>
        <p:spPr>
          <a:xfrm>
            <a:off x="9950250" y="3223011"/>
            <a:ext cx="896592" cy="646331"/>
          </a:xfrm>
          <a:prstGeom prst="rect">
            <a:avLst/>
          </a:prstGeom>
          <a:noFill/>
        </p:spPr>
        <p:txBody>
          <a:bodyPr wrap="none" rtlCol="0">
            <a:spAutoFit/>
          </a:bodyPr>
          <a:lstStyle/>
          <a:p>
            <a:pPr algn="ctr"/>
            <a:r>
              <a:rPr lang="en-US" dirty="0"/>
              <a:t>Thread </a:t>
            </a:r>
          </a:p>
          <a:p>
            <a:pPr algn="ctr"/>
            <a:r>
              <a:rPr lang="en-US" dirty="0"/>
              <a:t>1</a:t>
            </a:r>
          </a:p>
        </p:txBody>
      </p:sp>
      <p:sp>
        <p:nvSpPr>
          <p:cNvPr id="23" name="TextBox 22">
            <a:extLst>
              <a:ext uri="{FF2B5EF4-FFF2-40B4-BE49-F238E27FC236}">
                <a16:creationId xmlns:a16="http://schemas.microsoft.com/office/drawing/2014/main" id="{99794ED9-0082-88B6-09CC-62C8940F53E0}"/>
              </a:ext>
            </a:extLst>
          </p:cNvPr>
          <p:cNvSpPr txBox="1"/>
          <p:nvPr/>
        </p:nvSpPr>
        <p:spPr>
          <a:xfrm>
            <a:off x="184929" y="5405747"/>
            <a:ext cx="10330457" cy="830997"/>
          </a:xfrm>
          <a:prstGeom prst="rect">
            <a:avLst/>
          </a:prstGeom>
          <a:noFill/>
        </p:spPr>
        <p:txBody>
          <a:bodyPr wrap="none" rtlCol="0">
            <a:spAutoFit/>
          </a:bodyPr>
          <a:lstStyle/>
          <a:p>
            <a:r>
              <a:rPr lang="en-US" sz="2400" dirty="0">
                <a:solidFill>
                  <a:schemeClr val="accent4">
                    <a:lumMod val="60000"/>
                    <a:lumOff val="40000"/>
                  </a:schemeClr>
                </a:solidFill>
              </a:rPr>
              <a:t>Suppose when rows = cols = 64, run time is 1 second with one thread.  </a:t>
            </a:r>
            <a:r>
              <a:rPr lang="en-US" sz="2400" dirty="0" err="1">
                <a:solidFill>
                  <a:schemeClr val="accent4">
                    <a:lumMod val="60000"/>
                    <a:lumOff val="40000"/>
                  </a:schemeClr>
                </a:solidFill>
              </a:rPr>
              <a:t>T</a:t>
            </a:r>
            <a:r>
              <a:rPr lang="en-US" sz="2400" baseline="-25000" dirty="0" err="1">
                <a:solidFill>
                  <a:schemeClr val="accent4">
                    <a:lumMod val="60000"/>
                    <a:lumOff val="40000"/>
                  </a:schemeClr>
                </a:solidFill>
              </a:rPr>
              <a:t>serial</a:t>
            </a:r>
            <a:endParaRPr lang="en-US" sz="2400" baseline="-25000" dirty="0">
              <a:solidFill>
                <a:schemeClr val="accent4">
                  <a:lumMod val="60000"/>
                  <a:lumOff val="40000"/>
                </a:schemeClr>
              </a:solidFill>
            </a:endParaRPr>
          </a:p>
          <a:p>
            <a:r>
              <a:rPr lang="en-US" sz="2400" dirty="0">
                <a:solidFill>
                  <a:schemeClr val="accent4">
                    <a:lumMod val="60000"/>
                    <a:lumOff val="40000"/>
                  </a:schemeClr>
                </a:solidFill>
              </a:rPr>
              <a:t>What might the run time be if we use 2 threads?  </a:t>
            </a:r>
            <a:r>
              <a:rPr lang="en-US" sz="2400" dirty="0" err="1">
                <a:solidFill>
                  <a:schemeClr val="accent4">
                    <a:lumMod val="60000"/>
                    <a:lumOff val="40000"/>
                  </a:schemeClr>
                </a:solidFill>
              </a:rPr>
              <a:t>T</a:t>
            </a:r>
            <a:r>
              <a:rPr lang="en-US" sz="2400" baseline="-25000" dirty="0" err="1">
                <a:solidFill>
                  <a:schemeClr val="accent4">
                    <a:lumMod val="60000"/>
                    <a:lumOff val="40000"/>
                  </a:schemeClr>
                </a:solidFill>
              </a:rPr>
              <a:t>p</a:t>
            </a:r>
            <a:r>
              <a:rPr lang="en-US" sz="2400" dirty="0">
                <a:solidFill>
                  <a:schemeClr val="accent4">
                    <a:lumMod val="60000"/>
                    <a:lumOff val="40000"/>
                  </a:schemeClr>
                </a:solidFill>
              </a:rPr>
              <a:t> where number of threads = 2</a:t>
            </a:r>
          </a:p>
        </p:txBody>
      </p:sp>
      <p:sp>
        <p:nvSpPr>
          <p:cNvPr id="24" name="TextBox 23">
            <a:extLst>
              <a:ext uri="{FF2B5EF4-FFF2-40B4-BE49-F238E27FC236}">
                <a16:creationId xmlns:a16="http://schemas.microsoft.com/office/drawing/2014/main" id="{26109CF7-E7E2-F691-95F4-A70D819700BB}"/>
              </a:ext>
            </a:extLst>
          </p:cNvPr>
          <p:cNvSpPr txBox="1"/>
          <p:nvPr/>
        </p:nvSpPr>
        <p:spPr>
          <a:xfrm>
            <a:off x="10452373" y="5775079"/>
            <a:ext cx="1648849" cy="461665"/>
          </a:xfrm>
          <a:prstGeom prst="rect">
            <a:avLst/>
          </a:prstGeom>
          <a:noFill/>
        </p:spPr>
        <p:txBody>
          <a:bodyPr wrap="none" rtlCol="0">
            <a:spAutoFit/>
          </a:bodyPr>
          <a:lstStyle/>
          <a:p>
            <a:r>
              <a:rPr lang="en-US" sz="2400" dirty="0">
                <a:solidFill>
                  <a:schemeClr val="accent4">
                    <a:lumMod val="60000"/>
                    <a:lumOff val="40000"/>
                  </a:schemeClr>
                </a:solidFill>
              </a:rPr>
              <a:t>0.5 seconds</a:t>
            </a:r>
          </a:p>
        </p:txBody>
      </p:sp>
      <p:sp>
        <p:nvSpPr>
          <p:cNvPr id="25" name="Rectangle 24">
            <a:extLst>
              <a:ext uri="{FF2B5EF4-FFF2-40B4-BE49-F238E27FC236}">
                <a16:creationId xmlns:a16="http://schemas.microsoft.com/office/drawing/2014/main" id="{1963CD73-294B-98E7-040C-03DA9968F65C}"/>
              </a:ext>
            </a:extLst>
          </p:cNvPr>
          <p:cNvSpPr/>
          <p:nvPr/>
        </p:nvSpPr>
        <p:spPr>
          <a:xfrm>
            <a:off x="6837141" y="3301856"/>
            <a:ext cx="148367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4AE1069-6BC7-F27D-73D0-4DC2B2D3782A}"/>
              </a:ext>
            </a:extLst>
          </p:cNvPr>
          <p:cNvSpPr/>
          <p:nvPr/>
        </p:nvSpPr>
        <p:spPr>
          <a:xfrm>
            <a:off x="6824482" y="4297839"/>
            <a:ext cx="1515184"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B7C7A23-AA65-E621-BBC5-32155ABB2A0B}"/>
              </a:ext>
            </a:extLst>
          </p:cNvPr>
          <p:cNvSpPr/>
          <p:nvPr/>
        </p:nvSpPr>
        <p:spPr>
          <a:xfrm rot="5400000">
            <a:off x="5950068" y="1993186"/>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9132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1000"/>
                                        <p:tgtEl>
                                          <p:spTgt spid="9"/>
                                        </p:tgtEl>
                                      </p:cBhvr>
                                    </p:animEffect>
                                  </p:childTnLst>
                                </p:cTn>
                              </p:par>
                            </p:childTnLst>
                          </p:cTn>
                        </p:par>
                        <p:par>
                          <p:cTn id="11" fill="hold">
                            <p:stCondLst>
                              <p:cond delay="1000"/>
                            </p:stCondLst>
                            <p:childTnLst>
                              <p:par>
                                <p:cTn id="12" presetID="1" presetClass="entr" presetSubtype="0" fill="hold" grpId="0" nodeType="afterEffect">
                                  <p:stCondLst>
                                    <p:cond delay="5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50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1000"/>
                                        <p:tgtEl>
                                          <p:spTgt spid="16"/>
                                        </p:tgtEl>
                                      </p:cBhvr>
                                    </p:animEffect>
                                  </p:childTnLst>
                                </p:cTn>
                              </p:par>
                            </p:childTnLst>
                          </p:cTn>
                        </p:par>
                        <p:par>
                          <p:cTn id="30" fill="hold">
                            <p:stCondLst>
                              <p:cond delay="1000"/>
                            </p:stCondLst>
                            <p:childTnLst>
                              <p:par>
                                <p:cTn id="31" presetID="1" presetClass="entr" presetSubtype="0" fill="hold" grpId="0" nodeType="afterEffect">
                                  <p:stCondLst>
                                    <p:cond delay="50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up)">
                                      <p:cBhvr>
                                        <p:cTn id="37" dur="500"/>
                                        <p:tgtEl>
                                          <p:spTgt spid="20"/>
                                        </p:tgtEl>
                                      </p:cBhvr>
                                    </p:animEffect>
                                  </p:childTnLst>
                                </p:cTn>
                              </p:par>
                            </p:childTnLst>
                          </p:cTn>
                        </p:par>
                        <p:par>
                          <p:cTn id="38" fill="hold">
                            <p:stCondLst>
                              <p:cond delay="500"/>
                            </p:stCondLst>
                            <p:childTnLst>
                              <p:par>
                                <p:cTn id="39" presetID="1" presetClass="entr" presetSubtype="0" fill="hold" grpId="0" nodeType="afterEffect">
                                  <p:stCondLst>
                                    <p:cond delay="50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up)">
                                      <p:cBhvr>
                                        <p:cTn id="45" dur="1000"/>
                                        <p:tgtEl>
                                          <p:spTgt spid="28"/>
                                        </p:tgtEl>
                                      </p:cBhvr>
                                    </p:animEffect>
                                  </p:childTnLst>
                                </p:cTn>
                              </p:par>
                            </p:childTnLst>
                          </p:cTn>
                        </p:par>
                        <p:par>
                          <p:cTn id="46" fill="hold">
                            <p:stCondLst>
                              <p:cond delay="1000"/>
                            </p:stCondLst>
                            <p:childTnLst>
                              <p:par>
                                <p:cTn id="47" presetID="42" presetClass="path" presetSubtype="0" accel="50000" decel="50000" fill="hold" grpId="1" nodeType="afterEffect">
                                  <p:stCondLst>
                                    <p:cond delay="0"/>
                                  </p:stCondLst>
                                  <p:childTnLst>
                                    <p:animMotion origin="layout" path="M -2.08333E-6 1.11111E-6 L 0.10026 -0.00116 " pathEditMode="relative" rAng="0" ptsTypes="AA">
                                      <p:cBhvr>
                                        <p:cTn id="48" dur="1000" fill="hold"/>
                                        <p:tgtEl>
                                          <p:spTgt spid="28"/>
                                        </p:tgtEl>
                                        <p:attrNameLst>
                                          <p:attrName>ppt_x</p:attrName>
                                          <p:attrName>ppt_y</p:attrName>
                                        </p:attrNameLst>
                                      </p:cBhvr>
                                      <p:rCtr x="5013" y="-69"/>
                                    </p:animMotion>
                                  </p:childTnLst>
                                </p:cTn>
                              </p:par>
                            </p:childTnLst>
                          </p:cTn>
                        </p:par>
                        <p:par>
                          <p:cTn id="49"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20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1000"/>
                                        <p:tgtEl>
                                          <p:spTgt spid="15"/>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left)">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dissolve">
                                      <p:cBhvr>
                                        <p:cTn id="7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P spid="23" grpId="0"/>
      <p:bldP spid="24" grpId="0"/>
      <p:bldP spid="25" grpId="0" animBg="1"/>
      <p:bldP spid="26" grpId="0" animBg="1"/>
      <p:bldP spid="28" grpId="0" animBg="1"/>
      <p:bldP spid="2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166-B4F4-1306-3336-F39004F49504}"/>
              </a:ext>
            </a:extLst>
          </p:cNvPr>
          <p:cNvSpPr>
            <a:spLocks noGrp="1"/>
          </p:cNvSpPr>
          <p:nvPr>
            <p:ph type="title"/>
          </p:nvPr>
        </p:nvSpPr>
        <p:spPr/>
        <p:txBody>
          <a:bodyPr/>
          <a:lstStyle/>
          <a:p>
            <a:r>
              <a:rPr lang="en-US" dirty="0"/>
              <a:t>Multicore Parallelism with OpenMP</a:t>
            </a:r>
          </a:p>
        </p:txBody>
      </p:sp>
      <p:pic>
        <p:nvPicPr>
          <p:cNvPr id="5" name="Content Placeholder 4">
            <a:extLst>
              <a:ext uri="{FF2B5EF4-FFF2-40B4-BE49-F238E27FC236}">
                <a16:creationId xmlns:a16="http://schemas.microsoft.com/office/drawing/2014/main" id="{8E65E52F-87C5-8E7A-373B-BC4827360B90}"/>
              </a:ext>
            </a:extLst>
          </p:cNvPr>
          <p:cNvPicPr>
            <a:picLocks noGrp="1" noChangeAspect="1"/>
          </p:cNvPicPr>
          <p:nvPr>
            <p:ph idx="1"/>
          </p:nvPr>
        </p:nvPicPr>
        <p:blipFill>
          <a:blip r:embed="rId2"/>
          <a:stretch>
            <a:fillRect/>
          </a:stretch>
        </p:blipFill>
        <p:spPr>
          <a:xfrm>
            <a:off x="3760260" y="892175"/>
            <a:ext cx="4579406" cy="4411663"/>
          </a:xfrm>
        </p:spPr>
      </p:pic>
      <p:sp>
        <p:nvSpPr>
          <p:cNvPr id="6" name="Rectangle 5">
            <a:extLst>
              <a:ext uri="{FF2B5EF4-FFF2-40B4-BE49-F238E27FC236}">
                <a16:creationId xmlns:a16="http://schemas.microsoft.com/office/drawing/2014/main" id="{DBACC5C5-670A-E676-BDB0-FF720C11A0C4}"/>
              </a:ext>
            </a:extLst>
          </p:cNvPr>
          <p:cNvSpPr/>
          <p:nvPr/>
        </p:nvSpPr>
        <p:spPr>
          <a:xfrm>
            <a:off x="4155440" y="3291840"/>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9C34C1-4753-5D4A-1316-F854BCF5C98F}"/>
              </a:ext>
            </a:extLst>
          </p:cNvPr>
          <p:cNvSpPr/>
          <p:nvPr/>
        </p:nvSpPr>
        <p:spPr>
          <a:xfrm>
            <a:off x="4155440" y="4297839"/>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467165-3A18-1829-732A-BE320CDA5135}"/>
              </a:ext>
            </a:extLst>
          </p:cNvPr>
          <p:cNvSpPr/>
          <p:nvPr/>
        </p:nvSpPr>
        <p:spPr>
          <a:xfrm rot="5400000">
            <a:off x="5425305" y="1993185"/>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279DF9A-1004-D87A-D888-C674DB78A9CD}"/>
              </a:ext>
            </a:extLst>
          </p:cNvPr>
          <p:cNvSpPr/>
          <p:nvPr/>
        </p:nvSpPr>
        <p:spPr>
          <a:xfrm rot="5400000">
            <a:off x="6329043" y="3271369"/>
            <a:ext cx="233680" cy="273474"/>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6A481F-B86F-B76E-B0BA-231A9725D1BF}"/>
              </a:ext>
            </a:extLst>
          </p:cNvPr>
          <p:cNvSpPr/>
          <p:nvPr/>
        </p:nvSpPr>
        <p:spPr>
          <a:xfrm rot="5400000">
            <a:off x="6329043" y="4277944"/>
            <a:ext cx="233679" cy="273474"/>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C2D050-9B46-79F3-D5C3-F3B2235DA22B}"/>
              </a:ext>
            </a:extLst>
          </p:cNvPr>
          <p:cNvSpPr/>
          <p:nvPr/>
        </p:nvSpPr>
        <p:spPr>
          <a:xfrm rot="5400000">
            <a:off x="9382546" y="2008505"/>
            <a:ext cx="2032000" cy="23368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B9E020-B141-B490-4637-F33D355A0916}"/>
              </a:ext>
            </a:extLst>
          </p:cNvPr>
          <p:cNvSpPr/>
          <p:nvPr/>
        </p:nvSpPr>
        <p:spPr>
          <a:xfrm rot="5400000">
            <a:off x="8545826" y="2008505"/>
            <a:ext cx="2032000" cy="233680"/>
          </a:xfrm>
          <a:prstGeom prst="rect">
            <a:avLst/>
          </a:prstGeom>
          <a:solidFill>
            <a:schemeClr val="accent1">
              <a:lumMod val="60000"/>
              <a:lumOff val="40000"/>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F679BF-27F6-25FB-2F3E-73A28CC078F0}"/>
              </a:ext>
            </a:extLst>
          </p:cNvPr>
          <p:cNvSpPr/>
          <p:nvPr/>
        </p:nvSpPr>
        <p:spPr>
          <a:xfrm rot="5400000">
            <a:off x="5448736" y="1993185"/>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BB52F1-E8D4-CB0E-644E-679BC2BF00AE}"/>
              </a:ext>
            </a:extLst>
          </p:cNvPr>
          <p:cNvSpPr/>
          <p:nvPr/>
        </p:nvSpPr>
        <p:spPr>
          <a:xfrm>
            <a:off x="4155440" y="354675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3E7D0C6-95E3-A0AE-3E5C-692F25A027EC}"/>
              </a:ext>
            </a:extLst>
          </p:cNvPr>
          <p:cNvSpPr/>
          <p:nvPr/>
        </p:nvSpPr>
        <p:spPr>
          <a:xfrm rot="5400000">
            <a:off x="5677639" y="1993186"/>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BB9EFC-EFA4-9A64-F96F-EE61F95B8239}"/>
              </a:ext>
            </a:extLst>
          </p:cNvPr>
          <p:cNvSpPr/>
          <p:nvPr/>
        </p:nvSpPr>
        <p:spPr>
          <a:xfrm rot="5400000">
            <a:off x="6582521" y="3301856"/>
            <a:ext cx="23368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4799DB2-82E1-D2C8-E903-161A54036227}"/>
              </a:ext>
            </a:extLst>
          </p:cNvPr>
          <p:cNvSpPr/>
          <p:nvPr/>
        </p:nvSpPr>
        <p:spPr>
          <a:xfrm>
            <a:off x="4152840" y="4559800"/>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B2E29A0-FA99-A933-F9AF-67587D8861C7}"/>
              </a:ext>
            </a:extLst>
          </p:cNvPr>
          <p:cNvSpPr/>
          <p:nvPr/>
        </p:nvSpPr>
        <p:spPr>
          <a:xfrm rot="5400000">
            <a:off x="6588476" y="4295514"/>
            <a:ext cx="233679" cy="238332"/>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34A3B73-A1FF-B2B1-36F4-B42FA3741AF1}"/>
              </a:ext>
            </a:extLst>
          </p:cNvPr>
          <p:cNvSpPr/>
          <p:nvPr/>
        </p:nvSpPr>
        <p:spPr>
          <a:xfrm rot="5400000">
            <a:off x="5701069" y="2002158"/>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D24978E-917C-604C-B2F4-77F0425F2D0B}"/>
              </a:ext>
            </a:extLst>
          </p:cNvPr>
          <p:cNvSpPr txBox="1"/>
          <p:nvPr/>
        </p:nvSpPr>
        <p:spPr>
          <a:xfrm>
            <a:off x="9147004" y="3223011"/>
            <a:ext cx="896592" cy="646331"/>
          </a:xfrm>
          <a:prstGeom prst="rect">
            <a:avLst/>
          </a:prstGeom>
          <a:noFill/>
        </p:spPr>
        <p:txBody>
          <a:bodyPr wrap="none" rtlCol="0">
            <a:spAutoFit/>
          </a:bodyPr>
          <a:lstStyle/>
          <a:p>
            <a:pPr algn="ctr"/>
            <a:r>
              <a:rPr lang="en-US" dirty="0"/>
              <a:t>Thread </a:t>
            </a:r>
          </a:p>
          <a:p>
            <a:pPr algn="ctr"/>
            <a:r>
              <a:rPr lang="en-US" dirty="0"/>
              <a:t>0</a:t>
            </a:r>
          </a:p>
        </p:txBody>
      </p:sp>
      <p:sp>
        <p:nvSpPr>
          <p:cNvPr id="22" name="TextBox 21">
            <a:extLst>
              <a:ext uri="{FF2B5EF4-FFF2-40B4-BE49-F238E27FC236}">
                <a16:creationId xmlns:a16="http://schemas.microsoft.com/office/drawing/2014/main" id="{9B3512D2-E9B0-0234-FD1C-0710000612AB}"/>
              </a:ext>
            </a:extLst>
          </p:cNvPr>
          <p:cNvSpPr txBox="1"/>
          <p:nvPr/>
        </p:nvSpPr>
        <p:spPr>
          <a:xfrm>
            <a:off x="9950250" y="3223011"/>
            <a:ext cx="896592" cy="646331"/>
          </a:xfrm>
          <a:prstGeom prst="rect">
            <a:avLst/>
          </a:prstGeom>
          <a:noFill/>
        </p:spPr>
        <p:txBody>
          <a:bodyPr wrap="none" rtlCol="0">
            <a:spAutoFit/>
          </a:bodyPr>
          <a:lstStyle/>
          <a:p>
            <a:pPr algn="ctr"/>
            <a:r>
              <a:rPr lang="en-US" dirty="0"/>
              <a:t>Thread </a:t>
            </a:r>
          </a:p>
          <a:p>
            <a:pPr algn="ctr"/>
            <a:r>
              <a:rPr lang="en-US" dirty="0"/>
              <a:t>1</a:t>
            </a:r>
          </a:p>
        </p:txBody>
      </p:sp>
      <p:sp>
        <p:nvSpPr>
          <p:cNvPr id="25" name="Rectangle 24">
            <a:extLst>
              <a:ext uri="{FF2B5EF4-FFF2-40B4-BE49-F238E27FC236}">
                <a16:creationId xmlns:a16="http://schemas.microsoft.com/office/drawing/2014/main" id="{1963CD73-294B-98E7-040C-03DA9968F65C}"/>
              </a:ext>
            </a:extLst>
          </p:cNvPr>
          <p:cNvSpPr/>
          <p:nvPr/>
        </p:nvSpPr>
        <p:spPr>
          <a:xfrm>
            <a:off x="6837141" y="3301856"/>
            <a:ext cx="148367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4AE1069-6BC7-F27D-73D0-4DC2B2D3782A}"/>
              </a:ext>
            </a:extLst>
          </p:cNvPr>
          <p:cNvSpPr/>
          <p:nvPr/>
        </p:nvSpPr>
        <p:spPr>
          <a:xfrm>
            <a:off x="6824482" y="4297839"/>
            <a:ext cx="1515184"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B7C7A23-AA65-E621-BBC5-32155ABB2A0B}"/>
              </a:ext>
            </a:extLst>
          </p:cNvPr>
          <p:cNvSpPr/>
          <p:nvPr/>
        </p:nvSpPr>
        <p:spPr>
          <a:xfrm rot="5400000">
            <a:off x="5950068" y="1993186"/>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8DA146-E030-5B70-EEAB-637D0A94488D}"/>
              </a:ext>
            </a:extLst>
          </p:cNvPr>
          <p:cNvSpPr/>
          <p:nvPr/>
        </p:nvSpPr>
        <p:spPr>
          <a:xfrm>
            <a:off x="6309145" y="354675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00D7A98-C6B6-67E1-6A27-DFB56E85C291}"/>
              </a:ext>
            </a:extLst>
          </p:cNvPr>
          <p:cNvSpPr/>
          <p:nvPr/>
        </p:nvSpPr>
        <p:spPr>
          <a:xfrm>
            <a:off x="6309145" y="4542734"/>
            <a:ext cx="2011666"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29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1000"/>
                                        <p:tgtEl>
                                          <p:spTgt spid="9"/>
                                        </p:tgtEl>
                                      </p:cBhvr>
                                    </p:animEffect>
                                  </p:childTnLst>
                                </p:cTn>
                              </p:par>
                            </p:childTnLst>
                          </p:cTn>
                        </p:par>
                        <p:par>
                          <p:cTn id="11" fill="hold">
                            <p:stCondLst>
                              <p:cond delay="1000"/>
                            </p:stCondLst>
                            <p:childTnLst>
                              <p:par>
                                <p:cTn id="12" presetID="1" presetClass="entr" presetSubtype="0" fill="hold" grpId="0" nodeType="afterEffect">
                                  <p:stCondLst>
                                    <p:cond delay="5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50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1000"/>
                                        <p:tgtEl>
                                          <p:spTgt spid="16"/>
                                        </p:tgtEl>
                                      </p:cBhvr>
                                    </p:animEffect>
                                  </p:childTnLst>
                                </p:cTn>
                              </p:par>
                            </p:childTnLst>
                          </p:cTn>
                        </p:par>
                        <p:par>
                          <p:cTn id="30" fill="hold">
                            <p:stCondLst>
                              <p:cond delay="1000"/>
                            </p:stCondLst>
                            <p:childTnLst>
                              <p:par>
                                <p:cTn id="31" presetID="1" presetClass="entr" presetSubtype="0" fill="hold" grpId="0" nodeType="afterEffect">
                                  <p:stCondLst>
                                    <p:cond delay="50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up)">
                                      <p:cBhvr>
                                        <p:cTn id="37" dur="500"/>
                                        <p:tgtEl>
                                          <p:spTgt spid="20"/>
                                        </p:tgtEl>
                                      </p:cBhvr>
                                    </p:animEffect>
                                  </p:childTnLst>
                                </p:cTn>
                              </p:par>
                            </p:childTnLst>
                          </p:cTn>
                        </p:par>
                        <p:par>
                          <p:cTn id="38" fill="hold">
                            <p:stCondLst>
                              <p:cond delay="500"/>
                            </p:stCondLst>
                            <p:childTnLst>
                              <p:par>
                                <p:cTn id="39" presetID="1" presetClass="entr" presetSubtype="0" fill="hold" grpId="0" nodeType="afterEffect">
                                  <p:stCondLst>
                                    <p:cond delay="50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up)">
                                      <p:cBhvr>
                                        <p:cTn id="45" dur="1000"/>
                                        <p:tgtEl>
                                          <p:spTgt spid="28"/>
                                        </p:tgtEl>
                                      </p:cBhvr>
                                    </p:animEffect>
                                  </p:childTnLst>
                                </p:cTn>
                              </p:par>
                            </p:childTnLst>
                          </p:cTn>
                        </p:par>
                        <p:par>
                          <p:cTn id="46" fill="hold">
                            <p:stCondLst>
                              <p:cond delay="1000"/>
                            </p:stCondLst>
                            <p:childTnLst>
                              <p:par>
                                <p:cTn id="47" presetID="42" presetClass="path" presetSubtype="0" accel="50000" decel="50000" fill="hold" grpId="1" nodeType="afterEffect">
                                  <p:stCondLst>
                                    <p:cond delay="0"/>
                                  </p:stCondLst>
                                  <p:childTnLst>
                                    <p:animMotion origin="layout" path="M -2.08333E-6 1.11111E-6 L 0.10026 -0.00116 " pathEditMode="relative" rAng="0" ptsTypes="AA">
                                      <p:cBhvr>
                                        <p:cTn id="48" dur="1000" fill="hold"/>
                                        <p:tgtEl>
                                          <p:spTgt spid="28"/>
                                        </p:tgtEl>
                                        <p:attrNameLst>
                                          <p:attrName>ppt_x</p:attrName>
                                          <p:attrName>ppt_y</p:attrName>
                                        </p:attrNameLst>
                                      </p:cBhvr>
                                      <p:rCtr x="5013" y="-69"/>
                                    </p:animMotion>
                                  </p:childTnLst>
                                </p:cTn>
                              </p:par>
                            </p:childTnLst>
                          </p:cTn>
                        </p:par>
                        <p:par>
                          <p:cTn id="49"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20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1000"/>
                                        <p:tgtEl>
                                          <p:spTgt spid="15"/>
                                        </p:tgtEl>
                                      </p:cBhvr>
                                    </p:animEffect>
                                  </p:childTnLst>
                                </p:cTn>
                              </p:par>
                              <p:par>
                                <p:cTn id="63" presetID="42" presetClass="path" presetSubtype="0" accel="50000" decel="50000" fill="hold" grpId="1" nodeType="withEffect">
                                  <p:stCondLst>
                                    <p:cond delay="0"/>
                                  </p:stCondLst>
                                  <p:childTnLst>
                                    <p:animMotion origin="layout" path="M -1.45833E-6 3.7037E-6 L 0.12175 0.00277 " pathEditMode="relative" rAng="0" ptsTypes="AA">
                                      <p:cBhvr>
                                        <p:cTn id="64" dur="2000" fill="hold"/>
                                        <p:tgtEl>
                                          <p:spTgt spid="20"/>
                                        </p:tgtEl>
                                        <p:attrNameLst>
                                          <p:attrName>ppt_x</p:attrName>
                                          <p:attrName>ppt_y</p:attrName>
                                        </p:attrNameLst>
                                      </p:cBhvr>
                                      <p:rCtr x="6081" y="139"/>
                                    </p:animMotion>
                                  </p:childTnLst>
                                </p:cTn>
                              </p:par>
                              <p:par>
                                <p:cTn id="65" presetID="22" presetClass="entr" presetSubtype="8"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par>
                          <p:cTn id="68" fill="hold">
                            <p:stCondLst>
                              <p:cond delay="2000"/>
                            </p:stCondLst>
                            <p:childTnLst>
                              <p:par>
                                <p:cTn id="69" presetID="22" presetClass="entr" presetSubtype="8" fill="hold" grpId="0" nodeType="after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wipe(left)">
                                      <p:cBhvr>
                                        <p:cTn id="71" dur="2000"/>
                                        <p:tgtEl>
                                          <p:spTgt spid="3"/>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left)">
                                      <p:cBhvr>
                                        <p:cTn id="7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P spid="20" grpId="1" animBg="1"/>
      <p:bldP spid="25" grpId="0" animBg="1"/>
      <p:bldP spid="26" grpId="0" animBg="1"/>
      <p:bldP spid="28" grpId="0" animBg="1"/>
      <p:bldP spid="28" grpId="1" animBg="1"/>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166-B4F4-1306-3336-F39004F49504}"/>
              </a:ext>
            </a:extLst>
          </p:cNvPr>
          <p:cNvSpPr>
            <a:spLocks noGrp="1"/>
          </p:cNvSpPr>
          <p:nvPr>
            <p:ph type="title"/>
          </p:nvPr>
        </p:nvSpPr>
        <p:spPr/>
        <p:txBody>
          <a:bodyPr/>
          <a:lstStyle/>
          <a:p>
            <a:r>
              <a:rPr lang="en-US" dirty="0"/>
              <a:t>Multicore Parallelism with OpenMP</a:t>
            </a:r>
          </a:p>
        </p:txBody>
      </p:sp>
      <p:pic>
        <p:nvPicPr>
          <p:cNvPr id="5" name="Content Placeholder 4">
            <a:extLst>
              <a:ext uri="{FF2B5EF4-FFF2-40B4-BE49-F238E27FC236}">
                <a16:creationId xmlns:a16="http://schemas.microsoft.com/office/drawing/2014/main" id="{8E65E52F-87C5-8E7A-373B-BC4827360B90}"/>
              </a:ext>
            </a:extLst>
          </p:cNvPr>
          <p:cNvPicPr>
            <a:picLocks noGrp="1" noChangeAspect="1"/>
          </p:cNvPicPr>
          <p:nvPr>
            <p:ph idx="1"/>
          </p:nvPr>
        </p:nvPicPr>
        <p:blipFill>
          <a:blip r:embed="rId2"/>
          <a:stretch>
            <a:fillRect/>
          </a:stretch>
        </p:blipFill>
        <p:spPr>
          <a:xfrm>
            <a:off x="3760260" y="892175"/>
            <a:ext cx="4579406" cy="4411663"/>
          </a:xfrm>
        </p:spPr>
      </p:pic>
      <p:sp>
        <p:nvSpPr>
          <p:cNvPr id="6" name="Rectangle 5">
            <a:extLst>
              <a:ext uri="{FF2B5EF4-FFF2-40B4-BE49-F238E27FC236}">
                <a16:creationId xmlns:a16="http://schemas.microsoft.com/office/drawing/2014/main" id="{DBACC5C5-670A-E676-BDB0-FF720C11A0C4}"/>
              </a:ext>
            </a:extLst>
          </p:cNvPr>
          <p:cNvSpPr/>
          <p:nvPr/>
        </p:nvSpPr>
        <p:spPr>
          <a:xfrm>
            <a:off x="4155440" y="3291840"/>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9C34C1-4753-5D4A-1316-F854BCF5C98F}"/>
              </a:ext>
            </a:extLst>
          </p:cNvPr>
          <p:cNvSpPr/>
          <p:nvPr/>
        </p:nvSpPr>
        <p:spPr>
          <a:xfrm>
            <a:off x="4155440" y="4297839"/>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467165-3A18-1829-732A-BE320CDA5135}"/>
              </a:ext>
            </a:extLst>
          </p:cNvPr>
          <p:cNvSpPr/>
          <p:nvPr/>
        </p:nvSpPr>
        <p:spPr>
          <a:xfrm rot="5400000">
            <a:off x="5425305" y="1993185"/>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279DF9A-1004-D87A-D888-C674DB78A9CD}"/>
              </a:ext>
            </a:extLst>
          </p:cNvPr>
          <p:cNvSpPr/>
          <p:nvPr/>
        </p:nvSpPr>
        <p:spPr>
          <a:xfrm rot="5400000">
            <a:off x="6329043" y="3271369"/>
            <a:ext cx="233680" cy="273474"/>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6A481F-B86F-B76E-B0BA-231A9725D1BF}"/>
              </a:ext>
            </a:extLst>
          </p:cNvPr>
          <p:cNvSpPr/>
          <p:nvPr/>
        </p:nvSpPr>
        <p:spPr>
          <a:xfrm rot="5400000">
            <a:off x="6329043" y="4277944"/>
            <a:ext cx="233679" cy="273474"/>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C2D050-9B46-79F3-D5C3-F3B2235DA22B}"/>
              </a:ext>
            </a:extLst>
          </p:cNvPr>
          <p:cNvSpPr/>
          <p:nvPr/>
        </p:nvSpPr>
        <p:spPr>
          <a:xfrm rot="5400000">
            <a:off x="9382546" y="2008505"/>
            <a:ext cx="2032000" cy="23368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B9E020-B141-B490-4637-F33D355A0916}"/>
              </a:ext>
            </a:extLst>
          </p:cNvPr>
          <p:cNvSpPr/>
          <p:nvPr/>
        </p:nvSpPr>
        <p:spPr>
          <a:xfrm rot="5400000">
            <a:off x="8545826" y="2008505"/>
            <a:ext cx="2032000" cy="233680"/>
          </a:xfrm>
          <a:prstGeom prst="rect">
            <a:avLst/>
          </a:prstGeom>
          <a:solidFill>
            <a:schemeClr val="accent1">
              <a:lumMod val="60000"/>
              <a:lumOff val="40000"/>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F679BF-27F6-25FB-2F3E-73A28CC078F0}"/>
              </a:ext>
            </a:extLst>
          </p:cNvPr>
          <p:cNvSpPr/>
          <p:nvPr/>
        </p:nvSpPr>
        <p:spPr>
          <a:xfrm rot="5400000">
            <a:off x="5429486" y="1993185"/>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BB52F1-E8D4-CB0E-644E-679BC2BF00AE}"/>
              </a:ext>
            </a:extLst>
          </p:cNvPr>
          <p:cNvSpPr/>
          <p:nvPr/>
        </p:nvSpPr>
        <p:spPr>
          <a:xfrm>
            <a:off x="4155440" y="354675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3E7D0C6-95E3-A0AE-3E5C-692F25A027EC}"/>
              </a:ext>
            </a:extLst>
          </p:cNvPr>
          <p:cNvSpPr/>
          <p:nvPr/>
        </p:nvSpPr>
        <p:spPr>
          <a:xfrm rot="5400000">
            <a:off x="5677639" y="1993186"/>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BB9EFC-EFA4-9A64-F96F-EE61F95B8239}"/>
              </a:ext>
            </a:extLst>
          </p:cNvPr>
          <p:cNvSpPr/>
          <p:nvPr/>
        </p:nvSpPr>
        <p:spPr>
          <a:xfrm rot="5400000">
            <a:off x="6582521" y="3301856"/>
            <a:ext cx="23368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4799DB2-82E1-D2C8-E903-161A54036227}"/>
              </a:ext>
            </a:extLst>
          </p:cNvPr>
          <p:cNvSpPr/>
          <p:nvPr/>
        </p:nvSpPr>
        <p:spPr>
          <a:xfrm>
            <a:off x="4152840" y="4559800"/>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B2E29A0-FA99-A933-F9AF-67587D8861C7}"/>
              </a:ext>
            </a:extLst>
          </p:cNvPr>
          <p:cNvSpPr/>
          <p:nvPr/>
        </p:nvSpPr>
        <p:spPr>
          <a:xfrm rot="5400000">
            <a:off x="6588476" y="4295514"/>
            <a:ext cx="233679" cy="238332"/>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D24978E-917C-604C-B2F4-77F0425F2D0B}"/>
              </a:ext>
            </a:extLst>
          </p:cNvPr>
          <p:cNvSpPr txBox="1"/>
          <p:nvPr/>
        </p:nvSpPr>
        <p:spPr>
          <a:xfrm>
            <a:off x="9147004" y="3223011"/>
            <a:ext cx="896592" cy="646331"/>
          </a:xfrm>
          <a:prstGeom prst="rect">
            <a:avLst/>
          </a:prstGeom>
          <a:noFill/>
        </p:spPr>
        <p:txBody>
          <a:bodyPr wrap="none" rtlCol="0">
            <a:spAutoFit/>
          </a:bodyPr>
          <a:lstStyle/>
          <a:p>
            <a:pPr algn="ctr"/>
            <a:r>
              <a:rPr lang="en-US" dirty="0"/>
              <a:t>Thread </a:t>
            </a:r>
          </a:p>
          <a:p>
            <a:pPr algn="ctr"/>
            <a:r>
              <a:rPr lang="en-US" dirty="0"/>
              <a:t>0</a:t>
            </a:r>
          </a:p>
        </p:txBody>
      </p:sp>
      <p:sp>
        <p:nvSpPr>
          <p:cNvPr id="22" name="TextBox 21">
            <a:extLst>
              <a:ext uri="{FF2B5EF4-FFF2-40B4-BE49-F238E27FC236}">
                <a16:creationId xmlns:a16="http://schemas.microsoft.com/office/drawing/2014/main" id="{9B3512D2-E9B0-0234-FD1C-0710000612AB}"/>
              </a:ext>
            </a:extLst>
          </p:cNvPr>
          <p:cNvSpPr txBox="1"/>
          <p:nvPr/>
        </p:nvSpPr>
        <p:spPr>
          <a:xfrm>
            <a:off x="9950250" y="3223011"/>
            <a:ext cx="896592" cy="646331"/>
          </a:xfrm>
          <a:prstGeom prst="rect">
            <a:avLst/>
          </a:prstGeom>
          <a:noFill/>
        </p:spPr>
        <p:txBody>
          <a:bodyPr wrap="none" rtlCol="0">
            <a:spAutoFit/>
          </a:bodyPr>
          <a:lstStyle/>
          <a:p>
            <a:pPr algn="ctr"/>
            <a:r>
              <a:rPr lang="en-US" dirty="0"/>
              <a:t>Thread </a:t>
            </a:r>
          </a:p>
          <a:p>
            <a:pPr algn="ctr"/>
            <a:r>
              <a:rPr lang="en-US" dirty="0"/>
              <a:t>1</a:t>
            </a:r>
          </a:p>
        </p:txBody>
      </p:sp>
      <p:sp>
        <p:nvSpPr>
          <p:cNvPr id="25" name="Rectangle 24">
            <a:extLst>
              <a:ext uri="{FF2B5EF4-FFF2-40B4-BE49-F238E27FC236}">
                <a16:creationId xmlns:a16="http://schemas.microsoft.com/office/drawing/2014/main" id="{1963CD73-294B-98E7-040C-03DA9968F65C}"/>
              </a:ext>
            </a:extLst>
          </p:cNvPr>
          <p:cNvSpPr/>
          <p:nvPr/>
        </p:nvSpPr>
        <p:spPr>
          <a:xfrm>
            <a:off x="6837141" y="3301856"/>
            <a:ext cx="148367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4AE1069-6BC7-F27D-73D0-4DC2B2D3782A}"/>
              </a:ext>
            </a:extLst>
          </p:cNvPr>
          <p:cNvSpPr/>
          <p:nvPr/>
        </p:nvSpPr>
        <p:spPr>
          <a:xfrm>
            <a:off x="6824482" y="4297839"/>
            <a:ext cx="1515184"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B7C7A23-AA65-E621-BBC5-32155ABB2A0B}"/>
              </a:ext>
            </a:extLst>
          </p:cNvPr>
          <p:cNvSpPr/>
          <p:nvPr/>
        </p:nvSpPr>
        <p:spPr>
          <a:xfrm rot="5400000">
            <a:off x="5950068" y="1993186"/>
            <a:ext cx="200136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8DA146-E030-5B70-EEAB-637D0A94488D}"/>
              </a:ext>
            </a:extLst>
          </p:cNvPr>
          <p:cNvSpPr/>
          <p:nvPr/>
        </p:nvSpPr>
        <p:spPr>
          <a:xfrm>
            <a:off x="6309145" y="354675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00D7A98-C6B6-67E1-6A27-DFB56E85C291}"/>
              </a:ext>
            </a:extLst>
          </p:cNvPr>
          <p:cNvSpPr/>
          <p:nvPr/>
        </p:nvSpPr>
        <p:spPr>
          <a:xfrm>
            <a:off x="6309145" y="4542734"/>
            <a:ext cx="2011666"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34A3B73-A1FF-B2B1-36F4-B42FA3741AF1}"/>
              </a:ext>
            </a:extLst>
          </p:cNvPr>
          <p:cNvSpPr/>
          <p:nvPr/>
        </p:nvSpPr>
        <p:spPr>
          <a:xfrm rot="5400000">
            <a:off x="5936088" y="2023135"/>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A4BDD9A-F854-39E2-FF90-5F17558DC20D}"/>
              </a:ext>
            </a:extLst>
          </p:cNvPr>
          <p:cNvSpPr/>
          <p:nvPr/>
        </p:nvSpPr>
        <p:spPr>
          <a:xfrm rot="5400000">
            <a:off x="5679417" y="2005314"/>
            <a:ext cx="2032000" cy="233680"/>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106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1000"/>
                                        <p:tgtEl>
                                          <p:spTgt spid="9"/>
                                        </p:tgtEl>
                                      </p:cBhvr>
                                    </p:animEffect>
                                  </p:childTnLst>
                                </p:cTn>
                              </p:par>
                            </p:childTnLst>
                          </p:cTn>
                        </p:par>
                        <p:par>
                          <p:cTn id="11" fill="hold">
                            <p:stCondLst>
                              <p:cond delay="1000"/>
                            </p:stCondLst>
                            <p:childTnLst>
                              <p:par>
                                <p:cTn id="12" presetID="1" presetClass="entr" presetSubtype="0" fill="hold" grpId="0" nodeType="afterEffect">
                                  <p:stCondLst>
                                    <p:cond delay="5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500"/>
                            </p:stCondLst>
                            <p:childTnLst>
                              <p:par>
                                <p:cTn id="28" presetID="1" presetClass="entr" presetSubtype="0" fill="hold" grpId="0" nodeType="afterEffect">
                                  <p:stCondLst>
                                    <p:cond delay="50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2" nodeType="clickEffect">
                                  <p:stCondLst>
                                    <p:cond delay="0"/>
                                  </p:stCondLst>
                                  <p:childTnLst>
                                    <p:set>
                                      <p:cBhvr>
                                        <p:cTn id="33" dur="1" fill="hold">
                                          <p:stCondLst>
                                            <p:cond delay="0"/>
                                          </p:stCondLst>
                                        </p:cTn>
                                        <p:tgtEl>
                                          <p:spTgt spid="20"/>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10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6"/>
                                        </p:tgtEl>
                                        <p:attrNameLst>
                                          <p:attrName>style.visibility</p:attrName>
                                        </p:attrNameLst>
                                      </p:cBhvr>
                                      <p:to>
                                        <p:strVal val="hidden"/>
                                      </p:to>
                                    </p:set>
                                  </p:childTnLst>
                                </p:cTn>
                              </p:par>
                            </p:childTnLst>
                          </p:cTn>
                        </p:par>
                        <p:par>
                          <p:cTn id="43" fill="hold">
                            <p:stCondLst>
                              <p:cond delay="0"/>
                            </p:stCondLst>
                            <p:childTnLst>
                              <p:par>
                                <p:cTn id="44" presetID="1" presetClass="entr" presetSubtype="0" fill="hold" grpId="0" nodeType="afterEffect">
                                  <p:stCondLst>
                                    <p:cond delay="500"/>
                                  </p:stCondLst>
                                  <p:childTnLst>
                                    <p:set>
                                      <p:cBhvr>
                                        <p:cTn id="45" dur="1" fill="hold">
                                          <p:stCondLst>
                                            <p:cond delay="0"/>
                                          </p:stCondLst>
                                        </p:cTn>
                                        <p:tgtEl>
                                          <p:spTgt spid="1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up)">
                                      <p:cBhvr>
                                        <p:cTn id="50" dur="500"/>
                                        <p:tgtEl>
                                          <p:spTgt spid="20"/>
                                        </p:tgtEl>
                                      </p:cBhvr>
                                    </p:animEffect>
                                  </p:childTnLst>
                                </p:cTn>
                              </p:par>
                            </p:childTnLst>
                          </p:cTn>
                        </p:par>
                        <p:par>
                          <p:cTn id="51" fill="hold">
                            <p:stCondLst>
                              <p:cond delay="500"/>
                            </p:stCondLst>
                            <p:childTnLst>
                              <p:par>
                                <p:cTn id="52" presetID="1" presetClass="entr" presetSubtype="0" fill="hold" grpId="0" nodeType="afterEffect">
                                  <p:stCondLst>
                                    <p:cond delay="500"/>
                                  </p:stCondLst>
                                  <p:childTnLst>
                                    <p:set>
                                      <p:cBhvr>
                                        <p:cTn id="53" dur="1" fill="hold">
                                          <p:stCondLst>
                                            <p:cond delay="0"/>
                                          </p:stCondLst>
                                        </p:cTn>
                                        <p:tgtEl>
                                          <p:spTgt spid="1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2" nodeType="clickEffect">
                                  <p:stCondLst>
                                    <p:cond delay="0"/>
                                  </p:stCondLst>
                                  <p:childTnLst>
                                    <p:set>
                                      <p:cBhvr>
                                        <p:cTn id="57" dur="1" fill="hold">
                                          <p:stCondLst>
                                            <p:cond delay="0"/>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up)">
                                      <p:cBhvr>
                                        <p:cTn id="62" dur="10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childTnLst>
                          </p:cTn>
                        </p:par>
                        <p:par>
                          <p:cTn id="68" fill="hold">
                            <p:stCondLst>
                              <p:cond delay="500"/>
                            </p:stCondLst>
                            <p:childTnLst>
                              <p:par>
                                <p:cTn id="69" presetID="42" presetClass="path" presetSubtype="0" accel="50000" decel="50000" fill="hold" grpId="1" nodeType="afterEffect">
                                  <p:stCondLst>
                                    <p:cond delay="0"/>
                                  </p:stCondLst>
                                  <p:childTnLst>
                                    <p:animMotion origin="layout" path="M -2.08333E-6 1.11111E-6 L 0.10026 -0.00116 " pathEditMode="relative" rAng="0" ptsTypes="AA">
                                      <p:cBhvr>
                                        <p:cTn id="70" dur="1000" fill="hold"/>
                                        <p:tgtEl>
                                          <p:spTgt spid="28"/>
                                        </p:tgtEl>
                                        <p:attrNameLst>
                                          <p:attrName>ppt_x</p:attrName>
                                          <p:attrName>ppt_y</p:attrName>
                                        </p:attrNameLst>
                                      </p:cBhvr>
                                      <p:rCtr x="5013" y="-69"/>
                                    </p:animMotion>
                                  </p:childTnLst>
                                </p:cTn>
                              </p:par>
                            </p:childTnLst>
                          </p:cTn>
                        </p:par>
                        <p:par>
                          <p:cTn id="71" fill="hold">
                            <p:stCondLst>
                              <p:cond delay="1500"/>
                            </p:stCondLst>
                            <p:childTnLst>
                              <p:par>
                                <p:cTn id="72" presetID="22" presetClass="entr" presetSubtype="8" fill="hold" grpId="0"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2000"/>
                                        <p:tgtEl>
                                          <p:spTgt spid="25"/>
                                        </p:tgtEl>
                                      </p:cBhvr>
                                    </p:animEffect>
                                  </p:childTnLst>
                                </p:cTn>
                              </p:par>
                              <p:par>
                                <p:cTn id="75" presetID="42" presetClass="path" presetSubtype="0" accel="50000" decel="50000" fill="hold" grpId="1" nodeType="withEffect">
                                  <p:stCondLst>
                                    <p:cond delay="0"/>
                                  </p:stCondLst>
                                  <p:childTnLst>
                                    <p:animMotion origin="layout" path="M -2.29167E-6 2.96296E-6 L 0.1043 -0.00394 " pathEditMode="relative" rAng="0" ptsTypes="AA">
                                      <p:cBhvr>
                                        <p:cTn id="76" dur="2000" fill="hold"/>
                                        <p:tgtEl>
                                          <p:spTgt spid="20"/>
                                        </p:tgtEl>
                                        <p:attrNameLst>
                                          <p:attrName>ppt_x</p:attrName>
                                          <p:attrName>ppt_y</p:attrName>
                                        </p:attrNameLst>
                                      </p:cBhvr>
                                      <p:rCtr x="5208" y="-208"/>
                                    </p:animMotion>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1000"/>
                                        <p:tgtEl>
                                          <p:spTgt spid="15"/>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wipe(left)">
                                      <p:cBhvr>
                                        <p:cTn id="84" dur="500"/>
                                        <p:tgtEl>
                                          <p:spTgt spid="18"/>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path" presetSubtype="0" accel="50000" decel="50000" fill="hold" grpId="1" nodeType="clickEffect">
                                  <p:stCondLst>
                                    <p:cond delay="0"/>
                                  </p:stCondLst>
                                  <p:childTnLst>
                                    <p:animMotion origin="layout" path="M -3.33333E-6 1.11111E-6 L 0.14245 0.00532 " pathEditMode="relative" rAng="0" ptsTypes="AA">
                                      <p:cBhvr>
                                        <p:cTn id="88" dur="2000" fill="hold"/>
                                        <p:tgtEl>
                                          <p:spTgt spid="9"/>
                                        </p:tgtEl>
                                        <p:attrNameLst>
                                          <p:attrName>ppt_x</p:attrName>
                                          <p:attrName>ppt_y</p:attrName>
                                        </p:attrNameLst>
                                      </p:cBhvr>
                                      <p:rCtr x="7122" y="255"/>
                                    </p:animMotion>
                                  </p:childTnLst>
                                </p:cTn>
                              </p:par>
                            </p:childTnLst>
                          </p:cTn>
                        </p:par>
                      </p:childTnLst>
                    </p:cTn>
                  </p:par>
                  <p:par>
                    <p:cTn id="89" fill="hold">
                      <p:stCondLst>
                        <p:cond delay="indefinite"/>
                      </p:stCondLst>
                      <p:childTnLst>
                        <p:par>
                          <p:cTn id="90" fill="hold">
                            <p:stCondLst>
                              <p:cond delay="0"/>
                            </p:stCondLst>
                            <p:childTnLst>
                              <p:par>
                                <p:cTn id="91" presetID="42" presetClass="path" presetSubtype="0" accel="50000" decel="50000" fill="hold" grpId="1" nodeType="clickEffect">
                                  <p:stCondLst>
                                    <p:cond delay="0"/>
                                  </p:stCondLst>
                                  <p:childTnLst>
                                    <p:animMotion origin="layout" path="M 4.16667E-6 1.11111E-6 L 0.1401 0.00393 " pathEditMode="relative" rAng="0" ptsTypes="AA">
                                      <p:cBhvr>
                                        <p:cTn id="92" dur="2000" fill="hold"/>
                                        <p:tgtEl>
                                          <p:spTgt spid="14"/>
                                        </p:tgtEl>
                                        <p:attrNameLst>
                                          <p:attrName>ppt_x</p:attrName>
                                          <p:attrName>ppt_y</p:attrName>
                                        </p:attrNameLst>
                                      </p:cBhvr>
                                      <p:rCtr x="7005" y="185"/>
                                    </p:animMotion>
                                  </p:childTnLst>
                                </p:cTn>
                              </p:par>
                            </p:childTnLst>
                          </p:cTn>
                        </p:par>
                        <p:par>
                          <p:cTn id="93" fill="hold">
                            <p:stCondLst>
                              <p:cond delay="2000"/>
                            </p:stCondLst>
                            <p:childTnLst>
                              <p:par>
                                <p:cTn id="94" presetID="22" presetClass="entr" presetSubtype="8" fill="hold" grpId="0" nodeType="afterEffect">
                                  <p:stCondLst>
                                    <p:cond delay="0"/>
                                  </p:stCondLst>
                                  <p:childTnLst>
                                    <p:set>
                                      <p:cBhvr>
                                        <p:cTn id="95" dur="1" fill="hold">
                                          <p:stCondLst>
                                            <p:cond delay="0"/>
                                          </p:stCondLst>
                                        </p:cTn>
                                        <p:tgtEl>
                                          <p:spTgt spid="3"/>
                                        </p:tgtEl>
                                        <p:attrNameLst>
                                          <p:attrName>style.visibility</p:attrName>
                                        </p:attrNameLst>
                                      </p:cBhvr>
                                      <p:to>
                                        <p:strVal val="visible"/>
                                      </p:to>
                                    </p:set>
                                    <p:animEffect transition="in" filter="wipe(left)">
                                      <p:cBhvr>
                                        <p:cTn id="96" dur="2000"/>
                                        <p:tgtEl>
                                          <p:spTgt spid="3"/>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8"/>
                                        </p:tgtEl>
                                        <p:attrNameLst>
                                          <p:attrName>style.visibility</p:attrName>
                                        </p:attrNameLst>
                                      </p:cBhvr>
                                      <p:to>
                                        <p:strVal val="hidden"/>
                                      </p:to>
                                    </p:set>
                                  </p:childTnLst>
                                </p:cTn>
                              </p:par>
                              <p:par>
                                <p:cTn id="101" presetID="22" presetClass="entr" presetSubtype="8" fill="hold" grpId="0" nodeType="with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wipe(left)">
                                      <p:cBhvr>
                                        <p:cTn id="10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9" grpId="1" animBg="1"/>
      <p:bldP spid="10" grpId="0" animBg="1"/>
      <p:bldP spid="11" grpId="0" animBg="1"/>
      <p:bldP spid="14" grpId="0" animBg="1"/>
      <p:bldP spid="14" grpId="1" animBg="1"/>
      <p:bldP spid="15" grpId="0" animBg="1"/>
      <p:bldP spid="16" grpId="0" animBg="1"/>
      <p:bldP spid="16" grpId="1" animBg="1"/>
      <p:bldP spid="17" grpId="0" animBg="1"/>
      <p:bldP spid="18" grpId="0" animBg="1"/>
      <p:bldP spid="19" grpId="0" animBg="1"/>
      <p:bldP spid="25" grpId="0" animBg="1"/>
      <p:bldP spid="26" grpId="0" animBg="1"/>
      <p:bldP spid="28" grpId="0" animBg="1"/>
      <p:bldP spid="28" grpId="1" animBg="1"/>
      <p:bldP spid="28" grpId="2" animBg="1"/>
      <p:bldP spid="3" grpId="0" animBg="1"/>
      <p:bldP spid="4" grpId="0" animBg="1"/>
      <p:bldP spid="20" grpId="0" animBg="1"/>
      <p:bldP spid="20" grpId="1" animBg="1"/>
      <p:bldP spid="20" grpId="2" animBg="1"/>
      <p:bldP spid="8" grpId="0" animBg="1"/>
      <p:bldP spid="8"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166-B4F4-1306-3336-F39004F49504}"/>
              </a:ext>
            </a:extLst>
          </p:cNvPr>
          <p:cNvSpPr>
            <a:spLocks noGrp="1"/>
          </p:cNvSpPr>
          <p:nvPr>
            <p:ph type="title"/>
          </p:nvPr>
        </p:nvSpPr>
        <p:spPr/>
        <p:txBody>
          <a:bodyPr/>
          <a:lstStyle/>
          <a:p>
            <a:r>
              <a:rPr lang="en-US" dirty="0"/>
              <a:t>Multicore Parallelism with OpenMP</a:t>
            </a:r>
          </a:p>
        </p:txBody>
      </p:sp>
      <p:pic>
        <p:nvPicPr>
          <p:cNvPr id="5" name="Content Placeholder 4">
            <a:extLst>
              <a:ext uri="{FF2B5EF4-FFF2-40B4-BE49-F238E27FC236}">
                <a16:creationId xmlns:a16="http://schemas.microsoft.com/office/drawing/2014/main" id="{8E65E52F-87C5-8E7A-373B-BC4827360B90}"/>
              </a:ext>
            </a:extLst>
          </p:cNvPr>
          <p:cNvPicPr>
            <a:picLocks noGrp="1" noChangeAspect="1"/>
          </p:cNvPicPr>
          <p:nvPr>
            <p:ph idx="1"/>
          </p:nvPr>
        </p:nvPicPr>
        <p:blipFill>
          <a:blip r:embed="rId2"/>
          <a:stretch>
            <a:fillRect/>
          </a:stretch>
        </p:blipFill>
        <p:spPr>
          <a:xfrm>
            <a:off x="3760260" y="1102335"/>
            <a:ext cx="4579406" cy="4411663"/>
          </a:xfrm>
        </p:spPr>
      </p:pic>
      <p:sp>
        <p:nvSpPr>
          <p:cNvPr id="6" name="Rectangle 5">
            <a:extLst>
              <a:ext uri="{FF2B5EF4-FFF2-40B4-BE49-F238E27FC236}">
                <a16:creationId xmlns:a16="http://schemas.microsoft.com/office/drawing/2014/main" id="{DBACC5C5-670A-E676-BDB0-FF720C11A0C4}"/>
              </a:ext>
            </a:extLst>
          </p:cNvPr>
          <p:cNvSpPr/>
          <p:nvPr/>
        </p:nvSpPr>
        <p:spPr>
          <a:xfrm>
            <a:off x="4155440" y="3502000"/>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9C34C1-4753-5D4A-1316-F854BCF5C98F}"/>
              </a:ext>
            </a:extLst>
          </p:cNvPr>
          <p:cNvSpPr/>
          <p:nvPr/>
        </p:nvSpPr>
        <p:spPr>
          <a:xfrm>
            <a:off x="4155440" y="4507999"/>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467165-3A18-1829-732A-BE320CDA5135}"/>
              </a:ext>
            </a:extLst>
          </p:cNvPr>
          <p:cNvSpPr/>
          <p:nvPr/>
        </p:nvSpPr>
        <p:spPr>
          <a:xfrm rot="5400000">
            <a:off x="5378107" y="2256422"/>
            <a:ext cx="2001361" cy="161526"/>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279DF9A-1004-D87A-D888-C674DB78A9CD}"/>
              </a:ext>
            </a:extLst>
          </p:cNvPr>
          <p:cNvSpPr/>
          <p:nvPr/>
        </p:nvSpPr>
        <p:spPr>
          <a:xfrm rot="5400000">
            <a:off x="6329043" y="3481529"/>
            <a:ext cx="233680" cy="273474"/>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6A481F-B86F-B76E-B0BA-231A9725D1BF}"/>
              </a:ext>
            </a:extLst>
          </p:cNvPr>
          <p:cNvSpPr/>
          <p:nvPr/>
        </p:nvSpPr>
        <p:spPr>
          <a:xfrm rot="5400000">
            <a:off x="6329043" y="4488104"/>
            <a:ext cx="233679" cy="273474"/>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C2D050-9B46-79F3-D5C3-F3B2235DA22B}"/>
              </a:ext>
            </a:extLst>
          </p:cNvPr>
          <p:cNvSpPr/>
          <p:nvPr/>
        </p:nvSpPr>
        <p:spPr>
          <a:xfrm rot="5400000">
            <a:off x="9382546" y="2218665"/>
            <a:ext cx="2032000" cy="23368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B9E020-B141-B490-4637-F33D355A0916}"/>
              </a:ext>
            </a:extLst>
          </p:cNvPr>
          <p:cNvSpPr/>
          <p:nvPr/>
        </p:nvSpPr>
        <p:spPr>
          <a:xfrm rot="5400000">
            <a:off x="8545826" y="2218665"/>
            <a:ext cx="2032000" cy="233680"/>
          </a:xfrm>
          <a:prstGeom prst="rect">
            <a:avLst/>
          </a:prstGeom>
          <a:solidFill>
            <a:schemeClr val="accent1">
              <a:lumMod val="60000"/>
              <a:lumOff val="40000"/>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F679BF-27F6-25FB-2F3E-73A28CC078F0}"/>
              </a:ext>
            </a:extLst>
          </p:cNvPr>
          <p:cNvSpPr/>
          <p:nvPr/>
        </p:nvSpPr>
        <p:spPr>
          <a:xfrm rot="5400000">
            <a:off x="5465563" y="2239422"/>
            <a:ext cx="2032000" cy="161526"/>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BB52F1-E8D4-CB0E-644E-679BC2BF00AE}"/>
              </a:ext>
            </a:extLst>
          </p:cNvPr>
          <p:cNvSpPr/>
          <p:nvPr/>
        </p:nvSpPr>
        <p:spPr>
          <a:xfrm>
            <a:off x="4155440" y="375691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BB9EFC-EFA4-9A64-F96F-EE61F95B8239}"/>
              </a:ext>
            </a:extLst>
          </p:cNvPr>
          <p:cNvSpPr/>
          <p:nvPr/>
        </p:nvSpPr>
        <p:spPr>
          <a:xfrm rot="5400000">
            <a:off x="6593881" y="3512016"/>
            <a:ext cx="23368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4799DB2-82E1-D2C8-E903-161A54036227}"/>
              </a:ext>
            </a:extLst>
          </p:cNvPr>
          <p:cNvSpPr/>
          <p:nvPr/>
        </p:nvSpPr>
        <p:spPr>
          <a:xfrm>
            <a:off x="4152840" y="4769960"/>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B2E29A0-FA99-A933-F9AF-67587D8861C7}"/>
              </a:ext>
            </a:extLst>
          </p:cNvPr>
          <p:cNvSpPr/>
          <p:nvPr/>
        </p:nvSpPr>
        <p:spPr>
          <a:xfrm rot="5400000">
            <a:off x="6588476" y="4505674"/>
            <a:ext cx="233679" cy="238332"/>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D24978E-917C-604C-B2F4-77F0425F2D0B}"/>
              </a:ext>
            </a:extLst>
          </p:cNvPr>
          <p:cNvSpPr txBox="1"/>
          <p:nvPr/>
        </p:nvSpPr>
        <p:spPr>
          <a:xfrm>
            <a:off x="8956585" y="3436235"/>
            <a:ext cx="896592" cy="646331"/>
          </a:xfrm>
          <a:prstGeom prst="rect">
            <a:avLst/>
          </a:prstGeom>
          <a:noFill/>
        </p:spPr>
        <p:txBody>
          <a:bodyPr wrap="none" rtlCol="0">
            <a:spAutoFit/>
          </a:bodyPr>
          <a:lstStyle/>
          <a:p>
            <a:pPr algn="ctr"/>
            <a:r>
              <a:rPr lang="en-US" dirty="0"/>
              <a:t>Thread </a:t>
            </a:r>
          </a:p>
          <a:p>
            <a:pPr algn="ctr"/>
            <a:r>
              <a:rPr lang="en-US" dirty="0"/>
              <a:t>0</a:t>
            </a:r>
          </a:p>
        </p:txBody>
      </p:sp>
      <p:sp>
        <p:nvSpPr>
          <p:cNvPr id="22" name="TextBox 21">
            <a:extLst>
              <a:ext uri="{FF2B5EF4-FFF2-40B4-BE49-F238E27FC236}">
                <a16:creationId xmlns:a16="http://schemas.microsoft.com/office/drawing/2014/main" id="{9B3512D2-E9B0-0234-FD1C-0710000612AB}"/>
              </a:ext>
            </a:extLst>
          </p:cNvPr>
          <p:cNvSpPr txBox="1"/>
          <p:nvPr/>
        </p:nvSpPr>
        <p:spPr>
          <a:xfrm>
            <a:off x="9950250" y="3433171"/>
            <a:ext cx="896592" cy="646331"/>
          </a:xfrm>
          <a:prstGeom prst="rect">
            <a:avLst/>
          </a:prstGeom>
          <a:noFill/>
        </p:spPr>
        <p:txBody>
          <a:bodyPr wrap="none" rtlCol="0">
            <a:spAutoFit/>
          </a:bodyPr>
          <a:lstStyle/>
          <a:p>
            <a:pPr algn="ctr"/>
            <a:r>
              <a:rPr lang="en-US" dirty="0"/>
              <a:t>Thread </a:t>
            </a:r>
          </a:p>
          <a:p>
            <a:pPr algn="ctr"/>
            <a:r>
              <a:rPr lang="en-US" dirty="0"/>
              <a:t>1</a:t>
            </a:r>
          </a:p>
        </p:txBody>
      </p:sp>
      <p:sp>
        <p:nvSpPr>
          <p:cNvPr id="25" name="Rectangle 24">
            <a:extLst>
              <a:ext uri="{FF2B5EF4-FFF2-40B4-BE49-F238E27FC236}">
                <a16:creationId xmlns:a16="http://schemas.microsoft.com/office/drawing/2014/main" id="{1963CD73-294B-98E7-040C-03DA9968F65C}"/>
              </a:ext>
            </a:extLst>
          </p:cNvPr>
          <p:cNvSpPr/>
          <p:nvPr/>
        </p:nvSpPr>
        <p:spPr>
          <a:xfrm>
            <a:off x="6837141" y="3512016"/>
            <a:ext cx="148367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4AE1069-6BC7-F27D-73D0-4DC2B2D3782A}"/>
              </a:ext>
            </a:extLst>
          </p:cNvPr>
          <p:cNvSpPr/>
          <p:nvPr/>
        </p:nvSpPr>
        <p:spPr>
          <a:xfrm>
            <a:off x="6824482" y="4507999"/>
            <a:ext cx="1515184"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8DA146-E030-5B70-EEAB-637D0A94488D}"/>
              </a:ext>
            </a:extLst>
          </p:cNvPr>
          <p:cNvSpPr/>
          <p:nvPr/>
        </p:nvSpPr>
        <p:spPr>
          <a:xfrm>
            <a:off x="6309145" y="375691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00D7A98-C6B6-67E1-6A27-DFB56E85C291}"/>
              </a:ext>
            </a:extLst>
          </p:cNvPr>
          <p:cNvSpPr/>
          <p:nvPr/>
        </p:nvSpPr>
        <p:spPr>
          <a:xfrm>
            <a:off x="6309145" y="4758574"/>
            <a:ext cx="2011666"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B8524BD-39D9-0C53-C268-0212257D6CAF}"/>
              </a:ext>
            </a:extLst>
          </p:cNvPr>
          <p:cNvSpPr/>
          <p:nvPr/>
        </p:nvSpPr>
        <p:spPr>
          <a:xfrm rot="5400000">
            <a:off x="5878503" y="2249658"/>
            <a:ext cx="2001361" cy="161526"/>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25B37D3-3A15-4B51-6140-02C60DB46762}"/>
              </a:ext>
            </a:extLst>
          </p:cNvPr>
          <p:cNvSpPr/>
          <p:nvPr/>
        </p:nvSpPr>
        <p:spPr>
          <a:xfrm rot="5400000">
            <a:off x="5954838" y="2243977"/>
            <a:ext cx="2032000" cy="161526"/>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E45E158-0124-841C-D4D9-5A5E2BDE28A2}"/>
              </a:ext>
            </a:extLst>
          </p:cNvPr>
          <p:cNvSpPr/>
          <p:nvPr/>
        </p:nvSpPr>
        <p:spPr>
          <a:xfrm rot="5400000">
            <a:off x="5647503" y="2249658"/>
            <a:ext cx="2001361" cy="161526"/>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8D1AD81-044F-6548-8C5A-96FC8B8A784A}"/>
              </a:ext>
            </a:extLst>
          </p:cNvPr>
          <p:cNvSpPr/>
          <p:nvPr/>
        </p:nvSpPr>
        <p:spPr>
          <a:xfrm rot="5400000">
            <a:off x="5723838" y="2243977"/>
            <a:ext cx="2032000" cy="161526"/>
          </a:xfrm>
          <a:prstGeom prst="rect">
            <a:avLst/>
          </a:prstGeom>
          <a:solidFill>
            <a:schemeClr val="accent4">
              <a:lumMod val="40000"/>
              <a:lumOff val="60000"/>
              <a:alpha val="679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078689A-7B46-5F5B-2B99-39C27D13DE58}"/>
              </a:ext>
            </a:extLst>
          </p:cNvPr>
          <p:cNvSpPr/>
          <p:nvPr/>
        </p:nvSpPr>
        <p:spPr>
          <a:xfrm>
            <a:off x="4153840" y="400556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65E8593-DEF5-47AD-72BC-A93E1C00B052}"/>
              </a:ext>
            </a:extLst>
          </p:cNvPr>
          <p:cNvSpPr/>
          <p:nvPr/>
        </p:nvSpPr>
        <p:spPr>
          <a:xfrm>
            <a:off x="4151240" y="5018610"/>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2917909-5231-B72D-BC9B-59814A32E1DF}"/>
              </a:ext>
            </a:extLst>
          </p:cNvPr>
          <p:cNvSpPr/>
          <p:nvPr/>
        </p:nvSpPr>
        <p:spPr>
          <a:xfrm>
            <a:off x="6307545" y="400556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71E23F8-DE87-EE39-6189-65BD1D92958A}"/>
              </a:ext>
            </a:extLst>
          </p:cNvPr>
          <p:cNvSpPr/>
          <p:nvPr/>
        </p:nvSpPr>
        <p:spPr>
          <a:xfrm>
            <a:off x="6307545" y="5001544"/>
            <a:ext cx="2011666"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54F94F2-507C-6CA7-B712-A9328AD9C8B5}"/>
              </a:ext>
            </a:extLst>
          </p:cNvPr>
          <p:cNvSpPr/>
          <p:nvPr/>
        </p:nvSpPr>
        <p:spPr>
          <a:xfrm>
            <a:off x="4153840" y="426576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35D63E0-0983-53EA-A896-159413DA75C0}"/>
              </a:ext>
            </a:extLst>
          </p:cNvPr>
          <p:cNvSpPr/>
          <p:nvPr/>
        </p:nvSpPr>
        <p:spPr>
          <a:xfrm>
            <a:off x="4151240" y="5261770"/>
            <a:ext cx="2032000"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26D5326-4C64-B59D-7CAB-43FA645121D9}"/>
              </a:ext>
            </a:extLst>
          </p:cNvPr>
          <p:cNvSpPr/>
          <p:nvPr/>
        </p:nvSpPr>
        <p:spPr>
          <a:xfrm>
            <a:off x="6307545" y="426576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517FEEE-6657-1CF0-5004-857C1D8E20CE}"/>
              </a:ext>
            </a:extLst>
          </p:cNvPr>
          <p:cNvSpPr/>
          <p:nvPr/>
        </p:nvSpPr>
        <p:spPr>
          <a:xfrm>
            <a:off x="6307545" y="5256064"/>
            <a:ext cx="2011666" cy="233680"/>
          </a:xfrm>
          <a:prstGeom prst="rect">
            <a:avLst/>
          </a:prstGeom>
          <a:solidFill>
            <a:schemeClr val="accent4">
              <a:lumMod val="40000"/>
              <a:lumOff val="6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373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par>
                          <p:cTn id="11" fill="hold">
                            <p:stCondLst>
                              <p:cond delay="500"/>
                            </p:stCondLst>
                            <p:childTnLst>
                              <p:par>
                                <p:cTn id="12" presetID="1" presetClass="entr" presetSubtype="0" fill="hold" grpId="0" nodeType="afterEffect">
                                  <p:stCondLst>
                                    <p:cond delay="5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500"/>
                            </p:stCondLst>
                            <p:childTnLst>
                              <p:par>
                                <p:cTn id="23" presetID="1" presetClass="entr" presetSubtype="0" fill="hold" grpId="0" nodeType="afterEffect">
                                  <p:stCondLst>
                                    <p:cond delay="50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up)">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up)">
                                      <p:cBhvr>
                                        <p:cTn id="42" dur="500"/>
                                        <p:tgtEl>
                                          <p:spTgt spid="29"/>
                                        </p:tgtEl>
                                      </p:cBhvr>
                                    </p:animEffec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par>
                                <p:cTn id="46" presetID="1" presetClass="entr" presetSubtype="0" fill="hold" grpId="0" nodeType="withEffect">
                                  <p:stCondLst>
                                    <p:cond delay="500"/>
                                  </p:stCondLst>
                                  <p:childTnLst>
                                    <p:set>
                                      <p:cBhvr>
                                        <p:cTn id="47" dur="1" fill="hold">
                                          <p:stCondLst>
                                            <p:cond delay="0"/>
                                          </p:stCondLst>
                                        </p:cTn>
                                        <p:tgtEl>
                                          <p:spTgt spid="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27"/>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29"/>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5"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up)">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grpId="4" nodeType="clickEffect">
                                  <p:stCondLst>
                                    <p:cond delay="0"/>
                                  </p:stCondLst>
                                  <p:childTnLst>
                                    <p:animMotion origin="layout" path="M -2.70833E-6 -4.81481E-6 L 0.10365 -0.00416 " pathEditMode="relative" rAng="0" ptsTypes="AA">
                                      <p:cBhvr>
                                        <p:cTn id="62" dur="2000" fill="hold"/>
                                        <p:tgtEl>
                                          <p:spTgt spid="23"/>
                                        </p:tgtEl>
                                        <p:attrNameLst>
                                          <p:attrName>ppt_x</p:attrName>
                                          <p:attrName>ppt_y</p:attrName>
                                        </p:attrNameLst>
                                      </p:cBhvr>
                                      <p:rCtr x="5182" y="-208"/>
                                    </p:animMotion>
                                  </p:childTnLst>
                                </p:cTn>
                              </p:par>
                            </p:childTnLst>
                          </p:cTn>
                        </p:par>
                        <p:par>
                          <p:cTn id="63" fill="hold">
                            <p:stCondLst>
                              <p:cond delay="2000"/>
                            </p:stCondLst>
                            <p:childTnLst>
                              <p:par>
                                <p:cTn id="64" presetID="22" presetClass="entr" presetSubtype="8" fill="hold" grpId="0" nodeType="after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10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1"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42" presetClass="path" presetSubtype="0" accel="50000" decel="50000" fill="hold" grpId="0" nodeType="clickEffect">
                                  <p:stCondLst>
                                    <p:cond delay="0"/>
                                  </p:stCondLst>
                                  <p:childTnLst>
                                    <p:animMotion origin="layout" path="M -4.79167E-6 1.11111E-6 L 0.10404 -0.00417 " pathEditMode="relative" rAng="0" ptsTypes="AA">
                                      <p:cBhvr>
                                        <p:cTn id="74" dur="2000" fill="hold"/>
                                        <p:tgtEl>
                                          <p:spTgt spid="24"/>
                                        </p:tgtEl>
                                        <p:attrNameLst>
                                          <p:attrName>ppt_x</p:attrName>
                                          <p:attrName>ppt_y</p:attrName>
                                        </p:attrNameLst>
                                      </p:cBhvr>
                                      <p:rCtr x="5195" y="-208"/>
                                    </p:animMotion>
                                  </p:childTnLst>
                                </p:cTn>
                              </p:par>
                            </p:childTnLst>
                          </p:cTn>
                        </p:par>
                        <p:par>
                          <p:cTn id="75" fill="hold">
                            <p:stCondLst>
                              <p:cond delay="2000"/>
                            </p:stCondLst>
                            <p:childTnLst>
                              <p:par>
                                <p:cTn id="76" presetID="22" presetClass="entr" presetSubtype="8" fill="hold" grpId="0" nodeType="afterEffect">
                                  <p:stCondLst>
                                    <p:cond delay="50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7" nodeType="clickEffect">
                                  <p:stCondLst>
                                    <p:cond delay="0"/>
                                  </p:stCondLst>
                                  <p:childTnLst>
                                    <p:set>
                                      <p:cBhvr>
                                        <p:cTn id="82" dur="1" fill="hold">
                                          <p:stCondLst>
                                            <p:cond delay="0"/>
                                          </p:stCondLst>
                                        </p:cTn>
                                        <p:tgtEl>
                                          <p:spTgt spid="23"/>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3" nodeType="clickEffect">
                                  <p:stCondLst>
                                    <p:cond delay="0"/>
                                  </p:stCondLst>
                                  <p:childTnLst>
                                    <p:set>
                                      <p:cBhvr>
                                        <p:cTn id="86" dur="1" fill="hold">
                                          <p:stCondLst>
                                            <p:cond delay="0"/>
                                          </p:stCondLst>
                                        </p:cTn>
                                        <p:tgtEl>
                                          <p:spTgt spid="2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5"/>
                                        </p:tgtEl>
                                        <p:attrNameLst>
                                          <p:attrName>style.visibility</p:attrName>
                                        </p:attrNameLst>
                                      </p:cBhvr>
                                      <p:to>
                                        <p:strVal val="visible"/>
                                      </p:to>
                                    </p:set>
                                  </p:childTnLst>
                                </p:cTn>
                              </p:par>
                              <p:par>
                                <p:cTn id="91" presetID="1" presetClass="entr" presetSubtype="0" fill="hold" grpId="0" nodeType="withEffect">
                                  <p:stCondLst>
                                    <p:cond delay="500"/>
                                  </p:stCondLst>
                                  <p:childTnLst>
                                    <p:set>
                                      <p:cBhvr>
                                        <p:cTn id="92" dur="1" fill="hold">
                                          <p:stCondLst>
                                            <p:cond delay="0"/>
                                          </p:stCondLst>
                                        </p:cTn>
                                        <p:tgtEl>
                                          <p:spTgt spid="18"/>
                                        </p:tgtEl>
                                        <p:attrNameLst>
                                          <p:attrName>style.visibility</p:attrName>
                                        </p:attrNameLst>
                                      </p:cBhvr>
                                      <p:to>
                                        <p:strVal val="visible"/>
                                      </p:to>
                                    </p:se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3"/>
                                        </p:tgtEl>
                                        <p:attrNameLst>
                                          <p:attrName>style.visibility</p:attrName>
                                        </p:attrNameLst>
                                      </p:cBhvr>
                                      <p:to>
                                        <p:strVal val="visible"/>
                                      </p:to>
                                    </p:set>
                                    <p:animEffect transition="in" filter="wipe(left)">
                                      <p:cBhvr>
                                        <p:cTn id="96" dur="1000"/>
                                        <p:tgtEl>
                                          <p:spTgt spid="3"/>
                                        </p:tgtEl>
                                      </p:cBhvr>
                                    </p:animEffect>
                                  </p:childTnLst>
                                </p:cTn>
                              </p:par>
                              <p:par>
                                <p:cTn id="97" presetID="22" presetClass="entr" presetSubtype="8" fill="hold" grpId="0" nodeType="withEffect">
                                  <p:stCondLst>
                                    <p:cond delay="500"/>
                                  </p:stCondLst>
                                  <p:childTnLst>
                                    <p:set>
                                      <p:cBhvr>
                                        <p:cTn id="98" dur="1" fill="hold">
                                          <p:stCondLst>
                                            <p:cond delay="0"/>
                                          </p:stCondLst>
                                        </p:cTn>
                                        <p:tgtEl>
                                          <p:spTgt spid="4"/>
                                        </p:tgtEl>
                                        <p:attrNameLst>
                                          <p:attrName>style.visibility</p:attrName>
                                        </p:attrNameLst>
                                      </p:cBhvr>
                                      <p:to>
                                        <p:strVal val="visible"/>
                                      </p:to>
                                    </p:set>
                                    <p:animEffect transition="in" filter="wipe(left)">
                                      <p:cBhvr>
                                        <p:cTn id="99" dur="500"/>
                                        <p:tgtEl>
                                          <p:spTgt spid="4"/>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0"/>
                                        </p:tgtEl>
                                        <p:attrNameLst>
                                          <p:attrName>style.visibility</p:attrName>
                                        </p:attrNameLst>
                                      </p:cBhvr>
                                      <p:to>
                                        <p:strVal val="visible"/>
                                      </p:to>
                                    </p:set>
                                  </p:childTnLst>
                                </p:cTn>
                              </p:par>
                              <p:par>
                                <p:cTn id="104" presetID="1" presetClass="entr" presetSubtype="0" fill="hold" grpId="0" nodeType="withEffect">
                                  <p:stCondLst>
                                    <p:cond delay="500"/>
                                  </p:stCondLst>
                                  <p:childTnLst>
                                    <p:set>
                                      <p:cBhvr>
                                        <p:cTn id="105" dur="1" fill="hold">
                                          <p:stCondLst>
                                            <p:cond delay="0"/>
                                          </p:stCondLst>
                                        </p:cTn>
                                        <p:tgtEl>
                                          <p:spTgt spid="31"/>
                                        </p:tgtEl>
                                        <p:attrNameLst>
                                          <p:attrName>style.visibility</p:attrName>
                                        </p:attrNameLst>
                                      </p:cBhvr>
                                      <p:to>
                                        <p:strVal val="visible"/>
                                      </p:to>
                                    </p:set>
                                  </p:childTnLst>
                                </p:cTn>
                              </p:par>
                            </p:childTnLst>
                          </p:cTn>
                        </p:par>
                        <p:par>
                          <p:cTn id="106" fill="hold">
                            <p:stCondLst>
                              <p:cond delay="500"/>
                            </p:stCondLst>
                            <p:childTnLst>
                              <p:par>
                                <p:cTn id="107" presetID="22" presetClass="entr" presetSubtype="8" fill="hold" grpId="0" nodeType="after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wipe(left)">
                                      <p:cBhvr>
                                        <p:cTn id="109" dur="1000"/>
                                        <p:tgtEl>
                                          <p:spTgt spid="32"/>
                                        </p:tgtEl>
                                      </p:cBhvr>
                                    </p:animEffect>
                                  </p:childTnLst>
                                </p:cTn>
                              </p:par>
                              <p:par>
                                <p:cTn id="110" presetID="22" presetClass="entr" presetSubtype="8" fill="hold" grpId="0" nodeType="withEffect">
                                  <p:stCondLst>
                                    <p:cond delay="500"/>
                                  </p:stCondLst>
                                  <p:childTnLst>
                                    <p:set>
                                      <p:cBhvr>
                                        <p:cTn id="111" dur="1" fill="hold">
                                          <p:stCondLst>
                                            <p:cond delay="0"/>
                                          </p:stCondLst>
                                        </p:cTn>
                                        <p:tgtEl>
                                          <p:spTgt spid="33"/>
                                        </p:tgtEl>
                                        <p:attrNameLst>
                                          <p:attrName>style.visibility</p:attrName>
                                        </p:attrNameLst>
                                      </p:cBhvr>
                                      <p:to>
                                        <p:strVal val="visible"/>
                                      </p:to>
                                    </p:set>
                                    <p:animEffect transition="in" filter="wipe(left)">
                                      <p:cBhvr>
                                        <p:cTn id="112" dur="500"/>
                                        <p:tgtEl>
                                          <p:spTgt spid="33"/>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4"/>
                                        </p:tgtEl>
                                        <p:attrNameLst>
                                          <p:attrName>style.visibility</p:attrName>
                                        </p:attrNameLst>
                                      </p:cBhvr>
                                      <p:to>
                                        <p:strVal val="visible"/>
                                      </p:to>
                                    </p:set>
                                  </p:childTnLst>
                                </p:cTn>
                              </p:par>
                              <p:par>
                                <p:cTn id="117" presetID="1" presetClass="entr" presetSubtype="0" fill="hold" grpId="0" nodeType="withEffect">
                                  <p:stCondLst>
                                    <p:cond delay="500"/>
                                  </p:stCondLst>
                                  <p:childTnLst>
                                    <p:set>
                                      <p:cBhvr>
                                        <p:cTn id="118" dur="1" fill="hold">
                                          <p:stCondLst>
                                            <p:cond delay="0"/>
                                          </p:stCondLst>
                                        </p:cTn>
                                        <p:tgtEl>
                                          <p:spTgt spid="35"/>
                                        </p:tgtEl>
                                        <p:attrNameLst>
                                          <p:attrName>style.visibility</p:attrName>
                                        </p:attrNameLst>
                                      </p:cBhvr>
                                      <p:to>
                                        <p:strVal val="visible"/>
                                      </p:to>
                                    </p:set>
                                  </p:childTnLst>
                                </p:cTn>
                              </p:par>
                            </p:childTnLst>
                          </p:cTn>
                        </p:par>
                        <p:par>
                          <p:cTn id="119" fill="hold">
                            <p:stCondLst>
                              <p:cond delay="500"/>
                            </p:stCondLst>
                            <p:childTnLst>
                              <p:par>
                                <p:cTn id="120" presetID="22" presetClass="entr" presetSubtype="8" fill="hold" grpId="0" nodeType="after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wipe(left)">
                                      <p:cBhvr>
                                        <p:cTn id="122" dur="1000"/>
                                        <p:tgtEl>
                                          <p:spTgt spid="36"/>
                                        </p:tgtEl>
                                      </p:cBhvr>
                                    </p:animEffect>
                                  </p:childTnLst>
                                </p:cTn>
                              </p:par>
                              <p:par>
                                <p:cTn id="123" presetID="22" presetClass="entr" presetSubtype="8" fill="hold" grpId="0" nodeType="withEffect">
                                  <p:stCondLst>
                                    <p:cond delay="500"/>
                                  </p:stCondLst>
                                  <p:childTnLst>
                                    <p:set>
                                      <p:cBhvr>
                                        <p:cTn id="124" dur="1" fill="hold">
                                          <p:stCondLst>
                                            <p:cond delay="0"/>
                                          </p:stCondLst>
                                        </p:cTn>
                                        <p:tgtEl>
                                          <p:spTgt spid="37"/>
                                        </p:tgtEl>
                                        <p:attrNameLst>
                                          <p:attrName>style.visibility</p:attrName>
                                        </p:attrNameLst>
                                      </p:cBhvr>
                                      <p:to>
                                        <p:strVal val="visible"/>
                                      </p:to>
                                    </p:set>
                                    <p:animEffect transition="in" filter="wipe(left)">
                                      <p:cBhvr>
                                        <p:cTn id="125" dur="500"/>
                                        <p:tgtEl>
                                          <p:spTgt spid="37"/>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xit" presetSubtype="0" fill="hold" grpId="6" nodeType="clickEffect">
                                  <p:stCondLst>
                                    <p:cond delay="0"/>
                                  </p:stCondLst>
                                  <p:childTnLst>
                                    <p:set>
                                      <p:cBhvr>
                                        <p:cTn id="129" dur="1" fill="hold">
                                          <p:stCondLst>
                                            <p:cond delay="0"/>
                                          </p:stCondLst>
                                        </p:cTn>
                                        <p:tgtEl>
                                          <p:spTgt spid="23"/>
                                        </p:tgtEl>
                                        <p:attrNameLst>
                                          <p:attrName>style.visibility</p:attrName>
                                        </p:attrNameLst>
                                      </p:cBhvr>
                                      <p:to>
                                        <p:strVal val="hidden"/>
                                      </p:to>
                                    </p:set>
                                  </p:childTnLst>
                                </p:cTn>
                              </p:par>
                              <p:par>
                                <p:cTn id="130" presetID="1" presetClass="exit" presetSubtype="0" fill="hold" grpId="2" nodeType="withEffect">
                                  <p:stCondLst>
                                    <p:cond delay="0"/>
                                  </p:stCondLst>
                                  <p:childTnLst>
                                    <p:set>
                                      <p:cBhvr>
                                        <p:cTn id="131"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9" grpId="1" animBg="1"/>
      <p:bldP spid="10" grpId="0" animBg="1"/>
      <p:bldP spid="11" grpId="0" animBg="1"/>
      <p:bldP spid="14" grpId="0" animBg="1"/>
      <p:bldP spid="14" grpId="1" animBg="1"/>
      <p:bldP spid="15" grpId="0" animBg="1"/>
      <p:bldP spid="17" grpId="0" animBg="1"/>
      <p:bldP spid="18" grpId="0" animBg="1"/>
      <p:bldP spid="19" grpId="0" animBg="1"/>
      <p:bldP spid="25" grpId="0" animBg="1"/>
      <p:bldP spid="26" grpId="0" animBg="1"/>
      <p:bldP spid="3" grpId="0" animBg="1"/>
      <p:bldP spid="4" grpId="0" animBg="1"/>
      <p:bldP spid="23" grpId="4" animBg="1"/>
      <p:bldP spid="23" grpId="5" animBg="1"/>
      <p:bldP spid="23" grpId="6" animBg="1"/>
      <p:bldP spid="23" grpId="7" animBg="1"/>
      <p:bldP spid="24" grpId="0" animBg="1"/>
      <p:bldP spid="24" grpId="1" animBg="1"/>
      <p:bldP spid="24" grpId="2" animBg="1"/>
      <p:bldP spid="24" grpId="3" animBg="1"/>
      <p:bldP spid="27" grpId="0" animBg="1"/>
      <p:bldP spid="27" grpId="1" animBg="1"/>
      <p:bldP spid="29" grpId="0" animBg="1"/>
      <p:bldP spid="29" grpId="1"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166-B4F4-1306-3336-F39004F49504}"/>
              </a:ext>
            </a:extLst>
          </p:cNvPr>
          <p:cNvSpPr>
            <a:spLocks noGrp="1"/>
          </p:cNvSpPr>
          <p:nvPr>
            <p:ph type="title"/>
          </p:nvPr>
        </p:nvSpPr>
        <p:spPr/>
        <p:txBody>
          <a:bodyPr/>
          <a:lstStyle/>
          <a:p>
            <a:r>
              <a:rPr lang="en-US" dirty="0"/>
              <a:t>Sequential Matrix Multiply</a:t>
            </a:r>
          </a:p>
        </p:txBody>
      </p:sp>
      <p:pic>
        <p:nvPicPr>
          <p:cNvPr id="5" name="Content Placeholder 4">
            <a:extLst>
              <a:ext uri="{FF2B5EF4-FFF2-40B4-BE49-F238E27FC236}">
                <a16:creationId xmlns:a16="http://schemas.microsoft.com/office/drawing/2014/main" id="{8E65E52F-87C5-8E7A-373B-BC4827360B90}"/>
              </a:ext>
            </a:extLst>
          </p:cNvPr>
          <p:cNvPicPr>
            <a:picLocks noGrp="1" noChangeAspect="1"/>
          </p:cNvPicPr>
          <p:nvPr>
            <p:ph idx="1"/>
          </p:nvPr>
        </p:nvPicPr>
        <p:blipFill>
          <a:blip r:embed="rId2"/>
          <a:stretch>
            <a:fillRect/>
          </a:stretch>
        </p:blipFill>
        <p:spPr>
          <a:xfrm>
            <a:off x="3760260" y="1102335"/>
            <a:ext cx="4579406" cy="4411663"/>
          </a:xfrm>
        </p:spPr>
      </p:pic>
      <p:sp>
        <p:nvSpPr>
          <p:cNvPr id="6" name="Rectangle 5">
            <a:extLst>
              <a:ext uri="{FF2B5EF4-FFF2-40B4-BE49-F238E27FC236}">
                <a16:creationId xmlns:a16="http://schemas.microsoft.com/office/drawing/2014/main" id="{DBACC5C5-670A-E676-BDB0-FF720C11A0C4}"/>
              </a:ext>
            </a:extLst>
          </p:cNvPr>
          <p:cNvSpPr/>
          <p:nvPr/>
        </p:nvSpPr>
        <p:spPr>
          <a:xfrm>
            <a:off x="4155440" y="3502000"/>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467165-3A18-1829-732A-BE320CDA5135}"/>
              </a:ext>
            </a:extLst>
          </p:cNvPr>
          <p:cNvSpPr/>
          <p:nvPr/>
        </p:nvSpPr>
        <p:spPr>
          <a:xfrm rot="5400000">
            <a:off x="5378107" y="2256422"/>
            <a:ext cx="2001361" cy="161526"/>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279DF9A-1004-D87A-D888-C674DB78A9CD}"/>
              </a:ext>
            </a:extLst>
          </p:cNvPr>
          <p:cNvSpPr/>
          <p:nvPr/>
        </p:nvSpPr>
        <p:spPr>
          <a:xfrm rot="5400000">
            <a:off x="6329043" y="3481529"/>
            <a:ext cx="233680" cy="273474"/>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B9E020-B141-B490-4637-F33D355A0916}"/>
              </a:ext>
            </a:extLst>
          </p:cNvPr>
          <p:cNvSpPr/>
          <p:nvPr/>
        </p:nvSpPr>
        <p:spPr>
          <a:xfrm rot="5400000">
            <a:off x="8403267" y="2205026"/>
            <a:ext cx="2032000" cy="233680"/>
          </a:xfrm>
          <a:prstGeom prst="rect">
            <a:avLst/>
          </a:prstGeom>
          <a:solidFill>
            <a:schemeClr val="accent1">
              <a:lumMod val="60000"/>
              <a:lumOff val="40000"/>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BB52F1-E8D4-CB0E-644E-679BC2BF00AE}"/>
              </a:ext>
            </a:extLst>
          </p:cNvPr>
          <p:cNvSpPr/>
          <p:nvPr/>
        </p:nvSpPr>
        <p:spPr>
          <a:xfrm>
            <a:off x="4155440" y="375691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BB9EFC-EFA4-9A64-F96F-EE61F95B8239}"/>
              </a:ext>
            </a:extLst>
          </p:cNvPr>
          <p:cNvSpPr/>
          <p:nvPr/>
        </p:nvSpPr>
        <p:spPr>
          <a:xfrm rot="5400000">
            <a:off x="6593881" y="3512016"/>
            <a:ext cx="23368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D24978E-917C-604C-B2F4-77F0425F2D0B}"/>
              </a:ext>
            </a:extLst>
          </p:cNvPr>
          <p:cNvSpPr txBox="1"/>
          <p:nvPr/>
        </p:nvSpPr>
        <p:spPr>
          <a:xfrm>
            <a:off x="8956585" y="3436235"/>
            <a:ext cx="896592" cy="646331"/>
          </a:xfrm>
          <a:prstGeom prst="rect">
            <a:avLst/>
          </a:prstGeom>
          <a:noFill/>
        </p:spPr>
        <p:txBody>
          <a:bodyPr wrap="none" rtlCol="0">
            <a:spAutoFit/>
          </a:bodyPr>
          <a:lstStyle/>
          <a:p>
            <a:pPr algn="ctr"/>
            <a:r>
              <a:rPr lang="en-US" dirty="0"/>
              <a:t>Thread </a:t>
            </a:r>
          </a:p>
          <a:p>
            <a:pPr algn="ctr"/>
            <a:r>
              <a:rPr lang="en-US" dirty="0"/>
              <a:t>0</a:t>
            </a:r>
          </a:p>
        </p:txBody>
      </p:sp>
      <p:sp>
        <p:nvSpPr>
          <p:cNvPr id="25" name="Rectangle 24">
            <a:extLst>
              <a:ext uri="{FF2B5EF4-FFF2-40B4-BE49-F238E27FC236}">
                <a16:creationId xmlns:a16="http://schemas.microsoft.com/office/drawing/2014/main" id="{1963CD73-294B-98E7-040C-03DA9968F65C}"/>
              </a:ext>
            </a:extLst>
          </p:cNvPr>
          <p:cNvSpPr/>
          <p:nvPr/>
        </p:nvSpPr>
        <p:spPr>
          <a:xfrm>
            <a:off x="6837141" y="3512016"/>
            <a:ext cx="1483671"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8DA146-E030-5B70-EEAB-637D0A94488D}"/>
              </a:ext>
            </a:extLst>
          </p:cNvPr>
          <p:cNvSpPr/>
          <p:nvPr/>
        </p:nvSpPr>
        <p:spPr>
          <a:xfrm>
            <a:off x="6309145" y="375691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B8524BD-39D9-0C53-C268-0212257D6CAF}"/>
              </a:ext>
            </a:extLst>
          </p:cNvPr>
          <p:cNvSpPr/>
          <p:nvPr/>
        </p:nvSpPr>
        <p:spPr>
          <a:xfrm rot="5400000">
            <a:off x="5878503" y="2249658"/>
            <a:ext cx="2001361" cy="161526"/>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E45E158-0124-841C-D4D9-5A5E2BDE28A2}"/>
              </a:ext>
            </a:extLst>
          </p:cNvPr>
          <p:cNvSpPr/>
          <p:nvPr/>
        </p:nvSpPr>
        <p:spPr>
          <a:xfrm rot="5400000">
            <a:off x="5647503" y="2249658"/>
            <a:ext cx="2001361" cy="161526"/>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078689A-7B46-5F5B-2B99-39C27D13DE58}"/>
              </a:ext>
            </a:extLst>
          </p:cNvPr>
          <p:cNvSpPr/>
          <p:nvPr/>
        </p:nvSpPr>
        <p:spPr>
          <a:xfrm>
            <a:off x="4153840" y="400556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2917909-5231-B72D-BC9B-59814A32E1DF}"/>
              </a:ext>
            </a:extLst>
          </p:cNvPr>
          <p:cNvSpPr/>
          <p:nvPr/>
        </p:nvSpPr>
        <p:spPr>
          <a:xfrm>
            <a:off x="6307545" y="400556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54F94F2-507C-6CA7-B712-A9328AD9C8B5}"/>
              </a:ext>
            </a:extLst>
          </p:cNvPr>
          <p:cNvSpPr/>
          <p:nvPr/>
        </p:nvSpPr>
        <p:spPr>
          <a:xfrm>
            <a:off x="4153840" y="426576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26D5326-4C64-B59D-7CAB-43FA645121D9}"/>
              </a:ext>
            </a:extLst>
          </p:cNvPr>
          <p:cNvSpPr/>
          <p:nvPr/>
        </p:nvSpPr>
        <p:spPr>
          <a:xfrm>
            <a:off x="6307545" y="426576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9751F-6563-BEFF-FC00-82CB725E7972}"/>
              </a:ext>
            </a:extLst>
          </p:cNvPr>
          <p:cNvSpPr/>
          <p:nvPr/>
        </p:nvSpPr>
        <p:spPr>
          <a:xfrm>
            <a:off x="4152880" y="452040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E6565C-9831-BAFD-DA8B-8E6952BF55C6}"/>
              </a:ext>
            </a:extLst>
          </p:cNvPr>
          <p:cNvSpPr/>
          <p:nvPr/>
        </p:nvSpPr>
        <p:spPr>
          <a:xfrm>
            <a:off x="6306585" y="452040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6AE75F-CDE2-7991-3B21-8F72C0653039}"/>
              </a:ext>
            </a:extLst>
          </p:cNvPr>
          <p:cNvSpPr/>
          <p:nvPr/>
        </p:nvSpPr>
        <p:spPr>
          <a:xfrm>
            <a:off x="4158560" y="475976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C00730-F8E4-1A64-9F7E-410A60BC3405}"/>
              </a:ext>
            </a:extLst>
          </p:cNvPr>
          <p:cNvSpPr/>
          <p:nvPr/>
        </p:nvSpPr>
        <p:spPr>
          <a:xfrm>
            <a:off x="6312265" y="475976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C623B8E-1894-2461-6648-AF227D4083D0}"/>
              </a:ext>
            </a:extLst>
          </p:cNvPr>
          <p:cNvSpPr/>
          <p:nvPr/>
        </p:nvSpPr>
        <p:spPr>
          <a:xfrm>
            <a:off x="4168614" y="5014401"/>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3E18AA5-DCDA-8309-BD14-BF109F4E2B76}"/>
              </a:ext>
            </a:extLst>
          </p:cNvPr>
          <p:cNvSpPr/>
          <p:nvPr/>
        </p:nvSpPr>
        <p:spPr>
          <a:xfrm>
            <a:off x="6322319" y="5014401"/>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947B684-AB24-F100-4AB4-4CA69C855C2A}"/>
              </a:ext>
            </a:extLst>
          </p:cNvPr>
          <p:cNvSpPr/>
          <p:nvPr/>
        </p:nvSpPr>
        <p:spPr>
          <a:xfrm>
            <a:off x="4168614" y="5259296"/>
            <a:ext cx="2032000"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D9DB74E-C52E-D192-1E7A-AB38BCB677E4}"/>
              </a:ext>
            </a:extLst>
          </p:cNvPr>
          <p:cNvSpPr/>
          <p:nvPr/>
        </p:nvSpPr>
        <p:spPr>
          <a:xfrm>
            <a:off x="6322319" y="5259296"/>
            <a:ext cx="2011667" cy="233680"/>
          </a:xfrm>
          <a:prstGeom prst="rect">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979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par>
                          <p:cTn id="11" fill="hold">
                            <p:stCondLst>
                              <p:cond delay="500"/>
                            </p:stCondLst>
                            <p:childTnLst>
                              <p:par>
                                <p:cTn id="12" presetID="1" presetClass="entr" presetSubtype="0" fill="hold" grpId="0" nodeType="afterEffect">
                                  <p:stCondLst>
                                    <p:cond delay="5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27"/>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1"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up)">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0" nodeType="clickEffect">
                                  <p:stCondLst>
                                    <p:cond delay="0"/>
                                  </p:stCondLst>
                                  <p:childTnLst>
                                    <p:animMotion origin="layout" path="M -2.70833E-6 -4.81481E-6 L 0.10365 -0.00416 " pathEditMode="relative" rAng="0" ptsTypes="AA">
                                      <p:cBhvr>
                                        <p:cTn id="38" dur="2000" fill="hold"/>
                                        <p:tgtEl>
                                          <p:spTgt spid="23"/>
                                        </p:tgtEl>
                                        <p:attrNameLst>
                                          <p:attrName>ppt_x</p:attrName>
                                          <p:attrName>ppt_y</p:attrName>
                                        </p:attrNameLst>
                                      </p:cBhvr>
                                      <p:rCtr x="5182" y="-208"/>
                                    </p:animMotion>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10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3" nodeType="clickEffect">
                                  <p:stCondLst>
                                    <p:cond delay="0"/>
                                  </p:stCondLst>
                                  <p:childTnLst>
                                    <p:set>
                                      <p:cBhvr>
                                        <p:cTn id="46" dur="1" fill="hold">
                                          <p:stCondLst>
                                            <p:cond delay="0"/>
                                          </p:stCondLst>
                                        </p:cTn>
                                        <p:tgtEl>
                                          <p:spTgt spid="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par>
                          <p:cTn id="51" fill="hold">
                            <p:stCondLst>
                              <p:cond delay="0"/>
                            </p:stCondLst>
                            <p:childTnLst>
                              <p:par>
                                <p:cTn id="52" presetID="22" presetClass="entr" presetSubtype="8" fill="hold" grpId="0" nodeType="after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left)">
                                      <p:cBhvr>
                                        <p:cTn id="54" dur="1000"/>
                                        <p:tgtEl>
                                          <p:spTgt spid="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par>
                          <p:cTn id="59" fill="hold">
                            <p:stCondLst>
                              <p:cond delay="0"/>
                            </p:stCondLst>
                            <p:childTnLst>
                              <p:par>
                                <p:cTn id="60" presetID="22" presetClass="entr" presetSubtype="8" fill="hold" grpId="0" nodeType="after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10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par>
                          <p:cTn id="67" fill="hold">
                            <p:stCondLst>
                              <p:cond delay="0"/>
                            </p:stCondLst>
                            <p:childTnLst>
                              <p:par>
                                <p:cTn id="68" presetID="22" presetClass="entr" presetSubtype="8" fill="hold" grpId="0" nodeType="after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1000"/>
                                        <p:tgtEl>
                                          <p:spTgt spid="36"/>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2" nodeType="clickEffect">
                                  <p:stCondLst>
                                    <p:cond delay="0"/>
                                  </p:stCondLst>
                                  <p:childTnLst>
                                    <p:set>
                                      <p:cBhvr>
                                        <p:cTn id="74" dur="1" fill="hold">
                                          <p:stCondLst>
                                            <p:cond delay="0"/>
                                          </p:stCondLst>
                                        </p:cTn>
                                        <p:tgtEl>
                                          <p:spTgt spid="2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childTnLst>
                          </p:cTn>
                        </p:par>
                        <p:par>
                          <p:cTn id="79" fill="hold">
                            <p:stCondLst>
                              <p:cond delay="0"/>
                            </p:stCondLst>
                            <p:childTnLst>
                              <p:par>
                                <p:cTn id="80" presetID="22" presetClass="entr" presetSubtype="8" fill="hold" grpId="0" nodeType="after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10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par>
                          <p:cTn id="87" fill="hold">
                            <p:stCondLst>
                              <p:cond delay="0"/>
                            </p:stCondLst>
                            <p:childTnLst>
                              <p:par>
                                <p:cTn id="88" presetID="22" presetClass="entr" presetSubtype="8" fill="hold" grpId="0" nodeType="after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wipe(left)">
                                      <p:cBhvr>
                                        <p:cTn id="90" dur="1000"/>
                                        <p:tgtEl>
                                          <p:spTgt spid="28"/>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par>
                          <p:cTn id="95" fill="hold">
                            <p:stCondLst>
                              <p:cond delay="0"/>
                            </p:stCondLst>
                            <p:childTnLst>
                              <p:par>
                                <p:cTn id="96" presetID="22" presetClass="entr" presetSubtype="8" fill="hold" grpId="0" nodeType="after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wipe(left)">
                                      <p:cBhvr>
                                        <p:cTn id="98" dur="10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childTnLst>
                          </p:cTn>
                        </p:par>
                        <p:par>
                          <p:cTn id="103" fill="hold">
                            <p:stCondLst>
                              <p:cond delay="0"/>
                            </p:stCondLst>
                            <p:childTnLst>
                              <p:par>
                                <p:cTn id="104" presetID="22" presetClass="entr" presetSubtype="8" fill="hold" grpId="0" nodeType="after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wipe(left)">
                                      <p:cBhvr>
                                        <p:cTn id="106"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9" grpId="1" animBg="1"/>
      <p:bldP spid="10" grpId="0" animBg="1"/>
      <p:bldP spid="15" grpId="0" animBg="1"/>
      <p:bldP spid="17" grpId="0" animBg="1"/>
      <p:bldP spid="25" grpId="0" animBg="1"/>
      <p:bldP spid="3" grpId="0" animBg="1"/>
      <p:bldP spid="23" grpId="0" animBg="1"/>
      <p:bldP spid="23" grpId="1" animBg="1"/>
      <p:bldP spid="23" grpId="2" animBg="1"/>
      <p:bldP spid="23" grpId="3" animBg="1"/>
      <p:bldP spid="27" grpId="0" animBg="1"/>
      <p:bldP spid="27" grpId="1" animBg="1"/>
      <p:bldP spid="30" grpId="0" animBg="1"/>
      <p:bldP spid="32" grpId="0" animBg="1"/>
      <p:bldP spid="34" grpId="0" animBg="1"/>
      <p:bldP spid="36" grpId="0" animBg="1"/>
      <p:bldP spid="8" grpId="0" animBg="1"/>
      <p:bldP spid="16" grpId="0" animBg="1"/>
      <p:bldP spid="20" grpId="0" animBg="1"/>
      <p:bldP spid="28" grpId="0" animBg="1"/>
      <p:bldP spid="38" grpId="0" animBg="1"/>
      <p:bldP spid="39" grpId="0" animBg="1"/>
      <p:bldP spid="40"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852A-72A5-9A95-977E-5D8757269D46}"/>
              </a:ext>
            </a:extLst>
          </p:cNvPr>
          <p:cNvSpPr>
            <a:spLocks noGrp="1"/>
          </p:cNvSpPr>
          <p:nvPr>
            <p:ph type="title"/>
          </p:nvPr>
        </p:nvSpPr>
        <p:spPr/>
        <p:txBody>
          <a:bodyPr/>
          <a:lstStyle/>
          <a:p>
            <a:r>
              <a:rPr lang="en-US" dirty="0"/>
              <a:t>Speedup</a:t>
            </a:r>
          </a:p>
        </p:txBody>
      </p:sp>
      <p:sp>
        <p:nvSpPr>
          <p:cNvPr id="4" name="TextBox 3">
            <a:extLst>
              <a:ext uri="{FF2B5EF4-FFF2-40B4-BE49-F238E27FC236}">
                <a16:creationId xmlns:a16="http://schemas.microsoft.com/office/drawing/2014/main" id="{2B4DE956-402C-B307-E420-D62E22E6D74B}"/>
              </a:ext>
            </a:extLst>
          </p:cNvPr>
          <p:cNvSpPr txBox="1"/>
          <p:nvPr/>
        </p:nvSpPr>
        <p:spPr>
          <a:xfrm>
            <a:off x="137795" y="681037"/>
            <a:ext cx="10330457" cy="830997"/>
          </a:xfrm>
          <a:prstGeom prst="rect">
            <a:avLst/>
          </a:prstGeom>
          <a:noFill/>
        </p:spPr>
        <p:txBody>
          <a:bodyPr wrap="none" rtlCol="0">
            <a:spAutoFit/>
          </a:bodyPr>
          <a:lstStyle/>
          <a:p>
            <a:r>
              <a:rPr lang="en-US" sz="2400" dirty="0">
                <a:solidFill>
                  <a:schemeClr val="accent4">
                    <a:lumMod val="60000"/>
                    <a:lumOff val="40000"/>
                  </a:schemeClr>
                </a:solidFill>
              </a:rPr>
              <a:t>Suppose when rows = cols = 64, run time is 1 second with one thread.  </a:t>
            </a:r>
            <a:r>
              <a:rPr lang="en-US" sz="2400" dirty="0" err="1">
                <a:solidFill>
                  <a:schemeClr val="accent4">
                    <a:lumMod val="60000"/>
                    <a:lumOff val="40000"/>
                  </a:schemeClr>
                </a:solidFill>
              </a:rPr>
              <a:t>T</a:t>
            </a:r>
            <a:r>
              <a:rPr lang="en-US" sz="2400" baseline="-25000" dirty="0" err="1">
                <a:solidFill>
                  <a:schemeClr val="accent4">
                    <a:lumMod val="60000"/>
                    <a:lumOff val="40000"/>
                  </a:schemeClr>
                </a:solidFill>
              </a:rPr>
              <a:t>serial</a:t>
            </a:r>
            <a:endParaRPr lang="en-US" sz="2400" baseline="-25000" dirty="0">
              <a:solidFill>
                <a:schemeClr val="accent4">
                  <a:lumMod val="60000"/>
                  <a:lumOff val="40000"/>
                </a:schemeClr>
              </a:solidFill>
            </a:endParaRPr>
          </a:p>
          <a:p>
            <a:r>
              <a:rPr lang="en-US" sz="2400" dirty="0">
                <a:solidFill>
                  <a:schemeClr val="accent4">
                    <a:lumMod val="60000"/>
                    <a:lumOff val="40000"/>
                  </a:schemeClr>
                </a:solidFill>
              </a:rPr>
              <a:t>What might the run time be if we use 2 threads?  </a:t>
            </a:r>
            <a:r>
              <a:rPr lang="en-US" sz="2400" dirty="0" err="1">
                <a:solidFill>
                  <a:schemeClr val="accent4">
                    <a:lumMod val="60000"/>
                    <a:lumOff val="40000"/>
                  </a:schemeClr>
                </a:solidFill>
              </a:rPr>
              <a:t>T</a:t>
            </a:r>
            <a:r>
              <a:rPr lang="en-US" sz="2400" baseline="-25000" dirty="0" err="1">
                <a:solidFill>
                  <a:schemeClr val="accent4">
                    <a:lumMod val="60000"/>
                    <a:lumOff val="40000"/>
                  </a:schemeClr>
                </a:solidFill>
              </a:rPr>
              <a:t>p</a:t>
            </a:r>
            <a:r>
              <a:rPr lang="en-US" sz="2400" dirty="0">
                <a:solidFill>
                  <a:schemeClr val="accent4">
                    <a:lumMod val="60000"/>
                    <a:lumOff val="40000"/>
                  </a:schemeClr>
                </a:solidFill>
              </a:rPr>
              <a:t> where number of threads = 2</a:t>
            </a:r>
          </a:p>
        </p:txBody>
      </p:sp>
      <p:sp>
        <p:nvSpPr>
          <p:cNvPr id="5" name="TextBox 4">
            <a:extLst>
              <a:ext uri="{FF2B5EF4-FFF2-40B4-BE49-F238E27FC236}">
                <a16:creationId xmlns:a16="http://schemas.microsoft.com/office/drawing/2014/main" id="{2BA99DD0-A74D-2668-90FC-B3B3E6DCE31A}"/>
              </a:ext>
            </a:extLst>
          </p:cNvPr>
          <p:cNvSpPr txBox="1"/>
          <p:nvPr/>
        </p:nvSpPr>
        <p:spPr>
          <a:xfrm>
            <a:off x="10405239" y="1050369"/>
            <a:ext cx="1648849" cy="461665"/>
          </a:xfrm>
          <a:prstGeom prst="rect">
            <a:avLst/>
          </a:prstGeom>
          <a:noFill/>
        </p:spPr>
        <p:txBody>
          <a:bodyPr wrap="none" rtlCol="0">
            <a:spAutoFit/>
          </a:bodyPr>
          <a:lstStyle/>
          <a:p>
            <a:r>
              <a:rPr lang="en-US" sz="2400" dirty="0">
                <a:solidFill>
                  <a:schemeClr val="accent4">
                    <a:lumMod val="60000"/>
                    <a:lumOff val="40000"/>
                  </a:schemeClr>
                </a:solidFill>
              </a:rPr>
              <a:t>0.5 seconds</a:t>
            </a:r>
          </a:p>
        </p:txBody>
      </p:sp>
      <p:sp>
        <p:nvSpPr>
          <p:cNvPr id="6" name="Content Placeholder 2">
            <a:extLst>
              <a:ext uri="{FF2B5EF4-FFF2-40B4-BE49-F238E27FC236}">
                <a16:creationId xmlns:a16="http://schemas.microsoft.com/office/drawing/2014/main" id="{017BC3C1-50BF-C069-76D6-3BD3ADB724BE}"/>
              </a:ext>
            </a:extLst>
          </p:cNvPr>
          <p:cNvSpPr>
            <a:spLocks noGrp="1"/>
          </p:cNvSpPr>
          <p:nvPr>
            <p:ph idx="1"/>
          </p:nvPr>
        </p:nvSpPr>
        <p:spPr>
          <a:xfrm>
            <a:off x="2492582" y="2337685"/>
            <a:ext cx="8270875" cy="1744121"/>
          </a:xfrm>
        </p:spPr>
        <p:txBody>
          <a:bodyPr/>
          <a:lstStyle/>
          <a:p>
            <a:r>
              <a:rPr lang="en-US" altLang="en-US" dirty="0"/>
              <a:t>Number of threads = p</a:t>
            </a:r>
          </a:p>
          <a:p>
            <a:r>
              <a:rPr lang="en-US" altLang="en-US" dirty="0"/>
              <a:t>Time on one thread = Serial run-time = </a:t>
            </a:r>
            <a:r>
              <a:rPr lang="en-US" altLang="en-US" dirty="0" err="1"/>
              <a:t>T</a:t>
            </a:r>
            <a:r>
              <a:rPr lang="en-US" altLang="en-US" baseline="-25000" dirty="0" err="1"/>
              <a:t>serial</a:t>
            </a:r>
            <a:r>
              <a:rPr lang="en-US" altLang="en-US" baseline="-25000" dirty="0"/>
              <a:t>  </a:t>
            </a:r>
            <a:r>
              <a:rPr lang="en-US" altLang="en-US" dirty="0"/>
              <a:t>= T</a:t>
            </a:r>
            <a:r>
              <a:rPr lang="en-US" altLang="en-US" baseline="-25000" dirty="0"/>
              <a:t>s </a:t>
            </a:r>
          </a:p>
          <a:p>
            <a:r>
              <a:rPr lang="en-US" altLang="en-US" dirty="0"/>
              <a:t>Parallel run-time = </a:t>
            </a:r>
            <a:r>
              <a:rPr lang="en-US" altLang="en-US" dirty="0" err="1"/>
              <a:t>T</a:t>
            </a:r>
            <a:r>
              <a:rPr lang="en-US" altLang="en-US" baseline="-25000" dirty="0" err="1"/>
              <a:t>parallel</a:t>
            </a:r>
            <a:r>
              <a:rPr lang="en-US" altLang="en-US" baseline="-25000" dirty="0"/>
              <a:t> </a:t>
            </a:r>
            <a:r>
              <a:rPr lang="en-US" altLang="en-US" dirty="0"/>
              <a:t> =  </a:t>
            </a:r>
            <a:r>
              <a:rPr lang="en-US" altLang="en-US" dirty="0" err="1"/>
              <a:t>T</a:t>
            </a:r>
            <a:r>
              <a:rPr lang="en-US" altLang="en-US" baseline="-25000" dirty="0" err="1"/>
              <a:t>p</a:t>
            </a:r>
            <a:endParaRPr lang="en-US" altLang="en-US" baseline="-25000" dirty="0"/>
          </a:p>
          <a:p>
            <a:endParaRPr lang="en-US" altLang="en-US" dirty="0"/>
          </a:p>
        </p:txBody>
      </p:sp>
      <p:sp>
        <p:nvSpPr>
          <p:cNvPr id="7" name="Rectangle 6">
            <a:extLst>
              <a:ext uri="{FF2B5EF4-FFF2-40B4-BE49-F238E27FC236}">
                <a16:creationId xmlns:a16="http://schemas.microsoft.com/office/drawing/2014/main" id="{2FDD1CA2-6147-B9BB-1E4B-AD9B0DC75079}"/>
              </a:ext>
            </a:extLst>
          </p:cNvPr>
          <p:cNvSpPr/>
          <p:nvPr/>
        </p:nvSpPr>
        <p:spPr>
          <a:xfrm>
            <a:off x="4321643" y="4371508"/>
            <a:ext cx="4075112" cy="706438"/>
          </a:xfrm>
          <a:prstGeom prst="rect">
            <a:avLst/>
          </a:prstGeom>
        </p:spPr>
        <p:txBody>
          <a:bodyPr wrap="none">
            <a:spAutoFit/>
          </a:bodyPr>
          <a:lstStyle/>
          <a:p>
            <a:pPr>
              <a:spcBef>
                <a:spcPct val="20000"/>
              </a:spcBef>
              <a:buClr>
                <a:schemeClr val="tx1"/>
              </a:buClr>
              <a:buSzPct val="60000"/>
              <a:buFont typeface="Wingdings" pitchFamily="2" charset="2"/>
              <a:buNone/>
              <a:defRPr/>
            </a:pPr>
            <a:r>
              <a:rPr lang="en-US" sz="4000" kern="0" dirty="0">
                <a:solidFill>
                  <a:schemeClr val="accent4">
                    <a:lumMod val="60000"/>
                    <a:lumOff val="40000"/>
                  </a:schemeClr>
                </a:solidFill>
                <a:latin typeface="Arial"/>
              </a:rPr>
              <a:t>T</a:t>
            </a:r>
            <a:r>
              <a:rPr lang="en-US" sz="4000" kern="0" baseline="-25000" dirty="0">
                <a:solidFill>
                  <a:schemeClr val="accent4">
                    <a:lumMod val="60000"/>
                    <a:lumOff val="40000"/>
                  </a:schemeClr>
                </a:solidFill>
                <a:latin typeface="Arial"/>
              </a:rPr>
              <a:t>parallel </a:t>
            </a:r>
            <a:r>
              <a:rPr lang="en-US" sz="4000" kern="0" dirty="0">
                <a:solidFill>
                  <a:schemeClr val="accent4">
                    <a:lumMod val="60000"/>
                    <a:lumOff val="40000"/>
                  </a:schemeClr>
                </a:solidFill>
                <a:latin typeface="Arial"/>
              </a:rPr>
              <a:t>= T</a:t>
            </a:r>
            <a:r>
              <a:rPr lang="en-US" sz="4000" kern="0" baseline="-25000" dirty="0">
                <a:solidFill>
                  <a:schemeClr val="accent4">
                    <a:lumMod val="60000"/>
                    <a:lumOff val="40000"/>
                  </a:schemeClr>
                </a:solidFill>
                <a:latin typeface="Arial"/>
              </a:rPr>
              <a:t>serial </a:t>
            </a:r>
            <a:r>
              <a:rPr lang="en-US" sz="4000" kern="0" dirty="0">
                <a:solidFill>
                  <a:schemeClr val="accent4">
                    <a:lumMod val="60000"/>
                    <a:lumOff val="40000"/>
                  </a:schemeClr>
                </a:solidFill>
                <a:latin typeface="Arial"/>
              </a:rPr>
              <a:t> / p</a:t>
            </a:r>
            <a:endParaRPr lang="en-US" sz="4000" dirty="0">
              <a:solidFill>
                <a:schemeClr val="accent4">
                  <a:lumMod val="60000"/>
                  <a:lumOff val="40000"/>
                </a:schemeClr>
              </a:solidFill>
            </a:endParaRPr>
          </a:p>
        </p:txBody>
      </p:sp>
      <p:sp>
        <p:nvSpPr>
          <p:cNvPr id="8" name="TextBox 7">
            <a:extLst>
              <a:ext uri="{FF2B5EF4-FFF2-40B4-BE49-F238E27FC236}">
                <a16:creationId xmlns:a16="http://schemas.microsoft.com/office/drawing/2014/main" id="{1589A2B2-371C-5E04-439E-889D46750114}"/>
              </a:ext>
            </a:extLst>
          </p:cNvPr>
          <p:cNvSpPr txBox="1"/>
          <p:nvPr/>
        </p:nvSpPr>
        <p:spPr>
          <a:xfrm rot="19903937">
            <a:off x="1267463" y="4651184"/>
            <a:ext cx="2961067" cy="646331"/>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3600" dirty="0">
                <a:solidFill>
                  <a:srgbClr val="FF0000"/>
                </a:solidFill>
              </a:rPr>
              <a:t>linear speedup</a:t>
            </a:r>
          </a:p>
        </p:txBody>
      </p:sp>
      <p:sp>
        <p:nvSpPr>
          <p:cNvPr id="9" name="TextBox 8">
            <a:extLst>
              <a:ext uri="{FF2B5EF4-FFF2-40B4-BE49-F238E27FC236}">
                <a16:creationId xmlns:a16="http://schemas.microsoft.com/office/drawing/2014/main" id="{45F42FF4-2685-C02E-EB43-4FBE3C55F1BA}"/>
              </a:ext>
            </a:extLst>
          </p:cNvPr>
          <p:cNvSpPr txBox="1"/>
          <p:nvPr/>
        </p:nvSpPr>
        <p:spPr>
          <a:xfrm>
            <a:off x="137795" y="1650533"/>
            <a:ext cx="10330457" cy="461665"/>
          </a:xfrm>
          <a:prstGeom prst="rect">
            <a:avLst/>
          </a:prstGeom>
          <a:noFill/>
        </p:spPr>
        <p:txBody>
          <a:bodyPr wrap="none" rtlCol="0">
            <a:spAutoFit/>
          </a:bodyPr>
          <a:lstStyle/>
          <a:p>
            <a:r>
              <a:rPr lang="en-US" sz="2400" dirty="0">
                <a:solidFill>
                  <a:schemeClr val="accent4">
                    <a:lumMod val="60000"/>
                    <a:lumOff val="40000"/>
                  </a:schemeClr>
                </a:solidFill>
              </a:rPr>
              <a:t>What might the run time be if we use 4 threads?  </a:t>
            </a:r>
            <a:r>
              <a:rPr lang="en-US" sz="2400" dirty="0" err="1">
                <a:solidFill>
                  <a:schemeClr val="accent4">
                    <a:lumMod val="60000"/>
                    <a:lumOff val="40000"/>
                  </a:schemeClr>
                </a:solidFill>
              </a:rPr>
              <a:t>T</a:t>
            </a:r>
            <a:r>
              <a:rPr lang="en-US" sz="2400" baseline="-25000" dirty="0" err="1">
                <a:solidFill>
                  <a:schemeClr val="accent4">
                    <a:lumMod val="60000"/>
                    <a:lumOff val="40000"/>
                  </a:schemeClr>
                </a:solidFill>
              </a:rPr>
              <a:t>p</a:t>
            </a:r>
            <a:r>
              <a:rPr lang="en-US" sz="2400" dirty="0">
                <a:solidFill>
                  <a:schemeClr val="accent4">
                    <a:lumMod val="60000"/>
                    <a:lumOff val="40000"/>
                  </a:schemeClr>
                </a:solidFill>
              </a:rPr>
              <a:t> where number of threads = 4</a:t>
            </a:r>
          </a:p>
        </p:txBody>
      </p:sp>
      <p:sp>
        <p:nvSpPr>
          <p:cNvPr id="10" name="TextBox 9">
            <a:extLst>
              <a:ext uri="{FF2B5EF4-FFF2-40B4-BE49-F238E27FC236}">
                <a16:creationId xmlns:a16="http://schemas.microsoft.com/office/drawing/2014/main" id="{2907D975-8A66-05C6-50E2-03774672E04E}"/>
              </a:ext>
            </a:extLst>
          </p:cNvPr>
          <p:cNvSpPr txBox="1"/>
          <p:nvPr/>
        </p:nvSpPr>
        <p:spPr>
          <a:xfrm>
            <a:off x="10327493" y="1650532"/>
            <a:ext cx="1804340" cy="461665"/>
          </a:xfrm>
          <a:prstGeom prst="rect">
            <a:avLst/>
          </a:prstGeom>
          <a:noFill/>
        </p:spPr>
        <p:txBody>
          <a:bodyPr wrap="none" rtlCol="0">
            <a:spAutoFit/>
          </a:bodyPr>
          <a:lstStyle/>
          <a:p>
            <a:r>
              <a:rPr lang="en-US" sz="2400" dirty="0">
                <a:solidFill>
                  <a:schemeClr val="accent4">
                    <a:lumMod val="60000"/>
                    <a:lumOff val="40000"/>
                  </a:schemeClr>
                </a:solidFill>
              </a:rPr>
              <a:t>0.25 seconds</a:t>
            </a:r>
          </a:p>
        </p:txBody>
      </p:sp>
      <p:sp>
        <p:nvSpPr>
          <p:cNvPr id="11" name="TextBox 10">
            <a:extLst>
              <a:ext uri="{FF2B5EF4-FFF2-40B4-BE49-F238E27FC236}">
                <a16:creationId xmlns:a16="http://schemas.microsoft.com/office/drawing/2014/main" id="{E0A29A2A-14C9-3A87-1F49-A245C78255EC}"/>
              </a:ext>
            </a:extLst>
          </p:cNvPr>
          <p:cNvSpPr txBox="1"/>
          <p:nvPr/>
        </p:nvSpPr>
        <p:spPr>
          <a:xfrm>
            <a:off x="3069801" y="5592643"/>
            <a:ext cx="7116435" cy="707886"/>
          </a:xfrm>
          <a:prstGeom prst="rect">
            <a:avLst/>
          </a:prstGeom>
          <a:noFill/>
        </p:spPr>
        <p:txBody>
          <a:bodyPr wrap="none" rtlCol="0">
            <a:spAutoFit/>
          </a:bodyPr>
          <a:lstStyle/>
          <a:p>
            <a:r>
              <a:rPr lang="en-US" sz="2000" dirty="0">
                <a:solidFill>
                  <a:schemeClr val="accent4"/>
                </a:solidFill>
              </a:rPr>
              <a:t>Ideally, as we double the number of threads for a given rows, cols, </a:t>
            </a:r>
          </a:p>
          <a:p>
            <a:r>
              <a:rPr lang="en-US" sz="2000" dirty="0">
                <a:solidFill>
                  <a:schemeClr val="accent4"/>
                </a:solidFill>
              </a:rPr>
              <a:t>the time should be cut in half</a:t>
            </a:r>
          </a:p>
        </p:txBody>
      </p:sp>
    </p:spTree>
    <p:extLst>
      <p:ext uri="{BB962C8B-B14F-4D97-AF65-F5344CB8AC3E}">
        <p14:creationId xmlns:p14="http://schemas.microsoft.com/office/powerpoint/2010/main" val="247297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E671-BD45-754E-5D7E-662C3B7008B8}"/>
              </a:ext>
            </a:extLst>
          </p:cNvPr>
          <p:cNvSpPr>
            <a:spLocks noGrp="1"/>
          </p:cNvSpPr>
          <p:nvPr>
            <p:ph type="title"/>
          </p:nvPr>
        </p:nvSpPr>
        <p:spPr/>
        <p:txBody>
          <a:bodyPr/>
          <a:lstStyle/>
          <a:p>
            <a:r>
              <a:rPr lang="en-US" dirty="0"/>
              <a:t>However, there is overhead in parallel programs</a:t>
            </a:r>
          </a:p>
        </p:txBody>
      </p:sp>
      <p:sp>
        <p:nvSpPr>
          <p:cNvPr id="6" name="TextBox 5">
            <a:extLst>
              <a:ext uri="{FF2B5EF4-FFF2-40B4-BE49-F238E27FC236}">
                <a16:creationId xmlns:a16="http://schemas.microsoft.com/office/drawing/2014/main" id="{853C6B2A-6A4B-693B-CED8-80E7C65FA5C8}"/>
              </a:ext>
            </a:extLst>
          </p:cNvPr>
          <p:cNvSpPr txBox="1"/>
          <p:nvPr/>
        </p:nvSpPr>
        <p:spPr>
          <a:xfrm>
            <a:off x="915274" y="1843843"/>
            <a:ext cx="9689879" cy="3061736"/>
          </a:xfrm>
          <a:prstGeom prst="rect">
            <a:avLst/>
          </a:prstGeom>
          <a:noFill/>
        </p:spPr>
        <p:txBody>
          <a:bodyPr wrap="square" rtlCol="0">
            <a:spAutoFit/>
          </a:bodyPr>
          <a:lstStyle/>
          <a:p>
            <a:pPr>
              <a:lnSpc>
                <a:spcPct val="200000"/>
              </a:lnSpc>
            </a:pPr>
            <a:r>
              <a:rPr lang="en-US" dirty="0"/>
              <a:t>Fork and Join take time.   Longer when we use more threads.</a:t>
            </a:r>
          </a:p>
          <a:p>
            <a:pPr>
              <a:lnSpc>
                <a:spcPct val="200000"/>
              </a:lnSpc>
            </a:pPr>
            <a:endParaRPr lang="en-US" dirty="0"/>
          </a:p>
          <a:p>
            <a:r>
              <a:rPr lang="en-US" dirty="0"/>
              <a:t>If there is enough work going on in the loops on each thread, this time will be dwarfed by that work. The problem size, or number of cells in matrix in this case, must be large.</a:t>
            </a:r>
          </a:p>
          <a:p>
            <a:endParaRPr lang="en-US" dirty="0"/>
          </a:p>
          <a:p>
            <a:pPr>
              <a:lnSpc>
                <a:spcPct val="200000"/>
              </a:lnSpc>
            </a:pPr>
            <a:r>
              <a:rPr lang="en-US" dirty="0"/>
              <a:t>If not, we might be far from ideal speedup.</a:t>
            </a:r>
          </a:p>
          <a:p>
            <a:pPr>
              <a:lnSpc>
                <a:spcPct val="200000"/>
              </a:lnSpc>
            </a:pPr>
            <a:r>
              <a:rPr lang="en-US" dirty="0"/>
              <a:t>Also with more threads, there is more contention, which increases run time</a:t>
            </a:r>
          </a:p>
        </p:txBody>
      </p:sp>
    </p:spTree>
    <p:extLst>
      <p:ext uri="{BB962C8B-B14F-4D97-AF65-F5344CB8AC3E}">
        <p14:creationId xmlns:p14="http://schemas.microsoft.com/office/powerpoint/2010/main" val="376469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 calcmode="lin" valueType="num">
                                      <p:cBhvr additive="base">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Speedup Calculation</a:t>
            </a:r>
          </a:p>
        </p:txBody>
      </p:sp>
      <p:sp>
        <p:nvSpPr>
          <p:cNvPr id="3" name="Content Placeholder 2"/>
          <p:cNvSpPr>
            <a:spLocks noGrp="1"/>
          </p:cNvSpPr>
          <p:nvPr>
            <p:ph idx="1"/>
          </p:nvPr>
        </p:nvSpPr>
        <p:spPr>
          <a:xfrm>
            <a:off x="298383" y="997857"/>
            <a:ext cx="11608068" cy="5094024"/>
          </a:xfrm>
        </p:spPr>
        <p:txBody>
          <a:bodyPr>
            <a:normAutofit/>
          </a:bodyPr>
          <a:lstStyle/>
          <a:p>
            <a:pPr marL="0" lvl="1" indent="0">
              <a:buSzPct val="60000"/>
              <a:buNone/>
            </a:pPr>
            <a:r>
              <a:rPr lang="en-US" sz="3200" dirty="0"/>
              <a:t>Speedup,   S</a:t>
            </a:r>
            <a:r>
              <a:rPr lang="en-US" sz="3200" baseline="-25000" dirty="0"/>
              <a:t>p</a:t>
            </a:r>
            <a:r>
              <a:rPr lang="en-US" sz="3200" dirty="0"/>
              <a:t>  =  T</a:t>
            </a:r>
            <a:r>
              <a:rPr lang="en-US" sz="3200" baseline="-25000" dirty="0"/>
              <a:t>s</a:t>
            </a:r>
            <a:r>
              <a:rPr lang="en-US" sz="3200" dirty="0"/>
              <a:t> / </a:t>
            </a:r>
            <a:r>
              <a:rPr lang="en-US" sz="3200" dirty="0" err="1"/>
              <a:t>T</a:t>
            </a:r>
            <a:r>
              <a:rPr lang="en-US" sz="3200" baseline="-25000" dirty="0" err="1"/>
              <a:t>p</a:t>
            </a:r>
            <a:endParaRPr lang="en-US" sz="3200" baseline="-25000" dirty="0"/>
          </a:p>
          <a:p>
            <a:endParaRPr lang="en-US" dirty="0"/>
          </a:p>
          <a:p>
            <a:pPr marL="0" indent="0">
              <a:buNone/>
            </a:pPr>
            <a:endParaRPr lang="en-US" dirty="0"/>
          </a:p>
          <a:p>
            <a:pPr marL="0" indent="0">
              <a:buNone/>
            </a:pPr>
            <a:endParaRPr lang="en-US" dirty="0"/>
          </a:p>
          <a:p>
            <a:pPr marL="0" indent="0">
              <a:buNone/>
            </a:pPr>
            <a:r>
              <a:rPr lang="en-US" dirty="0"/>
              <a:t>p is number of threads used in a parallel OpenMP program</a:t>
            </a:r>
          </a:p>
          <a:p>
            <a:pPr lvl="1"/>
            <a:endParaRPr lang="en-US" dirty="0"/>
          </a:p>
          <a:p>
            <a:pPr lvl="1"/>
            <a:r>
              <a:rPr lang="en-US" dirty="0"/>
              <a:t>You can also think of the p subscript as saying Speedup of the parallel program</a:t>
            </a:r>
          </a:p>
        </p:txBody>
      </p:sp>
      <p:sp>
        <p:nvSpPr>
          <p:cNvPr id="4" name="TextBox 3">
            <a:extLst>
              <a:ext uri="{FF2B5EF4-FFF2-40B4-BE49-F238E27FC236}">
                <a16:creationId xmlns:a16="http://schemas.microsoft.com/office/drawing/2014/main" id="{4751A7C9-E13C-4743-8239-C4566DB0D941}"/>
              </a:ext>
            </a:extLst>
          </p:cNvPr>
          <p:cNvSpPr txBox="1"/>
          <p:nvPr/>
        </p:nvSpPr>
        <p:spPr>
          <a:xfrm>
            <a:off x="5110805" y="1138137"/>
            <a:ext cx="6179256" cy="1200329"/>
          </a:xfrm>
          <a:prstGeom prst="rect">
            <a:avLst/>
          </a:prstGeom>
          <a:noFill/>
        </p:spPr>
        <p:txBody>
          <a:bodyPr wrap="none" rtlCol="0">
            <a:spAutoFit/>
          </a:bodyPr>
          <a:lstStyle/>
          <a:p>
            <a:r>
              <a:rPr lang="en-US" sz="2400" dirty="0">
                <a:solidFill>
                  <a:schemeClr val="accent4"/>
                </a:solidFill>
              </a:rPr>
              <a:t>S</a:t>
            </a:r>
            <a:r>
              <a:rPr lang="en-US" sz="2400" baseline="-25000" dirty="0">
                <a:solidFill>
                  <a:schemeClr val="accent4"/>
                </a:solidFill>
              </a:rPr>
              <a:t>2 </a:t>
            </a:r>
            <a:r>
              <a:rPr lang="en-US" sz="2400" dirty="0">
                <a:solidFill>
                  <a:schemeClr val="accent4"/>
                </a:solidFill>
              </a:rPr>
              <a:t>= 1 / 0.5   = 2</a:t>
            </a:r>
          </a:p>
          <a:p>
            <a:endParaRPr lang="en-US" sz="2400" dirty="0">
              <a:solidFill>
                <a:schemeClr val="accent4"/>
              </a:solidFill>
            </a:endParaRPr>
          </a:p>
          <a:p>
            <a:r>
              <a:rPr lang="en-US" sz="2400" dirty="0">
                <a:solidFill>
                  <a:schemeClr val="accent4"/>
                </a:solidFill>
              </a:rPr>
              <a:t>in the ideal ‘linear’ situation from previous code</a:t>
            </a:r>
          </a:p>
        </p:txBody>
      </p:sp>
    </p:spTree>
    <p:extLst>
      <p:ext uri="{BB962C8B-B14F-4D97-AF65-F5344CB8AC3E}">
        <p14:creationId xmlns:p14="http://schemas.microsoft.com/office/powerpoint/2010/main" val="406230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Speedup and Efficiency</a:t>
            </a:r>
          </a:p>
        </p:txBody>
      </p:sp>
      <p:sp>
        <p:nvSpPr>
          <p:cNvPr id="3" name="Content Placeholder 2"/>
          <p:cNvSpPr>
            <a:spLocks noGrp="1"/>
          </p:cNvSpPr>
          <p:nvPr>
            <p:ph idx="1"/>
          </p:nvPr>
        </p:nvSpPr>
        <p:spPr>
          <a:xfrm>
            <a:off x="298383" y="997857"/>
            <a:ext cx="11608068" cy="5094024"/>
          </a:xfrm>
        </p:spPr>
        <p:txBody>
          <a:bodyPr>
            <a:normAutofit fontScale="92500" lnSpcReduction="20000"/>
          </a:bodyPr>
          <a:lstStyle/>
          <a:p>
            <a:pPr marL="0" lvl="1" indent="0">
              <a:buSzPct val="60000"/>
              <a:buNone/>
            </a:pPr>
            <a:r>
              <a:rPr lang="en-US" dirty="0"/>
              <a:t>Speedup,   S</a:t>
            </a:r>
            <a:r>
              <a:rPr lang="en-US" baseline="-25000" dirty="0"/>
              <a:t>p</a:t>
            </a:r>
            <a:r>
              <a:rPr lang="en-US" dirty="0"/>
              <a:t>  =  T</a:t>
            </a:r>
            <a:r>
              <a:rPr lang="en-US" baseline="-25000" dirty="0"/>
              <a:t>s</a:t>
            </a:r>
            <a:r>
              <a:rPr lang="en-US" dirty="0"/>
              <a:t> / </a:t>
            </a:r>
            <a:r>
              <a:rPr lang="en-US" dirty="0" err="1"/>
              <a:t>T</a:t>
            </a:r>
            <a:r>
              <a:rPr lang="en-US" baseline="-25000" dirty="0" err="1"/>
              <a:t>p</a:t>
            </a:r>
            <a:endParaRPr lang="en-US" baseline="-25000" dirty="0"/>
          </a:p>
          <a:p>
            <a:endParaRPr lang="en-US" dirty="0"/>
          </a:p>
          <a:p>
            <a:pPr marL="0" indent="0">
              <a:buNone/>
            </a:pPr>
            <a:r>
              <a:rPr lang="en-US" dirty="0"/>
              <a:t>Efficiency helps us measure the overhead </a:t>
            </a:r>
          </a:p>
          <a:p>
            <a:pPr marL="0" indent="0">
              <a:buNone/>
            </a:pPr>
            <a:endParaRPr lang="en-US" dirty="0"/>
          </a:p>
          <a:p>
            <a:pPr marL="457200" lvl="1" indent="0">
              <a:buNone/>
            </a:pPr>
            <a:r>
              <a:rPr lang="en-US" sz="3900" dirty="0"/>
              <a:t>E</a:t>
            </a:r>
            <a:r>
              <a:rPr lang="en-US" sz="3900" baseline="-25000" dirty="0"/>
              <a:t>p</a:t>
            </a:r>
            <a:r>
              <a:rPr lang="en-US" sz="3900" dirty="0"/>
              <a:t>  =  S</a:t>
            </a:r>
            <a:r>
              <a:rPr lang="en-US" sz="3900" baseline="-25000" dirty="0"/>
              <a:t>p</a:t>
            </a:r>
            <a:r>
              <a:rPr lang="en-US" sz="3900" dirty="0"/>
              <a:t> / p   = T</a:t>
            </a:r>
            <a:r>
              <a:rPr lang="en-US" sz="3900" baseline="-25000" dirty="0"/>
              <a:t>s</a:t>
            </a:r>
            <a:r>
              <a:rPr lang="en-US" sz="3900" dirty="0"/>
              <a:t> / (p * </a:t>
            </a:r>
            <a:r>
              <a:rPr lang="en-US" sz="3900" dirty="0" err="1"/>
              <a:t>T</a:t>
            </a:r>
            <a:r>
              <a:rPr lang="en-US" sz="3900" baseline="-25000" dirty="0" err="1"/>
              <a:t>p</a:t>
            </a:r>
            <a:r>
              <a:rPr lang="en-US" sz="3900" dirty="0"/>
              <a:t>)</a:t>
            </a:r>
          </a:p>
          <a:p>
            <a:pPr lvl="1"/>
            <a:endParaRPr lang="en-US" sz="3900" baseline="-25000" dirty="0"/>
          </a:p>
          <a:p>
            <a:pPr marL="0" indent="0">
              <a:buNone/>
            </a:pPr>
            <a:r>
              <a:rPr lang="en-US" dirty="0"/>
              <a:t>Efficiency near 1, or 100% is ideal; usually above 75% is fairly good</a:t>
            </a:r>
          </a:p>
          <a:p>
            <a:pPr marL="0" indent="0">
              <a:buNone/>
            </a:pPr>
            <a:endParaRPr lang="en-US" dirty="0"/>
          </a:p>
          <a:p>
            <a:pPr marL="0" indent="0">
              <a:buNone/>
            </a:pPr>
            <a:endParaRPr lang="en-US" dirty="0"/>
          </a:p>
          <a:p>
            <a:pPr marL="0" indent="0">
              <a:buNone/>
            </a:pPr>
            <a:endParaRPr lang="en-US" dirty="0"/>
          </a:p>
          <a:p>
            <a:pPr marL="0" indent="0">
              <a:buNone/>
            </a:pPr>
            <a:r>
              <a:rPr lang="en-US" dirty="0"/>
              <a:t>p is number of threads used in a parallel OpenMP program</a:t>
            </a:r>
          </a:p>
          <a:p>
            <a:pPr lvl="1"/>
            <a:endParaRPr lang="en-US" dirty="0"/>
          </a:p>
          <a:p>
            <a:pPr lvl="1"/>
            <a:r>
              <a:rPr lang="en-US" dirty="0"/>
              <a:t>You can also think of the p subscript as saying Efficiency of the parallel program</a:t>
            </a:r>
          </a:p>
        </p:txBody>
      </p:sp>
      <p:sp>
        <p:nvSpPr>
          <p:cNvPr id="4" name="TextBox 3">
            <a:extLst>
              <a:ext uri="{FF2B5EF4-FFF2-40B4-BE49-F238E27FC236}">
                <a16:creationId xmlns:a16="http://schemas.microsoft.com/office/drawing/2014/main" id="{4751A7C9-E13C-4743-8239-C4566DB0D941}"/>
              </a:ext>
            </a:extLst>
          </p:cNvPr>
          <p:cNvSpPr txBox="1"/>
          <p:nvPr/>
        </p:nvSpPr>
        <p:spPr>
          <a:xfrm>
            <a:off x="6400800" y="1138137"/>
            <a:ext cx="5562677" cy="369332"/>
          </a:xfrm>
          <a:prstGeom prst="rect">
            <a:avLst/>
          </a:prstGeom>
          <a:noFill/>
        </p:spPr>
        <p:txBody>
          <a:bodyPr wrap="none" rtlCol="0">
            <a:spAutoFit/>
          </a:bodyPr>
          <a:lstStyle/>
          <a:p>
            <a:r>
              <a:rPr lang="en-US" dirty="0">
                <a:solidFill>
                  <a:schemeClr val="accent4"/>
                </a:solidFill>
              </a:rPr>
              <a:t>S</a:t>
            </a:r>
            <a:r>
              <a:rPr lang="en-US" baseline="-25000" dirty="0">
                <a:solidFill>
                  <a:schemeClr val="accent4"/>
                </a:solidFill>
              </a:rPr>
              <a:t>2 </a:t>
            </a:r>
            <a:r>
              <a:rPr lang="en-US" dirty="0">
                <a:solidFill>
                  <a:schemeClr val="accent4"/>
                </a:solidFill>
              </a:rPr>
              <a:t>= 2 / 1 in the ideal ‘linear’ situation from previous code</a:t>
            </a:r>
          </a:p>
        </p:txBody>
      </p:sp>
      <p:sp>
        <p:nvSpPr>
          <p:cNvPr id="5" name="TextBox 4">
            <a:extLst>
              <a:ext uri="{FF2B5EF4-FFF2-40B4-BE49-F238E27FC236}">
                <a16:creationId xmlns:a16="http://schemas.microsoft.com/office/drawing/2014/main" id="{555B1928-03EB-5442-90A5-B8B43C51C3E9}"/>
              </a:ext>
            </a:extLst>
          </p:cNvPr>
          <p:cNvSpPr txBox="1"/>
          <p:nvPr/>
        </p:nvSpPr>
        <p:spPr>
          <a:xfrm>
            <a:off x="6654779" y="2189143"/>
            <a:ext cx="4622019" cy="646331"/>
          </a:xfrm>
          <a:prstGeom prst="rect">
            <a:avLst/>
          </a:prstGeom>
          <a:noFill/>
        </p:spPr>
        <p:txBody>
          <a:bodyPr wrap="square" rtlCol="0">
            <a:spAutoFit/>
          </a:bodyPr>
          <a:lstStyle/>
          <a:p>
            <a:r>
              <a:rPr lang="en-US" dirty="0">
                <a:solidFill>
                  <a:schemeClr val="accent4"/>
                </a:solidFill>
              </a:rPr>
              <a:t>E</a:t>
            </a:r>
            <a:r>
              <a:rPr lang="en-US" baseline="-25000" dirty="0">
                <a:solidFill>
                  <a:schemeClr val="accent4"/>
                </a:solidFill>
              </a:rPr>
              <a:t>2</a:t>
            </a:r>
            <a:r>
              <a:rPr lang="en-US" dirty="0">
                <a:solidFill>
                  <a:schemeClr val="accent4"/>
                </a:solidFill>
              </a:rPr>
              <a:t> = S</a:t>
            </a:r>
            <a:r>
              <a:rPr lang="en-US" baseline="-25000" dirty="0">
                <a:solidFill>
                  <a:schemeClr val="accent4"/>
                </a:solidFill>
              </a:rPr>
              <a:t>2 </a:t>
            </a:r>
            <a:r>
              <a:rPr lang="en-US" dirty="0">
                <a:solidFill>
                  <a:schemeClr val="accent4"/>
                </a:solidFill>
              </a:rPr>
              <a:t>/ 2   = 1,  or 100%  in the ideal situation from previous code </a:t>
            </a:r>
          </a:p>
        </p:txBody>
      </p:sp>
    </p:spTree>
    <p:extLst>
      <p:ext uri="{BB962C8B-B14F-4D97-AF65-F5344CB8AC3E}">
        <p14:creationId xmlns:p14="http://schemas.microsoft.com/office/powerpoint/2010/main" val="385469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34C8-F244-6624-366C-2DE55C7ED683}"/>
              </a:ext>
            </a:extLst>
          </p:cNvPr>
          <p:cNvSpPr>
            <a:spLocks noGrp="1"/>
          </p:cNvSpPr>
          <p:nvPr>
            <p:ph type="title"/>
          </p:nvPr>
        </p:nvSpPr>
        <p:spPr/>
        <p:txBody>
          <a:bodyPr/>
          <a:lstStyle/>
          <a:p>
            <a:r>
              <a:rPr lang="en-US" dirty="0"/>
              <a:t>Shared Memory Parallel Programming</a:t>
            </a:r>
          </a:p>
        </p:txBody>
      </p:sp>
      <p:sp>
        <p:nvSpPr>
          <p:cNvPr id="3" name="Content Placeholder 2">
            <a:extLst>
              <a:ext uri="{FF2B5EF4-FFF2-40B4-BE49-F238E27FC236}">
                <a16:creationId xmlns:a16="http://schemas.microsoft.com/office/drawing/2014/main" id="{FF2AA5B8-B386-03B9-EC20-F8905CBFEDAF}"/>
              </a:ext>
            </a:extLst>
          </p:cNvPr>
          <p:cNvSpPr>
            <a:spLocks noGrp="1"/>
          </p:cNvSpPr>
          <p:nvPr>
            <p:ph idx="1"/>
          </p:nvPr>
        </p:nvSpPr>
        <p:spPr>
          <a:xfrm>
            <a:off x="441559" y="855582"/>
            <a:ext cx="11308882" cy="4411545"/>
          </a:xfrm>
        </p:spPr>
        <p:txBody>
          <a:bodyPr/>
          <a:lstStyle/>
          <a:p>
            <a:r>
              <a:rPr lang="en-US" dirty="0"/>
              <a:t>Let’s observe these ideas about parallel programming by demonstrating the code:</a:t>
            </a:r>
          </a:p>
          <a:p>
            <a:pPr>
              <a:lnSpc>
                <a:spcPct val="150000"/>
              </a:lnSpc>
            </a:pPr>
            <a:r>
              <a:rPr lang="en-US" dirty="0"/>
              <a:t>	We can get a sense of Big-Oh</a:t>
            </a:r>
          </a:p>
          <a:p>
            <a:pPr>
              <a:lnSpc>
                <a:spcPct val="150000"/>
              </a:lnSpc>
            </a:pPr>
            <a:r>
              <a:rPr lang="en-US" dirty="0"/>
              <a:t>	Try small cases with 1 core, multiple cores to make sure no errors</a:t>
            </a:r>
          </a:p>
          <a:p>
            <a:pPr>
              <a:lnSpc>
                <a:spcPct val="150000"/>
              </a:lnSpc>
            </a:pPr>
            <a:r>
              <a:rPr lang="en-US" dirty="0"/>
              <a:t>	Determine how scalable your code is</a:t>
            </a:r>
          </a:p>
          <a:p>
            <a:pPr>
              <a:lnSpc>
                <a:spcPct val="150000"/>
              </a:lnSpc>
            </a:pPr>
            <a:r>
              <a:rPr lang="en-US" dirty="0"/>
              <a:t>		different problem sizes and different numbers of cores</a:t>
            </a:r>
          </a:p>
        </p:txBody>
      </p:sp>
      <p:sp>
        <p:nvSpPr>
          <p:cNvPr id="4" name="Rectangle 3">
            <a:extLst>
              <a:ext uri="{FF2B5EF4-FFF2-40B4-BE49-F238E27FC236}">
                <a16:creationId xmlns:a16="http://schemas.microsoft.com/office/drawing/2014/main" id="{28619450-A366-82F0-456E-9D26B8B3F7DC}"/>
              </a:ext>
            </a:extLst>
          </p:cNvPr>
          <p:cNvSpPr/>
          <p:nvPr/>
        </p:nvSpPr>
        <p:spPr>
          <a:xfrm>
            <a:off x="3906863" y="5002068"/>
            <a:ext cx="4075112" cy="706438"/>
          </a:xfrm>
          <a:prstGeom prst="rect">
            <a:avLst/>
          </a:prstGeom>
        </p:spPr>
        <p:txBody>
          <a:bodyPr wrap="none">
            <a:spAutoFit/>
          </a:bodyPr>
          <a:lstStyle/>
          <a:p>
            <a:pPr>
              <a:spcBef>
                <a:spcPct val="20000"/>
              </a:spcBef>
              <a:buClr>
                <a:schemeClr val="tx1"/>
              </a:buClr>
              <a:buSzPct val="60000"/>
              <a:buFont typeface="Wingdings" pitchFamily="2" charset="2"/>
              <a:buNone/>
              <a:defRPr/>
            </a:pPr>
            <a:r>
              <a:rPr lang="en-US" sz="4000" kern="0" dirty="0">
                <a:solidFill>
                  <a:schemeClr val="accent4">
                    <a:lumMod val="60000"/>
                    <a:lumOff val="40000"/>
                  </a:schemeClr>
                </a:solidFill>
                <a:latin typeface="Arial"/>
              </a:rPr>
              <a:t>T</a:t>
            </a:r>
            <a:r>
              <a:rPr lang="en-US" sz="4000" kern="0" baseline="-25000" dirty="0">
                <a:solidFill>
                  <a:schemeClr val="accent4">
                    <a:lumMod val="60000"/>
                    <a:lumOff val="40000"/>
                  </a:schemeClr>
                </a:solidFill>
                <a:latin typeface="Arial"/>
              </a:rPr>
              <a:t>parallel </a:t>
            </a:r>
            <a:r>
              <a:rPr lang="en-US" sz="4000" kern="0" dirty="0">
                <a:solidFill>
                  <a:schemeClr val="accent4">
                    <a:lumMod val="60000"/>
                    <a:lumOff val="40000"/>
                  </a:schemeClr>
                </a:solidFill>
                <a:latin typeface="Arial"/>
              </a:rPr>
              <a:t>= T</a:t>
            </a:r>
            <a:r>
              <a:rPr lang="en-US" sz="4000" kern="0" baseline="-25000" dirty="0">
                <a:solidFill>
                  <a:schemeClr val="accent4">
                    <a:lumMod val="60000"/>
                    <a:lumOff val="40000"/>
                  </a:schemeClr>
                </a:solidFill>
                <a:latin typeface="Arial"/>
              </a:rPr>
              <a:t>serial </a:t>
            </a:r>
            <a:r>
              <a:rPr lang="en-US" sz="4000" kern="0" dirty="0">
                <a:solidFill>
                  <a:schemeClr val="accent4">
                    <a:lumMod val="60000"/>
                    <a:lumOff val="40000"/>
                  </a:schemeClr>
                </a:solidFill>
                <a:latin typeface="Arial"/>
              </a:rPr>
              <a:t> / p</a:t>
            </a:r>
            <a:endParaRPr lang="en-US" sz="4000" dirty="0">
              <a:solidFill>
                <a:schemeClr val="accent4">
                  <a:lumMod val="60000"/>
                  <a:lumOff val="40000"/>
                </a:schemeClr>
              </a:solidFill>
            </a:endParaRPr>
          </a:p>
        </p:txBody>
      </p:sp>
      <p:sp>
        <p:nvSpPr>
          <p:cNvPr id="5" name="TextBox 4">
            <a:extLst>
              <a:ext uri="{FF2B5EF4-FFF2-40B4-BE49-F238E27FC236}">
                <a16:creationId xmlns:a16="http://schemas.microsoft.com/office/drawing/2014/main" id="{2CAA9E09-FD69-2558-BE48-565665C6E15A}"/>
              </a:ext>
            </a:extLst>
          </p:cNvPr>
          <p:cNvSpPr txBox="1"/>
          <p:nvPr/>
        </p:nvSpPr>
        <p:spPr>
          <a:xfrm>
            <a:off x="2125137" y="5802363"/>
            <a:ext cx="7941726" cy="400110"/>
          </a:xfrm>
          <a:prstGeom prst="rect">
            <a:avLst/>
          </a:prstGeom>
          <a:noFill/>
        </p:spPr>
        <p:txBody>
          <a:bodyPr wrap="none" rtlCol="0">
            <a:spAutoFit/>
          </a:bodyPr>
          <a:lstStyle/>
          <a:p>
            <a:r>
              <a:rPr lang="en-US" sz="2000" dirty="0">
                <a:solidFill>
                  <a:schemeClr val="accent4"/>
                </a:solidFill>
              </a:rPr>
              <a:t>Ideally, as we double the number of threads, the time should be cut in half</a:t>
            </a:r>
          </a:p>
        </p:txBody>
      </p:sp>
    </p:spTree>
    <p:extLst>
      <p:ext uri="{BB962C8B-B14F-4D97-AF65-F5344CB8AC3E}">
        <p14:creationId xmlns:p14="http://schemas.microsoft.com/office/powerpoint/2010/main" val="345955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0A260-3E03-C467-7380-D730057CF209}"/>
              </a:ext>
            </a:extLst>
          </p:cNvPr>
          <p:cNvSpPr>
            <a:spLocks noGrp="1"/>
          </p:cNvSpPr>
          <p:nvPr>
            <p:ph type="title"/>
          </p:nvPr>
        </p:nvSpPr>
        <p:spPr/>
        <p:txBody>
          <a:bodyPr/>
          <a:lstStyle/>
          <a:p>
            <a:r>
              <a:rPr lang="en-US" dirty="0"/>
              <a:t>Small example that’s easy to test for accuracy</a:t>
            </a:r>
          </a:p>
        </p:txBody>
      </p:sp>
      <p:pic>
        <p:nvPicPr>
          <p:cNvPr id="5" name="Content Placeholder 4">
            <a:extLst>
              <a:ext uri="{FF2B5EF4-FFF2-40B4-BE49-F238E27FC236}">
                <a16:creationId xmlns:a16="http://schemas.microsoft.com/office/drawing/2014/main" id="{7EFF17E6-5E87-9CFA-565F-B37B222F2535}"/>
              </a:ext>
            </a:extLst>
          </p:cNvPr>
          <p:cNvPicPr>
            <a:picLocks noGrp="1" noChangeAspect="1"/>
          </p:cNvPicPr>
          <p:nvPr>
            <p:ph idx="1"/>
          </p:nvPr>
        </p:nvPicPr>
        <p:blipFill>
          <a:blip r:embed="rId2"/>
          <a:stretch>
            <a:fillRect/>
          </a:stretch>
        </p:blipFill>
        <p:spPr>
          <a:xfrm>
            <a:off x="4189413" y="1281906"/>
            <a:ext cx="3721100" cy="3632200"/>
          </a:xfrm>
        </p:spPr>
      </p:pic>
      <p:sp>
        <p:nvSpPr>
          <p:cNvPr id="6" name="TextBox 5">
            <a:extLst>
              <a:ext uri="{FF2B5EF4-FFF2-40B4-BE49-F238E27FC236}">
                <a16:creationId xmlns:a16="http://schemas.microsoft.com/office/drawing/2014/main" id="{A5C5C12D-7AB2-8D20-1BD7-F77E422F1C1A}"/>
              </a:ext>
            </a:extLst>
          </p:cNvPr>
          <p:cNvSpPr txBox="1"/>
          <p:nvPr/>
        </p:nvSpPr>
        <p:spPr>
          <a:xfrm>
            <a:off x="6410227" y="3371769"/>
            <a:ext cx="301686" cy="369332"/>
          </a:xfrm>
          <a:prstGeom prst="rect">
            <a:avLst/>
          </a:prstGeom>
          <a:noFill/>
        </p:spPr>
        <p:txBody>
          <a:bodyPr wrap="none" rtlCol="0">
            <a:spAutoFit/>
          </a:bodyPr>
          <a:lstStyle/>
          <a:p>
            <a:r>
              <a:rPr lang="en-US" dirty="0">
                <a:solidFill>
                  <a:schemeClr val="bg1"/>
                </a:solidFill>
              </a:rPr>
              <a:t>0</a:t>
            </a:r>
          </a:p>
        </p:txBody>
      </p:sp>
      <p:sp>
        <p:nvSpPr>
          <p:cNvPr id="7" name="TextBox 6">
            <a:extLst>
              <a:ext uri="{FF2B5EF4-FFF2-40B4-BE49-F238E27FC236}">
                <a16:creationId xmlns:a16="http://schemas.microsoft.com/office/drawing/2014/main" id="{29B931D8-F582-7B5E-58CB-D6F9DD020A05}"/>
              </a:ext>
            </a:extLst>
          </p:cNvPr>
          <p:cNvSpPr txBox="1"/>
          <p:nvPr/>
        </p:nvSpPr>
        <p:spPr>
          <a:xfrm>
            <a:off x="6802122" y="3371769"/>
            <a:ext cx="301686" cy="369332"/>
          </a:xfrm>
          <a:prstGeom prst="rect">
            <a:avLst/>
          </a:prstGeom>
          <a:noFill/>
        </p:spPr>
        <p:txBody>
          <a:bodyPr wrap="none" rtlCol="0">
            <a:spAutoFit/>
          </a:bodyPr>
          <a:lstStyle/>
          <a:p>
            <a:r>
              <a:rPr lang="en-US" dirty="0">
                <a:solidFill>
                  <a:schemeClr val="bg1"/>
                </a:solidFill>
              </a:rPr>
              <a:t>0</a:t>
            </a:r>
          </a:p>
        </p:txBody>
      </p:sp>
      <p:sp>
        <p:nvSpPr>
          <p:cNvPr id="8" name="TextBox 7">
            <a:extLst>
              <a:ext uri="{FF2B5EF4-FFF2-40B4-BE49-F238E27FC236}">
                <a16:creationId xmlns:a16="http://schemas.microsoft.com/office/drawing/2014/main" id="{14CA1E5B-57C1-39CF-1DD3-F2D9A18F3C4C}"/>
              </a:ext>
            </a:extLst>
          </p:cNvPr>
          <p:cNvSpPr txBox="1"/>
          <p:nvPr/>
        </p:nvSpPr>
        <p:spPr>
          <a:xfrm>
            <a:off x="7179224" y="3371769"/>
            <a:ext cx="301686" cy="369332"/>
          </a:xfrm>
          <a:prstGeom prst="rect">
            <a:avLst/>
          </a:prstGeom>
          <a:noFill/>
        </p:spPr>
        <p:txBody>
          <a:bodyPr wrap="none" rtlCol="0">
            <a:spAutoFit/>
          </a:bodyPr>
          <a:lstStyle/>
          <a:p>
            <a:r>
              <a:rPr lang="en-US" dirty="0">
                <a:solidFill>
                  <a:schemeClr val="bg1"/>
                </a:solidFill>
              </a:rPr>
              <a:t>0</a:t>
            </a:r>
          </a:p>
        </p:txBody>
      </p:sp>
      <p:sp>
        <p:nvSpPr>
          <p:cNvPr id="9" name="TextBox 8">
            <a:extLst>
              <a:ext uri="{FF2B5EF4-FFF2-40B4-BE49-F238E27FC236}">
                <a16:creationId xmlns:a16="http://schemas.microsoft.com/office/drawing/2014/main" id="{A4A7494C-9E7E-5ADA-C0EF-EC24B2FB29C9}"/>
              </a:ext>
            </a:extLst>
          </p:cNvPr>
          <p:cNvSpPr txBox="1"/>
          <p:nvPr/>
        </p:nvSpPr>
        <p:spPr>
          <a:xfrm>
            <a:off x="7561692" y="3371769"/>
            <a:ext cx="301686" cy="369332"/>
          </a:xfrm>
          <a:prstGeom prst="rect">
            <a:avLst/>
          </a:prstGeom>
          <a:noFill/>
        </p:spPr>
        <p:txBody>
          <a:bodyPr wrap="none" rtlCol="0">
            <a:spAutoFit/>
          </a:bodyPr>
          <a:lstStyle/>
          <a:p>
            <a:r>
              <a:rPr lang="en-US" dirty="0">
                <a:solidFill>
                  <a:schemeClr val="bg1"/>
                </a:solidFill>
              </a:rPr>
              <a:t>0</a:t>
            </a:r>
          </a:p>
        </p:txBody>
      </p:sp>
      <p:sp>
        <p:nvSpPr>
          <p:cNvPr id="10" name="TextBox 9">
            <a:extLst>
              <a:ext uri="{FF2B5EF4-FFF2-40B4-BE49-F238E27FC236}">
                <a16:creationId xmlns:a16="http://schemas.microsoft.com/office/drawing/2014/main" id="{F761AF98-6F14-EC7C-4489-5530CE314735}"/>
              </a:ext>
            </a:extLst>
          </p:cNvPr>
          <p:cNvSpPr txBox="1"/>
          <p:nvPr/>
        </p:nvSpPr>
        <p:spPr>
          <a:xfrm>
            <a:off x="6410227" y="3741101"/>
            <a:ext cx="301686" cy="369332"/>
          </a:xfrm>
          <a:prstGeom prst="rect">
            <a:avLst/>
          </a:prstGeom>
          <a:noFill/>
        </p:spPr>
        <p:txBody>
          <a:bodyPr wrap="none" rtlCol="0">
            <a:spAutoFit/>
          </a:bodyPr>
          <a:lstStyle/>
          <a:p>
            <a:r>
              <a:rPr lang="en-US" dirty="0">
                <a:solidFill>
                  <a:schemeClr val="bg1"/>
                </a:solidFill>
              </a:rPr>
              <a:t>6</a:t>
            </a:r>
          </a:p>
        </p:txBody>
      </p:sp>
      <p:sp>
        <p:nvSpPr>
          <p:cNvPr id="11" name="TextBox 10">
            <a:extLst>
              <a:ext uri="{FF2B5EF4-FFF2-40B4-BE49-F238E27FC236}">
                <a16:creationId xmlns:a16="http://schemas.microsoft.com/office/drawing/2014/main" id="{513C459A-6CE8-2169-ECAB-9D576F2BEBB7}"/>
              </a:ext>
            </a:extLst>
          </p:cNvPr>
          <p:cNvSpPr txBox="1"/>
          <p:nvPr/>
        </p:nvSpPr>
        <p:spPr>
          <a:xfrm>
            <a:off x="6802122" y="3741101"/>
            <a:ext cx="301686" cy="369332"/>
          </a:xfrm>
          <a:prstGeom prst="rect">
            <a:avLst/>
          </a:prstGeom>
          <a:noFill/>
        </p:spPr>
        <p:txBody>
          <a:bodyPr wrap="none" rtlCol="0">
            <a:spAutoFit/>
          </a:bodyPr>
          <a:lstStyle/>
          <a:p>
            <a:r>
              <a:rPr lang="en-US" dirty="0">
                <a:solidFill>
                  <a:schemeClr val="bg1"/>
                </a:solidFill>
              </a:rPr>
              <a:t>6</a:t>
            </a:r>
          </a:p>
        </p:txBody>
      </p:sp>
      <p:sp>
        <p:nvSpPr>
          <p:cNvPr id="12" name="TextBox 11">
            <a:extLst>
              <a:ext uri="{FF2B5EF4-FFF2-40B4-BE49-F238E27FC236}">
                <a16:creationId xmlns:a16="http://schemas.microsoft.com/office/drawing/2014/main" id="{00ECF35C-62D1-12A4-974D-4AF0937CE996}"/>
              </a:ext>
            </a:extLst>
          </p:cNvPr>
          <p:cNvSpPr txBox="1"/>
          <p:nvPr/>
        </p:nvSpPr>
        <p:spPr>
          <a:xfrm>
            <a:off x="7179224" y="3741101"/>
            <a:ext cx="301686" cy="369332"/>
          </a:xfrm>
          <a:prstGeom prst="rect">
            <a:avLst/>
          </a:prstGeom>
          <a:noFill/>
        </p:spPr>
        <p:txBody>
          <a:bodyPr wrap="none" rtlCol="0">
            <a:spAutoFit/>
          </a:bodyPr>
          <a:lstStyle/>
          <a:p>
            <a:r>
              <a:rPr lang="en-US" dirty="0">
                <a:solidFill>
                  <a:schemeClr val="bg1"/>
                </a:solidFill>
              </a:rPr>
              <a:t>6</a:t>
            </a:r>
          </a:p>
        </p:txBody>
      </p:sp>
      <p:sp>
        <p:nvSpPr>
          <p:cNvPr id="13" name="TextBox 12">
            <a:extLst>
              <a:ext uri="{FF2B5EF4-FFF2-40B4-BE49-F238E27FC236}">
                <a16:creationId xmlns:a16="http://schemas.microsoft.com/office/drawing/2014/main" id="{3EC4680C-721C-61FB-6D05-FB8CA767A1EC}"/>
              </a:ext>
            </a:extLst>
          </p:cNvPr>
          <p:cNvSpPr txBox="1"/>
          <p:nvPr/>
        </p:nvSpPr>
        <p:spPr>
          <a:xfrm>
            <a:off x="7561692" y="3741101"/>
            <a:ext cx="301686" cy="369332"/>
          </a:xfrm>
          <a:prstGeom prst="rect">
            <a:avLst/>
          </a:prstGeom>
          <a:noFill/>
        </p:spPr>
        <p:txBody>
          <a:bodyPr wrap="none" rtlCol="0">
            <a:spAutoFit/>
          </a:bodyPr>
          <a:lstStyle/>
          <a:p>
            <a:r>
              <a:rPr lang="en-US" dirty="0">
                <a:solidFill>
                  <a:schemeClr val="bg1"/>
                </a:solidFill>
              </a:rPr>
              <a:t>6</a:t>
            </a:r>
          </a:p>
        </p:txBody>
      </p:sp>
      <p:sp>
        <p:nvSpPr>
          <p:cNvPr id="14" name="TextBox 13">
            <a:extLst>
              <a:ext uri="{FF2B5EF4-FFF2-40B4-BE49-F238E27FC236}">
                <a16:creationId xmlns:a16="http://schemas.microsoft.com/office/drawing/2014/main" id="{3ECB43BC-D1EB-7542-55EB-D50A1C7B17FC}"/>
              </a:ext>
            </a:extLst>
          </p:cNvPr>
          <p:cNvSpPr txBox="1"/>
          <p:nvPr/>
        </p:nvSpPr>
        <p:spPr>
          <a:xfrm>
            <a:off x="6402225" y="4142937"/>
            <a:ext cx="418704" cy="369332"/>
          </a:xfrm>
          <a:prstGeom prst="rect">
            <a:avLst/>
          </a:prstGeom>
          <a:noFill/>
        </p:spPr>
        <p:txBody>
          <a:bodyPr wrap="none" rtlCol="0">
            <a:spAutoFit/>
          </a:bodyPr>
          <a:lstStyle/>
          <a:p>
            <a:r>
              <a:rPr lang="en-US" dirty="0">
                <a:solidFill>
                  <a:schemeClr val="bg1"/>
                </a:solidFill>
              </a:rPr>
              <a:t>12</a:t>
            </a:r>
          </a:p>
        </p:txBody>
      </p:sp>
      <p:sp>
        <p:nvSpPr>
          <p:cNvPr id="15" name="TextBox 14">
            <a:extLst>
              <a:ext uri="{FF2B5EF4-FFF2-40B4-BE49-F238E27FC236}">
                <a16:creationId xmlns:a16="http://schemas.microsoft.com/office/drawing/2014/main" id="{88EAC42C-61FD-EF79-6241-F6BC1D09D390}"/>
              </a:ext>
            </a:extLst>
          </p:cNvPr>
          <p:cNvSpPr txBox="1"/>
          <p:nvPr/>
        </p:nvSpPr>
        <p:spPr>
          <a:xfrm>
            <a:off x="6794120" y="4142937"/>
            <a:ext cx="418704" cy="369332"/>
          </a:xfrm>
          <a:prstGeom prst="rect">
            <a:avLst/>
          </a:prstGeom>
          <a:noFill/>
        </p:spPr>
        <p:txBody>
          <a:bodyPr wrap="none" rtlCol="0">
            <a:spAutoFit/>
          </a:bodyPr>
          <a:lstStyle/>
          <a:p>
            <a:r>
              <a:rPr lang="en-US" dirty="0">
                <a:solidFill>
                  <a:schemeClr val="bg1"/>
                </a:solidFill>
              </a:rPr>
              <a:t>12</a:t>
            </a:r>
          </a:p>
        </p:txBody>
      </p:sp>
      <p:sp>
        <p:nvSpPr>
          <p:cNvPr id="16" name="TextBox 15">
            <a:extLst>
              <a:ext uri="{FF2B5EF4-FFF2-40B4-BE49-F238E27FC236}">
                <a16:creationId xmlns:a16="http://schemas.microsoft.com/office/drawing/2014/main" id="{B55BC394-7D64-7906-9067-A54D8E2F637A}"/>
              </a:ext>
            </a:extLst>
          </p:cNvPr>
          <p:cNvSpPr txBox="1"/>
          <p:nvPr/>
        </p:nvSpPr>
        <p:spPr>
          <a:xfrm>
            <a:off x="7171222" y="4142937"/>
            <a:ext cx="418704" cy="369332"/>
          </a:xfrm>
          <a:prstGeom prst="rect">
            <a:avLst/>
          </a:prstGeom>
          <a:noFill/>
        </p:spPr>
        <p:txBody>
          <a:bodyPr wrap="none" rtlCol="0">
            <a:spAutoFit/>
          </a:bodyPr>
          <a:lstStyle/>
          <a:p>
            <a:r>
              <a:rPr lang="en-US" dirty="0">
                <a:solidFill>
                  <a:schemeClr val="bg1"/>
                </a:solidFill>
              </a:rPr>
              <a:t>12</a:t>
            </a:r>
          </a:p>
        </p:txBody>
      </p:sp>
      <p:sp>
        <p:nvSpPr>
          <p:cNvPr id="17" name="TextBox 16">
            <a:extLst>
              <a:ext uri="{FF2B5EF4-FFF2-40B4-BE49-F238E27FC236}">
                <a16:creationId xmlns:a16="http://schemas.microsoft.com/office/drawing/2014/main" id="{07785CC9-4DB4-2073-C16D-8E18BDF7499D}"/>
              </a:ext>
            </a:extLst>
          </p:cNvPr>
          <p:cNvSpPr txBox="1"/>
          <p:nvPr/>
        </p:nvSpPr>
        <p:spPr>
          <a:xfrm>
            <a:off x="7553690" y="4142937"/>
            <a:ext cx="418704" cy="369332"/>
          </a:xfrm>
          <a:prstGeom prst="rect">
            <a:avLst/>
          </a:prstGeom>
          <a:noFill/>
        </p:spPr>
        <p:txBody>
          <a:bodyPr wrap="none" rtlCol="0">
            <a:spAutoFit/>
          </a:bodyPr>
          <a:lstStyle/>
          <a:p>
            <a:r>
              <a:rPr lang="en-US" dirty="0">
                <a:solidFill>
                  <a:schemeClr val="bg1"/>
                </a:solidFill>
              </a:rPr>
              <a:t>12</a:t>
            </a:r>
          </a:p>
        </p:txBody>
      </p:sp>
      <p:sp>
        <p:nvSpPr>
          <p:cNvPr id="18" name="TextBox 17">
            <a:extLst>
              <a:ext uri="{FF2B5EF4-FFF2-40B4-BE49-F238E27FC236}">
                <a16:creationId xmlns:a16="http://schemas.microsoft.com/office/drawing/2014/main" id="{6432909C-8C38-3F51-27F0-EBDC2F5FEA50}"/>
              </a:ext>
            </a:extLst>
          </p:cNvPr>
          <p:cNvSpPr txBox="1"/>
          <p:nvPr/>
        </p:nvSpPr>
        <p:spPr>
          <a:xfrm>
            <a:off x="6383371" y="4489192"/>
            <a:ext cx="418704" cy="369332"/>
          </a:xfrm>
          <a:prstGeom prst="rect">
            <a:avLst/>
          </a:prstGeom>
          <a:noFill/>
        </p:spPr>
        <p:txBody>
          <a:bodyPr wrap="none" rtlCol="0">
            <a:spAutoFit/>
          </a:bodyPr>
          <a:lstStyle/>
          <a:p>
            <a:r>
              <a:rPr lang="en-US" dirty="0">
                <a:solidFill>
                  <a:schemeClr val="bg1"/>
                </a:solidFill>
              </a:rPr>
              <a:t>18</a:t>
            </a:r>
          </a:p>
        </p:txBody>
      </p:sp>
      <p:sp>
        <p:nvSpPr>
          <p:cNvPr id="19" name="TextBox 18">
            <a:extLst>
              <a:ext uri="{FF2B5EF4-FFF2-40B4-BE49-F238E27FC236}">
                <a16:creationId xmlns:a16="http://schemas.microsoft.com/office/drawing/2014/main" id="{0EB3B5B9-31CF-CE07-7CC8-FB48F4CDB92F}"/>
              </a:ext>
            </a:extLst>
          </p:cNvPr>
          <p:cNvSpPr txBox="1"/>
          <p:nvPr/>
        </p:nvSpPr>
        <p:spPr>
          <a:xfrm>
            <a:off x="6775266" y="4489192"/>
            <a:ext cx="418704" cy="369332"/>
          </a:xfrm>
          <a:prstGeom prst="rect">
            <a:avLst/>
          </a:prstGeom>
          <a:noFill/>
        </p:spPr>
        <p:txBody>
          <a:bodyPr wrap="none" rtlCol="0">
            <a:spAutoFit/>
          </a:bodyPr>
          <a:lstStyle/>
          <a:p>
            <a:r>
              <a:rPr lang="en-US" dirty="0">
                <a:solidFill>
                  <a:schemeClr val="bg1"/>
                </a:solidFill>
              </a:rPr>
              <a:t>18</a:t>
            </a:r>
          </a:p>
        </p:txBody>
      </p:sp>
      <p:sp>
        <p:nvSpPr>
          <p:cNvPr id="20" name="TextBox 19">
            <a:extLst>
              <a:ext uri="{FF2B5EF4-FFF2-40B4-BE49-F238E27FC236}">
                <a16:creationId xmlns:a16="http://schemas.microsoft.com/office/drawing/2014/main" id="{D1CCF04F-66EB-AC13-F35C-79DFE369627B}"/>
              </a:ext>
            </a:extLst>
          </p:cNvPr>
          <p:cNvSpPr txBox="1"/>
          <p:nvPr/>
        </p:nvSpPr>
        <p:spPr>
          <a:xfrm>
            <a:off x="7152368" y="4489192"/>
            <a:ext cx="418704" cy="369332"/>
          </a:xfrm>
          <a:prstGeom prst="rect">
            <a:avLst/>
          </a:prstGeom>
          <a:noFill/>
        </p:spPr>
        <p:txBody>
          <a:bodyPr wrap="none" rtlCol="0">
            <a:spAutoFit/>
          </a:bodyPr>
          <a:lstStyle/>
          <a:p>
            <a:r>
              <a:rPr lang="en-US" dirty="0">
                <a:solidFill>
                  <a:schemeClr val="bg1"/>
                </a:solidFill>
              </a:rPr>
              <a:t>18</a:t>
            </a:r>
          </a:p>
        </p:txBody>
      </p:sp>
      <p:sp>
        <p:nvSpPr>
          <p:cNvPr id="21" name="TextBox 20">
            <a:extLst>
              <a:ext uri="{FF2B5EF4-FFF2-40B4-BE49-F238E27FC236}">
                <a16:creationId xmlns:a16="http://schemas.microsoft.com/office/drawing/2014/main" id="{3183668E-5005-7378-3D5D-DCA99D793A4D}"/>
              </a:ext>
            </a:extLst>
          </p:cNvPr>
          <p:cNvSpPr txBox="1"/>
          <p:nvPr/>
        </p:nvSpPr>
        <p:spPr>
          <a:xfrm>
            <a:off x="7534836" y="4489192"/>
            <a:ext cx="418704" cy="369332"/>
          </a:xfrm>
          <a:prstGeom prst="rect">
            <a:avLst/>
          </a:prstGeom>
          <a:noFill/>
        </p:spPr>
        <p:txBody>
          <a:bodyPr wrap="none" rtlCol="0">
            <a:spAutoFit/>
          </a:bodyPr>
          <a:lstStyle/>
          <a:p>
            <a:r>
              <a:rPr lang="en-US" dirty="0">
                <a:solidFill>
                  <a:schemeClr val="bg1"/>
                </a:solidFill>
              </a:rPr>
              <a:t>18</a:t>
            </a:r>
          </a:p>
        </p:txBody>
      </p:sp>
    </p:spTree>
    <p:extLst>
      <p:ext uri="{BB962C8B-B14F-4D97-AF65-F5344CB8AC3E}">
        <p14:creationId xmlns:p14="http://schemas.microsoft.com/office/powerpoint/2010/main" val="303003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dissolve">
                                      <p:cBhvr>
                                        <p:cTn id="44" dur="500"/>
                                        <p:tgtEl>
                                          <p:spTgt spid="15"/>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dissolve">
                                      <p:cBhvr>
                                        <p:cTn id="47" dur="500"/>
                                        <p:tgtEl>
                                          <p:spTgt spid="16"/>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dissolv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dissolv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dissolve">
                                      <p:cBhvr>
                                        <p:cTn id="60" dur="500"/>
                                        <p:tgtEl>
                                          <p:spTgt spid="19"/>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dissolve">
                                      <p:cBhvr>
                                        <p:cTn id="63" dur="500"/>
                                        <p:tgtEl>
                                          <p:spTgt spid="20"/>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dissolve">
                                      <p:cBhvr>
                                        <p:cTn id="6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0A260-3E03-C467-7380-D730057CF209}"/>
              </a:ext>
            </a:extLst>
          </p:cNvPr>
          <p:cNvSpPr>
            <a:spLocks noGrp="1"/>
          </p:cNvSpPr>
          <p:nvPr>
            <p:ph type="title"/>
          </p:nvPr>
        </p:nvSpPr>
        <p:spPr/>
        <p:txBody>
          <a:bodyPr/>
          <a:lstStyle/>
          <a:p>
            <a:r>
              <a:rPr lang="en-US" dirty="0"/>
              <a:t>Small example that’s easy to test for accuracy</a:t>
            </a:r>
          </a:p>
        </p:txBody>
      </p:sp>
      <p:pic>
        <p:nvPicPr>
          <p:cNvPr id="5" name="Content Placeholder 4">
            <a:extLst>
              <a:ext uri="{FF2B5EF4-FFF2-40B4-BE49-F238E27FC236}">
                <a16:creationId xmlns:a16="http://schemas.microsoft.com/office/drawing/2014/main" id="{7EFF17E6-5E87-9CFA-565F-B37B222F2535}"/>
              </a:ext>
            </a:extLst>
          </p:cNvPr>
          <p:cNvPicPr>
            <a:picLocks noGrp="1" noChangeAspect="1"/>
          </p:cNvPicPr>
          <p:nvPr>
            <p:ph idx="1"/>
          </p:nvPr>
        </p:nvPicPr>
        <p:blipFill>
          <a:blip r:embed="rId2"/>
          <a:stretch>
            <a:fillRect/>
          </a:stretch>
        </p:blipFill>
        <p:spPr>
          <a:xfrm>
            <a:off x="4189413" y="1281906"/>
            <a:ext cx="3721100" cy="3632200"/>
          </a:xfrm>
        </p:spPr>
      </p:pic>
      <p:sp>
        <p:nvSpPr>
          <p:cNvPr id="6" name="TextBox 5">
            <a:extLst>
              <a:ext uri="{FF2B5EF4-FFF2-40B4-BE49-F238E27FC236}">
                <a16:creationId xmlns:a16="http://schemas.microsoft.com/office/drawing/2014/main" id="{A5C5C12D-7AB2-8D20-1BD7-F77E422F1C1A}"/>
              </a:ext>
            </a:extLst>
          </p:cNvPr>
          <p:cNvSpPr txBox="1"/>
          <p:nvPr/>
        </p:nvSpPr>
        <p:spPr>
          <a:xfrm>
            <a:off x="6410227" y="3371769"/>
            <a:ext cx="301686" cy="369332"/>
          </a:xfrm>
          <a:prstGeom prst="rect">
            <a:avLst/>
          </a:prstGeom>
          <a:noFill/>
        </p:spPr>
        <p:txBody>
          <a:bodyPr wrap="none" rtlCol="0">
            <a:spAutoFit/>
          </a:bodyPr>
          <a:lstStyle/>
          <a:p>
            <a:r>
              <a:rPr lang="en-US" dirty="0">
                <a:solidFill>
                  <a:schemeClr val="bg1"/>
                </a:solidFill>
              </a:rPr>
              <a:t>0</a:t>
            </a:r>
          </a:p>
        </p:txBody>
      </p:sp>
      <p:sp>
        <p:nvSpPr>
          <p:cNvPr id="7" name="TextBox 6">
            <a:extLst>
              <a:ext uri="{FF2B5EF4-FFF2-40B4-BE49-F238E27FC236}">
                <a16:creationId xmlns:a16="http://schemas.microsoft.com/office/drawing/2014/main" id="{29B931D8-F582-7B5E-58CB-D6F9DD020A05}"/>
              </a:ext>
            </a:extLst>
          </p:cNvPr>
          <p:cNvSpPr txBox="1"/>
          <p:nvPr/>
        </p:nvSpPr>
        <p:spPr>
          <a:xfrm>
            <a:off x="6802122" y="3371769"/>
            <a:ext cx="301686" cy="369332"/>
          </a:xfrm>
          <a:prstGeom prst="rect">
            <a:avLst/>
          </a:prstGeom>
          <a:noFill/>
        </p:spPr>
        <p:txBody>
          <a:bodyPr wrap="none" rtlCol="0">
            <a:spAutoFit/>
          </a:bodyPr>
          <a:lstStyle/>
          <a:p>
            <a:r>
              <a:rPr lang="en-US" dirty="0">
                <a:solidFill>
                  <a:schemeClr val="bg1"/>
                </a:solidFill>
              </a:rPr>
              <a:t>0</a:t>
            </a:r>
          </a:p>
        </p:txBody>
      </p:sp>
      <p:sp>
        <p:nvSpPr>
          <p:cNvPr id="8" name="TextBox 7">
            <a:extLst>
              <a:ext uri="{FF2B5EF4-FFF2-40B4-BE49-F238E27FC236}">
                <a16:creationId xmlns:a16="http://schemas.microsoft.com/office/drawing/2014/main" id="{14CA1E5B-57C1-39CF-1DD3-F2D9A18F3C4C}"/>
              </a:ext>
            </a:extLst>
          </p:cNvPr>
          <p:cNvSpPr txBox="1"/>
          <p:nvPr/>
        </p:nvSpPr>
        <p:spPr>
          <a:xfrm>
            <a:off x="7179224" y="3371769"/>
            <a:ext cx="301686" cy="369332"/>
          </a:xfrm>
          <a:prstGeom prst="rect">
            <a:avLst/>
          </a:prstGeom>
          <a:noFill/>
        </p:spPr>
        <p:txBody>
          <a:bodyPr wrap="none" rtlCol="0">
            <a:spAutoFit/>
          </a:bodyPr>
          <a:lstStyle/>
          <a:p>
            <a:r>
              <a:rPr lang="en-US" dirty="0">
                <a:solidFill>
                  <a:schemeClr val="bg1"/>
                </a:solidFill>
              </a:rPr>
              <a:t>0</a:t>
            </a:r>
          </a:p>
        </p:txBody>
      </p:sp>
      <p:sp>
        <p:nvSpPr>
          <p:cNvPr id="9" name="TextBox 8">
            <a:extLst>
              <a:ext uri="{FF2B5EF4-FFF2-40B4-BE49-F238E27FC236}">
                <a16:creationId xmlns:a16="http://schemas.microsoft.com/office/drawing/2014/main" id="{A4A7494C-9E7E-5ADA-C0EF-EC24B2FB29C9}"/>
              </a:ext>
            </a:extLst>
          </p:cNvPr>
          <p:cNvSpPr txBox="1"/>
          <p:nvPr/>
        </p:nvSpPr>
        <p:spPr>
          <a:xfrm>
            <a:off x="7561692" y="3371769"/>
            <a:ext cx="301686" cy="369332"/>
          </a:xfrm>
          <a:prstGeom prst="rect">
            <a:avLst/>
          </a:prstGeom>
          <a:noFill/>
        </p:spPr>
        <p:txBody>
          <a:bodyPr wrap="none" rtlCol="0">
            <a:spAutoFit/>
          </a:bodyPr>
          <a:lstStyle/>
          <a:p>
            <a:r>
              <a:rPr lang="en-US" dirty="0">
                <a:solidFill>
                  <a:schemeClr val="bg1"/>
                </a:solidFill>
              </a:rPr>
              <a:t>0</a:t>
            </a:r>
          </a:p>
        </p:txBody>
      </p:sp>
      <p:sp>
        <p:nvSpPr>
          <p:cNvPr id="10" name="TextBox 9">
            <a:extLst>
              <a:ext uri="{FF2B5EF4-FFF2-40B4-BE49-F238E27FC236}">
                <a16:creationId xmlns:a16="http://schemas.microsoft.com/office/drawing/2014/main" id="{F761AF98-6F14-EC7C-4489-5530CE314735}"/>
              </a:ext>
            </a:extLst>
          </p:cNvPr>
          <p:cNvSpPr txBox="1"/>
          <p:nvPr/>
        </p:nvSpPr>
        <p:spPr>
          <a:xfrm>
            <a:off x="6410227" y="3741101"/>
            <a:ext cx="301686" cy="369332"/>
          </a:xfrm>
          <a:prstGeom prst="rect">
            <a:avLst/>
          </a:prstGeom>
          <a:noFill/>
        </p:spPr>
        <p:txBody>
          <a:bodyPr wrap="none" rtlCol="0">
            <a:spAutoFit/>
          </a:bodyPr>
          <a:lstStyle/>
          <a:p>
            <a:r>
              <a:rPr lang="en-US" dirty="0">
                <a:solidFill>
                  <a:schemeClr val="bg1"/>
                </a:solidFill>
              </a:rPr>
              <a:t>6</a:t>
            </a:r>
          </a:p>
        </p:txBody>
      </p:sp>
      <p:sp>
        <p:nvSpPr>
          <p:cNvPr id="11" name="TextBox 10">
            <a:extLst>
              <a:ext uri="{FF2B5EF4-FFF2-40B4-BE49-F238E27FC236}">
                <a16:creationId xmlns:a16="http://schemas.microsoft.com/office/drawing/2014/main" id="{513C459A-6CE8-2169-ECAB-9D576F2BEBB7}"/>
              </a:ext>
            </a:extLst>
          </p:cNvPr>
          <p:cNvSpPr txBox="1"/>
          <p:nvPr/>
        </p:nvSpPr>
        <p:spPr>
          <a:xfrm>
            <a:off x="6802122" y="3741101"/>
            <a:ext cx="301686" cy="369332"/>
          </a:xfrm>
          <a:prstGeom prst="rect">
            <a:avLst/>
          </a:prstGeom>
          <a:noFill/>
        </p:spPr>
        <p:txBody>
          <a:bodyPr wrap="none" rtlCol="0">
            <a:spAutoFit/>
          </a:bodyPr>
          <a:lstStyle/>
          <a:p>
            <a:r>
              <a:rPr lang="en-US" dirty="0">
                <a:solidFill>
                  <a:schemeClr val="bg1"/>
                </a:solidFill>
              </a:rPr>
              <a:t>6</a:t>
            </a:r>
          </a:p>
        </p:txBody>
      </p:sp>
      <p:sp>
        <p:nvSpPr>
          <p:cNvPr id="12" name="TextBox 11">
            <a:extLst>
              <a:ext uri="{FF2B5EF4-FFF2-40B4-BE49-F238E27FC236}">
                <a16:creationId xmlns:a16="http://schemas.microsoft.com/office/drawing/2014/main" id="{00ECF35C-62D1-12A4-974D-4AF0937CE996}"/>
              </a:ext>
            </a:extLst>
          </p:cNvPr>
          <p:cNvSpPr txBox="1"/>
          <p:nvPr/>
        </p:nvSpPr>
        <p:spPr>
          <a:xfrm>
            <a:off x="7179224" y="3741101"/>
            <a:ext cx="301686" cy="369332"/>
          </a:xfrm>
          <a:prstGeom prst="rect">
            <a:avLst/>
          </a:prstGeom>
          <a:noFill/>
        </p:spPr>
        <p:txBody>
          <a:bodyPr wrap="none" rtlCol="0">
            <a:spAutoFit/>
          </a:bodyPr>
          <a:lstStyle/>
          <a:p>
            <a:r>
              <a:rPr lang="en-US" dirty="0">
                <a:solidFill>
                  <a:schemeClr val="bg1"/>
                </a:solidFill>
              </a:rPr>
              <a:t>6</a:t>
            </a:r>
          </a:p>
        </p:txBody>
      </p:sp>
      <p:sp>
        <p:nvSpPr>
          <p:cNvPr id="13" name="TextBox 12">
            <a:extLst>
              <a:ext uri="{FF2B5EF4-FFF2-40B4-BE49-F238E27FC236}">
                <a16:creationId xmlns:a16="http://schemas.microsoft.com/office/drawing/2014/main" id="{3EC4680C-721C-61FB-6D05-FB8CA767A1EC}"/>
              </a:ext>
            </a:extLst>
          </p:cNvPr>
          <p:cNvSpPr txBox="1"/>
          <p:nvPr/>
        </p:nvSpPr>
        <p:spPr>
          <a:xfrm>
            <a:off x="7561692" y="3741101"/>
            <a:ext cx="301686" cy="369332"/>
          </a:xfrm>
          <a:prstGeom prst="rect">
            <a:avLst/>
          </a:prstGeom>
          <a:noFill/>
        </p:spPr>
        <p:txBody>
          <a:bodyPr wrap="none" rtlCol="0">
            <a:spAutoFit/>
          </a:bodyPr>
          <a:lstStyle/>
          <a:p>
            <a:r>
              <a:rPr lang="en-US" dirty="0">
                <a:solidFill>
                  <a:schemeClr val="bg1"/>
                </a:solidFill>
              </a:rPr>
              <a:t>6</a:t>
            </a:r>
          </a:p>
        </p:txBody>
      </p:sp>
      <p:sp>
        <p:nvSpPr>
          <p:cNvPr id="14" name="TextBox 13">
            <a:extLst>
              <a:ext uri="{FF2B5EF4-FFF2-40B4-BE49-F238E27FC236}">
                <a16:creationId xmlns:a16="http://schemas.microsoft.com/office/drawing/2014/main" id="{3ECB43BC-D1EB-7542-55EB-D50A1C7B17FC}"/>
              </a:ext>
            </a:extLst>
          </p:cNvPr>
          <p:cNvSpPr txBox="1"/>
          <p:nvPr/>
        </p:nvSpPr>
        <p:spPr>
          <a:xfrm>
            <a:off x="6402225" y="4142937"/>
            <a:ext cx="418704" cy="369332"/>
          </a:xfrm>
          <a:prstGeom prst="rect">
            <a:avLst/>
          </a:prstGeom>
          <a:noFill/>
        </p:spPr>
        <p:txBody>
          <a:bodyPr wrap="none" rtlCol="0">
            <a:spAutoFit/>
          </a:bodyPr>
          <a:lstStyle/>
          <a:p>
            <a:r>
              <a:rPr lang="en-US" dirty="0">
                <a:solidFill>
                  <a:schemeClr val="bg1"/>
                </a:solidFill>
              </a:rPr>
              <a:t>12</a:t>
            </a:r>
          </a:p>
        </p:txBody>
      </p:sp>
      <p:sp>
        <p:nvSpPr>
          <p:cNvPr id="15" name="TextBox 14">
            <a:extLst>
              <a:ext uri="{FF2B5EF4-FFF2-40B4-BE49-F238E27FC236}">
                <a16:creationId xmlns:a16="http://schemas.microsoft.com/office/drawing/2014/main" id="{88EAC42C-61FD-EF79-6241-F6BC1D09D390}"/>
              </a:ext>
            </a:extLst>
          </p:cNvPr>
          <p:cNvSpPr txBox="1"/>
          <p:nvPr/>
        </p:nvSpPr>
        <p:spPr>
          <a:xfrm>
            <a:off x="6794120" y="4142937"/>
            <a:ext cx="418704" cy="369332"/>
          </a:xfrm>
          <a:prstGeom prst="rect">
            <a:avLst/>
          </a:prstGeom>
          <a:noFill/>
        </p:spPr>
        <p:txBody>
          <a:bodyPr wrap="none" rtlCol="0">
            <a:spAutoFit/>
          </a:bodyPr>
          <a:lstStyle/>
          <a:p>
            <a:r>
              <a:rPr lang="en-US" dirty="0">
                <a:solidFill>
                  <a:schemeClr val="bg1"/>
                </a:solidFill>
              </a:rPr>
              <a:t>12</a:t>
            </a:r>
          </a:p>
        </p:txBody>
      </p:sp>
      <p:sp>
        <p:nvSpPr>
          <p:cNvPr id="16" name="TextBox 15">
            <a:extLst>
              <a:ext uri="{FF2B5EF4-FFF2-40B4-BE49-F238E27FC236}">
                <a16:creationId xmlns:a16="http://schemas.microsoft.com/office/drawing/2014/main" id="{B55BC394-7D64-7906-9067-A54D8E2F637A}"/>
              </a:ext>
            </a:extLst>
          </p:cNvPr>
          <p:cNvSpPr txBox="1"/>
          <p:nvPr/>
        </p:nvSpPr>
        <p:spPr>
          <a:xfrm>
            <a:off x="7171222" y="4142937"/>
            <a:ext cx="418704" cy="369332"/>
          </a:xfrm>
          <a:prstGeom prst="rect">
            <a:avLst/>
          </a:prstGeom>
          <a:noFill/>
        </p:spPr>
        <p:txBody>
          <a:bodyPr wrap="none" rtlCol="0">
            <a:spAutoFit/>
          </a:bodyPr>
          <a:lstStyle/>
          <a:p>
            <a:r>
              <a:rPr lang="en-US" dirty="0">
                <a:solidFill>
                  <a:schemeClr val="bg1"/>
                </a:solidFill>
              </a:rPr>
              <a:t>12</a:t>
            </a:r>
          </a:p>
        </p:txBody>
      </p:sp>
      <p:sp>
        <p:nvSpPr>
          <p:cNvPr id="17" name="TextBox 16">
            <a:extLst>
              <a:ext uri="{FF2B5EF4-FFF2-40B4-BE49-F238E27FC236}">
                <a16:creationId xmlns:a16="http://schemas.microsoft.com/office/drawing/2014/main" id="{07785CC9-4DB4-2073-C16D-8E18BDF7499D}"/>
              </a:ext>
            </a:extLst>
          </p:cNvPr>
          <p:cNvSpPr txBox="1"/>
          <p:nvPr/>
        </p:nvSpPr>
        <p:spPr>
          <a:xfrm>
            <a:off x="7553690" y="4142937"/>
            <a:ext cx="418704" cy="369332"/>
          </a:xfrm>
          <a:prstGeom prst="rect">
            <a:avLst/>
          </a:prstGeom>
          <a:noFill/>
        </p:spPr>
        <p:txBody>
          <a:bodyPr wrap="none" rtlCol="0">
            <a:spAutoFit/>
          </a:bodyPr>
          <a:lstStyle/>
          <a:p>
            <a:r>
              <a:rPr lang="en-US" dirty="0">
                <a:solidFill>
                  <a:schemeClr val="bg1"/>
                </a:solidFill>
              </a:rPr>
              <a:t>12</a:t>
            </a:r>
          </a:p>
        </p:txBody>
      </p:sp>
      <p:sp>
        <p:nvSpPr>
          <p:cNvPr id="18" name="TextBox 17">
            <a:extLst>
              <a:ext uri="{FF2B5EF4-FFF2-40B4-BE49-F238E27FC236}">
                <a16:creationId xmlns:a16="http://schemas.microsoft.com/office/drawing/2014/main" id="{6432909C-8C38-3F51-27F0-EBDC2F5FEA50}"/>
              </a:ext>
            </a:extLst>
          </p:cNvPr>
          <p:cNvSpPr txBox="1"/>
          <p:nvPr/>
        </p:nvSpPr>
        <p:spPr>
          <a:xfrm>
            <a:off x="6383371" y="4489192"/>
            <a:ext cx="418704" cy="369332"/>
          </a:xfrm>
          <a:prstGeom prst="rect">
            <a:avLst/>
          </a:prstGeom>
          <a:noFill/>
        </p:spPr>
        <p:txBody>
          <a:bodyPr wrap="none" rtlCol="0">
            <a:spAutoFit/>
          </a:bodyPr>
          <a:lstStyle/>
          <a:p>
            <a:r>
              <a:rPr lang="en-US" dirty="0">
                <a:solidFill>
                  <a:schemeClr val="bg1"/>
                </a:solidFill>
              </a:rPr>
              <a:t>18</a:t>
            </a:r>
          </a:p>
        </p:txBody>
      </p:sp>
      <p:sp>
        <p:nvSpPr>
          <p:cNvPr id="19" name="TextBox 18">
            <a:extLst>
              <a:ext uri="{FF2B5EF4-FFF2-40B4-BE49-F238E27FC236}">
                <a16:creationId xmlns:a16="http://schemas.microsoft.com/office/drawing/2014/main" id="{0EB3B5B9-31CF-CE07-7CC8-FB48F4CDB92F}"/>
              </a:ext>
            </a:extLst>
          </p:cNvPr>
          <p:cNvSpPr txBox="1"/>
          <p:nvPr/>
        </p:nvSpPr>
        <p:spPr>
          <a:xfrm>
            <a:off x="6775266" y="4489192"/>
            <a:ext cx="418704" cy="369332"/>
          </a:xfrm>
          <a:prstGeom prst="rect">
            <a:avLst/>
          </a:prstGeom>
          <a:noFill/>
        </p:spPr>
        <p:txBody>
          <a:bodyPr wrap="none" rtlCol="0">
            <a:spAutoFit/>
          </a:bodyPr>
          <a:lstStyle/>
          <a:p>
            <a:r>
              <a:rPr lang="en-US" dirty="0">
                <a:solidFill>
                  <a:schemeClr val="bg1"/>
                </a:solidFill>
              </a:rPr>
              <a:t>18</a:t>
            </a:r>
          </a:p>
        </p:txBody>
      </p:sp>
      <p:sp>
        <p:nvSpPr>
          <p:cNvPr id="20" name="TextBox 19">
            <a:extLst>
              <a:ext uri="{FF2B5EF4-FFF2-40B4-BE49-F238E27FC236}">
                <a16:creationId xmlns:a16="http://schemas.microsoft.com/office/drawing/2014/main" id="{D1CCF04F-66EB-AC13-F35C-79DFE369627B}"/>
              </a:ext>
            </a:extLst>
          </p:cNvPr>
          <p:cNvSpPr txBox="1"/>
          <p:nvPr/>
        </p:nvSpPr>
        <p:spPr>
          <a:xfrm>
            <a:off x="7152368" y="4489192"/>
            <a:ext cx="418704" cy="369332"/>
          </a:xfrm>
          <a:prstGeom prst="rect">
            <a:avLst/>
          </a:prstGeom>
          <a:noFill/>
        </p:spPr>
        <p:txBody>
          <a:bodyPr wrap="none" rtlCol="0">
            <a:spAutoFit/>
          </a:bodyPr>
          <a:lstStyle/>
          <a:p>
            <a:r>
              <a:rPr lang="en-US" dirty="0">
                <a:solidFill>
                  <a:schemeClr val="bg1"/>
                </a:solidFill>
              </a:rPr>
              <a:t>18</a:t>
            </a:r>
          </a:p>
        </p:txBody>
      </p:sp>
      <p:sp>
        <p:nvSpPr>
          <p:cNvPr id="21" name="TextBox 20">
            <a:extLst>
              <a:ext uri="{FF2B5EF4-FFF2-40B4-BE49-F238E27FC236}">
                <a16:creationId xmlns:a16="http://schemas.microsoft.com/office/drawing/2014/main" id="{3183668E-5005-7378-3D5D-DCA99D793A4D}"/>
              </a:ext>
            </a:extLst>
          </p:cNvPr>
          <p:cNvSpPr txBox="1"/>
          <p:nvPr/>
        </p:nvSpPr>
        <p:spPr>
          <a:xfrm>
            <a:off x="7534836" y="4489192"/>
            <a:ext cx="418704" cy="369332"/>
          </a:xfrm>
          <a:prstGeom prst="rect">
            <a:avLst/>
          </a:prstGeom>
          <a:noFill/>
        </p:spPr>
        <p:txBody>
          <a:bodyPr wrap="none" rtlCol="0">
            <a:spAutoFit/>
          </a:bodyPr>
          <a:lstStyle/>
          <a:p>
            <a:r>
              <a:rPr lang="en-US" dirty="0">
                <a:solidFill>
                  <a:schemeClr val="bg1"/>
                </a:solidFill>
              </a:rPr>
              <a:t>18</a:t>
            </a:r>
          </a:p>
        </p:txBody>
      </p:sp>
    </p:spTree>
    <p:extLst>
      <p:ext uri="{BB962C8B-B14F-4D97-AF65-F5344CB8AC3E}">
        <p14:creationId xmlns:p14="http://schemas.microsoft.com/office/powerpoint/2010/main" val="426526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dissolve">
                                      <p:cBhvr>
                                        <p:cTn id="44" dur="500"/>
                                        <p:tgtEl>
                                          <p:spTgt spid="15"/>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dissolve">
                                      <p:cBhvr>
                                        <p:cTn id="47" dur="500"/>
                                        <p:tgtEl>
                                          <p:spTgt spid="16"/>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dissolv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dissolv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dissolve">
                                      <p:cBhvr>
                                        <p:cTn id="60" dur="500"/>
                                        <p:tgtEl>
                                          <p:spTgt spid="19"/>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dissolve">
                                      <p:cBhvr>
                                        <p:cTn id="63" dur="500"/>
                                        <p:tgtEl>
                                          <p:spTgt spid="20"/>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dissolve">
                                      <p:cBhvr>
                                        <p:cTn id="6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DD96-E06E-2749-2C95-8FCB7B5743A5}"/>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3DF61DD8-4C78-D19A-50CF-C4DA02F8889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94448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BB5A4-BE90-E44E-9AF0-D5382E685368}"/>
              </a:ext>
            </a:extLst>
          </p:cNvPr>
          <p:cNvSpPr>
            <a:spLocks noGrp="1"/>
          </p:cNvSpPr>
          <p:nvPr>
            <p:ph type="ctrTitle"/>
          </p:nvPr>
        </p:nvSpPr>
        <p:spPr>
          <a:xfrm>
            <a:off x="84841" y="121800"/>
            <a:ext cx="7013699" cy="829523"/>
          </a:xfrm>
        </p:spPr>
        <p:txBody>
          <a:bodyPr/>
          <a:lstStyle/>
          <a:p>
            <a:r>
              <a:rPr lang="en-US" dirty="0"/>
              <a:t>GPU Computing</a:t>
            </a:r>
          </a:p>
        </p:txBody>
      </p:sp>
      <p:pic>
        <p:nvPicPr>
          <p:cNvPr id="5" name="Picture 4">
            <a:extLst>
              <a:ext uri="{FF2B5EF4-FFF2-40B4-BE49-F238E27FC236}">
                <a16:creationId xmlns:a16="http://schemas.microsoft.com/office/drawing/2014/main" id="{1C21EB71-1398-ADF1-5EFE-BD18888074BA}"/>
              </a:ext>
            </a:extLst>
          </p:cNvPr>
          <p:cNvPicPr>
            <a:picLocks noChangeAspect="1"/>
          </p:cNvPicPr>
          <p:nvPr/>
        </p:nvPicPr>
        <p:blipFill>
          <a:blip r:embed="rId2"/>
          <a:stretch>
            <a:fillRect/>
          </a:stretch>
        </p:blipFill>
        <p:spPr>
          <a:xfrm>
            <a:off x="0" y="951323"/>
            <a:ext cx="9540240" cy="5366385"/>
          </a:xfrm>
          <a:prstGeom prst="rect">
            <a:avLst/>
          </a:prstGeom>
        </p:spPr>
      </p:pic>
      <p:pic>
        <p:nvPicPr>
          <p:cNvPr id="1026" name="Picture 2" descr="NVIDIA Tesla T4 Front">
            <a:extLst>
              <a:ext uri="{FF2B5EF4-FFF2-40B4-BE49-F238E27FC236}">
                <a16:creationId xmlns:a16="http://schemas.microsoft.com/office/drawing/2014/main" id="{D2ED8E25-E7B9-BB32-82F6-E27E33C58A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6097" y="3644093"/>
            <a:ext cx="3148553" cy="314855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E7E79C8-D3B9-85D8-E6A7-7E3C815CEC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4419" y="74931"/>
            <a:ext cx="4227581" cy="4044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62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ssolv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32"/>
                                        </p:tgtEl>
                                        <p:attrNameLst>
                                          <p:attrName>style.visibility</p:attrName>
                                        </p:attrNameLst>
                                      </p:cBhvr>
                                      <p:to>
                                        <p:strVal val="visible"/>
                                      </p:to>
                                    </p:set>
                                    <p:animEffect transition="in" filter="dissolve">
                                      <p:cBhvr>
                                        <p:cTn id="12"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BD129F-704F-E2C2-C1C6-CC0385130644}"/>
              </a:ext>
            </a:extLst>
          </p:cNvPr>
          <p:cNvPicPr>
            <a:picLocks noChangeAspect="1"/>
          </p:cNvPicPr>
          <p:nvPr/>
        </p:nvPicPr>
        <p:blipFill>
          <a:blip r:embed="rId2"/>
          <a:stretch>
            <a:fillRect/>
          </a:stretch>
        </p:blipFill>
        <p:spPr>
          <a:xfrm>
            <a:off x="115789" y="179888"/>
            <a:ext cx="7772400" cy="4760545"/>
          </a:xfrm>
          <a:prstGeom prst="rect">
            <a:avLst/>
          </a:prstGeom>
        </p:spPr>
      </p:pic>
      <p:sp>
        <p:nvSpPr>
          <p:cNvPr id="2" name="Title 1">
            <a:extLst>
              <a:ext uri="{FF2B5EF4-FFF2-40B4-BE49-F238E27FC236}">
                <a16:creationId xmlns:a16="http://schemas.microsoft.com/office/drawing/2014/main" id="{FD3E0219-CDA4-C7E2-29EC-E3E69EA78308}"/>
              </a:ext>
            </a:extLst>
          </p:cNvPr>
          <p:cNvSpPr>
            <a:spLocks noGrp="1"/>
          </p:cNvSpPr>
          <p:nvPr>
            <p:ph type="title"/>
          </p:nvPr>
        </p:nvSpPr>
        <p:spPr>
          <a:xfrm>
            <a:off x="8229600" y="179888"/>
            <a:ext cx="3047198" cy="501149"/>
          </a:xfrm>
        </p:spPr>
        <p:txBody>
          <a:bodyPr/>
          <a:lstStyle/>
          <a:p>
            <a:r>
              <a:rPr lang="en-US" dirty="0"/>
              <a:t>Tesla T4</a:t>
            </a:r>
          </a:p>
        </p:txBody>
      </p:sp>
      <p:pic>
        <p:nvPicPr>
          <p:cNvPr id="5" name="Content Placeholder 4">
            <a:extLst>
              <a:ext uri="{FF2B5EF4-FFF2-40B4-BE49-F238E27FC236}">
                <a16:creationId xmlns:a16="http://schemas.microsoft.com/office/drawing/2014/main" id="{5CE3E00D-EE9B-62DE-15E3-C736A71B7409}"/>
              </a:ext>
            </a:extLst>
          </p:cNvPr>
          <p:cNvPicPr>
            <a:picLocks noGrp="1" noChangeAspect="1"/>
          </p:cNvPicPr>
          <p:nvPr>
            <p:ph idx="1"/>
          </p:nvPr>
        </p:nvPicPr>
        <p:blipFill>
          <a:blip r:embed="rId3"/>
          <a:stretch>
            <a:fillRect/>
          </a:stretch>
        </p:blipFill>
        <p:spPr>
          <a:xfrm>
            <a:off x="4628205" y="2061099"/>
            <a:ext cx="7202789" cy="4411663"/>
          </a:xfrm>
        </p:spPr>
      </p:pic>
    </p:spTree>
    <p:extLst>
      <p:ext uri="{BB962C8B-B14F-4D97-AF65-F5344CB8AC3E}">
        <p14:creationId xmlns:p14="http://schemas.microsoft.com/office/powerpoint/2010/main" val="184808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4308C-F587-BB49-7263-89C824917698}"/>
              </a:ext>
            </a:extLst>
          </p:cNvPr>
          <p:cNvSpPr>
            <a:spLocks noGrp="1"/>
          </p:cNvSpPr>
          <p:nvPr>
            <p:ph type="title"/>
          </p:nvPr>
        </p:nvSpPr>
        <p:spPr/>
        <p:txBody>
          <a:bodyPr/>
          <a:lstStyle/>
          <a:p>
            <a:r>
              <a:rPr lang="en-US" dirty="0"/>
              <a:t>GPU: Massive fine-grain data parallelism</a:t>
            </a:r>
          </a:p>
        </p:txBody>
      </p:sp>
      <p:sp>
        <p:nvSpPr>
          <p:cNvPr id="4" name="Text Placeholder 3">
            <a:extLst>
              <a:ext uri="{FF2B5EF4-FFF2-40B4-BE49-F238E27FC236}">
                <a16:creationId xmlns:a16="http://schemas.microsoft.com/office/drawing/2014/main" id="{746A5E46-8282-2611-91B4-7C4B27EFD189}"/>
              </a:ext>
            </a:extLst>
          </p:cNvPr>
          <p:cNvSpPr>
            <a:spLocks noGrp="1"/>
          </p:cNvSpPr>
          <p:nvPr>
            <p:ph type="body" idx="1"/>
          </p:nvPr>
        </p:nvSpPr>
        <p:spPr/>
        <p:txBody>
          <a:bodyPr/>
          <a:lstStyle/>
          <a:p>
            <a:r>
              <a:rPr lang="en-US" dirty="0">
                <a:solidFill>
                  <a:srgbClr val="FFC000"/>
                </a:solidFill>
              </a:rPr>
              <a:t>CPU</a:t>
            </a:r>
          </a:p>
        </p:txBody>
      </p:sp>
      <p:sp>
        <p:nvSpPr>
          <p:cNvPr id="5" name="Content Placeholder 4">
            <a:extLst>
              <a:ext uri="{FF2B5EF4-FFF2-40B4-BE49-F238E27FC236}">
                <a16:creationId xmlns:a16="http://schemas.microsoft.com/office/drawing/2014/main" id="{A581C608-A4ED-A69B-B966-F8F6436FF400}"/>
              </a:ext>
            </a:extLst>
          </p:cNvPr>
          <p:cNvSpPr>
            <a:spLocks noGrp="1"/>
          </p:cNvSpPr>
          <p:nvPr>
            <p:ph sz="half" idx="2"/>
          </p:nvPr>
        </p:nvSpPr>
        <p:spPr/>
        <p:txBody>
          <a:bodyPr>
            <a:normAutofit fontScale="92500"/>
          </a:bodyPr>
          <a:lstStyle/>
          <a:p>
            <a:r>
              <a:rPr lang="en-US" dirty="0"/>
              <a:t>A relatively small amount of very fast, complex cores</a:t>
            </a:r>
          </a:p>
          <a:p>
            <a:endParaRPr lang="en-US" dirty="0"/>
          </a:p>
          <a:p>
            <a:r>
              <a:rPr lang="en-US" dirty="0"/>
              <a:t>Individual and shared cache and large main memory</a:t>
            </a:r>
          </a:p>
          <a:p>
            <a:endParaRPr lang="en-US" dirty="0"/>
          </a:p>
          <a:p>
            <a:r>
              <a:rPr lang="en-US" dirty="0"/>
              <a:t>Programming model is to split out many data elements per core</a:t>
            </a:r>
          </a:p>
        </p:txBody>
      </p:sp>
      <p:sp>
        <p:nvSpPr>
          <p:cNvPr id="6" name="Text Placeholder 5">
            <a:extLst>
              <a:ext uri="{FF2B5EF4-FFF2-40B4-BE49-F238E27FC236}">
                <a16:creationId xmlns:a16="http://schemas.microsoft.com/office/drawing/2014/main" id="{E0101119-7FE9-2CB3-A894-C5BA55879647}"/>
              </a:ext>
            </a:extLst>
          </p:cNvPr>
          <p:cNvSpPr>
            <a:spLocks noGrp="1"/>
          </p:cNvSpPr>
          <p:nvPr>
            <p:ph type="body" sz="quarter" idx="3"/>
          </p:nvPr>
        </p:nvSpPr>
        <p:spPr>
          <a:xfrm>
            <a:off x="6429374" y="1681163"/>
            <a:ext cx="5183188" cy="823912"/>
          </a:xfrm>
        </p:spPr>
        <p:txBody>
          <a:bodyPr/>
          <a:lstStyle/>
          <a:p>
            <a:r>
              <a:rPr lang="en-US" dirty="0">
                <a:solidFill>
                  <a:srgbClr val="FFC000"/>
                </a:solidFill>
              </a:rPr>
              <a:t>GP-GPU</a:t>
            </a:r>
          </a:p>
        </p:txBody>
      </p:sp>
      <p:sp>
        <p:nvSpPr>
          <p:cNvPr id="7" name="Content Placeholder 6">
            <a:extLst>
              <a:ext uri="{FF2B5EF4-FFF2-40B4-BE49-F238E27FC236}">
                <a16:creationId xmlns:a16="http://schemas.microsoft.com/office/drawing/2014/main" id="{700518E9-5E15-EBE0-24E9-306B33CF4BC2}"/>
              </a:ext>
            </a:extLst>
          </p:cNvPr>
          <p:cNvSpPr>
            <a:spLocks noGrp="1"/>
          </p:cNvSpPr>
          <p:nvPr>
            <p:ph sz="quarter" idx="4"/>
          </p:nvPr>
        </p:nvSpPr>
        <p:spPr>
          <a:xfrm>
            <a:off x="6429374" y="2505075"/>
            <a:ext cx="5090181" cy="3684588"/>
          </a:xfrm>
        </p:spPr>
        <p:txBody>
          <a:bodyPr>
            <a:normAutofit fontScale="92500"/>
          </a:bodyPr>
          <a:lstStyle/>
          <a:p>
            <a:r>
              <a:rPr lang="en-US" dirty="0"/>
              <a:t>Thousands of simpler cores (</a:t>
            </a:r>
            <a:r>
              <a:rPr lang="en-US" dirty="0">
                <a:solidFill>
                  <a:schemeClr val="accent4">
                    <a:lumMod val="60000"/>
                    <a:lumOff val="40000"/>
                  </a:schemeClr>
                </a:solidFill>
              </a:rPr>
              <a:t>slower</a:t>
            </a:r>
            <a:r>
              <a:rPr lang="en-US" dirty="0"/>
              <a:t>)</a:t>
            </a:r>
          </a:p>
          <a:p>
            <a:endParaRPr lang="en-US" dirty="0"/>
          </a:p>
          <a:p>
            <a:r>
              <a:rPr lang="en-US" dirty="0"/>
              <a:t>Different memory layout</a:t>
            </a:r>
          </a:p>
          <a:p>
            <a:r>
              <a:rPr lang="en-US" dirty="0"/>
              <a:t>Different architecture</a:t>
            </a:r>
          </a:p>
          <a:p>
            <a:endParaRPr lang="en-US" dirty="0"/>
          </a:p>
          <a:p>
            <a:r>
              <a:rPr lang="en-US" dirty="0"/>
              <a:t>Programming model is one thread in one core works on one data element</a:t>
            </a:r>
          </a:p>
        </p:txBody>
      </p:sp>
    </p:spTree>
    <p:extLst>
      <p:ext uri="{BB962C8B-B14F-4D97-AF65-F5344CB8AC3E}">
        <p14:creationId xmlns:p14="http://schemas.microsoft.com/office/powerpoint/2010/main" val="1056710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descr="Mythbusters Demo GPU versus CPU">
            <a:hlinkClick r:id="" action="ppaction://media"/>
            <a:extLst>
              <a:ext uri="{FF2B5EF4-FFF2-40B4-BE49-F238E27FC236}">
                <a16:creationId xmlns:a16="http://schemas.microsoft.com/office/drawing/2014/main" id="{ED298BC8-90BF-BDC8-7AEF-0AFEC31CB02F}"/>
              </a:ext>
            </a:extLst>
          </p:cNvPr>
          <p:cNvPicPr>
            <a:picLocks noGrp="1" noRot="1" noChangeAspect="1"/>
          </p:cNvPicPr>
          <p:nvPr>
            <p:ph idx="1"/>
            <a:videoFile r:link="rId1"/>
          </p:nvPr>
        </p:nvPicPr>
        <p:blipFill>
          <a:blip r:embed="rId3"/>
          <a:stretch>
            <a:fillRect/>
          </a:stretch>
        </p:blipFill>
        <p:spPr>
          <a:xfrm>
            <a:off x="678730" y="149504"/>
            <a:ext cx="11065177" cy="6251297"/>
          </a:xfrm>
          <a:prstGeom prst="rect">
            <a:avLst/>
          </a:prstGeom>
        </p:spPr>
      </p:pic>
    </p:spTree>
    <p:extLst>
      <p:ext uri="{BB962C8B-B14F-4D97-AF65-F5344CB8AC3E}">
        <p14:creationId xmlns:p14="http://schemas.microsoft.com/office/powerpoint/2010/main" val="134077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011A-DD6C-674E-796E-512CE8DEACC9}"/>
              </a:ext>
            </a:extLst>
          </p:cNvPr>
          <p:cNvSpPr>
            <a:spLocks noGrp="1"/>
          </p:cNvSpPr>
          <p:nvPr>
            <p:ph type="title"/>
          </p:nvPr>
        </p:nvSpPr>
        <p:spPr/>
        <p:txBody>
          <a:bodyPr/>
          <a:lstStyle/>
          <a:p>
            <a:r>
              <a:rPr lang="en-US" dirty="0"/>
              <a:t>GPU Architecture, abstractly</a:t>
            </a:r>
          </a:p>
        </p:txBody>
      </p:sp>
      <p:pic>
        <p:nvPicPr>
          <p:cNvPr id="9" name="Content Placeholder 8">
            <a:extLst>
              <a:ext uri="{FF2B5EF4-FFF2-40B4-BE49-F238E27FC236}">
                <a16:creationId xmlns:a16="http://schemas.microsoft.com/office/drawing/2014/main" id="{20FE0124-EAB0-D977-3099-847C9C208EB2}"/>
              </a:ext>
            </a:extLst>
          </p:cNvPr>
          <p:cNvPicPr>
            <a:picLocks noGrp="1" noChangeAspect="1"/>
          </p:cNvPicPr>
          <p:nvPr>
            <p:ph idx="1"/>
          </p:nvPr>
        </p:nvPicPr>
        <p:blipFill>
          <a:blip r:embed="rId2"/>
          <a:stretch>
            <a:fillRect/>
          </a:stretch>
        </p:blipFill>
        <p:spPr>
          <a:xfrm>
            <a:off x="405943" y="659743"/>
            <a:ext cx="9104274" cy="5366385"/>
          </a:xfrm>
        </p:spPr>
      </p:pic>
      <p:pic>
        <p:nvPicPr>
          <p:cNvPr id="11" name="Picture 10">
            <a:extLst>
              <a:ext uri="{FF2B5EF4-FFF2-40B4-BE49-F238E27FC236}">
                <a16:creationId xmlns:a16="http://schemas.microsoft.com/office/drawing/2014/main" id="{CD3EF284-9598-4AB6-DDFD-731C6C3DD7EB}"/>
              </a:ext>
            </a:extLst>
          </p:cNvPr>
          <p:cNvPicPr>
            <a:picLocks noChangeAspect="1"/>
          </p:cNvPicPr>
          <p:nvPr/>
        </p:nvPicPr>
        <p:blipFill>
          <a:blip r:embed="rId3"/>
          <a:stretch>
            <a:fillRect/>
          </a:stretch>
        </p:blipFill>
        <p:spPr>
          <a:xfrm>
            <a:off x="10152848" y="2209461"/>
            <a:ext cx="1536700" cy="3060700"/>
          </a:xfrm>
          <a:prstGeom prst="rect">
            <a:avLst/>
          </a:prstGeom>
        </p:spPr>
      </p:pic>
      <p:cxnSp>
        <p:nvCxnSpPr>
          <p:cNvPr id="13" name="Straight Connector 12">
            <a:extLst>
              <a:ext uri="{FF2B5EF4-FFF2-40B4-BE49-F238E27FC236}">
                <a16:creationId xmlns:a16="http://schemas.microsoft.com/office/drawing/2014/main" id="{2FD9D177-F467-EBD4-C19E-99B8BA6D0F7A}"/>
              </a:ext>
            </a:extLst>
          </p:cNvPr>
          <p:cNvCxnSpPr/>
          <p:nvPr/>
        </p:nvCxnSpPr>
        <p:spPr>
          <a:xfrm flipV="1">
            <a:off x="8778240" y="2260896"/>
            <a:ext cx="1330960" cy="91440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C27F543-8E3C-8A1A-7B4C-2535F66F91A8}"/>
              </a:ext>
            </a:extLst>
          </p:cNvPr>
          <p:cNvCxnSpPr>
            <a:cxnSpLocks/>
          </p:cNvCxnSpPr>
          <p:nvPr/>
        </p:nvCxnSpPr>
        <p:spPr>
          <a:xfrm>
            <a:off x="8778240" y="4164660"/>
            <a:ext cx="1374608" cy="1105501"/>
          </a:xfrm>
          <a:prstGeom prst="line">
            <a:avLst/>
          </a:prstGeom>
          <a:ln w="34925"/>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C059792-63C3-8132-CF47-A062D0EAAE59}"/>
              </a:ext>
            </a:extLst>
          </p:cNvPr>
          <p:cNvSpPr txBox="1"/>
          <p:nvPr/>
        </p:nvSpPr>
        <p:spPr>
          <a:xfrm>
            <a:off x="405943" y="6098179"/>
            <a:ext cx="5512856" cy="646331"/>
          </a:xfrm>
          <a:prstGeom prst="rect">
            <a:avLst/>
          </a:prstGeom>
          <a:noFill/>
        </p:spPr>
        <p:txBody>
          <a:bodyPr wrap="none" rtlCol="0">
            <a:spAutoFit/>
          </a:bodyPr>
          <a:lstStyle/>
          <a:p>
            <a:r>
              <a:rPr lang="en-US" dirty="0"/>
              <a:t>1 SM on latest architecture has 128 cores (64 on mscs1). </a:t>
            </a:r>
          </a:p>
          <a:p>
            <a:r>
              <a:rPr lang="en-US" dirty="0"/>
              <a:t>Number of SMs per card can vary a lot: 16 to 128</a:t>
            </a:r>
          </a:p>
        </p:txBody>
      </p:sp>
      <p:sp>
        <p:nvSpPr>
          <p:cNvPr id="19" name="TextBox 18">
            <a:extLst>
              <a:ext uri="{FF2B5EF4-FFF2-40B4-BE49-F238E27FC236}">
                <a16:creationId xmlns:a16="http://schemas.microsoft.com/office/drawing/2014/main" id="{85AE9AD8-6D7B-9B3E-9C1F-5BFCA0A44FE9}"/>
              </a:ext>
            </a:extLst>
          </p:cNvPr>
          <p:cNvSpPr txBox="1"/>
          <p:nvPr/>
        </p:nvSpPr>
        <p:spPr>
          <a:xfrm>
            <a:off x="6551756" y="6019023"/>
            <a:ext cx="5137792" cy="830997"/>
          </a:xfrm>
          <a:prstGeom prst="rect">
            <a:avLst/>
          </a:prstGeom>
          <a:noFill/>
        </p:spPr>
        <p:txBody>
          <a:bodyPr wrap="square" rtlCol="0">
            <a:spAutoFit/>
          </a:bodyPr>
          <a:lstStyle/>
          <a:p>
            <a:r>
              <a:rPr lang="en-US" sz="2400" dirty="0">
                <a:solidFill>
                  <a:schemeClr val="accent4">
                    <a:lumMod val="60000"/>
                    <a:lumOff val="40000"/>
                  </a:schemeClr>
                </a:solidFill>
              </a:rPr>
              <a:t>Typically anywhere from 2048 – 16,384 cores per GPU </a:t>
            </a:r>
          </a:p>
        </p:txBody>
      </p:sp>
    </p:spTree>
    <p:extLst>
      <p:ext uri="{BB962C8B-B14F-4D97-AF65-F5344CB8AC3E}">
        <p14:creationId xmlns:p14="http://schemas.microsoft.com/office/powerpoint/2010/main" val="202716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par>
                                <p:cTn id="11" presetID="9"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ppt_x"/>
                                          </p:val>
                                        </p:tav>
                                        <p:tav tm="100000">
                                          <p:val>
                                            <p:strVal val="#ppt_x"/>
                                          </p:val>
                                        </p:tav>
                                      </p:tavLst>
                                    </p:anim>
                                    <p:anim calcmode="lin" valueType="num">
                                      <p:cBhvr additive="base">
                                        <p:cTn id="1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ppt_x"/>
                                          </p:val>
                                        </p:tav>
                                        <p:tav tm="100000">
                                          <p:val>
                                            <p:strVal val="#ppt_x"/>
                                          </p:val>
                                        </p:tav>
                                      </p:tavLst>
                                    </p:anim>
                                    <p:anim calcmode="lin" valueType="num">
                                      <p:cBhvr additive="base">
                                        <p:cTn id="25"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011A-DD6C-674E-796E-512CE8DEACC9}"/>
              </a:ext>
            </a:extLst>
          </p:cNvPr>
          <p:cNvSpPr>
            <a:spLocks noGrp="1"/>
          </p:cNvSpPr>
          <p:nvPr>
            <p:ph type="title"/>
          </p:nvPr>
        </p:nvSpPr>
        <p:spPr/>
        <p:txBody>
          <a:bodyPr/>
          <a:lstStyle/>
          <a:p>
            <a:r>
              <a:rPr lang="en-US" dirty="0"/>
              <a:t>mscs1 GPU Architecture, concretely</a:t>
            </a:r>
          </a:p>
        </p:txBody>
      </p:sp>
      <p:pic>
        <p:nvPicPr>
          <p:cNvPr id="9" name="Content Placeholder 8">
            <a:extLst>
              <a:ext uri="{FF2B5EF4-FFF2-40B4-BE49-F238E27FC236}">
                <a16:creationId xmlns:a16="http://schemas.microsoft.com/office/drawing/2014/main" id="{20FE0124-EAB0-D977-3099-847C9C208EB2}"/>
              </a:ext>
            </a:extLst>
          </p:cNvPr>
          <p:cNvPicPr>
            <a:picLocks noGrp="1" noChangeAspect="1"/>
          </p:cNvPicPr>
          <p:nvPr>
            <p:ph idx="1"/>
          </p:nvPr>
        </p:nvPicPr>
        <p:blipFill>
          <a:blip r:embed="rId2"/>
          <a:stretch>
            <a:fillRect/>
          </a:stretch>
        </p:blipFill>
        <p:spPr>
          <a:xfrm>
            <a:off x="75415" y="847952"/>
            <a:ext cx="6842430" cy="4033173"/>
          </a:xfrm>
        </p:spPr>
      </p:pic>
      <p:sp>
        <p:nvSpPr>
          <p:cNvPr id="19" name="TextBox 18">
            <a:extLst>
              <a:ext uri="{FF2B5EF4-FFF2-40B4-BE49-F238E27FC236}">
                <a16:creationId xmlns:a16="http://schemas.microsoft.com/office/drawing/2014/main" id="{85AE9AD8-6D7B-9B3E-9C1F-5BFCA0A44FE9}"/>
              </a:ext>
            </a:extLst>
          </p:cNvPr>
          <p:cNvSpPr txBox="1"/>
          <p:nvPr/>
        </p:nvSpPr>
        <p:spPr>
          <a:xfrm>
            <a:off x="7054208" y="1294879"/>
            <a:ext cx="4814138" cy="1569660"/>
          </a:xfrm>
          <a:prstGeom prst="rect">
            <a:avLst/>
          </a:prstGeom>
          <a:noFill/>
        </p:spPr>
        <p:txBody>
          <a:bodyPr wrap="square" rtlCol="0">
            <a:spAutoFit/>
          </a:bodyPr>
          <a:lstStyle/>
          <a:p>
            <a:r>
              <a:rPr lang="en-US" sz="2400" dirty="0">
                <a:solidFill>
                  <a:schemeClr val="accent4">
                    <a:lumMod val="60000"/>
                    <a:lumOff val="40000"/>
                  </a:schemeClr>
                </a:solidFill>
              </a:rPr>
              <a:t>Our mscs1 has a Tesla T4 card with:</a:t>
            </a:r>
          </a:p>
          <a:p>
            <a:r>
              <a:rPr lang="en-US" sz="2400" dirty="0">
                <a:solidFill>
                  <a:schemeClr val="accent4">
                    <a:lumMod val="60000"/>
                    <a:lumOff val="40000"/>
                  </a:schemeClr>
                </a:solidFill>
              </a:rPr>
              <a:t>40 Streaming multiprocessors (SM)</a:t>
            </a:r>
          </a:p>
          <a:p>
            <a:pPr marL="457200" indent="-457200">
              <a:buAutoNum type="arabicPlain" startAt="64"/>
            </a:pPr>
            <a:r>
              <a:rPr lang="en-US" sz="2400" dirty="0">
                <a:solidFill>
                  <a:schemeClr val="accent4">
                    <a:lumMod val="60000"/>
                    <a:lumOff val="40000"/>
                  </a:schemeClr>
                </a:solidFill>
              </a:rPr>
              <a:t>Cores per SM </a:t>
            </a:r>
          </a:p>
          <a:p>
            <a:r>
              <a:rPr lang="en-US" sz="2400" dirty="0">
                <a:solidFill>
                  <a:schemeClr val="accent4">
                    <a:lumMod val="60000"/>
                    <a:lumOff val="40000"/>
                  </a:schemeClr>
                </a:solidFill>
              </a:rPr>
              <a:t>2560 cores per GPU </a:t>
            </a:r>
          </a:p>
        </p:txBody>
      </p:sp>
    </p:spTree>
    <p:extLst>
      <p:ext uri="{BB962C8B-B14F-4D97-AF65-F5344CB8AC3E}">
        <p14:creationId xmlns:p14="http://schemas.microsoft.com/office/powerpoint/2010/main" val="2904676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E1AD-65D5-D079-0917-9E7112182738}"/>
              </a:ext>
            </a:extLst>
          </p:cNvPr>
          <p:cNvSpPr>
            <a:spLocks noGrp="1"/>
          </p:cNvSpPr>
          <p:nvPr>
            <p:ph type="title"/>
          </p:nvPr>
        </p:nvSpPr>
        <p:spPr>
          <a:xfrm>
            <a:off x="761198" y="179888"/>
            <a:ext cx="5243362" cy="501149"/>
          </a:xfrm>
        </p:spPr>
        <p:txBody>
          <a:bodyPr/>
          <a:lstStyle/>
          <a:p>
            <a:pPr algn="l"/>
            <a:r>
              <a:rPr lang="en-US" dirty="0"/>
              <a:t>Matrix Multiply Example</a:t>
            </a:r>
          </a:p>
        </p:txBody>
      </p:sp>
      <p:pic>
        <p:nvPicPr>
          <p:cNvPr id="5" name="Picture 4">
            <a:extLst>
              <a:ext uri="{FF2B5EF4-FFF2-40B4-BE49-F238E27FC236}">
                <a16:creationId xmlns:a16="http://schemas.microsoft.com/office/drawing/2014/main" id="{4B666C60-BF3E-B8EE-33F1-5C2A3E82A60B}"/>
              </a:ext>
            </a:extLst>
          </p:cNvPr>
          <p:cNvPicPr>
            <a:picLocks noChangeAspect="1"/>
          </p:cNvPicPr>
          <p:nvPr/>
        </p:nvPicPr>
        <p:blipFill>
          <a:blip r:embed="rId2"/>
          <a:stretch>
            <a:fillRect/>
          </a:stretch>
        </p:blipFill>
        <p:spPr>
          <a:xfrm>
            <a:off x="7432042" y="312420"/>
            <a:ext cx="4558643" cy="4391660"/>
          </a:xfrm>
          <a:prstGeom prst="rect">
            <a:avLst/>
          </a:prstGeom>
        </p:spPr>
      </p:pic>
      <p:sp>
        <p:nvSpPr>
          <p:cNvPr id="6" name="TextBox 5">
            <a:extLst>
              <a:ext uri="{FF2B5EF4-FFF2-40B4-BE49-F238E27FC236}">
                <a16:creationId xmlns:a16="http://schemas.microsoft.com/office/drawing/2014/main" id="{AAF4EC6C-590B-FD4D-ACE0-8A50202D177C}"/>
              </a:ext>
            </a:extLst>
          </p:cNvPr>
          <p:cNvSpPr txBox="1"/>
          <p:nvPr/>
        </p:nvSpPr>
        <p:spPr>
          <a:xfrm>
            <a:off x="201315" y="999707"/>
            <a:ext cx="6481824" cy="5355312"/>
          </a:xfrm>
          <a:prstGeom prst="rect">
            <a:avLst/>
          </a:prstGeom>
          <a:noFill/>
        </p:spPr>
        <p:txBody>
          <a:bodyPr wrap="square" rtlCol="0">
            <a:spAutoFit/>
          </a:bodyPr>
          <a:lstStyle/>
          <a:p>
            <a:endParaRPr lang="en-US" dirty="0">
              <a:latin typeface="Andale Mono" panose="020B0509000000000004" pitchFamily="49" charset="0"/>
            </a:endParaRPr>
          </a:p>
          <a:p>
            <a:r>
              <a:rPr lang="en-US" dirty="0">
                <a:latin typeface="Andale Mono" panose="020B0509000000000004" pitchFamily="49" charset="0"/>
              </a:rPr>
              <a:t>// function to multiply two matrices</a:t>
            </a:r>
          </a:p>
          <a:p>
            <a:r>
              <a:rPr lang="en-US" dirty="0">
                <a:latin typeface="Andale Mono" panose="020B0509000000000004" pitchFamily="49" charset="0"/>
              </a:rPr>
              <a:t>void </a:t>
            </a:r>
            <a:r>
              <a:rPr lang="en-US" dirty="0" err="1">
                <a:latin typeface="Andale Mono" panose="020B0509000000000004" pitchFamily="49" charset="0"/>
              </a:rPr>
              <a:t>multiplyMatrices</a:t>
            </a:r>
            <a:r>
              <a:rPr lang="en-US" dirty="0">
                <a:latin typeface="Andale Mono" panose="020B0509000000000004" pitchFamily="49" charset="0"/>
              </a:rPr>
              <a:t>(float A[][],</a:t>
            </a:r>
          </a:p>
          <a:p>
            <a:r>
              <a:rPr lang="en-US" dirty="0">
                <a:latin typeface="Andale Mono" panose="020B0509000000000004" pitchFamily="49" charset="0"/>
              </a:rPr>
              <a:t>                      float B[][],</a:t>
            </a:r>
          </a:p>
          <a:p>
            <a:r>
              <a:rPr lang="en-US" dirty="0">
                <a:latin typeface="Andale Mono" panose="020B0509000000000004" pitchFamily="49" charset="0"/>
              </a:rPr>
              <a:t>                      float C[][],</a:t>
            </a:r>
          </a:p>
          <a:p>
            <a:r>
              <a:rPr lang="en-US" dirty="0">
                <a:latin typeface="Andale Mono" panose="020B0509000000000004" pitchFamily="49" charset="0"/>
              </a:rPr>
              <a:t>                      int rows, int cols) {</a:t>
            </a:r>
          </a:p>
          <a:p>
            <a:endParaRPr lang="en-US" dirty="0">
              <a:latin typeface="Andale Mono" panose="020B0509000000000004" pitchFamily="49" charset="0"/>
            </a:endParaRPr>
          </a:p>
          <a:p>
            <a:endParaRPr lang="en-US" dirty="0">
              <a:latin typeface="Andale Mono" panose="020B0509000000000004" pitchFamily="49" charset="0"/>
            </a:endParaRPr>
          </a:p>
          <a:p>
            <a:r>
              <a:rPr lang="en-US" dirty="0">
                <a:latin typeface="Andale Mono" panose="020B0509000000000004" pitchFamily="49" charset="0"/>
              </a:rPr>
              <a:t>   // Multiplying first and second matrices</a:t>
            </a:r>
          </a:p>
          <a:p>
            <a:r>
              <a:rPr lang="en-US" dirty="0">
                <a:latin typeface="Andale Mono" panose="020B0509000000000004" pitchFamily="49" charset="0"/>
              </a:rPr>
              <a:t>   // and storing it in result C</a:t>
            </a:r>
          </a:p>
          <a:p>
            <a:r>
              <a:rPr lang="en-US" dirty="0">
                <a:latin typeface="Andale Mono" panose="020B0509000000000004" pitchFamily="49" charset="0"/>
              </a:rPr>
              <a:t>   for (int </a:t>
            </a:r>
            <a:r>
              <a:rPr lang="en-US" dirty="0" err="1">
                <a:latin typeface="Andale Mono" panose="020B0509000000000004" pitchFamily="49" charset="0"/>
              </a:rPr>
              <a:t>i</a:t>
            </a:r>
            <a:r>
              <a:rPr lang="en-US" dirty="0">
                <a:latin typeface="Andale Mono" panose="020B0509000000000004" pitchFamily="49" charset="0"/>
              </a:rPr>
              <a:t> = 0; </a:t>
            </a:r>
            <a:r>
              <a:rPr lang="en-US" dirty="0" err="1">
                <a:latin typeface="Andale Mono" panose="020B0509000000000004" pitchFamily="49" charset="0"/>
              </a:rPr>
              <a:t>i</a:t>
            </a:r>
            <a:r>
              <a:rPr lang="en-US" dirty="0">
                <a:latin typeface="Andale Mono" panose="020B0509000000000004" pitchFamily="49" charset="0"/>
              </a:rPr>
              <a:t> &lt; rows; ++</a:t>
            </a:r>
            <a:r>
              <a:rPr lang="en-US" dirty="0" err="1">
                <a:latin typeface="Andale Mono" panose="020B0509000000000004" pitchFamily="49" charset="0"/>
              </a:rPr>
              <a:t>i</a:t>
            </a:r>
            <a:r>
              <a:rPr lang="en-US" dirty="0">
                <a:latin typeface="Andale Mono" panose="020B0509000000000004" pitchFamily="49" charset="0"/>
              </a:rPr>
              <a:t>) {</a:t>
            </a:r>
          </a:p>
          <a:p>
            <a:r>
              <a:rPr lang="en-US" dirty="0">
                <a:latin typeface="Andale Mono" panose="020B0509000000000004" pitchFamily="49" charset="0"/>
              </a:rPr>
              <a:t>      for (int j = 0; j &lt; cols; ++j) {</a:t>
            </a:r>
          </a:p>
          <a:p>
            <a:r>
              <a:rPr lang="en-US" dirty="0">
                <a:latin typeface="Andale Mono" panose="020B0509000000000004" pitchFamily="49" charset="0"/>
              </a:rPr>
              <a:t>         for (int k = 0; k &lt; cols; ++k) {</a:t>
            </a:r>
          </a:p>
          <a:p>
            <a:r>
              <a:rPr lang="en-US" dirty="0">
                <a:latin typeface="Andale Mono" panose="020B0509000000000004" pitchFamily="49" charset="0"/>
              </a:rPr>
              <a:t>            C[</a:t>
            </a:r>
            <a:r>
              <a:rPr lang="en-US" dirty="0" err="1">
                <a:latin typeface="Andale Mono" panose="020B0509000000000004" pitchFamily="49" charset="0"/>
              </a:rPr>
              <a:t>i</a:t>
            </a:r>
            <a:r>
              <a:rPr lang="en-US" dirty="0">
                <a:latin typeface="Andale Mono" panose="020B0509000000000004" pitchFamily="49" charset="0"/>
              </a:rPr>
              <a:t>][j] += A[</a:t>
            </a:r>
            <a:r>
              <a:rPr lang="en-US" dirty="0" err="1">
                <a:latin typeface="Andale Mono" panose="020B0509000000000004" pitchFamily="49" charset="0"/>
              </a:rPr>
              <a:t>i</a:t>
            </a:r>
            <a:r>
              <a:rPr lang="en-US" dirty="0">
                <a:latin typeface="Andale Mono" panose="020B0509000000000004" pitchFamily="49" charset="0"/>
              </a:rPr>
              <a:t>][k] * B[k][j];</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a:t>
            </a:r>
          </a:p>
          <a:p>
            <a:endParaRPr lang="en-US" dirty="0">
              <a:latin typeface="Andale Mono" panose="020B0509000000000004" pitchFamily="49" charset="0"/>
            </a:endParaRPr>
          </a:p>
        </p:txBody>
      </p:sp>
      <p:pic>
        <p:nvPicPr>
          <p:cNvPr id="3" name="Content Placeholder 4">
            <a:extLst>
              <a:ext uri="{FF2B5EF4-FFF2-40B4-BE49-F238E27FC236}">
                <a16:creationId xmlns:a16="http://schemas.microsoft.com/office/drawing/2014/main" id="{B5EA19B5-93D9-2D5E-28ED-47E7ABC7E86D}"/>
              </a:ext>
            </a:extLst>
          </p:cNvPr>
          <p:cNvPicPr>
            <a:picLocks noGrp="1" noChangeAspect="1"/>
          </p:cNvPicPr>
          <p:nvPr>
            <p:ph idx="1"/>
          </p:nvPr>
        </p:nvPicPr>
        <p:blipFill>
          <a:blip r:embed="rId3"/>
          <a:stretch>
            <a:fillRect/>
          </a:stretch>
        </p:blipFill>
        <p:spPr>
          <a:xfrm>
            <a:off x="9076782" y="3712210"/>
            <a:ext cx="3086100" cy="3060700"/>
          </a:xfrm>
        </p:spPr>
      </p:pic>
      <p:sp>
        <p:nvSpPr>
          <p:cNvPr id="4" name="TextBox 3">
            <a:extLst>
              <a:ext uri="{FF2B5EF4-FFF2-40B4-BE49-F238E27FC236}">
                <a16:creationId xmlns:a16="http://schemas.microsoft.com/office/drawing/2014/main" id="{07183F3D-4815-3F28-4093-41FA19C40EA3}"/>
              </a:ext>
            </a:extLst>
          </p:cNvPr>
          <p:cNvSpPr txBox="1"/>
          <p:nvPr/>
        </p:nvSpPr>
        <p:spPr>
          <a:xfrm>
            <a:off x="3505281" y="5242560"/>
            <a:ext cx="4558642" cy="923330"/>
          </a:xfrm>
          <a:prstGeom prst="rect">
            <a:avLst/>
          </a:prstGeom>
          <a:noFill/>
        </p:spPr>
        <p:txBody>
          <a:bodyPr wrap="square" rtlCol="0">
            <a:spAutoFit/>
          </a:bodyPr>
          <a:lstStyle/>
          <a:p>
            <a:r>
              <a:rPr lang="en-US" dirty="0">
                <a:solidFill>
                  <a:schemeClr val="accent4">
                    <a:lumMod val="60000"/>
                    <a:lumOff val="40000"/>
                  </a:schemeClr>
                </a:solidFill>
              </a:rPr>
              <a:t>The GPU programming model is:</a:t>
            </a:r>
          </a:p>
          <a:p>
            <a:r>
              <a:rPr lang="en-US" dirty="0">
                <a:solidFill>
                  <a:schemeClr val="accent4">
                    <a:lumMod val="60000"/>
                    <a:lumOff val="40000"/>
                  </a:schemeClr>
                </a:solidFill>
              </a:rPr>
              <a:t>Every core computes one element in a thread</a:t>
            </a:r>
          </a:p>
          <a:p>
            <a:r>
              <a:rPr lang="en-US" dirty="0">
                <a:solidFill>
                  <a:schemeClr val="accent4">
                    <a:lumMod val="60000"/>
                    <a:lumOff val="40000"/>
                  </a:schemeClr>
                </a:solidFill>
              </a:rPr>
              <a:t>Scheduler assigns (hidden from programmer) </a:t>
            </a:r>
          </a:p>
        </p:txBody>
      </p:sp>
    </p:spTree>
    <p:extLst>
      <p:ext uri="{BB962C8B-B14F-4D97-AF65-F5344CB8AC3E}">
        <p14:creationId xmlns:p14="http://schemas.microsoft.com/office/powerpoint/2010/main" val="261638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BB5A4-BE90-E44E-9AF0-D5382E685368}"/>
              </a:ext>
            </a:extLst>
          </p:cNvPr>
          <p:cNvSpPr>
            <a:spLocks noGrp="1"/>
          </p:cNvSpPr>
          <p:nvPr>
            <p:ph type="ctrTitle"/>
          </p:nvPr>
        </p:nvSpPr>
        <p:spPr>
          <a:xfrm>
            <a:off x="1524000" y="294323"/>
            <a:ext cx="9144000" cy="848677"/>
          </a:xfrm>
        </p:spPr>
        <p:txBody>
          <a:bodyPr/>
          <a:lstStyle/>
          <a:p>
            <a:r>
              <a:rPr lang="en-US" dirty="0"/>
              <a:t>GPU Execution</a:t>
            </a:r>
          </a:p>
        </p:txBody>
      </p:sp>
      <p:pic>
        <p:nvPicPr>
          <p:cNvPr id="5" name="Picture 4">
            <a:extLst>
              <a:ext uri="{FF2B5EF4-FFF2-40B4-BE49-F238E27FC236}">
                <a16:creationId xmlns:a16="http://schemas.microsoft.com/office/drawing/2014/main" id="{1C21EB71-1398-ADF1-5EFE-BD18888074BA}"/>
              </a:ext>
            </a:extLst>
          </p:cNvPr>
          <p:cNvPicPr>
            <a:picLocks noChangeAspect="1"/>
          </p:cNvPicPr>
          <p:nvPr/>
        </p:nvPicPr>
        <p:blipFill>
          <a:blip r:embed="rId2"/>
          <a:stretch>
            <a:fillRect/>
          </a:stretch>
        </p:blipFill>
        <p:spPr>
          <a:xfrm>
            <a:off x="934720" y="1279842"/>
            <a:ext cx="9540240" cy="5366385"/>
          </a:xfrm>
          <a:prstGeom prst="rect">
            <a:avLst/>
          </a:prstGeom>
        </p:spPr>
      </p:pic>
      <p:sp>
        <p:nvSpPr>
          <p:cNvPr id="3" name="TextBox 2">
            <a:extLst>
              <a:ext uri="{FF2B5EF4-FFF2-40B4-BE49-F238E27FC236}">
                <a16:creationId xmlns:a16="http://schemas.microsoft.com/office/drawing/2014/main" id="{3DEA1EEF-B101-9072-FE02-60D052A58622}"/>
              </a:ext>
            </a:extLst>
          </p:cNvPr>
          <p:cNvSpPr txBox="1"/>
          <p:nvPr/>
        </p:nvSpPr>
        <p:spPr>
          <a:xfrm>
            <a:off x="63969" y="5368066"/>
            <a:ext cx="870751" cy="646331"/>
          </a:xfrm>
          <a:prstGeom prst="rect">
            <a:avLst/>
          </a:prstGeom>
          <a:noFill/>
        </p:spPr>
        <p:txBody>
          <a:bodyPr wrap="none" rtlCol="0">
            <a:spAutoFit/>
          </a:bodyPr>
          <a:lstStyle/>
          <a:p>
            <a:r>
              <a:rPr lang="en-US" dirty="0"/>
              <a:t>I/O bus</a:t>
            </a:r>
          </a:p>
          <a:p>
            <a:r>
              <a:rPr lang="en-US" dirty="0"/>
              <a:t>(PCI-e)</a:t>
            </a:r>
          </a:p>
        </p:txBody>
      </p:sp>
      <p:cxnSp>
        <p:nvCxnSpPr>
          <p:cNvPr id="6" name="Straight Arrow Connector 5">
            <a:extLst>
              <a:ext uri="{FF2B5EF4-FFF2-40B4-BE49-F238E27FC236}">
                <a16:creationId xmlns:a16="http://schemas.microsoft.com/office/drawing/2014/main" id="{01DF6B11-8495-C99F-A7A9-7331D6E100EA}"/>
              </a:ext>
            </a:extLst>
          </p:cNvPr>
          <p:cNvCxnSpPr>
            <a:cxnSpLocks/>
            <a:stCxn id="3" idx="3"/>
          </p:cNvCxnSpPr>
          <p:nvPr/>
        </p:nvCxnSpPr>
        <p:spPr>
          <a:xfrm flipV="1">
            <a:off x="934720" y="4807670"/>
            <a:ext cx="2920843" cy="883562"/>
          </a:xfrm>
          <a:prstGeom prst="straightConnector1">
            <a:avLst/>
          </a:prstGeom>
          <a:ln w="6985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F4A32DD-AC8F-5009-0698-2518EE336105}"/>
              </a:ext>
            </a:extLst>
          </p:cNvPr>
          <p:cNvSpPr txBox="1"/>
          <p:nvPr/>
        </p:nvSpPr>
        <p:spPr>
          <a:xfrm>
            <a:off x="10453736" y="2108499"/>
            <a:ext cx="1783950" cy="646331"/>
          </a:xfrm>
          <a:prstGeom prst="rect">
            <a:avLst/>
          </a:prstGeom>
          <a:noFill/>
        </p:spPr>
        <p:txBody>
          <a:bodyPr wrap="none" rtlCol="0">
            <a:spAutoFit/>
          </a:bodyPr>
          <a:lstStyle/>
          <a:p>
            <a:r>
              <a:rPr lang="en-US" dirty="0"/>
              <a:t>CPU</a:t>
            </a:r>
          </a:p>
          <a:p>
            <a:r>
              <a:rPr lang="en-US" dirty="0"/>
              <a:t>(under heat sink)</a:t>
            </a:r>
          </a:p>
        </p:txBody>
      </p:sp>
      <p:cxnSp>
        <p:nvCxnSpPr>
          <p:cNvPr id="9" name="Straight Arrow Connector 8">
            <a:extLst>
              <a:ext uri="{FF2B5EF4-FFF2-40B4-BE49-F238E27FC236}">
                <a16:creationId xmlns:a16="http://schemas.microsoft.com/office/drawing/2014/main" id="{DCDF9A48-8BB3-1E2F-7E38-3223865CE8DB}"/>
              </a:ext>
            </a:extLst>
          </p:cNvPr>
          <p:cNvCxnSpPr>
            <a:cxnSpLocks/>
          </p:cNvCxnSpPr>
          <p:nvPr/>
        </p:nvCxnSpPr>
        <p:spPr>
          <a:xfrm flipH="1">
            <a:off x="7637929" y="2581835"/>
            <a:ext cx="2815807" cy="172995"/>
          </a:xfrm>
          <a:prstGeom prst="straightConnector1">
            <a:avLst/>
          </a:prstGeom>
          <a:ln w="6985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7668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BD129F-704F-E2C2-C1C6-CC0385130644}"/>
              </a:ext>
            </a:extLst>
          </p:cNvPr>
          <p:cNvPicPr>
            <a:picLocks noChangeAspect="1"/>
          </p:cNvPicPr>
          <p:nvPr/>
        </p:nvPicPr>
        <p:blipFill>
          <a:blip r:embed="rId2"/>
          <a:stretch>
            <a:fillRect/>
          </a:stretch>
        </p:blipFill>
        <p:spPr>
          <a:xfrm>
            <a:off x="115789" y="179888"/>
            <a:ext cx="7772400" cy="4760545"/>
          </a:xfrm>
          <a:prstGeom prst="rect">
            <a:avLst/>
          </a:prstGeom>
        </p:spPr>
      </p:pic>
      <p:sp>
        <p:nvSpPr>
          <p:cNvPr id="2" name="Title 1">
            <a:extLst>
              <a:ext uri="{FF2B5EF4-FFF2-40B4-BE49-F238E27FC236}">
                <a16:creationId xmlns:a16="http://schemas.microsoft.com/office/drawing/2014/main" id="{FD3E0219-CDA4-C7E2-29EC-E3E69EA78308}"/>
              </a:ext>
            </a:extLst>
          </p:cNvPr>
          <p:cNvSpPr>
            <a:spLocks noGrp="1"/>
          </p:cNvSpPr>
          <p:nvPr>
            <p:ph type="title"/>
          </p:nvPr>
        </p:nvSpPr>
        <p:spPr>
          <a:xfrm>
            <a:off x="8434143" y="3585012"/>
            <a:ext cx="3047198" cy="501149"/>
          </a:xfrm>
        </p:spPr>
        <p:txBody>
          <a:bodyPr/>
          <a:lstStyle/>
          <a:p>
            <a:r>
              <a:rPr lang="en-US" dirty="0"/>
              <a:t>Tesla T4 GPU</a:t>
            </a:r>
          </a:p>
        </p:txBody>
      </p:sp>
      <p:pic>
        <p:nvPicPr>
          <p:cNvPr id="5" name="Content Placeholder 4">
            <a:extLst>
              <a:ext uri="{FF2B5EF4-FFF2-40B4-BE49-F238E27FC236}">
                <a16:creationId xmlns:a16="http://schemas.microsoft.com/office/drawing/2014/main" id="{5CE3E00D-EE9B-62DE-15E3-C736A71B7409}"/>
              </a:ext>
            </a:extLst>
          </p:cNvPr>
          <p:cNvPicPr>
            <a:picLocks noGrp="1" noChangeAspect="1"/>
          </p:cNvPicPr>
          <p:nvPr>
            <p:ph idx="1"/>
          </p:nvPr>
        </p:nvPicPr>
        <p:blipFill>
          <a:blip r:embed="rId3"/>
          <a:stretch>
            <a:fillRect/>
          </a:stretch>
        </p:blipFill>
        <p:spPr>
          <a:xfrm>
            <a:off x="8006144" y="4086161"/>
            <a:ext cx="4185856" cy="2563810"/>
          </a:xfrm>
        </p:spPr>
      </p:pic>
      <p:sp>
        <p:nvSpPr>
          <p:cNvPr id="3" name="TextBox 2">
            <a:extLst>
              <a:ext uri="{FF2B5EF4-FFF2-40B4-BE49-F238E27FC236}">
                <a16:creationId xmlns:a16="http://schemas.microsoft.com/office/drawing/2014/main" id="{C7F19CC3-83FC-F70B-7A3B-8277797B85DC}"/>
              </a:ext>
            </a:extLst>
          </p:cNvPr>
          <p:cNvSpPr txBox="1"/>
          <p:nvPr/>
        </p:nvSpPr>
        <p:spPr>
          <a:xfrm>
            <a:off x="63969" y="5368066"/>
            <a:ext cx="870751" cy="646331"/>
          </a:xfrm>
          <a:prstGeom prst="rect">
            <a:avLst/>
          </a:prstGeom>
          <a:noFill/>
        </p:spPr>
        <p:txBody>
          <a:bodyPr wrap="square" rtlCol="0">
            <a:spAutoFit/>
          </a:bodyPr>
          <a:lstStyle/>
          <a:p>
            <a:r>
              <a:rPr lang="en-US" dirty="0"/>
              <a:t>I/O bus</a:t>
            </a:r>
          </a:p>
          <a:p>
            <a:r>
              <a:rPr lang="en-US" dirty="0"/>
              <a:t>(PCI-e)</a:t>
            </a:r>
          </a:p>
        </p:txBody>
      </p:sp>
      <p:cxnSp>
        <p:nvCxnSpPr>
          <p:cNvPr id="4" name="Straight Arrow Connector 3">
            <a:extLst>
              <a:ext uri="{FF2B5EF4-FFF2-40B4-BE49-F238E27FC236}">
                <a16:creationId xmlns:a16="http://schemas.microsoft.com/office/drawing/2014/main" id="{A9A85A64-6E13-CBC8-1666-C75276DF39FC}"/>
              </a:ext>
            </a:extLst>
          </p:cNvPr>
          <p:cNvCxnSpPr>
            <a:cxnSpLocks/>
            <a:stCxn id="3" idx="3"/>
          </p:cNvCxnSpPr>
          <p:nvPr/>
        </p:nvCxnSpPr>
        <p:spPr>
          <a:xfrm flipV="1">
            <a:off x="934720" y="3629320"/>
            <a:ext cx="2468356" cy="2061912"/>
          </a:xfrm>
          <a:prstGeom prst="straightConnector1">
            <a:avLst/>
          </a:prstGeom>
          <a:ln w="6985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FDEA14C-B478-5A1E-494A-DED1173F6053}"/>
              </a:ext>
            </a:extLst>
          </p:cNvPr>
          <p:cNvSpPr txBox="1"/>
          <p:nvPr/>
        </p:nvSpPr>
        <p:spPr>
          <a:xfrm>
            <a:off x="7337625" y="1835122"/>
            <a:ext cx="2193036" cy="646331"/>
          </a:xfrm>
          <a:prstGeom prst="rect">
            <a:avLst/>
          </a:prstGeom>
          <a:noFill/>
        </p:spPr>
        <p:txBody>
          <a:bodyPr wrap="none" rtlCol="0">
            <a:spAutoFit/>
          </a:bodyPr>
          <a:lstStyle/>
          <a:p>
            <a:r>
              <a:rPr lang="en-US" dirty="0"/>
              <a:t>CPU</a:t>
            </a:r>
          </a:p>
          <a:p>
            <a:r>
              <a:rPr lang="en-US" dirty="0"/>
              <a:t>(under fan, heat sink)</a:t>
            </a:r>
          </a:p>
        </p:txBody>
      </p:sp>
      <p:cxnSp>
        <p:nvCxnSpPr>
          <p:cNvPr id="9" name="Straight Arrow Connector 8">
            <a:extLst>
              <a:ext uri="{FF2B5EF4-FFF2-40B4-BE49-F238E27FC236}">
                <a16:creationId xmlns:a16="http://schemas.microsoft.com/office/drawing/2014/main" id="{24C72F3D-256D-33C4-8C55-FDB24535D5FE}"/>
              </a:ext>
            </a:extLst>
          </p:cNvPr>
          <p:cNvCxnSpPr>
            <a:cxnSpLocks/>
          </p:cNvCxnSpPr>
          <p:nvPr/>
        </p:nvCxnSpPr>
        <p:spPr>
          <a:xfrm flipH="1">
            <a:off x="4521818" y="2308458"/>
            <a:ext cx="2815807" cy="172995"/>
          </a:xfrm>
          <a:prstGeom prst="straightConnector1">
            <a:avLst/>
          </a:prstGeom>
          <a:ln w="6985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376124A-F215-4061-EC13-908F3D07539C}"/>
              </a:ext>
            </a:extLst>
          </p:cNvPr>
          <p:cNvSpPr txBox="1"/>
          <p:nvPr/>
        </p:nvSpPr>
        <p:spPr>
          <a:xfrm>
            <a:off x="8225478" y="1215216"/>
            <a:ext cx="1511504" cy="369332"/>
          </a:xfrm>
          <a:prstGeom prst="rect">
            <a:avLst/>
          </a:prstGeom>
          <a:noFill/>
        </p:spPr>
        <p:txBody>
          <a:bodyPr wrap="none" rtlCol="0">
            <a:spAutoFit/>
          </a:bodyPr>
          <a:lstStyle/>
          <a:p>
            <a:r>
              <a:rPr lang="en-US" dirty="0"/>
              <a:t>Main memory</a:t>
            </a:r>
          </a:p>
        </p:txBody>
      </p:sp>
      <p:cxnSp>
        <p:nvCxnSpPr>
          <p:cNvPr id="11" name="Straight Arrow Connector 10">
            <a:extLst>
              <a:ext uri="{FF2B5EF4-FFF2-40B4-BE49-F238E27FC236}">
                <a16:creationId xmlns:a16="http://schemas.microsoft.com/office/drawing/2014/main" id="{DAABB40D-F7D2-2D0C-0CB6-734A6102AC87}"/>
              </a:ext>
            </a:extLst>
          </p:cNvPr>
          <p:cNvCxnSpPr>
            <a:cxnSpLocks/>
            <a:stCxn id="10" idx="1"/>
          </p:cNvCxnSpPr>
          <p:nvPr/>
        </p:nvCxnSpPr>
        <p:spPr>
          <a:xfrm flipH="1">
            <a:off x="5352948" y="1399882"/>
            <a:ext cx="2872530" cy="480942"/>
          </a:xfrm>
          <a:prstGeom prst="straightConnector1">
            <a:avLst/>
          </a:prstGeom>
          <a:ln w="6985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750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BDC932-610C-9235-CF7C-BB20BA5D57E3}"/>
              </a:ext>
            </a:extLst>
          </p:cNvPr>
          <p:cNvPicPr>
            <a:picLocks noGrp="1" noChangeAspect="1"/>
          </p:cNvPicPr>
          <p:nvPr>
            <p:ph sz="half" idx="1"/>
          </p:nvPr>
        </p:nvPicPr>
        <p:blipFill>
          <a:blip r:embed="rId2"/>
          <a:stretch>
            <a:fillRect/>
          </a:stretch>
        </p:blipFill>
        <p:spPr>
          <a:xfrm>
            <a:off x="1036366" y="346982"/>
            <a:ext cx="4466181" cy="4449762"/>
          </a:xfrm>
        </p:spPr>
      </p:pic>
      <p:sp>
        <p:nvSpPr>
          <p:cNvPr id="7" name="Content Placeholder 6">
            <a:extLst>
              <a:ext uri="{FF2B5EF4-FFF2-40B4-BE49-F238E27FC236}">
                <a16:creationId xmlns:a16="http://schemas.microsoft.com/office/drawing/2014/main" id="{01D33547-6261-8562-716B-F9C4E2354F58}"/>
              </a:ext>
            </a:extLst>
          </p:cNvPr>
          <p:cNvSpPr>
            <a:spLocks noGrp="1"/>
          </p:cNvSpPr>
          <p:nvPr>
            <p:ph sz="half" idx="2"/>
          </p:nvPr>
        </p:nvSpPr>
        <p:spPr>
          <a:xfrm>
            <a:off x="6095999" y="346196"/>
            <a:ext cx="5329187" cy="4450046"/>
          </a:xfrm>
        </p:spPr>
        <p:txBody>
          <a:bodyPr>
            <a:normAutofit fontScale="77500" lnSpcReduction="20000"/>
          </a:bodyPr>
          <a:lstStyle/>
          <a:p>
            <a:r>
              <a:rPr lang="en-US" dirty="0"/>
              <a:t>CPU memory is larger, GPU memory has more bandwidth </a:t>
            </a:r>
          </a:p>
          <a:p>
            <a:endParaRPr lang="en-US" dirty="0"/>
          </a:p>
          <a:p>
            <a:r>
              <a:rPr lang="en-US" dirty="0"/>
              <a:t>CPU and GPU memory are separate, connected by an I/O bus (traditionally PCI-e) </a:t>
            </a:r>
          </a:p>
          <a:p>
            <a:endParaRPr lang="en-US" dirty="0"/>
          </a:p>
          <a:p>
            <a:r>
              <a:rPr lang="en-US" dirty="0"/>
              <a:t>Any data transferred between the CPU and GPU will be handled by the I/O Bus </a:t>
            </a:r>
          </a:p>
          <a:p>
            <a:endParaRPr lang="en-US" dirty="0"/>
          </a:p>
          <a:p>
            <a:r>
              <a:rPr lang="en-US" dirty="0"/>
              <a:t>The I/O Bus is relatively slow compared to memory bandwidth </a:t>
            </a:r>
          </a:p>
          <a:p>
            <a:endParaRPr lang="en-US" dirty="0"/>
          </a:p>
          <a:p>
            <a:r>
              <a:rPr lang="en-US" dirty="0"/>
              <a:t>The GPU cannot perform computation until the data is within its memory </a:t>
            </a:r>
          </a:p>
          <a:p>
            <a:endParaRPr lang="en-US" dirty="0"/>
          </a:p>
        </p:txBody>
      </p:sp>
      <p:sp>
        <p:nvSpPr>
          <p:cNvPr id="8" name="TextBox 7">
            <a:extLst>
              <a:ext uri="{FF2B5EF4-FFF2-40B4-BE49-F238E27FC236}">
                <a16:creationId xmlns:a16="http://schemas.microsoft.com/office/drawing/2014/main" id="{7B535125-A44B-63C5-00F6-C588E1C8F91A}"/>
              </a:ext>
            </a:extLst>
          </p:cNvPr>
          <p:cNvSpPr txBox="1"/>
          <p:nvPr/>
        </p:nvSpPr>
        <p:spPr>
          <a:xfrm>
            <a:off x="1566153" y="4990284"/>
            <a:ext cx="614912" cy="369332"/>
          </a:xfrm>
          <a:prstGeom prst="rect">
            <a:avLst/>
          </a:prstGeom>
          <a:noFill/>
        </p:spPr>
        <p:txBody>
          <a:bodyPr wrap="none" rtlCol="0">
            <a:spAutoFit/>
          </a:bodyPr>
          <a:lstStyle/>
          <a:p>
            <a:r>
              <a:rPr lang="en-US" dirty="0"/>
              <a:t>Host</a:t>
            </a:r>
          </a:p>
        </p:txBody>
      </p:sp>
      <p:sp>
        <p:nvSpPr>
          <p:cNvPr id="9" name="TextBox 8">
            <a:extLst>
              <a:ext uri="{FF2B5EF4-FFF2-40B4-BE49-F238E27FC236}">
                <a16:creationId xmlns:a16="http://schemas.microsoft.com/office/drawing/2014/main" id="{E76DABDA-208C-DC49-7E44-985CB034A93D}"/>
              </a:ext>
            </a:extLst>
          </p:cNvPr>
          <p:cNvSpPr txBox="1"/>
          <p:nvPr/>
        </p:nvSpPr>
        <p:spPr>
          <a:xfrm>
            <a:off x="4007796" y="4990284"/>
            <a:ext cx="811889" cy="369332"/>
          </a:xfrm>
          <a:prstGeom prst="rect">
            <a:avLst/>
          </a:prstGeom>
          <a:noFill/>
        </p:spPr>
        <p:txBody>
          <a:bodyPr wrap="none" rtlCol="0">
            <a:spAutoFit/>
          </a:bodyPr>
          <a:lstStyle/>
          <a:p>
            <a:r>
              <a:rPr lang="en-US" dirty="0"/>
              <a:t>Device</a:t>
            </a:r>
          </a:p>
        </p:txBody>
      </p:sp>
      <p:sp>
        <p:nvSpPr>
          <p:cNvPr id="10" name="TextBox 9">
            <a:extLst>
              <a:ext uri="{FF2B5EF4-FFF2-40B4-BE49-F238E27FC236}">
                <a16:creationId xmlns:a16="http://schemas.microsoft.com/office/drawing/2014/main" id="{2FF82540-1547-CACD-BCEB-049C9564C735}"/>
              </a:ext>
            </a:extLst>
          </p:cNvPr>
          <p:cNvSpPr txBox="1"/>
          <p:nvPr/>
        </p:nvSpPr>
        <p:spPr>
          <a:xfrm>
            <a:off x="4007796" y="5553156"/>
            <a:ext cx="2862561" cy="646331"/>
          </a:xfrm>
          <a:prstGeom prst="rect">
            <a:avLst/>
          </a:prstGeom>
          <a:noFill/>
        </p:spPr>
        <p:txBody>
          <a:bodyPr wrap="square" rtlCol="0">
            <a:spAutoFit/>
          </a:bodyPr>
          <a:lstStyle/>
          <a:p>
            <a:r>
              <a:rPr lang="en-US" dirty="0"/>
              <a:t>Kernel function runs on the device after data transfer</a:t>
            </a:r>
          </a:p>
        </p:txBody>
      </p:sp>
      <p:sp>
        <p:nvSpPr>
          <p:cNvPr id="11" name="TextBox 10">
            <a:extLst>
              <a:ext uri="{FF2B5EF4-FFF2-40B4-BE49-F238E27FC236}">
                <a16:creationId xmlns:a16="http://schemas.microsoft.com/office/drawing/2014/main" id="{41A6E22D-7749-819E-E6D2-AD3BFA13F273}"/>
              </a:ext>
            </a:extLst>
          </p:cNvPr>
          <p:cNvSpPr txBox="1"/>
          <p:nvPr/>
        </p:nvSpPr>
        <p:spPr>
          <a:xfrm>
            <a:off x="1011040" y="5475175"/>
            <a:ext cx="2340050" cy="923330"/>
          </a:xfrm>
          <a:prstGeom prst="rect">
            <a:avLst/>
          </a:prstGeom>
          <a:noFill/>
        </p:spPr>
        <p:txBody>
          <a:bodyPr wrap="square" rtlCol="0">
            <a:spAutoFit/>
          </a:bodyPr>
          <a:lstStyle/>
          <a:p>
            <a:r>
              <a:rPr lang="en-US" dirty="0"/>
              <a:t>Data must be transferred to/from the host memory</a:t>
            </a:r>
          </a:p>
        </p:txBody>
      </p:sp>
    </p:spTree>
    <p:extLst>
      <p:ext uri="{BB962C8B-B14F-4D97-AF65-F5344CB8AC3E}">
        <p14:creationId xmlns:p14="http://schemas.microsoft.com/office/powerpoint/2010/main" val="353084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dissolve">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dissolve">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dissolve">
                                      <p:cBhvr>
                                        <p:cTn id="29" dur="500"/>
                                        <p:tgtEl>
                                          <p:spTgt spid="7">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dissolve">
                                      <p:cBhvr>
                                        <p:cTn id="34" dur="500"/>
                                        <p:tgtEl>
                                          <p:spTgt spid="7">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dissolve">
                                      <p:cBhvr>
                                        <p:cTn id="39" dur="500"/>
                                        <p:tgtEl>
                                          <p:spTgt spid="7">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BDC932-610C-9235-CF7C-BB20BA5D57E3}"/>
              </a:ext>
            </a:extLst>
          </p:cNvPr>
          <p:cNvPicPr>
            <a:picLocks noGrp="1" noChangeAspect="1"/>
          </p:cNvPicPr>
          <p:nvPr>
            <p:ph sz="half" idx="1"/>
          </p:nvPr>
        </p:nvPicPr>
        <p:blipFill>
          <a:blip r:embed="rId2"/>
          <a:stretch>
            <a:fillRect/>
          </a:stretch>
        </p:blipFill>
        <p:spPr>
          <a:xfrm>
            <a:off x="1036366" y="346982"/>
            <a:ext cx="4466181" cy="4449762"/>
          </a:xfrm>
        </p:spPr>
      </p:pic>
      <p:sp>
        <p:nvSpPr>
          <p:cNvPr id="8" name="TextBox 7">
            <a:extLst>
              <a:ext uri="{FF2B5EF4-FFF2-40B4-BE49-F238E27FC236}">
                <a16:creationId xmlns:a16="http://schemas.microsoft.com/office/drawing/2014/main" id="{7B535125-A44B-63C5-00F6-C588E1C8F91A}"/>
              </a:ext>
            </a:extLst>
          </p:cNvPr>
          <p:cNvSpPr txBox="1"/>
          <p:nvPr/>
        </p:nvSpPr>
        <p:spPr>
          <a:xfrm>
            <a:off x="1566153" y="4990284"/>
            <a:ext cx="614912" cy="369332"/>
          </a:xfrm>
          <a:prstGeom prst="rect">
            <a:avLst/>
          </a:prstGeom>
          <a:noFill/>
        </p:spPr>
        <p:txBody>
          <a:bodyPr wrap="none" rtlCol="0">
            <a:spAutoFit/>
          </a:bodyPr>
          <a:lstStyle/>
          <a:p>
            <a:r>
              <a:rPr lang="en-US" dirty="0"/>
              <a:t>Host</a:t>
            </a:r>
          </a:p>
        </p:txBody>
      </p:sp>
      <p:sp>
        <p:nvSpPr>
          <p:cNvPr id="9" name="TextBox 8">
            <a:extLst>
              <a:ext uri="{FF2B5EF4-FFF2-40B4-BE49-F238E27FC236}">
                <a16:creationId xmlns:a16="http://schemas.microsoft.com/office/drawing/2014/main" id="{E76DABDA-208C-DC49-7E44-985CB034A93D}"/>
              </a:ext>
            </a:extLst>
          </p:cNvPr>
          <p:cNvSpPr txBox="1"/>
          <p:nvPr/>
        </p:nvSpPr>
        <p:spPr>
          <a:xfrm>
            <a:off x="4007796" y="4990284"/>
            <a:ext cx="811889" cy="369332"/>
          </a:xfrm>
          <a:prstGeom prst="rect">
            <a:avLst/>
          </a:prstGeom>
          <a:noFill/>
        </p:spPr>
        <p:txBody>
          <a:bodyPr wrap="none" rtlCol="0">
            <a:spAutoFit/>
          </a:bodyPr>
          <a:lstStyle/>
          <a:p>
            <a:r>
              <a:rPr lang="en-US" dirty="0"/>
              <a:t>Device</a:t>
            </a:r>
          </a:p>
        </p:txBody>
      </p:sp>
      <p:sp>
        <p:nvSpPr>
          <p:cNvPr id="10" name="TextBox 9">
            <a:extLst>
              <a:ext uri="{FF2B5EF4-FFF2-40B4-BE49-F238E27FC236}">
                <a16:creationId xmlns:a16="http://schemas.microsoft.com/office/drawing/2014/main" id="{2FF82540-1547-CACD-BCEB-049C9564C735}"/>
              </a:ext>
            </a:extLst>
          </p:cNvPr>
          <p:cNvSpPr txBox="1"/>
          <p:nvPr/>
        </p:nvSpPr>
        <p:spPr>
          <a:xfrm>
            <a:off x="4007796" y="5471907"/>
            <a:ext cx="2862561" cy="646331"/>
          </a:xfrm>
          <a:prstGeom prst="rect">
            <a:avLst/>
          </a:prstGeom>
          <a:noFill/>
        </p:spPr>
        <p:txBody>
          <a:bodyPr wrap="square" rtlCol="0">
            <a:spAutoFit/>
          </a:bodyPr>
          <a:lstStyle/>
          <a:p>
            <a:r>
              <a:rPr lang="en-US" dirty="0"/>
              <a:t>Kernel function runs on the device after data transfer</a:t>
            </a:r>
          </a:p>
        </p:txBody>
      </p:sp>
      <p:sp>
        <p:nvSpPr>
          <p:cNvPr id="11" name="TextBox 10">
            <a:extLst>
              <a:ext uri="{FF2B5EF4-FFF2-40B4-BE49-F238E27FC236}">
                <a16:creationId xmlns:a16="http://schemas.microsoft.com/office/drawing/2014/main" id="{41A6E22D-7749-819E-E6D2-AD3BFA13F273}"/>
              </a:ext>
            </a:extLst>
          </p:cNvPr>
          <p:cNvSpPr txBox="1"/>
          <p:nvPr/>
        </p:nvSpPr>
        <p:spPr>
          <a:xfrm>
            <a:off x="1011040" y="5475175"/>
            <a:ext cx="2340050" cy="923330"/>
          </a:xfrm>
          <a:prstGeom prst="rect">
            <a:avLst/>
          </a:prstGeom>
          <a:noFill/>
        </p:spPr>
        <p:txBody>
          <a:bodyPr wrap="square" rtlCol="0">
            <a:spAutoFit/>
          </a:bodyPr>
          <a:lstStyle/>
          <a:p>
            <a:r>
              <a:rPr lang="en-US" dirty="0"/>
              <a:t>A, B Data must be transferred to the device memory</a:t>
            </a:r>
          </a:p>
        </p:txBody>
      </p:sp>
      <p:sp>
        <p:nvSpPr>
          <p:cNvPr id="12" name="TextBox 11">
            <a:extLst>
              <a:ext uri="{FF2B5EF4-FFF2-40B4-BE49-F238E27FC236}">
                <a16:creationId xmlns:a16="http://schemas.microsoft.com/office/drawing/2014/main" id="{2E7B8626-B1E0-3488-3009-693113D7585E}"/>
              </a:ext>
            </a:extLst>
          </p:cNvPr>
          <p:cNvSpPr txBox="1"/>
          <p:nvPr/>
        </p:nvSpPr>
        <p:spPr>
          <a:xfrm>
            <a:off x="5806995" y="197844"/>
            <a:ext cx="6481824" cy="5078313"/>
          </a:xfrm>
          <a:prstGeom prst="rect">
            <a:avLst/>
          </a:prstGeom>
          <a:noFill/>
        </p:spPr>
        <p:txBody>
          <a:bodyPr wrap="square" rtlCol="0">
            <a:spAutoFit/>
          </a:bodyPr>
          <a:lstStyle/>
          <a:p>
            <a:endParaRPr lang="en-US" dirty="0">
              <a:latin typeface="Andale Mono" panose="020B0509000000000004" pitchFamily="49" charset="0"/>
            </a:endParaRPr>
          </a:p>
          <a:p>
            <a:r>
              <a:rPr lang="en-US" dirty="0">
                <a:latin typeface="Andale Mono" panose="020B0509000000000004" pitchFamily="49" charset="0"/>
              </a:rPr>
              <a:t>// function to multiply two matrices</a:t>
            </a:r>
          </a:p>
          <a:p>
            <a:r>
              <a:rPr lang="en-US" dirty="0">
                <a:latin typeface="Andale Mono" panose="020B0509000000000004" pitchFamily="49" charset="0"/>
              </a:rPr>
              <a:t>void </a:t>
            </a:r>
            <a:r>
              <a:rPr lang="en-US" dirty="0" err="1">
                <a:latin typeface="Andale Mono" panose="020B0509000000000004" pitchFamily="49" charset="0"/>
              </a:rPr>
              <a:t>multiplyMatrices</a:t>
            </a:r>
            <a:r>
              <a:rPr lang="en-US" dirty="0">
                <a:latin typeface="Andale Mono" panose="020B0509000000000004" pitchFamily="49" charset="0"/>
              </a:rPr>
              <a:t>(float A[][],</a:t>
            </a:r>
          </a:p>
          <a:p>
            <a:r>
              <a:rPr lang="en-US" dirty="0">
                <a:latin typeface="Andale Mono" panose="020B0509000000000004" pitchFamily="49" charset="0"/>
              </a:rPr>
              <a:t>                      float B[][],</a:t>
            </a:r>
          </a:p>
          <a:p>
            <a:r>
              <a:rPr lang="en-US" dirty="0">
                <a:latin typeface="Andale Mono" panose="020B0509000000000004" pitchFamily="49" charset="0"/>
              </a:rPr>
              <a:t>                      float C[][],</a:t>
            </a:r>
          </a:p>
          <a:p>
            <a:r>
              <a:rPr lang="en-US" dirty="0">
                <a:latin typeface="Andale Mono" panose="020B0509000000000004" pitchFamily="49" charset="0"/>
              </a:rPr>
              <a:t>                      int rows, int cols) {</a:t>
            </a:r>
          </a:p>
          <a:p>
            <a:endParaRPr lang="en-US" dirty="0">
              <a:latin typeface="Andale Mono" panose="020B0509000000000004" pitchFamily="49" charset="0"/>
            </a:endParaRPr>
          </a:p>
          <a:p>
            <a:endParaRPr lang="en-US" dirty="0">
              <a:latin typeface="Andale Mono" panose="020B0509000000000004" pitchFamily="49" charset="0"/>
            </a:endParaRPr>
          </a:p>
          <a:p>
            <a:r>
              <a:rPr lang="en-US" dirty="0">
                <a:latin typeface="Andale Mono" panose="020B0509000000000004" pitchFamily="49" charset="0"/>
              </a:rPr>
              <a:t>   // Multiplying first and second matrices</a:t>
            </a:r>
          </a:p>
          <a:p>
            <a:r>
              <a:rPr lang="en-US" dirty="0">
                <a:latin typeface="Andale Mono" panose="020B0509000000000004" pitchFamily="49" charset="0"/>
              </a:rPr>
              <a:t>   // and storing it in result C</a:t>
            </a:r>
          </a:p>
          <a:p>
            <a:r>
              <a:rPr lang="en-US" dirty="0">
                <a:latin typeface="Andale Mono" panose="020B0509000000000004" pitchFamily="49" charset="0"/>
              </a:rPr>
              <a:t>   for (int </a:t>
            </a:r>
            <a:r>
              <a:rPr lang="en-US" dirty="0" err="1">
                <a:latin typeface="Andale Mono" panose="020B0509000000000004" pitchFamily="49" charset="0"/>
              </a:rPr>
              <a:t>i</a:t>
            </a:r>
            <a:r>
              <a:rPr lang="en-US" dirty="0">
                <a:latin typeface="Andale Mono" panose="020B0509000000000004" pitchFamily="49" charset="0"/>
              </a:rPr>
              <a:t> = 0; </a:t>
            </a:r>
            <a:r>
              <a:rPr lang="en-US" dirty="0" err="1">
                <a:latin typeface="Andale Mono" panose="020B0509000000000004" pitchFamily="49" charset="0"/>
              </a:rPr>
              <a:t>i</a:t>
            </a:r>
            <a:r>
              <a:rPr lang="en-US" dirty="0">
                <a:latin typeface="Andale Mono" panose="020B0509000000000004" pitchFamily="49" charset="0"/>
              </a:rPr>
              <a:t> &lt; rows; ++</a:t>
            </a:r>
            <a:r>
              <a:rPr lang="en-US" dirty="0" err="1">
                <a:latin typeface="Andale Mono" panose="020B0509000000000004" pitchFamily="49" charset="0"/>
              </a:rPr>
              <a:t>i</a:t>
            </a:r>
            <a:r>
              <a:rPr lang="en-US" dirty="0">
                <a:latin typeface="Andale Mono" panose="020B0509000000000004" pitchFamily="49" charset="0"/>
              </a:rPr>
              <a:t>) {</a:t>
            </a:r>
          </a:p>
          <a:p>
            <a:r>
              <a:rPr lang="en-US" dirty="0">
                <a:latin typeface="Andale Mono" panose="020B0509000000000004" pitchFamily="49" charset="0"/>
              </a:rPr>
              <a:t>      for (int j = 0; j &lt; cols; ++j) {</a:t>
            </a:r>
          </a:p>
          <a:p>
            <a:r>
              <a:rPr lang="en-US" dirty="0">
                <a:latin typeface="Andale Mono" panose="020B0509000000000004" pitchFamily="49" charset="0"/>
              </a:rPr>
              <a:t>         for (int k = 0; k &lt; cols; ++k) {</a:t>
            </a:r>
          </a:p>
          <a:p>
            <a:r>
              <a:rPr lang="en-US" dirty="0">
                <a:latin typeface="Andale Mono" panose="020B0509000000000004" pitchFamily="49" charset="0"/>
              </a:rPr>
              <a:t>            C[</a:t>
            </a:r>
            <a:r>
              <a:rPr lang="en-US" dirty="0" err="1">
                <a:latin typeface="Andale Mono" panose="020B0509000000000004" pitchFamily="49" charset="0"/>
              </a:rPr>
              <a:t>i</a:t>
            </a:r>
            <a:r>
              <a:rPr lang="en-US" dirty="0">
                <a:latin typeface="Andale Mono" panose="020B0509000000000004" pitchFamily="49" charset="0"/>
              </a:rPr>
              <a:t>][j] += A[</a:t>
            </a:r>
            <a:r>
              <a:rPr lang="en-US" dirty="0" err="1">
                <a:latin typeface="Andale Mono" panose="020B0509000000000004" pitchFamily="49" charset="0"/>
              </a:rPr>
              <a:t>i</a:t>
            </a:r>
            <a:r>
              <a:rPr lang="en-US" dirty="0">
                <a:latin typeface="Andale Mono" panose="020B0509000000000004" pitchFamily="49" charset="0"/>
              </a:rPr>
              <a:t>][k] * B[k][j];</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   }</a:t>
            </a:r>
          </a:p>
          <a:p>
            <a:r>
              <a:rPr lang="en-US" dirty="0">
                <a:latin typeface="Andale Mono" panose="020B0509000000000004" pitchFamily="49" charset="0"/>
              </a:rPr>
              <a:t>}</a:t>
            </a:r>
          </a:p>
        </p:txBody>
      </p:sp>
      <p:sp>
        <p:nvSpPr>
          <p:cNvPr id="13" name="Bent-Up Arrow 12">
            <a:extLst>
              <a:ext uri="{FF2B5EF4-FFF2-40B4-BE49-F238E27FC236}">
                <a16:creationId xmlns:a16="http://schemas.microsoft.com/office/drawing/2014/main" id="{AA5701F0-0D71-6E3F-CC0F-B050C20E04FA}"/>
              </a:ext>
            </a:extLst>
          </p:cNvPr>
          <p:cNvSpPr/>
          <p:nvPr/>
        </p:nvSpPr>
        <p:spPr>
          <a:xfrm>
            <a:off x="6870357" y="4990284"/>
            <a:ext cx="1660457" cy="886037"/>
          </a:xfrm>
          <a:prstGeom prst="bentUp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CBEC000-A2EF-BCFA-D85F-C34B649CBE11}"/>
              </a:ext>
            </a:extLst>
          </p:cNvPr>
          <p:cNvSpPr txBox="1"/>
          <p:nvPr/>
        </p:nvSpPr>
        <p:spPr>
          <a:xfrm>
            <a:off x="4007796" y="6093046"/>
            <a:ext cx="3161134" cy="646331"/>
          </a:xfrm>
          <a:prstGeom prst="rect">
            <a:avLst/>
          </a:prstGeom>
          <a:noFill/>
        </p:spPr>
        <p:txBody>
          <a:bodyPr wrap="square" rtlCol="0">
            <a:spAutoFit/>
          </a:bodyPr>
          <a:lstStyle/>
          <a:p>
            <a:r>
              <a:rPr lang="en-US" dirty="0"/>
              <a:t>C Data must be transferred back to the host memory</a:t>
            </a:r>
          </a:p>
        </p:txBody>
      </p:sp>
      <p:sp>
        <p:nvSpPr>
          <p:cNvPr id="15" name="TextBox 14">
            <a:extLst>
              <a:ext uri="{FF2B5EF4-FFF2-40B4-BE49-F238E27FC236}">
                <a16:creationId xmlns:a16="http://schemas.microsoft.com/office/drawing/2014/main" id="{E2F73DAD-5EAA-539D-3569-9D82E548461E}"/>
              </a:ext>
            </a:extLst>
          </p:cNvPr>
          <p:cNvSpPr txBox="1"/>
          <p:nvPr/>
        </p:nvSpPr>
        <p:spPr>
          <a:xfrm>
            <a:off x="9482396" y="4494335"/>
            <a:ext cx="2286470" cy="1938992"/>
          </a:xfrm>
          <a:prstGeom prst="rect">
            <a:avLst/>
          </a:prstGeom>
          <a:noFill/>
        </p:spPr>
        <p:txBody>
          <a:bodyPr wrap="square" rtlCol="0">
            <a:spAutoFit/>
          </a:bodyPr>
          <a:lstStyle/>
          <a:p>
            <a:r>
              <a:rPr lang="en-US" sz="2400" dirty="0">
                <a:solidFill>
                  <a:schemeClr val="accent4">
                    <a:lumMod val="60000"/>
                    <a:lumOff val="40000"/>
                  </a:schemeClr>
                </a:solidFill>
              </a:rPr>
              <a:t>Message:</a:t>
            </a:r>
          </a:p>
          <a:p>
            <a:r>
              <a:rPr lang="en-US" sz="2400" dirty="0">
                <a:solidFill>
                  <a:schemeClr val="accent4">
                    <a:lumMod val="60000"/>
                    <a:lumOff val="40000"/>
                  </a:schemeClr>
                </a:solidFill>
              </a:rPr>
              <a:t>Only worth doing if matrices are large</a:t>
            </a:r>
          </a:p>
          <a:p>
            <a:endParaRPr lang="en-US" sz="2400" dirty="0">
              <a:solidFill>
                <a:schemeClr val="accent4">
                  <a:lumMod val="60000"/>
                  <a:lumOff val="40000"/>
                </a:schemeClr>
              </a:solidFill>
            </a:endParaRPr>
          </a:p>
        </p:txBody>
      </p:sp>
    </p:spTree>
    <p:extLst>
      <p:ext uri="{BB962C8B-B14F-4D97-AF65-F5344CB8AC3E}">
        <p14:creationId xmlns:p14="http://schemas.microsoft.com/office/powerpoint/2010/main" val="92684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87FF27-B156-0ED7-55ED-24DDB90352A4}"/>
              </a:ext>
            </a:extLst>
          </p:cNvPr>
          <p:cNvSpPr>
            <a:spLocks noGrp="1"/>
          </p:cNvSpPr>
          <p:nvPr>
            <p:ph type="ctrTitle"/>
          </p:nvPr>
        </p:nvSpPr>
        <p:spPr/>
        <p:txBody>
          <a:bodyPr/>
          <a:lstStyle/>
          <a:p>
            <a:r>
              <a:rPr lang="en-US" dirty="0"/>
              <a:t>Demonstration</a:t>
            </a:r>
          </a:p>
        </p:txBody>
      </p:sp>
      <p:sp>
        <p:nvSpPr>
          <p:cNvPr id="6" name="Subtitle 5">
            <a:extLst>
              <a:ext uri="{FF2B5EF4-FFF2-40B4-BE49-F238E27FC236}">
                <a16:creationId xmlns:a16="http://schemas.microsoft.com/office/drawing/2014/main" id="{38A6A5CF-673F-4E2C-CA56-EB99A5AB2727}"/>
              </a:ext>
            </a:extLst>
          </p:cNvPr>
          <p:cNvSpPr>
            <a:spLocks noGrp="1"/>
          </p:cNvSpPr>
          <p:nvPr>
            <p:ph type="subTitle" idx="1"/>
          </p:nvPr>
        </p:nvSpPr>
        <p:spPr/>
        <p:txBody>
          <a:bodyPr/>
          <a:lstStyle/>
          <a:p>
            <a:r>
              <a:rPr lang="en-US" dirty="0"/>
              <a:t>How big and how fast can we go?</a:t>
            </a:r>
          </a:p>
        </p:txBody>
      </p:sp>
    </p:spTree>
    <p:extLst>
      <p:ext uri="{BB962C8B-B14F-4D97-AF65-F5344CB8AC3E}">
        <p14:creationId xmlns:p14="http://schemas.microsoft.com/office/powerpoint/2010/main" val="1395540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E059-0947-2755-C17E-A853F7A42E62}"/>
              </a:ext>
            </a:extLst>
          </p:cNvPr>
          <p:cNvSpPr>
            <a:spLocks noGrp="1"/>
          </p:cNvSpPr>
          <p:nvPr>
            <p:ph type="title"/>
          </p:nvPr>
        </p:nvSpPr>
        <p:spPr/>
        <p:txBody>
          <a:bodyPr/>
          <a:lstStyle/>
          <a:p>
            <a:r>
              <a:rPr lang="en-US" dirty="0"/>
              <a:t>The End</a:t>
            </a:r>
          </a:p>
        </p:txBody>
      </p:sp>
      <p:sp>
        <p:nvSpPr>
          <p:cNvPr id="3" name="Content Placeholder 2">
            <a:extLst>
              <a:ext uri="{FF2B5EF4-FFF2-40B4-BE49-F238E27FC236}">
                <a16:creationId xmlns:a16="http://schemas.microsoft.com/office/drawing/2014/main" id="{834597AC-19EC-8796-CA87-C7542292AFC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71817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6A5B-359D-85F6-E6EF-22B21335468E}"/>
              </a:ext>
            </a:extLst>
          </p:cNvPr>
          <p:cNvSpPr>
            <a:spLocks noGrp="1"/>
          </p:cNvSpPr>
          <p:nvPr>
            <p:ph type="title"/>
          </p:nvPr>
        </p:nvSpPr>
        <p:spPr/>
        <p:txBody>
          <a:bodyPr/>
          <a:lstStyle/>
          <a:p>
            <a:r>
              <a:rPr lang="en-US" dirty="0"/>
              <a:t>Different Architectures &amp; Nomenclature</a:t>
            </a:r>
          </a:p>
        </p:txBody>
      </p:sp>
      <p:pic>
        <p:nvPicPr>
          <p:cNvPr id="5" name="Content Placeholder 4">
            <a:extLst>
              <a:ext uri="{FF2B5EF4-FFF2-40B4-BE49-F238E27FC236}">
                <a16:creationId xmlns:a16="http://schemas.microsoft.com/office/drawing/2014/main" id="{5F3CFAA7-A4EE-69C8-7FB4-0B32B6A63FE2}"/>
              </a:ext>
            </a:extLst>
          </p:cNvPr>
          <p:cNvPicPr>
            <a:picLocks noGrp="1" noChangeAspect="1"/>
          </p:cNvPicPr>
          <p:nvPr>
            <p:ph idx="1"/>
          </p:nvPr>
        </p:nvPicPr>
        <p:blipFill>
          <a:blip r:embed="rId2"/>
          <a:stretch>
            <a:fillRect/>
          </a:stretch>
        </p:blipFill>
        <p:spPr>
          <a:xfrm>
            <a:off x="601516" y="681037"/>
            <a:ext cx="10834964" cy="6080125"/>
          </a:xfrm>
        </p:spPr>
      </p:pic>
      <p:sp>
        <p:nvSpPr>
          <p:cNvPr id="6" name="Frame 5">
            <a:extLst>
              <a:ext uri="{FF2B5EF4-FFF2-40B4-BE49-F238E27FC236}">
                <a16:creationId xmlns:a16="http://schemas.microsoft.com/office/drawing/2014/main" id="{7634C80A-54F8-B5EC-8CF1-CF2CC1D73131}"/>
              </a:ext>
            </a:extLst>
          </p:cNvPr>
          <p:cNvSpPr/>
          <p:nvPr/>
        </p:nvSpPr>
        <p:spPr>
          <a:xfrm>
            <a:off x="4471988" y="1585913"/>
            <a:ext cx="2171700" cy="357187"/>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rame 6">
            <a:extLst>
              <a:ext uri="{FF2B5EF4-FFF2-40B4-BE49-F238E27FC236}">
                <a16:creationId xmlns:a16="http://schemas.microsoft.com/office/drawing/2014/main" id="{52AC62C3-B9D9-07B3-0777-B229514D01CE}"/>
              </a:ext>
            </a:extLst>
          </p:cNvPr>
          <p:cNvSpPr/>
          <p:nvPr/>
        </p:nvSpPr>
        <p:spPr>
          <a:xfrm>
            <a:off x="4700588" y="3171825"/>
            <a:ext cx="485775" cy="385763"/>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A5E85DDA-2BE2-DD58-3490-A7659F29F3B8}"/>
              </a:ext>
            </a:extLst>
          </p:cNvPr>
          <p:cNvSpPr txBox="1"/>
          <p:nvPr/>
        </p:nvSpPr>
        <p:spPr>
          <a:xfrm>
            <a:off x="3514733" y="2967335"/>
            <a:ext cx="1171575" cy="923330"/>
          </a:xfrm>
          <a:prstGeom prst="rect">
            <a:avLst/>
          </a:prstGeom>
          <a:noFill/>
        </p:spPr>
        <p:txBody>
          <a:bodyPr wrap="square" rtlCol="0">
            <a:spAutoFit/>
          </a:bodyPr>
          <a:lstStyle/>
          <a:p>
            <a:r>
              <a:rPr lang="en-US" dirty="0">
                <a:solidFill>
                  <a:schemeClr val="accent1">
                    <a:lumMod val="50000"/>
                  </a:schemeClr>
                </a:solidFill>
              </a:rPr>
              <a:t>Streaming processor, or core</a:t>
            </a:r>
          </a:p>
        </p:txBody>
      </p:sp>
    </p:spTree>
    <p:extLst>
      <p:ext uri="{BB962C8B-B14F-4D97-AF65-F5344CB8AC3E}">
        <p14:creationId xmlns:p14="http://schemas.microsoft.com/office/powerpoint/2010/main" val="206559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6A5B-359D-85F6-E6EF-22B21335468E}"/>
              </a:ext>
            </a:extLst>
          </p:cNvPr>
          <p:cNvSpPr>
            <a:spLocks noGrp="1"/>
          </p:cNvSpPr>
          <p:nvPr>
            <p:ph type="title"/>
          </p:nvPr>
        </p:nvSpPr>
        <p:spPr/>
        <p:txBody>
          <a:bodyPr/>
          <a:lstStyle/>
          <a:p>
            <a:r>
              <a:rPr lang="en-US" dirty="0"/>
              <a:t>Different Architectures &amp; Nomenclature</a:t>
            </a:r>
          </a:p>
        </p:txBody>
      </p:sp>
      <p:pic>
        <p:nvPicPr>
          <p:cNvPr id="5" name="Content Placeholder 4">
            <a:extLst>
              <a:ext uri="{FF2B5EF4-FFF2-40B4-BE49-F238E27FC236}">
                <a16:creationId xmlns:a16="http://schemas.microsoft.com/office/drawing/2014/main" id="{5F3CFAA7-A4EE-69C8-7FB4-0B32B6A63FE2}"/>
              </a:ext>
            </a:extLst>
          </p:cNvPr>
          <p:cNvPicPr>
            <a:picLocks noGrp="1" noChangeAspect="1"/>
          </p:cNvPicPr>
          <p:nvPr>
            <p:ph sz="half" idx="1"/>
          </p:nvPr>
        </p:nvPicPr>
        <p:blipFill>
          <a:blip r:embed="rId2"/>
          <a:stretch>
            <a:fillRect/>
          </a:stretch>
        </p:blipFill>
        <p:spPr>
          <a:xfrm>
            <a:off x="219075" y="1178994"/>
            <a:ext cx="5500687" cy="3086753"/>
          </a:xfrm>
        </p:spPr>
      </p:pic>
      <p:sp>
        <p:nvSpPr>
          <p:cNvPr id="9" name="Content Placeholder 8">
            <a:extLst>
              <a:ext uri="{FF2B5EF4-FFF2-40B4-BE49-F238E27FC236}">
                <a16:creationId xmlns:a16="http://schemas.microsoft.com/office/drawing/2014/main" id="{DFC4B14F-EB9A-2716-0F97-8F5DA44CAA5C}"/>
              </a:ext>
            </a:extLst>
          </p:cNvPr>
          <p:cNvSpPr>
            <a:spLocks noGrp="1"/>
          </p:cNvSpPr>
          <p:nvPr>
            <p:ph sz="half" idx="2"/>
          </p:nvPr>
        </p:nvSpPr>
        <p:spPr/>
        <p:txBody>
          <a:bodyPr>
            <a:normAutofit/>
          </a:bodyPr>
          <a:lstStyle/>
          <a:p>
            <a:r>
              <a:rPr lang="en-US" sz="2400" dirty="0"/>
              <a:t>32 cores/SPs per SM</a:t>
            </a:r>
          </a:p>
          <a:p>
            <a:r>
              <a:rPr lang="en-US" sz="2400" dirty="0"/>
              <a:t>Each core running code gets registers</a:t>
            </a:r>
          </a:p>
          <a:p>
            <a:r>
              <a:rPr lang="en-US" sz="2400" dirty="0"/>
              <a:t>Some cores/SPs are for special calculations</a:t>
            </a:r>
          </a:p>
          <a:p>
            <a:endParaRPr lang="en-US" sz="2400" dirty="0"/>
          </a:p>
          <a:p>
            <a:r>
              <a:rPr lang="en-US" sz="2400" dirty="0"/>
              <a:t>SIMD (single instruction, multiple data):</a:t>
            </a:r>
          </a:p>
          <a:p>
            <a:r>
              <a:rPr lang="en-US" sz="2400" dirty="0"/>
              <a:t>When running instructions of a program, each SP in one SM is executing the same instruction</a:t>
            </a:r>
          </a:p>
          <a:p>
            <a:r>
              <a:rPr lang="en-US" sz="2400" dirty="0"/>
              <a:t>Warp scheduler: runs the code on an SM</a:t>
            </a:r>
          </a:p>
        </p:txBody>
      </p:sp>
    </p:spTree>
    <p:extLst>
      <p:ext uri="{BB962C8B-B14F-4D97-AF65-F5344CB8AC3E}">
        <p14:creationId xmlns:p14="http://schemas.microsoft.com/office/powerpoint/2010/main" val="2270899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7650-A330-E64E-B337-C1D97E079972}"/>
              </a:ext>
            </a:extLst>
          </p:cNvPr>
          <p:cNvSpPr>
            <a:spLocks noGrp="1"/>
          </p:cNvSpPr>
          <p:nvPr>
            <p:ph type="title"/>
          </p:nvPr>
        </p:nvSpPr>
        <p:spPr/>
        <p:txBody>
          <a:bodyPr>
            <a:normAutofit fontScale="90000"/>
          </a:bodyPr>
          <a:lstStyle/>
          <a:p>
            <a:r>
              <a:rPr lang="en-US" dirty="0"/>
              <a:t>Programming Model</a:t>
            </a:r>
          </a:p>
        </p:txBody>
      </p:sp>
      <p:pic>
        <p:nvPicPr>
          <p:cNvPr id="5" name="Content Placeholder 4">
            <a:extLst>
              <a:ext uri="{FF2B5EF4-FFF2-40B4-BE49-F238E27FC236}">
                <a16:creationId xmlns:a16="http://schemas.microsoft.com/office/drawing/2014/main" id="{942B25C2-00C7-4FBC-0E91-ED51F0E8B8FE}"/>
              </a:ext>
            </a:extLst>
          </p:cNvPr>
          <p:cNvPicPr>
            <a:picLocks noGrp="1" noChangeAspect="1"/>
          </p:cNvPicPr>
          <p:nvPr>
            <p:ph idx="1"/>
          </p:nvPr>
        </p:nvPicPr>
        <p:blipFill>
          <a:blip r:embed="rId2"/>
          <a:stretch>
            <a:fillRect/>
          </a:stretch>
        </p:blipFill>
        <p:spPr>
          <a:xfrm>
            <a:off x="3934782" y="892175"/>
            <a:ext cx="5409243" cy="5641069"/>
          </a:xfrm>
        </p:spPr>
      </p:pic>
      <p:sp>
        <p:nvSpPr>
          <p:cNvPr id="6" name="TextBox 5">
            <a:extLst>
              <a:ext uri="{FF2B5EF4-FFF2-40B4-BE49-F238E27FC236}">
                <a16:creationId xmlns:a16="http://schemas.microsoft.com/office/drawing/2014/main" id="{804672FE-C0AE-AB0E-51B6-ADEA61B412AB}"/>
              </a:ext>
            </a:extLst>
          </p:cNvPr>
          <p:cNvSpPr txBox="1"/>
          <p:nvPr/>
        </p:nvSpPr>
        <p:spPr>
          <a:xfrm>
            <a:off x="9568123" y="6131386"/>
            <a:ext cx="2543004" cy="369332"/>
          </a:xfrm>
          <a:prstGeom prst="rect">
            <a:avLst/>
          </a:prstGeom>
          <a:noFill/>
        </p:spPr>
        <p:txBody>
          <a:bodyPr wrap="none" rtlCol="0">
            <a:spAutoFit/>
          </a:bodyPr>
          <a:lstStyle/>
          <a:p>
            <a:r>
              <a:rPr lang="en-US" dirty="0"/>
              <a:t>Taken from </a:t>
            </a:r>
            <a:r>
              <a:rPr lang="en-US" dirty="0">
                <a:solidFill>
                  <a:schemeClr val="accent4">
                    <a:lumMod val="60000"/>
                    <a:lumOff val="40000"/>
                  </a:schemeClr>
                </a:solidFill>
                <a:hlinkClick r:id="rId3">
                  <a:extLst>
                    <a:ext uri="{A12FA001-AC4F-418D-AE19-62706E023703}">
                      <ahyp:hlinkClr xmlns:ahyp="http://schemas.microsoft.com/office/drawing/2018/hyperlinkcolor" val="tx"/>
                    </a:ext>
                  </a:extLst>
                </a:hlinkClick>
              </a:rPr>
              <a:t>this blog post</a:t>
            </a:r>
            <a:endParaRPr lang="en-US" dirty="0">
              <a:solidFill>
                <a:schemeClr val="accent4">
                  <a:lumMod val="60000"/>
                  <a:lumOff val="40000"/>
                </a:schemeClr>
              </a:solidFill>
            </a:endParaRPr>
          </a:p>
        </p:txBody>
      </p:sp>
      <p:sp>
        <p:nvSpPr>
          <p:cNvPr id="3" name="TextBox 2">
            <a:extLst>
              <a:ext uri="{FF2B5EF4-FFF2-40B4-BE49-F238E27FC236}">
                <a16:creationId xmlns:a16="http://schemas.microsoft.com/office/drawing/2014/main" id="{AE0EE895-1741-B0DC-4636-147232928202}"/>
              </a:ext>
            </a:extLst>
          </p:cNvPr>
          <p:cNvSpPr txBox="1"/>
          <p:nvPr/>
        </p:nvSpPr>
        <p:spPr>
          <a:xfrm>
            <a:off x="1479114" y="3702222"/>
            <a:ext cx="2095125" cy="1200329"/>
          </a:xfrm>
          <a:prstGeom prst="rect">
            <a:avLst/>
          </a:prstGeom>
          <a:noFill/>
        </p:spPr>
        <p:txBody>
          <a:bodyPr wrap="none" rtlCol="0">
            <a:spAutoFit/>
          </a:bodyPr>
          <a:lstStyle/>
          <a:p>
            <a:r>
              <a:rPr lang="en-US" dirty="0"/>
              <a:t>Simplest version:</a:t>
            </a:r>
          </a:p>
          <a:p>
            <a:r>
              <a:rPr lang="en-US" dirty="0"/>
              <a:t>1D blocks of threads</a:t>
            </a:r>
          </a:p>
          <a:p>
            <a:r>
              <a:rPr lang="en-US" dirty="0"/>
              <a:t>inside</a:t>
            </a:r>
          </a:p>
          <a:p>
            <a:r>
              <a:rPr lang="en-US" dirty="0"/>
              <a:t>1D grid of blocks</a:t>
            </a:r>
          </a:p>
        </p:txBody>
      </p:sp>
      <p:sp>
        <p:nvSpPr>
          <p:cNvPr id="4" name="TextBox 3">
            <a:extLst>
              <a:ext uri="{FF2B5EF4-FFF2-40B4-BE49-F238E27FC236}">
                <a16:creationId xmlns:a16="http://schemas.microsoft.com/office/drawing/2014/main" id="{835086B8-262B-A94D-A54E-34DFCBD372C3}"/>
              </a:ext>
            </a:extLst>
          </p:cNvPr>
          <p:cNvSpPr txBox="1"/>
          <p:nvPr/>
        </p:nvSpPr>
        <p:spPr>
          <a:xfrm>
            <a:off x="761198" y="1897251"/>
            <a:ext cx="2648802" cy="1477328"/>
          </a:xfrm>
          <a:prstGeom prst="rect">
            <a:avLst/>
          </a:prstGeom>
          <a:noFill/>
        </p:spPr>
        <p:txBody>
          <a:bodyPr wrap="none" rtlCol="0">
            <a:spAutoFit/>
          </a:bodyPr>
          <a:lstStyle/>
          <a:p>
            <a:r>
              <a:rPr lang="en-US" dirty="0"/>
              <a:t>CUDA:</a:t>
            </a:r>
          </a:p>
          <a:p>
            <a:r>
              <a:rPr lang="en-US" dirty="0"/>
              <a:t>Programmer defines sizes:</a:t>
            </a:r>
          </a:p>
          <a:p>
            <a:r>
              <a:rPr lang="en-US" dirty="0"/>
              <a:t>Blocks per grid</a:t>
            </a:r>
          </a:p>
          <a:p>
            <a:r>
              <a:rPr lang="en-US" dirty="0"/>
              <a:t>Threads per block</a:t>
            </a:r>
          </a:p>
          <a:p>
            <a:r>
              <a:rPr lang="en-US" dirty="0"/>
              <a:t>Dimensions</a:t>
            </a:r>
          </a:p>
        </p:txBody>
      </p:sp>
      <p:sp>
        <p:nvSpPr>
          <p:cNvPr id="9" name="Rectangle 8">
            <a:extLst>
              <a:ext uri="{FF2B5EF4-FFF2-40B4-BE49-F238E27FC236}">
                <a16:creationId xmlns:a16="http://schemas.microsoft.com/office/drawing/2014/main" id="{00670E57-A2BC-57E1-2A05-3423B953A603}"/>
              </a:ext>
            </a:extLst>
          </p:cNvPr>
          <p:cNvSpPr/>
          <p:nvPr/>
        </p:nvSpPr>
        <p:spPr>
          <a:xfrm>
            <a:off x="3934782" y="3786189"/>
            <a:ext cx="3609018" cy="1300162"/>
          </a:xfrm>
          <a:prstGeom prst="rect">
            <a:avLst/>
          </a:prstGeom>
          <a:noFill/>
          <a:ln w="539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9D1E33F-5DBB-3E97-9703-2B0FFAED8794}"/>
              </a:ext>
            </a:extLst>
          </p:cNvPr>
          <p:cNvSpPr txBox="1"/>
          <p:nvPr/>
        </p:nvSpPr>
        <p:spPr>
          <a:xfrm>
            <a:off x="1243013" y="842963"/>
            <a:ext cx="1796967" cy="646331"/>
          </a:xfrm>
          <a:prstGeom prst="rect">
            <a:avLst/>
          </a:prstGeom>
          <a:noFill/>
        </p:spPr>
        <p:txBody>
          <a:bodyPr wrap="none" rtlCol="0">
            <a:spAutoFit/>
          </a:bodyPr>
          <a:lstStyle/>
          <a:p>
            <a:r>
              <a:rPr lang="en-US" dirty="0"/>
              <a:t>NVIDIA compiler:</a:t>
            </a:r>
          </a:p>
          <a:p>
            <a:r>
              <a:rPr lang="en-US" dirty="0"/>
              <a:t>CUDA</a:t>
            </a:r>
          </a:p>
        </p:txBody>
      </p:sp>
      <p:sp>
        <p:nvSpPr>
          <p:cNvPr id="11" name="TextBox 10">
            <a:extLst>
              <a:ext uri="{FF2B5EF4-FFF2-40B4-BE49-F238E27FC236}">
                <a16:creationId xmlns:a16="http://schemas.microsoft.com/office/drawing/2014/main" id="{31336170-E0AA-06E3-4062-14105F59343D}"/>
              </a:ext>
            </a:extLst>
          </p:cNvPr>
          <p:cNvSpPr txBox="1"/>
          <p:nvPr/>
        </p:nvSpPr>
        <p:spPr>
          <a:xfrm>
            <a:off x="885825" y="5557838"/>
            <a:ext cx="2339295" cy="369332"/>
          </a:xfrm>
          <a:prstGeom prst="rect">
            <a:avLst/>
          </a:prstGeom>
          <a:noFill/>
        </p:spPr>
        <p:txBody>
          <a:bodyPr wrap="none" rtlCol="0">
            <a:spAutoFit/>
          </a:bodyPr>
          <a:lstStyle/>
          <a:p>
            <a:r>
              <a:rPr lang="en-US" dirty="0"/>
              <a:t>2D and 3D are possible</a:t>
            </a:r>
          </a:p>
        </p:txBody>
      </p:sp>
    </p:spTree>
    <p:extLst>
      <p:ext uri="{BB962C8B-B14F-4D97-AF65-F5344CB8AC3E}">
        <p14:creationId xmlns:p14="http://schemas.microsoft.com/office/powerpoint/2010/main" val="20187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animBg="1"/>
      <p:bldP spid="10"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D5E06-744F-EBC0-048A-6E3B1C999F19}"/>
              </a:ext>
            </a:extLst>
          </p:cNvPr>
          <p:cNvSpPr>
            <a:spLocks noGrp="1"/>
          </p:cNvSpPr>
          <p:nvPr>
            <p:ph type="title"/>
          </p:nvPr>
        </p:nvSpPr>
        <p:spPr/>
        <p:txBody>
          <a:bodyPr/>
          <a:lstStyle/>
          <a:p>
            <a:r>
              <a:rPr lang="en-US" dirty="0"/>
              <a:t>NVIDIA Architecture</a:t>
            </a:r>
          </a:p>
        </p:txBody>
      </p:sp>
      <p:pic>
        <p:nvPicPr>
          <p:cNvPr id="5" name="Content Placeholder 4">
            <a:extLst>
              <a:ext uri="{FF2B5EF4-FFF2-40B4-BE49-F238E27FC236}">
                <a16:creationId xmlns:a16="http://schemas.microsoft.com/office/drawing/2014/main" id="{8E57BA3D-175D-513D-1120-34FE31701143}"/>
              </a:ext>
            </a:extLst>
          </p:cNvPr>
          <p:cNvPicPr>
            <a:picLocks noGrp="1" noChangeAspect="1"/>
          </p:cNvPicPr>
          <p:nvPr>
            <p:ph idx="1"/>
          </p:nvPr>
        </p:nvPicPr>
        <p:blipFill>
          <a:blip r:embed="rId2"/>
          <a:stretch>
            <a:fillRect/>
          </a:stretch>
        </p:blipFill>
        <p:spPr>
          <a:xfrm>
            <a:off x="2074888" y="863600"/>
            <a:ext cx="7154838" cy="5544749"/>
          </a:xfrm>
        </p:spPr>
      </p:pic>
      <p:sp>
        <p:nvSpPr>
          <p:cNvPr id="6" name="TextBox 5">
            <a:extLst>
              <a:ext uri="{FF2B5EF4-FFF2-40B4-BE49-F238E27FC236}">
                <a16:creationId xmlns:a16="http://schemas.microsoft.com/office/drawing/2014/main" id="{DA38496B-1C27-D73E-EBA7-FB328D1C4060}"/>
              </a:ext>
            </a:extLst>
          </p:cNvPr>
          <p:cNvSpPr txBox="1"/>
          <p:nvPr/>
        </p:nvSpPr>
        <p:spPr>
          <a:xfrm>
            <a:off x="9615488" y="1501183"/>
            <a:ext cx="1885950" cy="1200329"/>
          </a:xfrm>
          <a:prstGeom prst="rect">
            <a:avLst/>
          </a:prstGeom>
          <a:noFill/>
        </p:spPr>
        <p:txBody>
          <a:bodyPr wrap="square" rtlCol="0">
            <a:spAutoFit/>
          </a:bodyPr>
          <a:lstStyle/>
          <a:p>
            <a:r>
              <a:rPr lang="en-US" dirty="0"/>
              <a:t>Programming model of threads is somewhat related to this</a:t>
            </a:r>
          </a:p>
        </p:txBody>
      </p:sp>
    </p:spTree>
    <p:extLst>
      <p:ext uri="{BB962C8B-B14F-4D97-AF65-F5344CB8AC3E}">
        <p14:creationId xmlns:p14="http://schemas.microsoft.com/office/powerpoint/2010/main" val="93942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4293-BE8E-006A-6524-430928A90085}"/>
              </a:ext>
            </a:extLst>
          </p:cNvPr>
          <p:cNvSpPr>
            <a:spLocks noGrp="1"/>
          </p:cNvSpPr>
          <p:nvPr>
            <p:ph type="title"/>
          </p:nvPr>
        </p:nvSpPr>
        <p:spPr/>
        <p:txBody>
          <a:bodyPr/>
          <a:lstStyle/>
          <a:p>
            <a:r>
              <a:rPr lang="en-US" dirty="0"/>
              <a:t>CUDA Programming Model</a:t>
            </a:r>
          </a:p>
        </p:txBody>
      </p:sp>
      <p:pic>
        <p:nvPicPr>
          <p:cNvPr id="5" name="Content Placeholder 4">
            <a:extLst>
              <a:ext uri="{FF2B5EF4-FFF2-40B4-BE49-F238E27FC236}">
                <a16:creationId xmlns:a16="http://schemas.microsoft.com/office/drawing/2014/main" id="{C9FB9058-F605-71E1-D43D-D508C3AC9585}"/>
              </a:ext>
            </a:extLst>
          </p:cNvPr>
          <p:cNvPicPr>
            <a:picLocks noGrp="1" noChangeAspect="1"/>
          </p:cNvPicPr>
          <p:nvPr>
            <p:ph idx="1"/>
          </p:nvPr>
        </p:nvPicPr>
        <p:blipFill>
          <a:blip r:embed="rId2"/>
          <a:stretch>
            <a:fillRect/>
          </a:stretch>
        </p:blipFill>
        <p:spPr>
          <a:xfrm>
            <a:off x="385763" y="820737"/>
            <a:ext cx="7440442" cy="5435900"/>
          </a:xfrm>
        </p:spPr>
      </p:pic>
      <p:cxnSp>
        <p:nvCxnSpPr>
          <p:cNvPr id="7" name="Straight Arrow Connector 6">
            <a:extLst>
              <a:ext uri="{FF2B5EF4-FFF2-40B4-BE49-F238E27FC236}">
                <a16:creationId xmlns:a16="http://schemas.microsoft.com/office/drawing/2014/main" id="{3CA875A0-52F7-88FF-4996-CADF1DF158AC}"/>
              </a:ext>
            </a:extLst>
          </p:cNvPr>
          <p:cNvCxnSpPr/>
          <p:nvPr/>
        </p:nvCxnSpPr>
        <p:spPr>
          <a:xfrm>
            <a:off x="8605176" y="1409221"/>
            <a:ext cx="0" cy="757237"/>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95272AB-6F5F-D9FD-C902-D7B9548B93B1}"/>
              </a:ext>
            </a:extLst>
          </p:cNvPr>
          <p:cNvCxnSpPr>
            <a:cxnSpLocks/>
          </p:cNvCxnSpPr>
          <p:nvPr/>
        </p:nvCxnSpPr>
        <p:spPr>
          <a:xfrm>
            <a:off x="8671848" y="1418741"/>
            <a:ext cx="690563" cy="0"/>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BF5FB6C-F360-5515-38F1-53E50D98EE0C}"/>
              </a:ext>
            </a:extLst>
          </p:cNvPr>
          <p:cNvCxnSpPr>
            <a:cxnSpLocks/>
          </p:cNvCxnSpPr>
          <p:nvPr/>
        </p:nvCxnSpPr>
        <p:spPr>
          <a:xfrm flipV="1">
            <a:off x="8614696" y="1023460"/>
            <a:ext cx="490541" cy="319082"/>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A1A2D0B-AE7B-36B2-2B27-972195A57499}"/>
              </a:ext>
            </a:extLst>
          </p:cNvPr>
          <p:cNvSpPr txBox="1"/>
          <p:nvPr/>
        </p:nvSpPr>
        <p:spPr>
          <a:xfrm>
            <a:off x="8776626" y="1837846"/>
            <a:ext cx="288862" cy="369332"/>
          </a:xfrm>
          <a:prstGeom prst="rect">
            <a:avLst/>
          </a:prstGeom>
          <a:noFill/>
        </p:spPr>
        <p:txBody>
          <a:bodyPr wrap="none" rtlCol="0">
            <a:spAutoFit/>
          </a:bodyPr>
          <a:lstStyle/>
          <a:p>
            <a:r>
              <a:rPr lang="en-US" dirty="0"/>
              <a:t>y</a:t>
            </a:r>
          </a:p>
        </p:txBody>
      </p:sp>
      <p:sp>
        <p:nvSpPr>
          <p:cNvPr id="13" name="TextBox 12">
            <a:extLst>
              <a:ext uri="{FF2B5EF4-FFF2-40B4-BE49-F238E27FC236}">
                <a16:creationId xmlns:a16="http://schemas.microsoft.com/office/drawing/2014/main" id="{00ECB807-20D4-4C08-18EC-B87857801925}"/>
              </a:ext>
            </a:extLst>
          </p:cNvPr>
          <p:cNvSpPr txBox="1"/>
          <p:nvPr/>
        </p:nvSpPr>
        <p:spPr>
          <a:xfrm>
            <a:off x="9287056" y="1366588"/>
            <a:ext cx="284052" cy="369332"/>
          </a:xfrm>
          <a:prstGeom prst="rect">
            <a:avLst/>
          </a:prstGeom>
          <a:noFill/>
        </p:spPr>
        <p:txBody>
          <a:bodyPr wrap="none" rtlCol="0">
            <a:spAutoFit/>
          </a:bodyPr>
          <a:lstStyle/>
          <a:p>
            <a:r>
              <a:rPr lang="en-US" dirty="0"/>
              <a:t>x</a:t>
            </a:r>
          </a:p>
        </p:txBody>
      </p:sp>
      <p:sp>
        <p:nvSpPr>
          <p:cNvPr id="14" name="TextBox 13">
            <a:extLst>
              <a:ext uri="{FF2B5EF4-FFF2-40B4-BE49-F238E27FC236}">
                <a16:creationId xmlns:a16="http://schemas.microsoft.com/office/drawing/2014/main" id="{E032A8EF-AA69-FD70-9E78-11D9F89F13C1}"/>
              </a:ext>
            </a:extLst>
          </p:cNvPr>
          <p:cNvSpPr txBox="1"/>
          <p:nvPr/>
        </p:nvSpPr>
        <p:spPr>
          <a:xfrm>
            <a:off x="9149037" y="767587"/>
            <a:ext cx="276038" cy="369332"/>
          </a:xfrm>
          <a:prstGeom prst="rect">
            <a:avLst/>
          </a:prstGeom>
          <a:noFill/>
        </p:spPr>
        <p:txBody>
          <a:bodyPr wrap="none" rtlCol="0">
            <a:spAutoFit/>
          </a:bodyPr>
          <a:lstStyle/>
          <a:p>
            <a:r>
              <a:rPr lang="en-US" dirty="0"/>
              <a:t>z</a:t>
            </a:r>
          </a:p>
        </p:txBody>
      </p:sp>
      <p:sp>
        <p:nvSpPr>
          <p:cNvPr id="15" name="TextBox 14">
            <a:extLst>
              <a:ext uri="{FF2B5EF4-FFF2-40B4-BE49-F238E27FC236}">
                <a16:creationId xmlns:a16="http://schemas.microsoft.com/office/drawing/2014/main" id="{E999EF49-C12E-13F4-ABBA-7E940E39BF47}"/>
              </a:ext>
            </a:extLst>
          </p:cNvPr>
          <p:cNvSpPr txBox="1"/>
          <p:nvPr/>
        </p:nvSpPr>
        <p:spPr>
          <a:xfrm>
            <a:off x="8489246" y="2864502"/>
            <a:ext cx="2033955" cy="923330"/>
          </a:xfrm>
          <a:prstGeom prst="rect">
            <a:avLst/>
          </a:prstGeom>
          <a:noFill/>
        </p:spPr>
        <p:txBody>
          <a:bodyPr wrap="none" rtlCol="0">
            <a:spAutoFit/>
          </a:bodyPr>
          <a:lstStyle/>
          <a:p>
            <a:r>
              <a:rPr lang="en-US" dirty="0"/>
              <a:t>Overall dimensions:</a:t>
            </a:r>
          </a:p>
          <a:p>
            <a:r>
              <a:rPr lang="en-US" dirty="0" err="1">
                <a:solidFill>
                  <a:srgbClr val="EDB3AB"/>
                </a:solidFill>
              </a:rPr>
              <a:t>gridDim</a:t>
            </a:r>
            <a:r>
              <a:rPr lang="en-US" dirty="0" err="1"/>
              <a:t>.x</a:t>
            </a:r>
            <a:r>
              <a:rPr lang="en-US" dirty="0"/>
              <a:t>  (y, z)</a:t>
            </a:r>
          </a:p>
          <a:p>
            <a:r>
              <a:rPr lang="en-US" dirty="0" err="1">
                <a:solidFill>
                  <a:srgbClr val="EDB3AB"/>
                </a:solidFill>
              </a:rPr>
              <a:t>blockDin</a:t>
            </a:r>
            <a:r>
              <a:rPr lang="en-US" dirty="0" err="1"/>
              <a:t>.x</a:t>
            </a:r>
            <a:r>
              <a:rPr lang="en-US" dirty="0"/>
              <a:t> (y, z)</a:t>
            </a:r>
          </a:p>
        </p:txBody>
      </p:sp>
      <p:sp>
        <p:nvSpPr>
          <p:cNvPr id="16" name="TextBox 15">
            <a:extLst>
              <a:ext uri="{FF2B5EF4-FFF2-40B4-BE49-F238E27FC236}">
                <a16:creationId xmlns:a16="http://schemas.microsoft.com/office/drawing/2014/main" id="{5A3E4F77-38E7-1B88-1B03-53DB62A3D531}"/>
              </a:ext>
            </a:extLst>
          </p:cNvPr>
          <p:cNvSpPr txBox="1"/>
          <p:nvPr/>
        </p:nvSpPr>
        <p:spPr>
          <a:xfrm>
            <a:off x="8069525" y="2351174"/>
            <a:ext cx="4122475" cy="369332"/>
          </a:xfrm>
          <a:prstGeom prst="rect">
            <a:avLst/>
          </a:prstGeom>
          <a:noFill/>
        </p:spPr>
        <p:txBody>
          <a:bodyPr wrap="none" rtlCol="0">
            <a:spAutoFit/>
          </a:bodyPr>
          <a:lstStyle/>
          <a:p>
            <a:r>
              <a:rPr lang="en-US" dirty="0"/>
              <a:t>Programmer accessible per-thread values:</a:t>
            </a:r>
          </a:p>
        </p:txBody>
      </p:sp>
      <p:sp>
        <p:nvSpPr>
          <p:cNvPr id="17" name="TextBox 16">
            <a:extLst>
              <a:ext uri="{FF2B5EF4-FFF2-40B4-BE49-F238E27FC236}">
                <a16:creationId xmlns:a16="http://schemas.microsoft.com/office/drawing/2014/main" id="{40405FB4-AFAE-E49A-4B4F-B21F54B54523}"/>
              </a:ext>
            </a:extLst>
          </p:cNvPr>
          <p:cNvSpPr txBox="1"/>
          <p:nvPr/>
        </p:nvSpPr>
        <p:spPr>
          <a:xfrm>
            <a:off x="8437703" y="4070698"/>
            <a:ext cx="3386120" cy="646331"/>
          </a:xfrm>
          <a:prstGeom prst="rect">
            <a:avLst/>
          </a:prstGeom>
          <a:noFill/>
        </p:spPr>
        <p:txBody>
          <a:bodyPr wrap="none" rtlCol="0">
            <a:spAutoFit/>
          </a:bodyPr>
          <a:lstStyle/>
          <a:p>
            <a:r>
              <a:rPr lang="en-US" dirty="0"/>
              <a:t>Indexes of the block a thread is in:</a:t>
            </a:r>
          </a:p>
          <a:p>
            <a:r>
              <a:rPr lang="en-US" dirty="0" err="1">
                <a:solidFill>
                  <a:schemeClr val="accent4">
                    <a:lumMod val="60000"/>
                    <a:lumOff val="40000"/>
                  </a:schemeClr>
                </a:solidFill>
              </a:rPr>
              <a:t>blockIdx</a:t>
            </a:r>
            <a:r>
              <a:rPr lang="en-US" dirty="0" err="1"/>
              <a:t>.x</a:t>
            </a:r>
            <a:r>
              <a:rPr lang="en-US" dirty="0"/>
              <a:t>.     (</a:t>
            </a:r>
            <a:r>
              <a:rPr lang="en-US" dirty="0" err="1"/>
              <a:t>y,z</a:t>
            </a:r>
            <a:r>
              <a:rPr lang="en-US" dirty="0"/>
              <a:t>)</a:t>
            </a:r>
          </a:p>
        </p:txBody>
      </p:sp>
      <p:sp>
        <p:nvSpPr>
          <p:cNvPr id="18" name="TextBox 17">
            <a:extLst>
              <a:ext uri="{FF2B5EF4-FFF2-40B4-BE49-F238E27FC236}">
                <a16:creationId xmlns:a16="http://schemas.microsoft.com/office/drawing/2014/main" id="{9FCD53C8-6FC9-1940-8283-71D6A1B748CA}"/>
              </a:ext>
            </a:extLst>
          </p:cNvPr>
          <p:cNvSpPr txBox="1"/>
          <p:nvPr/>
        </p:nvSpPr>
        <p:spPr>
          <a:xfrm>
            <a:off x="8433743" y="4904677"/>
            <a:ext cx="3649429" cy="923330"/>
          </a:xfrm>
          <a:prstGeom prst="rect">
            <a:avLst/>
          </a:prstGeom>
          <a:noFill/>
        </p:spPr>
        <p:txBody>
          <a:bodyPr wrap="square" rtlCol="0">
            <a:spAutoFit/>
          </a:bodyPr>
          <a:lstStyle/>
          <a:p>
            <a:r>
              <a:rPr lang="en-US" dirty="0"/>
              <a:t>Indexes of the position of the thread in a block:</a:t>
            </a:r>
          </a:p>
          <a:p>
            <a:r>
              <a:rPr lang="en-US" dirty="0" err="1">
                <a:solidFill>
                  <a:schemeClr val="accent4">
                    <a:lumMod val="60000"/>
                    <a:lumOff val="40000"/>
                  </a:schemeClr>
                </a:solidFill>
              </a:rPr>
              <a:t>threadIdx</a:t>
            </a:r>
            <a:r>
              <a:rPr lang="en-US" dirty="0" err="1"/>
              <a:t>.x</a:t>
            </a:r>
            <a:r>
              <a:rPr lang="en-US" dirty="0"/>
              <a:t>     (y, z)</a:t>
            </a:r>
          </a:p>
        </p:txBody>
      </p:sp>
      <p:sp>
        <p:nvSpPr>
          <p:cNvPr id="19" name="TextBox 18">
            <a:extLst>
              <a:ext uri="{FF2B5EF4-FFF2-40B4-BE49-F238E27FC236}">
                <a16:creationId xmlns:a16="http://schemas.microsoft.com/office/drawing/2014/main" id="{55966772-0B90-498B-F6AE-E6E242B47818}"/>
              </a:ext>
            </a:extLst>
          </p:cNvPr>
          <p:cNvSpPr txBox="1"/>
          <p:nvPr/>
        </p:nvSpPr>
        <p:spPr>
          <a:xfrm>
            <a:off x="8089331" y="5967036"/>
            <a:ext cx="3649429" cy="646331"/>
          </a:xfrm>
          <a:prstGeom prst="rect">
            <a:avLst/>
          </a:prstGeom>
          <a:noFill/>
        </p:spPr>
        <p:txBody>
          <a:bodyPr wrap="square" rtlCol="0">
            <a:spAutoFit/>
          </a:bodyPr>
          <a:lstStyle/>
          <a:p>
            <a:r>
              <a:rPr lang="en-US" dirty="0">
                <a:solidFill>
                  <a:schemeClr val="accent6">
                    <a:lumMod val="40000"/>
                    <a:lumOff val="60000"/>
                  </a:schemeClr>
                </a:solidFill>
              </a:rPr>
              <a:t>From these, a unique overall thread id can be calculated</a:t>
            </a:r>
          </a:p>
        </p:txBody>
      </p:sp>
    </p:spTree>
    <p:extLst>
      <p:ext uri="{BB962C8B-B14F-4D97-AF65-F5344CB8AC3E}">
        <p14:creationId xmlns:p14="http://schemas.microsoft.com/office/powerpoint/2010/main" val="419201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4293-BE8E-006A-6524-430928A90085}"/>
              </a:ext>
            </a:extLst>
          </p:cNvPr>
          <p:cNvSpPr>
            <a:spLocks noGrp="1"/>
          </p:cNvSpPr>
          <p:nvPr>
            <p:ph type="title"/>
          </p:nvPr>
        </p:nvSpPr>
        <p:spPr/>
        <p:txBody>
          <a:bodyPr/>
          <a:lstStyle/>
          <a:p>
            <a:r>
              <a:rPr lang="en-US" dirty="0"/>
              <a:t>CUDA Programming Model</a:t>
            </a:r>
          </a:p>
        </p:txBody>
      </p:sp>
      <p:pic>
        <p:nvPicPr>
          <p:cNvPr id="5" name="Content Placeholder 4">
            <a:extLst>
              <a:ext uri="{FF2B5EF4-FFF2-40B4-BE49-F238E27FC236}">
                <a16:creationId xmlns:a16="http://schemas.microsoft.com/office/drawing/2014/main" id="{C9FB9058-F605-71E1-D43D-D508C3AC9585}"/>
              </a:ext>
            </a:extLst>
          </p:cNvPr>
          <p:cNvPicPr>
            <a:picLocks noGrp="1" noChangeAspect="1"/>
          </p:cNvPicPr>
          <p:nvPr>
            <p:ph idx="1"/>
          </p:nvPr>
        </p:nvPicPr>
        <p:blipFill>
          <a:blip r:embed="rId2"/>
          <a:stretch>
            <a:fillRect/>
          </a:stretch>
        </p:blipFill>
        <p:spPr>
          <a:xfrm>
            <a:off x="336088" y="665531"/>
            <a:ext cx="5922391" cy="4326830"/>
          </a:xfrm>
        </p:spPr>
      </p:pic>
      <p:grpSp>
        <p:nvGrpSpPr>
          <p:cNvPr id="3" name="Group 2">
            <a:extLst>
              <a:ext uri="{FF2B5EF4-FFF2-40B4-BE49-F238E27FC236}">
                <a16:creationId xmlns:a16="http://schemas.microsoft.com/office/drawing/2014/main" id="{38FD68F5-5624-DB82-6FC2-0B169A596625}"/>
              </a:ext>
            </a:extLst>
          </p:cNvPr>
          <p:cNvGrpSpPr/>
          <p:nvPr/>
        </p:nvGrpSpPr>
        <p:grpSpPr>
          <a:xfrm>
            <a:off x="7177201" y="665531"/>
            <a:ext cx="627133" cy="1061213"/>
            <a:chOff x="8605176" y="767587"/>
            <a:chExt cx="965932" cy="1439591"/>
          </a:xfrm>
        </p:grpSpPr>
        <p:cxnSp>
          <p:nvCxnSpPr>
            <p:cNvPr id="7" name="Straight Arrow Connector 6">
              <a:extLst>
                <a:ext uri="{FF2B5EF4-FFF2-40B4-BE49-F238E27FC236}">
                  <a16:creationId xmlns:a16="http://schemas.microsoft.com/office/drawing/2014/main" id="{3CA875A0-52F7-88FF-4996-CADF1DF158AC}"/>
                </a:ext>
              </a:extLst>
            </p:cNvPr>
            <p:cNvCxnSpPr/>
            <p:nvPr/>
          </p:nvCxnSpPr>
          <p:spPr>
            <a:xfrm>
              <a:off x="8605176" y="1409221"/>
              <a:ext cx="0" cy="757237"/>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95272AB-6F5F-D9FD-C902-D7B9548B93B1}"/>
                </a:ext>
              </a:extLst>
            </p:cNvPr>
            <p:cNvCxnSpPr>
              <a:cxnSpLocks/>
            </p:cNvCxnSpPr>
            <p:nvPr/>
          </p:nvCxnSpPr>
          <p:spPr>
            <a:xfrm>
              <a:off x="8671848" y="1418741"/>
              <a:ext cx="690563" cy="0"/>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BF5FB6C-F360-5515-38F1-53E50D98EE0C}"/>
                </a:ext>
              </a:extLst>
            </p:cNvPr>
            <p:cNvCxnSpPr>
              <a:cxnSpLocks/>
            </p:cNvCxnSpPr>
            <p:nvPr/>
          </p:nvCxnSpPr>
          <p:spPr>
            <a:xfrm flipV="1">
              <a:off x="8614696" y="1023460"/>
              <a:ext cx="490541" cy="319082"/>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A1A2D0B-AE7B-36B2-2B27-972195A57499}"/>
                </a:ext>
              </a:extLst>
            </p:cNvPr>
            <p:cNvSpPr txBox="1"/>
            <p:nvPr/>
          </p:nvSpPr>
          <p:spPr>
            <a:xfrm>
              <a:off x="8776626" y="1837846"/>
              <a:ext cx="288862" cy="369332"/>
            </a:xfrm>
            <a:prstGeom prst="rect">
              <a:avLst/>
            </a:prstGeom>
            <a:noFill/>
          </p:spPr>
          <p:txBody>
            <a:bodyPr wrap="none" rtlCol="0">
              <a:spAutoFit/>
            </a:bodyPr>
            <a:lstStyle/>
            <a:p>
              <a:r>
                <a:rPr lang="en-US" dirty="0"/>
                <a:t>y</a:t>
              </a:r>
            </a:p>
          </p:txBody>
        </p:sp>
        <p:sp>
          <p:nvSpPr>
            <p:cNvPr id="13" name="TextBox 12">
              <a:extLst>
                <a:ext uri="{FF2B5EF4-FFF2-40B4-BE49-F238E27FC236}">
                  <a16:creationId xmlns:a16="http://schemas.microsoft.com/office/drawing/2014/main" id="{00ECB807-20D4-4C08-18EC-B87857801925}"/>
                </a:ext>
              </a:extLst>
            </p:cNvPr>
            <p:cNvSpPr txBox="1"/>
            <p:nvPr/>
          </p:nvSpPr>
          <p:spPr>
            <a:xfrm>
              <a:off x="9287056" y="1366588"/>
              <a:ext cx="284052" cy="369332"/>
            </a:xfrm>
            <a:prstGeom prst="rect">
              <a:avLst/>
            </a:prstGeom>
            <a:noFill/>
          </p:spPr>
          <p:txBody>
            <a:bodyPr wrap="none" rtlCol="0">
              <a:spAutoFit/>
            </a:bodyPr>
            <a:lstStyle/>
            <a:p>
              <a:r>
                <a:rPr lang="en-US" dirty="0"/>
                <a:t>x</a:t>
              </a:r>
            </a:p>
          </p:txBody>
        </p:sp>
        <p:sp>
          <p:nvSpPr>
            <p:cNvPr id="14" name="TextBox 13">
              <a:extLst>
                <a:ext uri="{FF2B5EF4-FFF2-40B4-BE49-F238E27FC236}">
                  <a16:creationId xmlns:a16="http://schemas.microsoft.com/office/drawing/2014/main" id="{E032A8EF-AA69-FD70-9E78-11D9F89F13C1}"/>
                </a:ext>
              </a:extLst>
            </p:cNvPr>
            <p:cNvSpPr txBox="1"/>
            <p:nvPr/>
          </p:nvSpPr>
          <p:spPr>
            <a:xfrm>
              <a:off x="9149037" y="767587"/>
              <a:ext cx="276038" cy="369332"/>
            </a:xfrm>
            <a:prstGeom prst="rect">
              <a:avLst/>
            </a:prstGeom>
            <a:noFill/>
          </p:spPr>
          <p:txBody>
            <a:bodyPr wrap="none" rtlCol="0">
              <a:spAutoFit/>
            </a:bodyPr>
            <a:lstStyle/>
            <a:p>
              <a:r>
                <a:rPr lang="en-US" dirty="0"/>
                <a:t>z</a:t>
              </a:r>
            </a:p>
          </p:txBody>
        </p:sp>
      </p:grpSp>
      <p:sp>
        <p:nvSpPr>
          <p:cNvPr id="15" name="TextBox 14">
            <a:extLst>
              <a:ext uri="{FF2B5EF4-FFF2-40B4-BE49-F238E27FC236}">
                <a16:creationId xmlns:a16="http://schemas.microsoft.com/office/drawing/2014/main" id="{E999EF49-C12E-13F4-ABBA-7E940E39BF47}"/>
              </a:ext>
            </a:extLst>
          </p:cNvPr>
          <p:cNvSpPr txBox="1"/>
          <p:nvPr/>
        </p:nvSpPr>
        <p:spPr>
          <a:xfrm>
            <a:off x="7275991" y="2063855"/>
            <a:ext cx="1824730" cy="830997"/>
          </a:xfrm>
          <a:prstGeom prst="rect">
            <a:avLst/>
          </a:prstGeom>
          <a:noFill/>
        </p:spPr>
        <p:txBody>
          <a:bodyPr wrap="none" rtlCol="0">
            <a:spAutoFit/>
          </a:bodyPr>
          <a:lstStyle/>
          <a:p>
            <a:r>
              <a:rPr lang="en-US" sz="1600" dirty="0"/>
              <a:t>Overall dimensions:</a:t>
            </a:r>
          </a:p>
          <a:p>
            <a:r>
              <a:rPr lang="en-US" sz="1600" dirty="0" err="1">
                <a:solidFill>
                  <a:schemeClr val="accent4">
                    <a:lumMod val="60000"/>
                    <a:lumOff val="40000"/>
                  </a:schemeClr>
                </a:solidFill>
              </a:rPr>
              <a:t>gridDim</a:t>
            </a:r>
            <a:r>
              <a:rPr lang="en-US" sz="1600" dirty="0" err="1"/>
              <a:t>.x</a:t>
            </a:r>
            <a:r>
              <a:rPr lang="en-US" sz="1600" dirty="0"/>
              <a:t>  (y, z)</a:t>
            </a:r>
          </a:p>
          <a:p>
            <a:r>
              <a:rPr lang="en-US" sz="1600" dirty="0" err="1">
                <a:solidFill>
                  <a:schemeClr val="accent4">
                    <a:lumMod val="60000"/>
                    <a:lumOff val="40000"/>
                  </a:schemeClr>
                </a:solidFill>
              </a:rPr>
              <a:t>blockDin</a:t>
            </a:r>
            <a:r>
              <a:rPr lang="en-US" sz="1600" dirty="0" err="1"/>
              <a:t>.x</a:t>
            </a:r>
            <a:r>
              <a:rPr lang="en-US" sz="1600" dirty="0"/>
              <a:t> (y, z)</a:t>
            </a:r>
          </a:p>
        </p:txBody>
      </p:sp>
      <p:sp>
        <p:nvSpPr>
          <p:cNvPr id="16" name="TextBox 15">
            <a:extLst>
              <a:ext uri="{FF2B5EF4-FFF2-40B4-BE49-F238E27FC236}">
                <a16:creationId xmlns:a16="http://schemas.microsoft.com/office/drawing/2014/main" id="{5A3E4F77-38E7-1B88-1B03-53DB62A3D531}"/>
              </a:ext>
            </a:extLst>
          </p:cNvPr>
          <p:cNvSpPr txBox="1"/>
          <p:nvPr/>
        </p:nvSpPr>
        <p:spPr>
          <a:xfrm>
            <a:off x="6883230" y="1721266"/>
            <a:ext cx="4122475" cy="369332"/>
          </a:xfrm>
          <a:prstGeom prst="rect">
            <a:avLst/>
          </a:prstGeom>
          <a:noFill/>
        </p:spPr>
        <p:txBody>
          <a:bodyPr wrap="none" rtlCol="0">
            <a:spAutoFit/>
          </a:bodyPr>
          <a:lstStyle/>
          <a:p>
            <a:r>
              <a:rPr lang="en-US" dirty="0"/>
              <a:t>Programmer accessible per-thread values:</a:t>
            </a:r>
          </a:p>
        </p:txBody>
      </p:sp>
      <p:sp>
        <p:nvSpPr>
          <p:cNvPr id="17" name="TextBox 16">
            <a:extLst>
              <a:ext uri="{FF2B5EF4-FFF2-40B4-BE49-F238E27FC236}">
                <a16:creationId xmlns:a16="http://schemas.microsoft.com/office/drawing/2014/main" id="{40405FB4-AFAE-E49A-4B4F-B21F54B54523}"/>
              </a:ext>
            </a:extLst>
          </p:cNvPr>
          <p:cNvSpPr txBox="1"/>
          <p:nvPr/>
        </p:nvSpPr>
        <p:spPr>
          <a:xfrm>
            <a:off x="7220488" y="3007388"/>
            <a:ext cx="3020442" cy="584775"/>
          </a:xfrm>
          <a:prstGeom prst="rect">
            <a:avLst/>
          </a:prstGeom>
          <a:noFill/>
        </p:spPr>
        <p:txBody>
          <a:bodyPr wrap="none" rtlCol="0">
            <a:spAutoFit/>
          </a:bodyPr>
          <a:lstStyle/>
          <a:p>
            <a:r>
              <a:rPr lang="en-US" sz="1600" dirty="0"/>
              <a:t>Indexes of the block a thread is in:</a:t>
            </a:r>
          </a:p>
          <a:p>
            <a:r>
              <a:rPr lang="en-US" sz="1600" dirty="0" err="1">
                <a:solidFill>
                  <a:schemeClr val="accent4">
                    <a:lumMod val="60000"/>
                    <a:lumOff val="40000"/>
                  </a:schemeClr>
                </a:solidFill>
              </a:rPr>
              <a:t>blockIdx</a:t>
            </a:r>
            <a:r>
              <a:rPr lang="en-US" sz="1600" dirty="0" err="1"/>
              <a:t>.x</a:t>
            </a:r>
            <a:r>
              <a:rPr lang="en-US" sz="1600" dirty="0"/>
              <a:t>.     (</a:t>
            </a:r>
            <a:r>
              <a:rPr lang="en-US" sz="1600" dirty="0" err="1"/>
              <a:t>y,z</a:t>
            </a:r>
            <a:r>
              <a:rPr lang="en-US" sz="1600" dirty="0"/>
              <a:t>)</a:t>
            </a:r>
          </a:p>
        </p:txBody>
      </p:sp>
      <p:sp>
        <p:nvSpPr>
          <p:cNvPr id="18" name="TextBox 17">
            <a:extLst>
              <a:ext uri="{FF2B5EF4-FFF2-40B4-BE49-F238E27FC236}">
                <a16:creationId xmlns:a16="http://schemas.microsoft.com/office/drawing/2014/main" id="{9FCD53C8-6FC9-1940-8283-71D6A1B748CA}"/>
              </a:ext>
            </a:extLst>
          </p:cNvPr>
          <p:cNvSpPr txBox="1"/>
          <p:nvPr/>
        </p:nvSpPr>
        <p:spPr>
          <a:xfrm>
            <a:off x="7177201" y="3704699"/>
            <a:ext cx="3649429" cy="861774"/>
          </a:xfrm>
          <a:prstGeom prst="rect">
            <a:avLst/>
          </a:prstGeom>
          <a:noFill/>
        </p:spPr>
        <p:txBody>
          <a:bodyPr wrap="square" rtlCol="0">
            <a:spAutoFit/>
          </a:bodyPr>
          <a:lstStyle/>
          <a:p>
            <a:r>
              <a:rPr lang="en-US" sz="1600" dirty="0"/>
              <a:t>Indexes of the position of the thread in a block:</a:t>
            </a:r>
          </a:p>
          <a:p>
            <a:r>
              <a:rPr lang="en-US" sz="1600" dirty="0" err="1">
                <a:solidFill>
                  <a:schemeClr val="accent4">
                    <a:lumMod val="60000"/>
                    <a:lumOff val="40000"/>
                  </a:schemeClr>
                </a:solidFill>
              </a:rPr>
              <a:t>threadIdx</a:t>
            </a:r>
            <a:r>
              <a:rPr lang="en-US" sz="1600" dirty="0" err="1"/>
              <a:t>.x</a:t>
            </a:r>
            <a:r>
              <a:rPr lang="en-US" sz="1600" dirty="0"/>
              <a:t>     (y, z)</a:t>
            </a:r>
          </a:p>
        </p:txBody>
      </p:sp>
      <p:sp>
        <p:nvSpPr>
          <p:cNvPr id="19" name="TextBox 18">
            <a:extLst>
              <a:ext uri="{FF2B5EF4-FFF2-40B4-BE49-F238E27FC236}">
                <a16:creationId xmlns:a16="http://schemas.microsoft.com/office/drawing/2014/main" id="{55966772-0B90-498B-F6AE-E6E242B47818}"/>
              </a:ext>
            </a:extLst>
          </p:cNvPr>
          <p:cNvSpPr txBox="1"/>
          <p:nvPr/>
        </p:nvSpPr>
        <p:spPr>
          <a:xfrm>
            <a:off x="556179" y="5081058"/>
            <a:ext cx="10696374" cy="1477328"/>
          </a:xfrm>
          <a:prstGeom prst="rect">
            <a:avLst/>
          </a:prstGeom>
          <a:noFill/>
        </p:spPr>
        <p:txBody>
          <a:bodyPr wrap="square" rtlCol="0">
            <a:spAutoFit/>
          </a:bodyPr>
          <a:lstStyle/>
          <a:p>
            <a:r>
              <a:rPr lang="en-US" dirty="0">
                <a:solidFill>
                  <a:schemeClr val="accent6">
                    <a:lumMod val="40000"/>
                    <a:lumOff val="60000"/>
                  </a:schemeClr>
                </a:solidFill>
              </a:rPr>
              <a:t>Programmer determines unique thread id from 0 to (N x L)-1 like this:</a:t>
            </a:r>
            <a:br>
              <a:rPr lang="en-US" dirty="0">
                <a:solidFill>
                  <a:schemeClr val="accent6">
                    <a:lumMod val="40000"/>
                    <a:lumOff val="60000"/>
                  </a:schemeClr>
                </a:solidFill>
              </a:rPr>
            </a:br>
            <a:br>
              <a:rPr lang="en-US" dirty="0">
                <a:solidFill>
                  <a:schemeClr val="accent6">
                    <a:lumMod val="40000"/>
                    <a:lumOff val="60000"/>
                  </a:schemeClr>
                </a:solidFill>
              </a:rPr>
            </a:br>
            <a:r>
              <a:rPr lang="en-US" dirty="0">
                <a:solidFill>
                  <a:schemeClr val="accent6">
                    <a:lumMod val="40000"/>
                    <a:lumOff val="60000"/>
                  </a:schemeClr>
                </a:solidFill>
              </a:rPr>
              <a:t>((my block index in the x direction) * (number of threads in a block))  + my thread index in the block I'm in  </a:t>
            </a:r>
            <a:br>
              <a:rPr lang="en-US" dirty="0">
                <a:solidFill>
                  <a:schemeClr val="accent6">
                    <a:lumMod val="40000"/>
                    <a:lumOff val="60000"/>
                  </a:schemeClr>
                </a:solidFill>
              </a:rPr>
            </a:br>
            <a:br>
              <a:rPr lang="en-US" dirty="0">
                <a:solidFill>
                  <a:schemeClr val="accent6">
                    <a:lumMod val="40000"/>
                    <a:lumOff val="60000"/>
                  </a:schemeClr>
                </a:solidFill>
              </a:rPr>
            </a:br>
            <a:r>
              <a:rPr lang="en-US" dirty="0" err="1">
                <a:solidFill>
                  <a:schemeClr val="accent6">
                    <a:lumMod val="40000"/>
                    <a:lumOff val="60000"/>
                  </a:schemeClr>
                </a:solidFill>
              </a:rPr>
              <a:t>threadNumber</a:t>
            </a:r>
            <a:r>
              <a:rPr lang="en-US" dirty="0">
                <a:solidFill>
                  <a:schemeClr val="accent6">
                    <a:lumMod val="40000"/>
                    <a:lumOff val="60000"/>
                  </a:schemeClr>
                </a:solidFill>
              </a:rPr>
              <a:t> = (</a:t>
            </a:r>
            <a:r>
              <a:rPr lang="en-US" dirty="0" err="1">
                <a:solidFill>
                  <a:schemeClr val="accent6">
                    <a:lumMod val="40000"/>
                    <a:lumOff val="60000"/>
                  </a:schemeClr>
                </a:solidFill>
              </a:rPr>
              <a:t>blockIdx.x</a:t>
            </a:r>
            <a:r>
              <a:rPr lang="en-US" dirty="0">
                <a:solidFill>
                  <a:schemeClr val="accent6">
                    <a:lumMod val="40000"/>
                    <a:lumOff val="60000"/>
                  </a:schemeClr>
                </a:solidFill>
              </a:rPr>
              <a:t> * </a:t>
            </a:r>
            <a:r>
              <a:rPr lang="en-US" dirty="0" err="1">
                <a:solidFill>
                  <a:schemeClr val="accent6">
                    <a:lumMod val="40000"/>
                    <a:lumOff val="60000"/>
                  </a:schemeClr>
                </a:solidFill>
              </a:rPr>
              <a:t>blockDim.x</a:t>
            </a:r>
            <a:r>
              <a:rPr lang="en-US" dirty="0">
                <a:solidFill>
                  <a:schemeClr val="accent6">
                    <a:lumMod val="40000"/>
                    <a:lumOff val="60000"/>
                  </a:schemeClr>
                </a:solidFill>
              </a:rPr>
              <a:t>) + </a:t>
            </a:r>
            <a:r>
              <a:rPr lang="en-US" dirty="0" err="1">
                <a:solidFill>
                  <a:schemeClr val="accent6">
                    <a:lumMod val="40000"/>
                    <a:lumOff val="60000"/>
                  </a:schemeClr>
                </a:solidFill>
              </a:rPr>
              <a:t>threadIdx.x</a:t>
            </a:r>
            <a:endParaRPr lang="en-US" dirty="0">
              <a:solidFill>
                <a:schemeClr val="accent6">
                  <a:lumMod val="40000"/>
                  <a:lumOff val="60000"/>
                </a:schemeClr>
              </a:solidFill>
            </a:endParaRPr>
          </a:p>
        </p:txBody>
      </p:sp>
      <p:sp>
        <p:nvSpPr>
          <p:cNvPr id="4" name="TextBox 3">
            <a:extLst>
              <a:ext uri="{FF2B5EF4-FFF2-40B4-BE49-F238E27FC236}">
                <a16:creationId xmlns:a16="http://schemas.microsoft.com/office/drawing/2014/main" id="{D8F979B0-E794-201E-C84C-4164A155069B}"/>
              </a:ext>
            </a:extLst>
          </p:cNvPr>
          <p:cNvSpPr txBox="1"/>
          <p:nvPr/>
        </p:nvSpPr>
        <p:spPr>
          <a:xfrm>
            <a:off x="9272646" y="2297410"/>
            <a:ext cx="1561133" cy="369332"/>
          </a:xfrm>
          <a:prstGeom prst="rect">
            <a:avLst/>
          </a:prstGeom>
          <a:noFill/>
        </p:spPr>
        <p:txBody>
          <a:bodyPr wrap="none" rtlCol="0">
            <a:spAutoFit/>
          </a:bodyPr>
          <a:lstStyle/>
          <a:p>
            <a:r>
              <a:rPr lang="en-US" dirty="0"/>
              <a:t>Blocks per grid</a:t>
            </a:r>
          </a:p>
        </p:txBody>
      </p:sp>
      <p:cxnSp>
        <p:nvCxnSpPr>
          <p:cNvPr id="9" name="Straight Arrow Connector 8">
            <a:extLst>
              <a:ext uri="{FF2B5EF4-FFF2-40B4-BE49-F238E27FC236}">
                <a16:creationId xmlns:a16="http://schemas.microsoft.com/office/drawing/2014/main" id="{6B1B6458-2BB7-531E-F4AA-1D3D1C53B85E}"/>
              </a:ext>
            </a:extLst>
          </p:cNvPr>
          <p:cNvCxnSpPr>
            <a:stCxn id="4" idx="1"/>
          </p:cNvCxnSpPr>
          <p:nvPr/>
        </p:nvCxnSpPr>
        <p:spPr>
          <a:xfrm flipH="1">
            <a:off x="8730709" y="2482076"/>
            <a:ext cx="541937" cy="10727"/>
          </a:xfrm>
          <a:prstGeom prst="straightConnector1">
            <a:avLst/>
          </a:prstGeom>
          <a:ln w="1905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8CDFB28-5D12-545D-D72A-6E165226F045}"/>
              </a:ext>
            </a:extLst>
          </p:cNvPr>
          <p:cNvSpPr txBox="1"/>
          <p:nvPr/>
        </p:nvSpPr>
        <p:spPr>
          <a:xfrm>
            <a:off x="9265497" y="2509161"/>
            <a:ext cx="1855188" cy="369332"/>
          </a:xfrm>
          <a:prstGeom prst="rect">
            <a:avLst/>
          </a:prstGeom>
          <a:noFill/>
        </p:spPr>
        <p:txBody>
          <a:bodyPr wrap="none" rtlCol="0">
            <a:spAutoFit/>
          </a:bodyPr>
          <a:lstStyle/>
          <a:p>
            <a:r>
              <a:rPr lang="en-US" dirty="0"/>
              <a:t>Threads per block</a:t>
            </a:r>
          </a:p>
        </p:txBody>
      </p:sp>
      <p:cxnSp>
        <p:nvCxnSpPr>
          <p:cNvPr id="20" name="Straight Arrow Connector 19">
            <a:extLst>
              <a:ext uri="{FF2B5EF4-FFF2-40B4-BE49-F238E27FC236}">
                <a16:creationId xmlns:a16="http://schemas.microsoft.com/office/drawing/2014/main" id="{27BFE792-6322-DAE6-037E-D2F22E4562ED}"/>
              </a:ext>
            </a:extLst>
          </p:cNvPr>
          <p:cNvCxnSpPr>
            <a:stCxn id="11" idx="1"/>
          </p:cNvCxnSpPr>
          <p:nvPr/>
        </p:nvCxnSpPr>
        <p:spPr>
          <a:xfrm flipH="1">
            <a:off x="8723560" y="2693827"/>
            <a:ext cx="541937" cy="10727"/>
          </a:xfrm>
          <a:prstGeom prst="straightConnector1">
            <a:avLst/>
          </a:prstGeom>
          <a:ln w="1905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115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1+#ppt_w/2"/>
                                          </p:val>
                                        </p:tav>
                                        <p:tav tm="100000">
                                          <p:val>
                                            <p:strVal val="#ppt_x"/>
                                          </p:val>
                                        </p:tav>
                                      </p:tavLst>
                                    </p:anim>
                                    <p:anim calcmode="lin" valueType="num">
                                      <p:cBhvr additive="base">
                                        <p:cTn id="18" dur="500" fill="hold"/>
                                        <p:tgtEl>
                                          <p:spTgt spid="20"/>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1+#ppt_w/2"/>
                                          </p:val>
                                        </p:tav>
                                        <p:tav tm="100000">
                                          <p:val>
                                            <p:strVal val="#ppt_x"/>
                                          </p:val>
                                        </p:tav>
                                      </p:tavLst>
                                    </p:anim>
                                    <p:anim calcmode="lin" valueType="num">
                                      <p:cBhvr additive="base">
                                        <p:cTn id="2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A0B9B3-C892-2C0E-76B8-17FE3FC7057B}"/>
              </a:ext>
            </a:extLst>
          </p:cNvPr>
          <p:cNvPicPr>
            <a:picLocks noGrp="1" noChangeAspect="1"/>
          </p:cNvPicPr>
          <p:nvPr>
            <p:ph idx="1"/>
          </p:nvPr>
        </p:nvPicPr>
        <p:blipFill>
          <a:blip r:embed="rId2"/>
          <a:stretch>
            <a:fillRect/>
          </a:stretch>
        </p:blipFill>
        <p:spPr>
          <a:xfrm>
            <a:off x="1371600" y="219269"/>
            <a:ext cx="7972425" cy="6296226"/>
          </a:xfrm>
        </p:spPr>
      </p:pic>
      <p:grpSp>
        <p:nvGrpSpPr>
          <p:cNvPr id="6" name="Group 5">
            <a:extLst>
              <a:ext uri="{FF2B5EF4-FFF2-40B4-BE49-F238E27FC236}">
                <a16:creationId xmlns:a16="http://schemas.microsoft.com/office/drawing/2014/main" id="{4350EEBB-1993-E708-DD5A-9290E0B9AC3E}"/>
              </a:ext>
            </a:extLst>
          </p:cNvPr>
          <p:cNvGrpSpPr/>
          <p:nvPr/>
        </p:nvGrpSpPr>
        <p:grpSpPr>
          <a:xfrm>
            <a:off x="9920401" y="1151306"/>
            <a:ext cx="627133" cy="1061213"/>
            <a:chOff x="8605176" y="767587"/>
            <a:chExt cx="965932" cy="1439591"/>
          </a:xfrm>
        </p:grpSpPr>
        <p:cxnSp>
          <p:nvCxnSpPr>
            <p:cNvPr id="7" name="Straight Arrow Connector 6">
              <a:extLst>
                <a:ext uri="{FF2B5EF4-FFF2-40B4-BE49-F238E27FC236}">
                  <a16:creationId xmlns:a16="http://schemas.microsoft.com/office/drawing/2014/main" id="{AE0A3C35-B8D5-3387-4845-FDA692C985D9}"/>
                </a:ext>
              </a:extLst>
            </p:cNvPr>
            <p:cNvCxnSpPr/>
            <p:nvPr/>
          </p:nvCxnSpPr>
          <p:spPr>
            <a:xfrm>
              <a:off x="8605176" y="1409221"/>
              <a:ext cx="0" cy="757237"/>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FABB42E-82CE-5C1F-85A3-D496B36569C7}"/>
                </a:ext>
              </a:extLst>
            </p:cNvPr>
            <p:cNvCxnSpPr>
              <a:cxnSpLocks/>
            </p:cNvCxnSpPr>
            <p:nvPr/>
          </p:nvCxnSpPr>
          <p:spPr>
            <a:xfrm>
              <a:off x="8671848" y="1418741"/>
              <a:ext cx="690563" cy="0"/>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9183A02-FAF9-7D8F-62B2-70AFA1FBD266}"/>
                </a:ext>
              </a:extLst>
            </p:cNvPr>
            <p:cNvCxnSpPr>
              <a:cxnSpLocks/>
            </p:cNvCxnSpPr>
            <p:nvPr/>
          </p:nvCxnSpPr>
          <p:spPr>
            <a:xfrm flipV="1">
              <a:off x="8614696" y="1023460"/>
              <a:ext cx="490541" cy="319082"/>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6A82992-C636-FA13-BACF-8ED5EA94BFA8}"/>
                </a:ext>
              </a:extLst>
            </p:cNvPr>
            <p:cNvSpPr txBox="1"/>
            <p:nvPr/>
          </p:nvSpPr>
          <p:spPr>
            <a:xfrm>
              <a:off x="8776626" y="1837846"/>
              <a:ext cx="288862" cy="369332"/>
            </a:xfrm>
            <a:prstGeom prst="rect">
              <a:avLst/>
            </a:prstGeom>
            <a:noFill/>
          </p:spPr>
          <p:txBody>
            <a:bodyPr wrap="none" rtlCol="0">
              <a:spAutoFit/>
            </a:bodyPr>
            <a:lstStyle/>
            <a:p>
              <a:r>
                <a:rPr lang="en-US" dirty="0"/>
                <a:t>y</a:t>
              </a:r>
            </a:p>
          </p:txBody>
        </p:sp>
        <p:sp>
          <p:nvSpPr>
            <p:cNvPr id="11" name="TextBox 10">
              <a:extLst>
                <a:ext uri="{FF2B5EF4-FFF2-40B4-BE49-F238E27FC236}">
                  <a16:creationId xmlns:a16="http://schemas.microsoft.com/office/drawing/2014/main" id="{CB70EF9E-0F64-6E8E-FA76-9D82E3C3310B}"/>
                </a:ext>
              </a:extLst>
            </p:cNvPr>
            <p:cNvSpPr txBox="1"/>
            <p:nvPr/>
          </p:nvSpPr>
          <p:spPr>
            <a:xfrm>
              <a:off x="9287056" y="1366588"/>
              <a:ext cx="284052" cy="369332"/>
            </a:xfrm>
            <a:prstGeom prst="rect">
              <a:avLst/>
            </a:prstGeom>
            <a:noFill/>
          </p:spPr>
          <p:txBody>
            <a:bodyPr wrap="none" rtlCol="0">
              <a:spAutoFit/>
            </a:bodyPr>
            <a:lstStyle/>
            <a:p>
              <a:r>
                <a:rPr lang="en-US" dirty="0"/>
                <a:t>x</a:t>
              </a:r>
            </a:p>
          </p:txBody>
        </p:sp>
        <p:sp>
          <p:nvSpPr>
            <p:cNvPr id="12" name="TextBox 11">
              <a:extLst>
                <a:ext uri="{FF2B5EF4-FFF2-40B4-BE49-F238E27FC236}">
                  <a16:creationId xmlns:a16="http://schemas.microsoft.com/office/drawing/2014/main" id="{1A224A3E-0B77-0972-40DA-AF87EE852E94}"/>
                </a:ext>
              </a:extLst>
            </p:cNvPr>
            <p:cNvSpPr txBox="1"/>
            <p:nvPr/>
          </p:nvSpPr>
          <p:spPr>
            <a:xfrm>
              <a:off x="9149037" y="767587"/>
              <a:ext cx="276038" cy="369332"/>
            </a:xfrm>
            <a:prstGeom prst="rect">
              <a:avLst/>
            </a:prstGeom>
            <a:noFill/>
          </p:spPr>
          <p:txBody>
            <a:bodyPr wrap="none" rtlCol="0">
              <a:spAutoFit/>
            </a:bodyPr>
            <a:lstStyle/>
            <a:p>
              <a:r>
                <a:rPr lang="en-US" dirty="0"/>
                <a:t>z</a:t>
              </a:r>
            </a:p>
          </p:txBody>
        </p:sp>
      </p:grpSp>
    </p:spTree>
    <p:extLst>
      <p:ext uri="{BB962C8B-B14F-4D97-AF65-F5344CB8AC3E}">
        <p14:creationId xmlns:p14="http://schemas.microsoft.com/office/powerpoint/2010/main" val="1184929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BBAFD4-C63D-C5E7-885E-CCD260B8B81C}"/>
              </a:ext>
            </a:extLst>
          </p:cNvPr>
          <p:cNvPicPr>
            <a:picLocks noGrp="1" noChangeAspect="1"/>
          </p:cNvPicPr>
          <p:nvPr>
            <p:ph idx="1"/>
          </p:nvPr>
        </p:nvPicPr>
        <p:blipFill>
          <a:blip r:embed="rId2"/>
          <a:stretch>
            <a:fillRect/>
          </a:stretch>
        </p:blipFill>
        <p:spPr>
          <a:xfrm>
            <a:off x="1761067" y="86604"/>
            <a:ext cx="5939896" cy="6684792"/>
          </a:xfrm>
        </p:spPr>
      </p:pic>
      <p:grpSp>
        <p:nvGrpSpPr>
          <p:cNvPr id="6" name="Group 5">
            <a:extLst>
              <a:ext uri="{FF2B5EF4-FFF2-40B4-BE49-F238E27FC236}">
                <a16:creationId xmlns:a16="http://schemas.microsoft.com/office/drawing/2014/main" id="{8C8FADBF-8193-DB1B-8D81-066AF526EA59}"/>
              </a:ext>
            </a:extLst>
          </p:cNvPr>
          <p:cNvGrpSpPr/>
          <p:nvPr/>
        </p:nvGrpSpPr>
        <p:grpSpPr>
          <a:xfrm>
            <a:off x="8391638" y="522656"/>
            <a:ext cx="627133" cy="1061213"/>
            <a:chOff x="8605176" y="767587"/>
            <a:chExt cx="965932" cy="1439591"/>
          </a:xfrm>
        </p:grpSpPr>
        <p:cxnSp>
          <p:nvCxnSpPr>
            <p:cNvPr id="7" name="Straight Arrow Connector 6">
              <a:extLst>
                <a:ext uri="{FF2B5EF4-FFF2-40B4-BE49-F238E27FC236}">
                  <a16:creationId xmlns:a16="http://schemas.microsoft.com/office/drawing/2014/main" id="{8CF3901F-541C-4EC2-98AF-5FB13B6AAC05}"/>
                </a:ext>
              </a:extLst>
            </p:cNvPr>
            <p:cNvCxnSpPr/>
            <p:nvPr/>
          </p:nvCxnSpPr>
          <p:spPr>
            <a:xfrm>
              <a:off x="8605176" y="1409221"/>
              <a:ext cx="0" cy="757237"/>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9A1A4DB-2684-7CFF-CB2C-51DF2ED1C60F}"/>
                </a:ext>
              </a:extLst>
            </p:cNvPr>
            <p:cNvCxnSpPr>
              <a:cxnSpLocks/>
            </p:cNvCxnSpPr>
            <p:nvPr/>
          </p:nvCxnSpPr>
          <p:spPr>
            <a:xfrm>
              <a:off x="8671848" y="1418741"/>
              <a:ext cx="690563" cy="0"/>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B699D71-4209-89DE-19A0-C9FA8042BD92}"/>
                </a:ext>
              </a:extLst>
            </p:cNvPr>
            <p:cNvCxnSpPr>
              <a:cxnSpLocks/>
            </p:cNvCxnSpPr>
            <p:nvPr/>
          </p:nvCxnSpPr>
          <p:spPr>
            <a:xfrm flipV="1">
              <a:off x="8614696" y="1023460"/>
              <a:ext cx="490541" cy="319082"/>
            </a:xfrm>
            <a:prstGeom prst="straightConnector1">
              <a:avLst/>
            </a:prstGeom>
            <a:ln w="444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8FA7126-E047-CB7B-71EF-AF53D01614B9}"/>
                </a:ext>
              </a:extLst>
            </p:cNvPr>
            <p:cNvSpPr txBox="1"/>
            <p:nvPr/>
          </p:nvSpPr>
          <p:spPr>
            <a:xfrm>
              <a:off x="8776626" y="1837846"/>
              <a:ext cx="288862" cy="369332"/>
            </a:xfrm>
            <a:prstGeom prst="rect">
              <a:avLst/>
            </a:prstGeom>
            <a:noFill/>
          </p:spPr>
          <p:txBody>
            <a:bodyPr wrap="none" rtlCol="0">
              <a:spAutoFit/>
            </a:bodyPr>
            <a:lstStyle/>
            <a:p>
              <a:r>
                <a:rPr lang="en-US" dirty="0"/>
                <a:t>y</a:t>
              </a:r>
            </a:p>
          </p:txBody>
        </p:sp>
        <p:sp>
          <p:nvSpPr>
            <p:cNvPr id="11" name="TextBox 10">
              <a:extLst>
                <a:ext uri="{FF2B5EF4-FFF2-40B4-BE49-F238E27FC236}">
                  <a16:creationId xmlns:a16="http://schemas.microsoft.com/office/drawing/2014/main" id="{4FBB5E33-FADA-DC44-B437-46C9AC910DAA}"/>
                </a:ext>
              </a:extLst>
            </p:cNvPr>
            <p:cNvSpPr txBox="1"/>
            <p:nvPr/>
          </p:nvSpPr>
          <p:spPr>
            <a:xfrm>
              <a:off x="9287056" y="1366588"/>
              <a:ext cx="284052" cy="369332"/>
            </a:xfrm>
            <a:prstGeom prst="rect">
              <a:avLst/>
            </a:prstGeom>
            <a:noFill/>
          </p:spPr>
          <p:txBody>
            <a:bodyPr wrap="none" rtlCol="0">
              <a:spAutoFit/>
            </a:bodyPr>
            <a:lstStyle/>
            <a:p>
              <a:r>
                <a:rPr lang="en-US" dirty="0"/>
                <a:t>x</a:t>
              </a:r>
            </a:p>
          </p:txBody>
        </p:sp>
        <p:sp>
          <p:nvSpPr>
            <p:cNvPr id="12" name="TextBox 11">
              <a:extLst>
                <a:ext uri="{FF2B5EF4-FFF2-40B4-BE49-F238E27FC236}">
                  <a16:creationId xmlns:a16="http://schemas.microsoft.com/office/drawing/2014/main" id="{5FD9F9ED-0135-9A2F-FC4E-AAC047DDEE09}"/>
                </a:ext>
              </a:extLst>
            </p:cNvPr>
            <p:cNvSpPr txBox="1"/>
            <p:nvPr/>
          </p:nvSpPr>
          <p:spPr>
            <a:xfrm>
              <a:off x="9149037" y="767587"/>
              <a:ext cx="276038" cy="369332"/>
            </a:xfrm>
            <a:prstGeom prst="rect">
              <a:avLst/>
            </a:prstGeom>
            <a:noFill/>
          </p:spPr>
          <p:txBody>
            <a:bodyPr wrap="none" rtlCol="0">
              <a:spAutoFit/>
            </a:bodyPr>
            <a:lstStyle/>
            <a:p>
              <a:r>
                <a:rPr lang="en-US" dirty="0"/>
                <a:t>z</a:t>
              </a:r>
            </a:p>
          </p:txBody>
        </p:sp>
      </p:grpSp>
    </p:spTree>
    <p:extLst>
      <p:ext uri="{BB962C8B-B14F-4D97-AF65-F5344CB8AC3E}">
        <p14:creationId xmlns:p14="http://schemas.microsoft.com/office/powerpoint/2010/main" val="246997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D5E06-744F-EBC0-048A-6E3B1C999F19}"/>
              </a:ext>
            </a:extLst>
          </p:cNvPr>
          <p:cNvSpPr>
            <a:spLocks noGrp="1"/>
          </p:cNvSpPr>
          <p:nvPr>
            <p:ph type="title"/>
          </p:nvPr>
        </p:nvSpPr>
        <p:spPr/>
        <p:txBody>
          <a:bodyPr/>
          <a:lstStyle/>
          <a:p>
            <a:r>
              <a:rPr lang="en-US" dirty="0"/>
              <a:t>NVIDIA Architecture</a:t>
            </a:r>
          </a:p>
        </p:txBody>
      </p:sp>
      <p:pic>
        <p:nvPicPr>
          <p:cNvPr id="5" name="Content Placeholder 4">
            <a:extLst>
              <a:ext uri="{FF2B5EF4-FFF2-40B4-BE49-F238E27FC236}">
                <a16:creationId xmlns:a16="http://schemas.microsoft.com/office/drawing/2014/main" id="{8E57BA3D-175D-513D-1120-34FE31701143}"/>
              </a:ext>
            </a:extLst>
          </p:cNvPr>
          <p:cNvPicPr>
            <a:picLocks noGrp="1" noChangeAspect="1"/>
          </p:cNvPicPr>
          <p:nvPr>
            <p:ph idx="1"/>
          </p:nvPr>
        </p:nvPicPr>
        <p:blipFill>
          <a:blip r:embed="rId2"/>
          <a:stretch>
            <a:fillRect/>
          </a:stretch>
        </p:blipFill>
        <p:spPr>
          <a:xfrm>
            <a:off x="2074888" y="863600"/>
            <a:ext cx="7154838" cy="5544749"/>
          </a:xfrm>
        </p:spPr>
      </p:pic>
      <p:sp>
        <p:nvSpPr>
          <p:cNvPr id="6" name="TextBox 5">
            <a:extLst>
              <a:ext uri="{FF2B5EF4-FFF2-40B4-BE49-F238E27FC236}">
                <a16:creationId xmlns:a16="http://schemas.microsoft.com/office/drawing/2014/main" id="{DA38496B-1C27-D73E-EBA7-FB328D1C4060}"/>
              </a:ext>
            </a:extLst>
          </p:cNvPr>
          <p:cNvSpPr txBox="1"/>
          <p:nvPr/>
        </p:nvSpPr>
        <p:spPr>
          <a:xfrm>
            <a:off x="9615488" y="1501183"/>
            <a:ext cx="1885950" cy="3693319"/>
          </a:xfrm>
          <a:prstGeom prst="rect">
            <a:avLst/>
          </a:prstGeom>
          <a:noFill/>
        </p:spPr>
        <p:txBody>
          <a:bodyPr wrap="square" rtlCol="0">
            <a:spAutoFit/>
          </a:bodyPr>
          <a:lstStyle/>
          <a:p>
            <a:r>
              <a:rPr lang="en-US" dirty="0"/>
              <a:t>Programming model of threads is somewhat related to this:</a:t>
            </a:r>
          </a:p>
          <a:p>
            <a:endParaRPr lang="en-US" dirty="0"/>
          </a:p>
          <a:p>
            <a:r>
              <a:rPr lang="en-US" dirty="0"/>
              <a:t>It’s best to have block sizes that are a multiple of 32</a:t>
            </a:r>
          </a:p>
          <a:p>
            <a:endParaRPr lang="en-US" dirty="0"/>
          </a:p>
          <a:p>
            <a:r>
              <a:rPr lang="en-US" dirty="0"/>
              <a:t>Each block specified maps to an SM</a:t>
            </a:r>
          </a:p>
        </p:txBody>
      </p:sp>
      <p:sp>
        <p:nvSpPr>
          <p:cNvPr id="3" name="TextBox 2">
            <a:extLst>
              <a:ext uri="{FF2B5EF4-FFF2-40B4-BE49-F238E27FC236}">
                <a16:creationId xmlns:a16="http://schemas.microsoft.com/office/drawing/2014/main" id="{5E89ADF0-6CD1-3E75-58F2-459A34B0590B}"/>
              </a:ext>
            </a:extLst>
          </p:cNvPr>
          <p:cNvSpPr txBox="1"/>
          <p:nvPr/>
        </p:nvSpPr>
        <p:spPr>
          <a:xfrm>
            <a:off x="485775" y="1314286"/>
            <a:ext cx="1089051" cy="2031325"/>
          </a:xfrm>
          <a:prstGeom prst="rect">
            <a:avLst/>
          </a:prstGeom>
          <a:noFill/>
        </p:spPr>
        <p:txBody>
          <a:bodyPr wrap="square" rtlCol="0">
            <a:spAutoFit/>
          </a:bodyPr>
          <a:lstStyle/>
          <a:p>
            <a:r>
              <a:rPr lang="en-US" dirty="0"/>
              <a:t>This hasn’t changed:</a:t>
            </a:r>
          </a:p>
          <a:p>
            <a:endParaRPr lang="en-US" dirty="0"/>
          </a:p>
          <a:p>
            <a:r>
              <a:rPr lang="en-US" dirty="0"/>
              <a:t>32 SPs/cores per SM</a:t>
            </a:r>
          </a:p>
        </p:txBody>
      </p:sp>
    </p:spTree>
    <p:extLst>
      <p:ext uri="{BB962C8B-B14F-4D97-AF65-F5344CB8AC3E}">
        <p14:creationId xmlns:p14="http://schemas.microsoft.com/office/powerpoint/2010/main" val="2417427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41AD8-1E40-1651-7165-9AA31180484F}"/>
              </a:ext>
            </a:extLst>
          </p:cNvPr>
          <p:cNvSpPr>
            <a:spLocks noGrp="1"/>
          </p:cNvSpPr>
          <p:nvPr>
            <p:ph type="title"/>
          </p:nvPr>
        </p:nvSpPr>
        <p:spPr/>
        <p:txBody>
          <a:bodyPr/>
          <a:lstStyle/>
          <a:p>
            <a:r>
              <a:rPr lang="en-US" dirty="0"/>
              <a:t>CUDA Programming</a:t>
            </a:r>
          </a:p>
        </p:txBody>
      </p:sp>
      <p:sp>
        <p:nvSpPr>
          <p:cNvPr id="3" name="Content Placeholder 2">
            <a:extLst>
              <a:ext uri="{FF2B5EF4-FFF2-40B4-BE49-F238E27FC236}">
                <a16:creationId xmlns:a16="http://schemas.microsoft.com/office/drawing/2014/main" id="{5123B10B-6743-CE16-8E4C-3DD61F7AA75B}"/>
              </a:ext>
            </a:extLst>
          </p:cNvPr>
          <p:cNvSpPr>
            <a:spLocks noGrp="1"/>
          </p:cNvSpPr>
          <p:nvPr>
            <p:ph idx="1"/>
          </p:nvPr>
        </p:nvSpPr>
        <p:spPr>
          <a:xfrm>
            <a:off x="395438" y="891974"/>
            <a:ext cx="11308882" cy="4923039"/>
          </a:xfrm>
        </p:spPr>
        <p:txBody>
          <a:bodyPr>
            <a:normAutofit fontScale="92500" lnSpcReduction="10000"/>
          </a:bodyPr>
          <a:lstStyle/>
          <a:p>
            <a:r>
              <a:rPr lang="en-US" dirty="0"/>
              <a:t>Define a </a:t>
            </a:r>
            <a:r>
              <a:rPr lang="en-US" i="1" dirty="0"/>
              <a:t>kernel function </a:t>
            </a:r>
            <a:r>
              <a:rPr lang="en-US" dirty="0"/>
              <a:t>that will run on the device</a:t>
            </a:r>
          </a:p>
          <a:p>
            <a:endParaRPr lang="en-US" dirty="0"/>
          </a:p>
          <a:p>
            <a:r>
              <a:rPr lang="en-US" b="0" dirty="0">
                <a:solidFill>
                  <a:srgbClr val="569CD6"/>
                </a:solidFill>
                <a:effectLst/>
                <a:latin typeface="Menlo" panose="020B0609030804020204" pitchFamily="49" charset="0"/>
              </a:rPr>
              <a:t>__global__</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void</a:t>
            </a:r>
            <a:r>
              <a:rPr lang="en-US" b="0" dirty="0">
                <a:solidFill>
                  <a:srgbClr val="D4D4D4"/>
                </a:solidFill>
                <a:effectLst/>
                <a:latin typeface="Menlo" panose="020B0609030804020204" pitchFamily="49" charset="0"/>
              </a:rPr>
              <a:t> </a:t>
            </a:r>
            <a:r>
              <a:rPr lang="en-US" b="0" dirty="0">
                <a:solidFill>
                  <a:srgbClr val="DCDCAA"/>
                </a:solidFill>
                <a:effectLst/>
                <a:latin typeface="Menlo" panose="020B0609030804020204" pitchFamily="49" charset="0"/>
              </a:rPr>
              <a:t>test1DGridKernel</a:t>
            </a:r>
            <a:r>
              <a:rPr lang="en-US" b="0" dirty="0">
                <a:solidFill>
                  <a:srgbClr val="D4D4D4"/>
                </a:solidFill>
                <a:effectLst/>
                <a:latin typeface="Menlo" panose="020B0609030804020204" pitchFamily="49" charset="0"/>
              </a:rPr>
              <a:t>(</a:t>
            </a:r>
            <a:r>
              <a:rPr lang="en-US" b="0" dirty="0">
                <a:solidFill>
                  <a:srgbClr val="569CD6"/>
                </a:solidFill>
                <a:effectLst/>
                <a:latin typeface="Menlo" panose="020B0609030804020204" pitchFamily="49" charset="0"/>
              </a:rPr>
              <a:t>int</a:t>
            </a:r>
            <a:r>
              <a:rPr lang="en-US" b="0" dirty="0">
                <a:solidFill>
                  <a:srgbClr val="D4D4D4"/>
                </a:solidFill>
                <a:effectLst/>
                <a:latin typeface="Menlo" panose="020B0609030804020204" pitchFamily="49" charset="0"/>
              </a:rPr>
              <a:t> </a:t>
            </a:r>
            <a:r>
              <a:rPr lang="en-US" b="0" dirty="0" err="1">
                <a:solidFill>
                  <a:srgbClr val="9CDCFE"/>
                </a:solidFill>
                <a:effectLst/>
                <a:latin typeface="Menlo" panose="020B0609030804020204" pitchFamily="49" charset="0"/>
              </a:rPr>
              <a:t>val</a:t>
            </a:r>
            <a:r>
              <a:rPr lang="en-US" b="0" dirty="0">
                <a:solidFill>
                  <a:srgbClr val="D4D4D4"/>
                </a:solidFill>
                <a:effectLst/>
                <a:latin typeface="Menlo" panose="020B0609030804020204" pitchFamily="49" charset="0"/>
              </a:rPr>
              <a:t>) {</a:t>
            </a:r>
          </a:p>
          <a:p>
            <a:r>
              <a:rPr lang="en-US" dirty="0"/>
              <a:t>…</a:t>
            </a:r>
          </a:p>
          <a:p>
            <a:r>
              <a:rPr lang="en-US" dirty="0"/>
              <a:t>}</a:t>
            </a:r>
          </a:p>
          <a:p>
            <a:endParaRPr lang="en-US" dirty="0"/>
          </a:p>
          <a:p>
            <a:r>
              <a:rPr lang="en-US" dirty="0"/>
              <a:t>Call it by specifying how many blocks and how many threads per block (simplest case 1D grid of 1D blocks)</a:t>
            </a:r>
          </a:p>
          <a:p>
            <a:endParaRPr lang="en-US" dirty="0"/>
          </a:p>
          <a:p>
            <a:r>
              <a:rPr lang="en-US" b="0" dirty="0">
                <a:solidFill>
                  <a:srgbClr val="6A9955"/>
                </a:solidFill>
                <a:effectLst/>
                <a:latin typeface="Menlo" panose="020B0609030804020204" pitchFamily="49" charset="0"/>
              </a:rPr>
              <a:t>// 1 block of 32 threads goes to 1 SM </a:t>
            </a:r>
            <a:endParaRPr lang="en-US" b="0" dirty="0">
              <a:solidFill>
                <a:srgbClr val="D4D4D4"/>
              </a:solidFill>
              <a:effectLst/>
              <a:latin typeface="Menlo" panose="020B0609030804020204" pitchFamily="49" charset="0"/>
            </a:endParaRPr>
          </a:p>
          <a:p>
            <a:r>
              <a:rPr lang="en-US" b="0" dirty="0">
                <a:solidFill>
                  <a:srgbClr val="D4D4D4"/>
                </a:solidFill>
                <a:effectLst/>
                <a:latin typeface="Menlo" panose="020B0609030804020204" pitchFamily="49" charset="0"/>
              </a:rPr>
              <a:t>test1DGridKernel&lt;&lt;&lt;</a:t>
            </a:r>
            <a:r>
              <a:rPr lang="en-US" b="0" dirty="0">
                <a:solidFill>
                  <a:srgbClr val="B5CEA8"/>
                </a:solidFill>
                <a:effectLst/>
                <a:latin typeface="Menlo" panose="020B0609030804020204" pitchFamily="49" charset="0"/>
              </a:rPr>
              <a:t>1</a:t>
            </a:r>
            <a:r>
              <a:rPr lang="en-US" b="0" dirty="0">
                <a:solidFill>
                  <a:srgbClr val="D4D4D4"/>
                </a:solidFill>
                <a:effectLst/>
                <a:latin typeface="Menlo" panose="020B0609030804020204" pitchFamily="49" charset="0"/>
              </a:rPr>
              <a:t>, </a:t>
            </a:r>
            <a:r>
              <a:rPr lang="en-US" b="0" dirty="0">
                <a:solidFill>
                  <a:srgbClr val="B5CEA8"/>
                </a:solidFill>
                <a:effectLst/>
                <a:latin typeface="Menlo" panose="020B0609030804020204" pitchFamily="49" charset="0"/>
              </a:rPr>
              <a:t>32</a:t>
            </a:r>
            <a:r>
              <a:rPr lang="en-US" b="0" dirty="0">
                <a:solidFill>
                  <a:srgbClr val="D4D4D4"/>
                </a:solidFill>
                <a:effectLst/>
                <a:latin typeface="Menlo" panose="020B0609030804020204" pitchFamily="49" charset="0"/>
              </a:rPr>
              <a:t>&gt;&gt;&gt;(</a:t>
            </a:r>
            <a:r>
              <a:rPr lang="en-US" b="0" dirty="0">
                <a:solidFill>
                  <a:srgbClr val="B5CEA8"/>
                </a:solidFill>
                <a:effectLst/>
                <a:latin typeface="Menlo" panose="020B0609030804020204" pitchFamily="49" charset="0"/>
              </a:rPr>
              <a:t>10</a:t>
            </a:r>
            <a:r>
              <a:rPr lang="en-US" b="0" dirty="0">
                <a:solidFill>
                  <a:srgbClr val="D4D4D4"/>
                </a:solidFill>
                <a:effectLst/>
                <a:latin typeface="Menlo" panose="020B0609030804020204" pitchFamily="49" charset="0"/>
              </a:rPr>
              <a:t>);</a:t>
            </a:r>
          </a:p>
          <a:p>
            <a:endParaRPr lang="en-US" dirty="0"/>
          </a:p>
        </p:txBody>
      </p:sp>
    </p:spTree>
    <p:extLst>
      <p:ext uri="{BB962C8B-B14F-4D97-AF65-F5344CB8AC3E}">
        <p14:creationId xmlns:p14="http://schemas.microsoft.com/office/powerpoint/2010/main" val="3603317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90A3-E774-4F2B-C92F-86C5272AFA11}"/>
              </a:ext>
            </a:extLst>
          </p:cNvPr>
          <p:cNvSpPr>
            <a:spLocks noGrp="1"/>
          </p:cNvSpPr>
          <p:nvPr>
            <p:ph type="title"/>
          </p:nvPr>
        </p:nvSpPr>
        <p:spPr/>
        <p:txBody>
          <a:bodyPr/>
          <a:lstStyle/>
          <a:p>
            <a:r>
              <a:rPr lang="en-US" dirty="0"/>
              <a:t>CUDA </a:t>
            </a:r>
            <a:r>
              <a:rPr lang="en-US" dirty="0" err="1"/>
              <a:t>Programmming</a:t>
            </a:r>
            <a:endParaRPr lang="en-US" dirty="0"/>
          </a:p>
        </p:txBody>
      </p:sp>
      <p:sp>
        <p:nvSpPr>
          <p:cNvPr id="3" name="Content Placeholder 2">
            <a:extLst>
              <a:ext uri="{FF2B5EF4-FFF2-40B4-BE49-F238E27FC236}">
                <a16:creationId xmlns:a16="http://schemas.microsoft.com/office/drawing/2014/main" id="{A3A4A105-997B-B939-E84A-047E3B0BE513}"/>
              </a:ext>
            </a:extLst>
          </p:cNvPr>
          <p:cNvSpPr>
            <a:spLocks noGrp="1"/>
          </p:cNvSpPr>
          <p:nvPr>
            <p:ph idx="1"/>
          </p:nvPr>
        </p:nvSpPr>
        <p:spPr>
          <a:xfrm>
            <a:off x="395438" y="891974"/>
            <a:ext cx="11308882" cy="5594551"/>
          </a:xfrm>
        </p:spPr>
        <p:txBody>
          <a:bodyPr/>
          <a:lstStyle/>
          <a:p>
            <a:r>
              <a:rPr lang="en-US" dirty="0"/>
              <a:t>Normally we will have large arrays of data</a:t>
            </a:r>
          </a:p>
          <a:p>
            <a:endParaRPr lang="en-US" dirty="0"/>
          </a:p>
          <a:p>
            <a:r>
              <a:rPr lang="en-US" dirty="0"/>
              <a:t>They must be managed in two ways:</a:t>
            </a:r>
          </a:p>
          <a:p>
            <a:pPr marL="514350" indent="-514350">
              <a:buAutoNum type="arabicPeriod"/>
            </a:pPr>
            <a:r>
              <a:rPr lang="en-US" dirty="0"/>
              <a:t>Programmer manages:</a:t>
            </a:r>
          </a:p>
          <a:p>
            <a:pPr marL="971550" lvl="1" indent="-514350">
              <a:buAutoNum type="arabicPeriod"/>
            </a:pPr>
            <a:r>
              <a:rPr lang="en-US" dirty="0"/>
              <a:t> allocate memory on host and device, </a:t>
            </a:r>
          </a:p>
          <a:p>
            <a:pPr marL="971550" lvl="1" indent="-514350">
              <a:buAutoNum type="arabicPeriod"/>
            </a:pPr>
            <a:r>
              <a:rPr lang="en-US" dirty="0"/>
              <a:t>copy data to device, </a:t>
            </a:r>
          </a:p>
          <a:p>
            <a:pPr marL="971550" lvl="1" indent="-514350">
              <a:buAutoNum type="arabicPeriod"/>
            </a:pPr>
            <a:r>
              <a:rPr lang="en-US" dirty="0"/>
              <a:t>Compute on device, </a:t>
            </a:r>
          </a:p>
          <a:p>
            <a:pPr marL="971550" lvl="1" indent="-514350">
              <a:buAutoNum type="arabicPeriod"/>
            </a:pPr>
            <a:r>
              <a:rPr lang="en-US" dirty="0"/>
              <a:t>copy data back to host</a:t>
            </a:r>
          </a:p>
          <a:p>
            <a:pPr marL="514350" indent="-514350">
              <a:buAutoNum type="arabicPeriod"/>
            </a:pPr>
            <a:r>
              <a:rPr lang="en-US" dirty="0"/>
              <a:t>Programmer specifies “unified memory”</a:t>
            </a:r>
          </a:p>
          <a:p>
            <a:pPr marL="971550" lvl="1" indent="-514350">
              <a:buAutoNum type="arabicPeriod"/>
            </a:pPr>
            <a:r>
              <a:rPr lang="en-US" dirty="0"/>
              <a:t>Allocate once as memory that will reside on device and host</a:t>
            </a:r>
          </a:p>
          <a:p>
            <a:pPr marL="971550" lvl="1" indent="-514350">
              <a:buAutoNum type="arabicPeriod"/>
            </a:pPr>
            <a:r>
              <a:rPr lang="en-US" dirty="0"/>
              <a:t>Compute on device</a:t>
            </a:r>
          </a:p>
        </p:txBody>
      </p:sp>
    </p:spTree>
    <p:extLst>
      <p:ext uri="{BB962C8B-B14F-4D97-AF65-F5344CB8AC3E}">
        <p14:creationId xmlns:p14="http://schemas.microsoft.com/office/powerpoint/2010/main" val="1237141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005BB9AB-CB83-2F4A-B8D3-3923B16C45C5}" vid="{6DAF6F60-9D35-814E-917A-A7202DE1025C}"/>
    </a:ext>
  </a:extLst>
</a:theme>
</file>

<file path=docProps/app.xml><?xml version="1.0" encoding="utf-8"?>
<Properties xmlns="http://schemas.openxmlformats.org/officeDocument/2006/extended-properties" xmlns:vt="http://schemas.openxmlformats.org/officeDocument/2006/docPropsVTypes">
  <Template>Office Theme</Template>
  <TotalTime>27205</TotalTime>
  <Words>2107</Words>
  <Application>Microsoft Macintosh PowerPoint</Application>
  <PresentationFormat>Widescreen</PresentationFormat>
  <Paragraphs>397</Paragraphs>
  <Slides>43</Slides>
  <Notes>0</Notes>
  <HiddenSlides>2</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Andale Mono</vt:lpstr>
      <vt:lpstr>Arial</vt:lpstr>
      <vt:lpstr>Calibri</vt:lpstr>
      <vt:lpstr>Calibri Light</vt:lpstr>
      <vt:lpstr>Menlo</vt:lpstr>
      <vt:lpstr>Wingdings</vt:lpstr>
      <vt:lpstr>Office Theme</vt:lpstr>
      <vt:lpstr>A brief Introduction to multicore and GPU computing</vt:lpstr>
      <vt:lpstr>Matrix Multiply Example</vt:lpstr>
      <vt:lpstr>Dot Product of 2 vectors</vt:lpstr>
      <vt:lpstr>Matrix Multiply Example</vt:lpstr>
      <vt:lpstr>Matrix Multiply Example</vt:lpstr>
      <vt:lpstr>Matrix Multiply Example</vt:lpstr>
      <vt:lpstr>Multicore Parallelism with OpenMP</vt:lpstr>
      <vt:lpstr>Multicore Parallelism with OpenMP</vt:lpstr>
      <vt:lpstr>Multicore Parallelism with OpenMP</vt:lpstr>
      <vt:lpstr>Multicore Parallelism with OpenMP</vt:lpstr>
      <vt:lpstr>Sequential Matrix Multiply</vt:lpstr>
      <vt:lpstr>Speedup</vt:lpstr>
      <vt:lpstr>However, there is overhead in parallel programs</vt:lpstr>
      <vt:lpstr>Speedup Calculation</vt:lpstr>
      <vt:lpstr>Speedup and Efficiency</vt:lpstr>
      <vt:lpstr>Shared Memory Parallel Programming</vt:lpstr>
      <vt:lpstr>Small example that’s easy to test for accuracy</vt:lpstr>
      <vt:lpstr>Small example that’s easy to test for accuracy</vt:lpstr>
      <vt:lpstr>Demo</vt:lpstr>
      <vt:lpstr>GPU Computing</vt:lpstr>
      <vt:lpstr>Tesla T4</vt:lpstr>
      <vt:lpstr>GPU: Massive fine-grain data parallelism</vt:lpstr>
      <vt:lpstr>PowerPoint Presentation</vt:lpstr>
      <vt:lpstr>GPU Architecture, abstractly</vt:lpstr>
      <vt:lpstr>mscs1 GPU Architecture, concretely</vt:lpstr>
      <vt:lpstr>Matrix Multiply Example</vt:lpstr>
      <vt:lpstr>GPU Execution</vt:lpstr>
      <vt:lpstr>Tesla T4 GPU</vt:lpstr>
      <vt:lpstr>PowerPoint Presentation</vt:lpstr>
      <vt:lpstr>PowerPoint Presentation</vt:lpstr>
      <vt:lpstr>Demonstration</vt:lpstr>
      <vt:lpstr>The End</vt:lpstr>
      <vt:lpstr>Different Architectures &amp; Nomenclature</vt:lpstr>
      <vt:lpstr>Different Architectures &amp; Nomenclature</vt:lpstr>
      <vt:lpstr>Programming Model</vt:lpstr>
      <vt:lpstr>NVIDIA Architecture</vt:lpstr>
      <vt:lpstr>CUDA Programming Model</vt:lpstr>
      <vt:lpstr>CUDA Programming Model</vt:lpstr>
      <vt:lpstr>PowerPoint Presentation</vt:lpstr>
      <vt:lpstr>PowerPoint Presentation</vt:lpstr>
      <vt:lpstr>NVIDIA Architecture</vt:lpstr>
      <vt:lpstr>CUDA Programming</vt:lpstr>
      <vt:lpstr>CUDA Programmming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59</cp:revision>
  <dcterms:created xsi:type="dcterms:W3CDTF">2022-09-16T20:55:43Z</dcterms:created>
  <dcterms:modified xsi:type="dcterms:W3CDTF">2023-06-14T15:48:20Z</dcterms:modified>
</cp:coreProperties>
</file>