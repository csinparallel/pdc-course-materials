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6" r:id="rId3"/>
    <p:sldId id="341" r:id="rId4"/>
    <p:sldId id="337" r:id="rId5"/>
    <p:sldId id="382" r:id="rId6"/>
    <p:sldId id="383" r:id="rId7"/>
    <p:sldId id="304" r:id="rId8"/>
    <p:sldId id="384" r:id="rId9"/>
    <p:sldId id="282" r:id="rId10"/>
    <p:sldId id="302" r:id="rId11"/>
    <p:sldId id="303" r:id="rId12"/>
    <p:sldId id="322" r:id="rId13"/>
    <p:sldId id="394" r:id="rId14"/>
    <p:sldId id="283" r:id="rId15"/>
    <p:sldId id="370" r:id="rId16"/>
    <p:sldId id="284" r:id="rId17"/>
    <p:sldId id="386" r:id="rId18"/>
    <p:sldId id="324" r:id="rId19"/>
    <p:sldId id="372" r:id="rId20"/>
    <p:sldId id="305" r:id="rId21"/>
    <p:sldId id="373" r:id="rId22"/>
    <p:sldId id="387" r:id="rId23"/>
    <p:sldId id="397" r:id="rId24"/>
    <p:sldId id="375" r:id="rId25"/>
    <p:sldId id="376" r:id="rId26"/>
    <p:sldId id="388" r:id="rId27"/>
    <p:sldId id="389" r:id="rId28"/>
    <p:sldId id="390" r:id="rId29"/>
    <p:sldId id="392" r:id="rId30"/>
    <p:sldId id="393" r:id="rId31"/>
    <p:sldId id="395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39"/>
    <p:restoredTop sz="96405"/>
  </p:normalViewPr>
  <p:slideViewPr>
    <p:cSldViewPr snapToGrid="0" snapToObjects="1">
      <p:cViewPr varScale="1">
        <p:scale>
          <a:sx n="123" d="100"/>
          <a:sy n="123" d="100"/>
        </p:scale>
        <p:origin x="200" y="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F2CFB-B9D9-0347-8C82-1A463FED2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735EB2-C00A-0F45-B47A-115D1C0D60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D23B3-3698-8348-B5F0-FBA4DB9AB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9/5/24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1B99A-70EB-764A-8A71-D04AD7952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EAB5B-DDFF-DC4E-8E08-74636B65F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525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C138A-9BEC-E748-B32B-3480D57CD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198" y="179888"/>
            <a:ext cx="10515600" cy="501149"/>
          </a:xfrm>
        </p:spPr>
        <p:txBody>
          <a:bodyPr>
            <a:noAutofit/>
          </a:bodyPr>
          <a:lstStyle>
            <a:lvl1pPr algn="ctr">
              <a:defRPr sz="3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FA5FC-38B9-1849-9B97-67F8642B3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438" y="891974"/>
            <a:ext cx="11308882" cy="44115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754FF-469B-5241-92A1-6B0FB51FA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9/5/24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488FF-C544-EE4F-94BE-BC977C8F0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D8A44-5402-F44C-8FAF-A46B0A2FE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98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6C8A8-C4BF-6D4B-B2E2-62B5F1E30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FF2076-2626-6648-AC43-CF23755A6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2CF57-C8D4-8B47-837F-F3FABDF64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9/5/24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0A8FB-AC28-C249-91CE-B2B702638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4117C-62F0-6C48-874B-605E5F294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778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53357-14B8-A74D-976F-CCC6ADD09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9514"/>
            <a:ext cx="10515600" cy="491523"/>
          </a:xfrm>
        </p:spPr>
        <p:txBody>
          <a:bodyPr>
            <a:noAutofit/>
          </a:bodyPr>
          <a:lstStyle>
            <a:lvl1pPr algn="ctr">
              <a:defRPr sz="40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F1537-708E-BA44-B740-00A80BD14B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9764" y="988226"/>
            <a:ext cx="5500036" cy="44500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74D18E-AB89-214A-80F6-AED6E054DB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5999" y="988227"/>
            <a:ext cx="5329187" cy="44500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66789A-F040-E241-9153-81B8368A1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9/5/24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6BED59-0F05-CB42-971F-06F288F13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D06800-CDC3-B44E-9AC8-50E9DB143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470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899CA-270D-C04D-9BAB-4160608C2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68B1E-725C-F746-A421-12E70C8A07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61F14B-39D0-3E47-977B-CB4D32538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001A9-4D9B-D24E-AFCC-E62A5C78F4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7EAD10-CBCB-3645-9FDB-B4541176CE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B8E3AA-1007-974B-89AC-134FFAAE4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9/5/24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4C07F-994D-E147-B9C4-4D2DA79FE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99B744-A6AB-B84D-814D-27AFAAA59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387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9B2A6-D0A5-5842-9326-C3248661D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CBE5BB-7D4A-3443-8011-50BFA20FB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9/5/24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01EC94-4F6E-A842-B2B4-745B72879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FEA374-F9D1-5047-8E00-EEBC558E5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054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4E34A2-FF06-4646-9B11-3960AAD81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9/5/24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602A72-9F03-3047-A58F-5478424B8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7045E1-1CAC-6540-AC9E-33B763897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468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5D1BE-D122-7443-B909-666D7E00B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62548-6163-DF42-8D6F-E0DF3CD99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292E66-003D-CB49-91E5-89A87B22CB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6E865-8FAD-AB45-8489-9C2AA8200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9/5/24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49390D-6CA7-334E-BFE4-ADD6E1237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10F00F-8DAC-6B45-A36C-CE3F91225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878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0B418-47B0-DC4F-AD09-F59EBFBA6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876A39-FD73-2C42-9F0E-A75F94321F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3EE543-5E7F-2D4E-ACC3-81F5986703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ACE77D-1E65-A543-870E-17E38C699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9/5/24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BC2DB8-1E2E-9744-9E99-8F5A7BB6E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3D143D-B79E-C44A-A040-D785D07EB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268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D784D-E7A9-E848-B261-413FCAA98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47E922-260A-DB4E-9833-35B0C3BCFE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677AC-6170-254E-A053-DE7A25AA6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9/5/24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DA906-7BEF-1B45-899D-93233ACC4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5448D-80D6-EC47-8869-6FC033A40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980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2D4714-F165-6A49-83C2-6099569240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4160F5-13DB-3E4A-813A-01FB9ABFDD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7A2AB-D055-C647-830B-BCC123099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9/5/24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ECAB2-8B81-5843-AFAD-4CEA8ADCE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2BE4B-ED0D-664C-8695-58D23CDCC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723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65F063-E93D-BB4B-A024-282AB21ED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5589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7D538-68DF-DA4B-AD57-2CBD80BC2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766845"/>
            <a:ext cx="10596613" cy="48158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8257B-4037-8B41-8672-5C16900FA3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DD9E5A-6977-4640-B621-2F6686AF40B9}" type="datetimeFigureOut">
              <a:rPr lang="en-US" smtClean="0"/>
              <a:t>9/5/24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65CD5B-6D1E-0245-BBB5-6DB2BF2FBC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99468-12B3-E843-93F2-1CFFE8CF74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144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accent5">
              <a:lumMod val="40000"/>
              <a:lumOff val="60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earnpdc.org/IntermediatePDC/1-PDCPatterns/toctree.html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BB5A4-BE90-E44E-9AF0-D5382E6853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Patterns in Parallel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240833-E985-E147-8665-E003AB61BB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COMP 445</a:t>
            </a:r>
          </a:p>
          <a:p>
            <a:r>
              <a:rPr lang="en-US" dirty="0"/>
              <a:t>Relevant reading and reference:</a:t>
            </a:r>
          </a:p>
          <a:p>
            <a:r>
              <a:rPr lang="en-US" dirty="0">
                <a:solidFill>
                  <a:srgbClr val="FFC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Chapter 1 of Intermediate PDC</a:t>
            </a:r>
            <a:endParaRPr 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0625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/>
              <a:t>Parallel Patterns in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9226" y="1517515"/>
            <a:ext cx="10000034" cy="3881336"/>
          </a:xfrm>
        </p:spPr>
        <p:txBody>
          <a:bodyPr>
            <a:normAutofit/>
          </a:bodyPr>
          <a:lstStyle/>
          <a:p>
            <a:pPr>
              <a:spcBef>
                <a:spcPts val="1368"/>
              </a:spcBef>
              <a:spcAft>
                <a:spcPts val="2400"/>
              </a:spcAft>
            </a:pPr>
            <a:r>
              <a:rPr lang="en-US" dirty="0"/>
              <a:t>… are industry-standard techniques and best-practices that have proven useful in many different parallel contexts.</a:t>
            </a:r>
          </a:p>
          <a:p>
            <a:pPr>
              <a:spcBef>
                <a:spcPts val="1368"/>
              </a:spcBef>
              <a:spcAft>
                <a:spcPts val="2400"/>
              </a:spcAft>
            </a:pPr>
            <a:r>
              <a:rPr lang="en-US" dirty="0"/>
              <a:t>… are built into popular platforms like MPI and </a:t>
            </a:r>
            <a:r>
              <a:rPr lang="en-US" dirty="0" err="1"/>
              <a:t>OpenMP</a:t>
            </a:r>
            <a:r>
              <a:rPr lang="en-US" dirty="0"/>
              <a:t>.</a:t>
            </a:r>
          </a:p>
          <a:p>
            <a:pPr>
              <a:spcBef>
                <a:spcPts val="1368"/>
              </a:spcBef>
              <a:spcAft>
                <a:spcPts val="2400"/>
              </a:spcAft>
            </a:pPr>
            <a:r>
              <a:rPr lang="en-US" dirty="0"/>
              <a:t>… are likely to be useful for the long-term, regardless of future PDC developments.</a:t>
            </a:r>
          </a:p>
          <a:p>
            <a:pPr>
              <a:spcBef>
                <a:spcPts val="1368"/>
              </a:spcBef>
              <a:spcAft>
                <a:spcPts val="2400"/>
              </a:spcAft>
            </a:pPr>
            <a:r>
              <a:rPr lang="en-US" dirty="0"/>
              <a:t>… provide a way to organize PDC concepts.</a:t>
            </a:r>
          </a:p>
        </p:txBody>
      </p:sp>
    </p:spTree>
    <p:extLst>
      <p:ext uri="{BB962C8B-B14F-4D97-AF65-F5344CB8AC3E}">
        <p14:creationId xmlns:p14="http://schemas.microsoft.com/office/powerpoint/2010/main" val="4284025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8040D-7FA8-4A48-B129-114BE5262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Patterns: tried and true methods in our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AFFB5-C028-8F4D-AEFF-5BC3DF1017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2766" y="1206230"/>
            <a:ext cx="8968902" cy="3920247"/>
          </a:xfrm>
        </p:spPr>
        <p:txBody>
          <a:bodyPr/>
          <a:lstStyle/>
          <a:p>
            <a:r>
              <a:rPr lang="en-US" dirty="0"/>
              <a:t>Let’s consider how to organize the types of software </a:t>
            </a:r>
            <a:r>
              <a:rPr lang="en-US" i="1" dirty="0"/>
              <a:t>patterns</a:t>
            </a:r>
            <a:r>
              <a:rPr lang="en-US" dirty="0"/>
              <a:t> that enable us to achieve parallelism</a:t>
            </a:r>
          </a:p>
        </p:txBody>
      </p:sp>
    </p:spTree>
    <p:extLst>
      <p:ext uri="{BB962C8B-B14F-4D97-AF65-F5344CB8AC3E}">
        <p14:creationId xmlns:p14="http://schemas.microsoft.com/office/powerpoint/2010/main" val="3913780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346" y="76525"/>
            <a:ext cx="10515600" cy="501149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Parallel Hardware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58684" y="331749"/>
            <a:ext cx="167821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Parallel Systems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3522490" y="709346"/>
            <a:ext cx="7892762" cy="2606546"/>
            <a:chOff x="2012798" y="1049127"/>
            <a:chExt cx="7892762" cy="2606546"/>
          </a:xfrm>
        </p:grpSpPr>
        <p:sp>
          <p:nvSpPr>
            <p:cNvPr id="6" name="TextBox 5"/>
            <p:cNvSpPr txBox="1"/>
            <p:nvPr/>
          </p:nvSpPr>
          <p:spPr>
            <a:xfrm>
              <a:off x="2012798" y="2101442"/>
              <a:ext cx="988925" cy="646331"/>
            </a:xfrm>
            <a:prstGeom prst="rect">
              <a:avLst/>
            </a:prstGeom>
            <a:solidFill>
              <a:srgbClr val="CCFFCC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Shared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Memory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036779" y="2178345"/>
              <a:ext cx="1868781" cy="1477328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Distributed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Memory,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Networked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multicore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computer clusters</a:t>
              </a:r>
            </a:p>
          </p:txBody>
        </p:sp>
        <p:cxnSp>
          <p:nvCxnSpPr>
            <p:cNvPr id="8" name="Elbow Connector 7"/>
            <p:cNvCxnSpPr>
              <a:stCxn id="6" idx="0"/>
              <a:endCxn id="7" idx="0"/>
            </p:cNvCxnSpPr>
            <p:nvPr/>
          </p:nvCxnSpPr>
          <p:spPr>
            <a:xfrm rot="16200000" flipH="1">
              <a:off x="5700763" y="-1092061"/>
              <a:ext cx="76903" cy="6463909"/>
            </a:xfrm>
            <a:prstGeom prst="bentConnector3">
              <a:avLst>
                <a:gd name="adj1" fmla="val -297258"/>
              </a:avLst>
            </a:prstGeom>
            <a:ln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Isosceles Triangle 9"/>
            <p:cNvSpPr/>
            <p:nvPr/>
          </p:nvSpPr>
          <p:spPr>
            <a:xfrm>
              <a:off x="5659084" y="1049127"/>
              <a:ext cx="320571" cy="286806"/>
            </a:xfrm>
            <a:prstGeom prst="triangle">
              <a:avLst>
                <a:gd name="adj" fmla="val 56069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163819" y="2412409"/>
            <a:ext cx="4355225" cy="2283648"/>
            <a:chOff x="-147047" y="3351622"/>
            <a:chExt cx="4355225" cy="2283648"/>
          </a:xfrm>
        </p:grpSpPr>
        <p:cxnSp>
          <p:nvCxnSpPr>
            <p:cNvPr id="18" name="Straight Connector 17"/>
            <p:cNvCxnSpPr>
              <a:endCxn id="19" idx="0"/>
            </p:cNvCxnSpPr>
            <p:nvPr/>
          </p:nvCxnSpPr>
          <p:spPr>
            <a:xfrm flipH="1" flipV="1">
              <a:off x="2712482" y="3351622"/>
              <a:ext cx="1530" cy="56900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Isosceles Triangle 18"/>
            <p:cNvSpPr/>
            <p:nvPr/>
          </p:nvSpPr>
          <p:spPr>
            <a:xfrm>
              <a:off x="2552196" y="3351622"/>
              <a:ext cx="320571" cy="286806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-147047" y="4164194"/>
              <a:ext cx="1511504" cy="92333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Multicore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CPU,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Main memory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616204" y="4157942"/>
              <a:ext cx="1591974" cy="1477328"/>
            </a:xfrm>
            <a:prstGeom prst="rect">
              <a:avLst/>
            </a:prstGeom>
            <a:solidFill>
              <a:srgbClr val="CCFFCC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Multicore CPU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+ “manycore”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Accelerator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Card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with memory</a:t>
              </a:r>
            </a:p>
          </p:txBody>
        </p:sp>
        <p:cxnSp>
          <p:nvCxnSpPr>
            <p:cNvPr id="22" name="Elbow Connector 21"/>
            <p:cNvCxnSpPr>
              <a:stCxn id="21" idx="0"/>
              <a:endCxn id="20" idx="0"/>
            </p:cNvCxnSpPr>
            <p:nvPr/>
          </p:nvCxnSpPr>
          <p:spPr>
            <a:xfrm rot="16200000" flipH="1" flipV="1">
              <a:off x="2007322" y="2759325"/>
              <a:ext cx="6252" cy="2803486"/>
            </a:xfrm>
            <a:prstGeom prst="bentConnector3">
              <a:avLst>
                <a:gd name="adj1" fmla="val -3656430"/>
              </a:avLst>
            </a:prstGeom>
            <a:ln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4310856" y="4692269"/>
            <a:ext cx="816728" cy="839984"/>
            <a:chOff x="3009252" y="4848849"/>
            <a:chExt cx="816728" cy="839984"/>
          </a:xfrm>
        </p:grpSpPr>
        <p:cxnSp>
          <p:nvCxnSpPr>
            <p:cNvPr id="24" name="Straight Connector 23"/>
            <p:cNvCxnSpPr>
              <a:cxnSpLocks/>
              <a:endCxn id="25" idx="0"/>
            </p:cNvCxnSpPr>
            <p:nvPr/>
          </p:nvCxnSpPr>
          <p:spPr>
            <a:xfrm flipV="1">
              <a:off x="3419963" y="4848849"/>
              <a:ext cx="0" cy="467167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Isosceles Triangle 24"/>
            <p:cNvSpPr/>
            <p:nvPr/>
          </p:nvSpPr>
          <p:spPr>
            <a:xfrm>
              <a:off x="3325096" y="4848849"/>
              <a:ext cx="189733" cy="286806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009252" y="5319501"/>
              <a:ext cx="816728" cy="369332"/>
            </a:xfrm>
            <a:prstGeom prst="rect">
              <a:avLst/>
            </a:prstGeom>
            <a:solidFill>
              <a:srgbClr val="CCFFCC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GPUs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6558684" y="996152"/>
            <a:ext cx="1624419" cy="1602143"/>
            <a:chOff x="5149558" y="1490380"/>
            <a:chExt cx="1624419" cy="1602143"/>
          </a:xfrm>
        </p:grpSpPr>
        <p:sp>
          <p:nvSpPr>
            <p:cNvPr id="45" name="TextBox 44"/>
            <p:cNvSpPr txBox="1"/>
            <p:nvPr/>
          </p:nvSpPr>
          <p:spPr>
            <a:xfrm>
              <a:off x="5149558" y="2446192"/>
              <a:ext cx="1624419" cy="646331"/>
            </a:xfrm>
            <a:prstGeom prst="rect">
              <a:avLst/>
            </a:prstGeom>
            <a:gradFill flip="none" rotWithShape="1">
              <a:gsLst>
                <a:gs pos="33000">
                  <a:srgbClr val="CCFFCC"/>
                </a:gs>
                <a:gs pos="100000">
                  <a:srgbClr val="FFFF00"/>
                </a:gs>
              </a:gsLst>
              <a:lin ang="0" scaled="1"/>
              <a:tileRect/>
            </a:gra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Heterogeneous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Clusters</a:t>
              </a:r>
            </a:p>
          </p:txBody>
        </p:sp>
        <p:cxnSp>
          <p:nvCxnSpPr>
            <p:cNvPr id="55" name="Straight Connector 54"/>
            <p:cNvCxnSpPr>
              <a:cxnSpLocks/>
              <a:stCxn id="45" idx="0"/>
              <a:endCxn id="10" idx="3"/>
            </p:cNvCxnSpPr>
            <p:nvPr/>
          </p:nvCxnSpPr>
          <p:spPr>
            <a:xfrm flipH="1" flipV="1">
              <a:off x="5939391" y="1490380"/>
              <a:ext cx="22377" cy="955812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/>
          <p:cNvGrpSpPr/>
          <p:nvPr/>
        </p:nvGrpSpPr>
        <p:grpSpPr>
          <a:xfrm>
            <a:off x="9845759" y="3354764"/>
            <a:ext cx="1359218" cy="1378264"/>
            <a:chOff x="7249975" y="3529896"/>
            <a:chExt cx="1359218" cy="1378264"/>
          </a:xfrm>
        </p:grpSpPr>
        <p:sp>
          <p:nvSpPr>
            <p:cNvPr id="14" name="TextBox 13"/>
            <p:cNvSpPr txBox="1"/>
            <p:nvPr/>
          </p:nvSpPr>
          <p:spPr>
            <a:xfrm>
              <a:off x="7249975" y="4261829"/>
              <a:ext cx="1359218" cy="646331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Raspberry Pi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Clusters</a:t>
              </a:r>
            </a:p>
          </p:txBody>
        </p:sp>
        <p:cxnSp>
          <p:nvCxnSpPr>
            <p:cNvPr id="40" name="Straight Connector 39"/>
            <p:cNvCxnSpPr>
              <a:stCxn id="14" idx="0"/>
              <a:endCxn id="41" idx="0"/>
            </p:cNvCxnSpPr>
            <p:nvPr/>
          </p:nvCxnSpPr>
          <p:spPr>
            <a:xfrm flipH="1" flipV="1">
              <a:off x="7915138" y="3529896"/>
              <a:ext cx="14446" cy="731933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Isosceles Triangle 40"/>
            <p:cNvSpPr/>
            <p:nvPr/>
          </p:nvSpPr>
          <p:spPr>
            <a:xfrm>
              <a:off x="7754852" y="3529896"/>
              <a:ext cx="320571" cy="286806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6060926" y="2614826"/>
            <a:ext cx="2570673" cy="1648595"/>
            <a:chOff x="4682658" y="3529896"/>
            <a:chExt cx="2570673" cy="1648595"/>
          </a:xfrm>
        </p:grpSpPr>
        <p:cxnSp>
          <p:nvCxnSpPr>
            <p:cNvPr id="12" name="Straight Connector 11"/>
            <p:cNvCxnSpPr>
              <a:endCxn id="13" idx="0"/>
            </p:cNvCxnSpPr>
            <p:nvPr/>
          </p:nvCxnSpPr>
          <p:spPr>
            <a:xfrm flipV="1">
              <a:off x="5992627" y="3529896"/>
              <a:ext cx="0" cy="498452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Isosceles Triangle 12"/>
            <p:cNvSpPr/>
            <p:nvPr/>
          </p:nvSpPr>
          <p:spPr>
            <a:xfrm>
              <a:off x="5832341" y="3529896"/>
              <a:ext cx="320571" cy="286806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039601" y="4255161"/>
              <a:ext cx="1213730" cy="923330"/>
            </a:xfrm>
            <a:prstGeom prst="rect">
              <a:avLst/>
            </a:prstGeom>
            <a:gradFill flip="none" rotWithShape="1">
              <a:gsLst>
                <a:gs pos="33000">
                  <a:srgbClr val="CCFFCC"/>
                </a:gs>
                <a:gs pos="100000">
                  <a:srgbClr val="FFFF00"/>
                </a:gs>
              </a:gsLst>
              <a:lin ang="0" scaled="1"/>
              <a:tileRect/>
            </a:gra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ctr">
                <a:defRPr sz="2400"/>
              </a:lvl1pPr>
            </a:lstStyle>
            <a:p>
              <a:r>
                <a:rPr lang="en-US" sz="1800" dirty="0">
                  <a:solidFill>
                    <a:schemeClr val="bg1"/>
                  </a:solidFill>
                </a:rPr>
                <a:t>Modern</a:t>
              </a:r>
            </a:p>
            <a:p>
              <a:r>
                <a:rPr lang="en-US" sz="1800" dirty="0">
                  <a:solidFill>
                    <a:schemeClr val="bg1"/>
                  </a:solidFill>
                </a:rPr>
                <a:t>Super</a:t>
              </a:r>
            </a:p>
            <a:p>
              <a:r>
                <a:rPr lang="en-US" sz="1800" dirty="0">
                  <a:solidFill>
                    <a:schemeClr val="bg1"/>
                  </a:solidFill>
                </a:rPr>
                <a:t>Computers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682658" y="4255161"/>
              <a:ext cx="925831" cy="646331"/>
            </a:xfrm>
            <a:prstGeom prst="rect">
              <a:avLst/>
            </a:prstGeom>
            <a:gradFill flip="none" rotWithShape="1">
              <a:gsLst>
                <a:gs pos="33000">
                  <a:srgbClr val="CCFFCC"/>
                </a:gs>
                <a:gs pos="100000">
                  <a:srgbClr val="FFFF00"/>
                </a:gs>
              </a:gsLst>
              <a:lin ang="0" scaled="1"/>
              <a:tileRect/>
            </a:gra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ctr">
                <a:defRPr sz="2400"/>
              </a:lvl1pPr>
            </a:lstStyle>
            <a:p>
              <a:r>
                <a:rPr lang="en-US" sz="1800" dirty="0">
                  <a:solidFill>
                    <a:schemeClr val="bg1"/>
                  </a:solidFill>
                </a:rPr>
                <a:t>Newer</a:t>
              </a:r>
            </a:p>
            <a:p>
              <a:r>
                <a:rPr lang="en-US" sz="1800" dirty="0">
                  <a:solidFill>
                    <a:schemeClr val="bg1"/>
                  </a:solidFill>
                </a:rPr>
                <a:t>Clusters</a:t>
              </a:r>
            </a:p>
          </p:txBody>
        </p:sp>
        <p:cxnSp>
          <p:nvCxnSpPr>
            <p:cNvPr id="50" name="Elbow Connector 49"/>
            <p:cNvCxnSpPr>
              <a:stCxn id="15" idx="0"/>
              <a:endCxn id="48" idx="0"/>
            </p:cNvCxnSpPr>
            <p:nvPr/>
          </p:nvCxnSpPr>
          <p:spPr>
            <a:xfrm rot="16200000" flipV="1">
              <a:off x="5896020" y="3504715"/>
              <a:ext cx="12700" cy="1500892"/>
            </a:xfrm>
            <a:prstGeom prst="bentConnector3">
              <a:avLst>
                <a:gd name="adj1" fmla="val 1800000"/>
              </a:avLst>
            </a:prstGeom>
            <a:ln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Oval 35"/>
          <p:cNvSpPr/>
          <p:nvPr/>
        </p:nvSpPr>
        <p:spPr>
          <a:xfrm>
            <a:off x="806209" y="2939806"/>
            <a:ext cx="2217057" cy="1466571"/>
          </a:xfrm>
          <a:prstGeom prst="ellipse">
            <a:avLst/>
          </a:prstGeom>
          <a:noFill/>
          <a:ln w="444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9352037" y="1750005"/>
            <a:ext cx="2351165" cy="3328861"/>
          </a:xfrm>
          <a:prstGeom prst="ellipse">
            <a:avLst/>
          </a:prstGeom>
          <a:noFill/>
          <a:ln w="444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3A2F648-A5A1-1416-E859-B0F97EC0FF0F}"/>
              </a:ext>
            </a:extLst>
          </p:cNvPr>
          <p:cNvSpPr/>
          <p:nvPr/>
        </p:nvSpPr>
        <p:spPr>
          <a:xfrm>
            <a:off x="3502345" y="2847492"/>
            <a:ext cx="2427332" cy="2893508"/>
          </a:xfrm>
          <a:prstGeom prst="ellipse">
            <a:avLst/>
          </a:prstGeom>
          <a:noFill/>
          <a:ln w="444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5478430-6C21-3ED5-F54A-E2540EFFC473}"/>
              </a:ext>
            </a:extLst>
          </p:cNvPr>
          <p:cNvSpPr txBox="1"/>
          <p:nvPr/>
        </p:nvSpPr>
        <p:spPr>
          <a:xfrm>
            <a:off x="4444968" y="2624661"/>
            <a:ext cx="1337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C000"/>
                </a:solidFill>
              </a:rPr>
              <a:t>mscs</a:t>
            </a:r>
            <a:r>
              <a:rPr lang="en-US" dirty="0">
                <a:solidFill>
                  <a:srgbClr val="FFC000"/>
                </a:solidFill>
              </a:rPr>
              <a:t>  server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4815A51-3F12-7BDD-3428-E35D52BA1FDE}"/>
              </a:ext>
            </a:extLst>
          </p:cNvPr>
          <p:cNvSpPr txBox="1">
            <a:spLocks/>
          </p:cNvSpPr>
          <p:nvPr/>
        </p:nvSpPr>
        <p:spPr>
          <a:xfrm>
            <a:off x="714346" y="562474"/>
            <a:ext cx="10515600" cy="5011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accent5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tx1"/>
                </a:solidFill>
              </a:rPr>
              <a:t>Plus Software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656E17-BE0A-E2DE-5327-DDA7E9D347F6}"/>
              </a:ext>
            </a:extLst>
          </p:cNvPr>
          <p:cNvSpPr txBox="1"/>
          <p:nvPr/>
        </p:nvSpPr>
        <p:spPr>
          <a:xfrm>
            <a:off x="488798" y="4259615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OpenMP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3B57C1-EE4A-FEFB-FE5A-71447AD602EF}"/>
              </a:ext>
            </a:extLst>
          </p:cNvPr>
          <p:cNvSpPr txBox="1"/>
          <p:nvPr/>
        </p:nvSpPr>
        <p:spPr>
          <a:xfrm>
            <a:off x="8631599" y="5038912"/>
            <a:ext cx="3127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MPI, Message passing interface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F776635-5016-B608-08E7-6A4FCBD91767}"/>
              </a:ext>
            </a:extLst>
          </p:cNvPr>
          <p:cNvSpPr txBox="1">
            <a:spLocks/>
          </p:cNvSpPr>
          <p:nvPr/>
        </p:nvSpPr>
        <p:spPr>
          <a:xfrm>
            <a:off x="714346" y="992081"/>
            <a:ext cx="10515600" cy="5011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accent5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rgbClr val="F46F80"/>
                </a:solidFill>
              </a:rPr>
              <a:t>Plus processing units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C038EE5-D1D6-AF04-5ED6-4F14BE27DB08}"/>
              </a:ext>
            </a:extLst>
          </p:cNvPr>
          <p:cNvSpPr txBox="1"/>
          <p:nvPr/>
        </p:nvSpPr>
        <p:spPr>
          <a:xfrm>
            <a:off x="488798" y="4560881"/>
            <a:ext cx="898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46F80"/>
                </a:solidFill>
              </a:rPr>
              <a:t>threads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B1423A1-2BD9-59CD-E4C2-17EC612F6A92}"/>
              </a:ext>
            </a:extLst>
          </p:cNvPr>
          <p:cNvSpPr txBox="1"/>
          <p:nvPr/>
        </p:nvSpPr>
        <p:spPr>
          <a:xfrm>
            <a:off x="8670804" y="5344796"/>
            <a:ext cx="11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46F80"/>
                </a:solidFill>
              </a:rPr>
              <a:t>processes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60CDF77-9B24-202C-41AD-53ECF4563009}"/>
              </a:ext>
            </a:extLst>
          </p:cNvPr>
          <p:cNvSpPr txBox="1"/>
          <p:nvPr/>
        </p:nvSpPr>
        <p:spPr>
          <a:xfrm>
            <a:off x="3951548" y="5681253"/>
            <a:ext cx="172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CUDA, </a:t>
            </a:r>
            <a:r>
              <a:rPr lang="en-US" dirty="0" err="1"/>
              <a:t>OpenACC</a:t>
            </a:r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3E9772F-334C-5F09-2BD5-3BDA29B71C49}"/>
              </a:ext>
            </a:extLst>
          </p:cNvPr>
          <p:cNvSpPr txBox="1"/>
          <p:nvPr/>
        </p:nvSpPr>
        <p:spPr>
          <a:xfrm>
            <a:off x="3945805" y="5955268"/>
            <a:ext cx="898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46F80"/>
                </a:solidFill>
              </a:rPr>
              <a:t>threads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7A80D4F-DD9E-B3A6-AAA8-0BDA5515DA20}"/>
              </a:ext>
            </a:extLst>
          </p:cNvPr>
          <p:cNvSpPr txBox="1"/>
          <p:nvPr/>
        </p:nvSpPr>
        <p:spPr>
          <a:xfrm>
            <a:off x="488798" y="4936876"/>
            <a:ext cx="1074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OpenACC</a:t>
            </a:r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5A01EA0-E61F-A5AB-BD83-88088C92731D}"/>
              </a:ext>
            </a:extLst>
          </p:cNvPr>
          <p:cNvSpPr txBox="1"/>
          <p:nvPr/>
        </p:nvSpPr>
        <p:spPr>
          <a:xfrm>
            <a:off x="488798" y="5210891"/>
            <a:ext cx="898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46F80"/>
                </a:solidFill>
              </a:rPr>
              <a:t>threads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07557BE-E9D5-0589-D911-85F702E34293}"/>
              </a:ext>
            </a:extLst>
          </p:cNvPr>
          <p:cNvSpPr txBox="1"/>
          <p:nvPr/>
        </p:nvSpPr>
        <p:spPr>
          <a:xfrm>
            <a:off x="488798" y="5563231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MPI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8075EA8-7819-4AA6-0AD3-64EC75948BC8}"/>
              </a:ext>
            </a:extLst>
          </p:cNvPr>
          <p:cNvSpPr txBox="1"/>
          <p:nvPr/>
        </p:nvSpPr>
        <p:spPr>
          <a:xfrm>
            <a:off x="488798" y="5837246"/>
            <a:ext cx="11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46F80"/>
                </a:solidFill>
              </a:rPr>
              <a:t>processes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B26D588-7A81-16DE-39AB-1169D2D4BFCE}"/>
              </a:ext>
            </a:extLst>
          </p:cNvPr>
          <p:cNvSpPr txBox="1"/>
          <p:nvPr/>
        </p:nvSpPr>
        <p:spPr>
          <a:xfrm>
            <a:off x="1192512" y="2538780"/>
            <a:ext cx="1337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C000"/>
                </a:solidFill>
              </a:rPr>
              <a:t>mscs</a:t>
            </a:r>
            <a:r>
              <a:rPr lang="en-US" dirty="0">
                <a:solidFill>
                  <a:srgbClr val="FFC000"/>
                </a:solidFill>
              </a:rPr>
              <a:t>  server</a:t>
            </a:r>
          </a:p>
        </p:txBody>
      </p:sp>
      <p:pic>
        <p:nvPicPr>
          <p:cNvPr id="54" name="Content Placeholder 4">
            <a:extLst>
              <a:ext uri="{FF2B5EF4-FFF2-40B4-BE49-F238E27FC236}">
                <a16:creationId xmlns:a16="http://schemas.microsoft.com/office/drawing/2014/main" id="{5F3F8C19-2799-D520-0432-8474258F7E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572" y="2647144"/>
            <a:ext cx="830333" cy="1501167"/>
          </a:xfr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486D462F-65D5-3F5E-3058-47A07ACC0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04" y="2099664"/>
            <a:ext cx="2103015" cy="468695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194992EC-62E6-32E6-913F-DFEF399B2B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1855" y="94812"/>
            <a:ext cx="2222462" cy="1666847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3BCF2BD5-4002-1F50-631A-65243B3604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783" y="6189586"/>
            <a:ext cx="2123525" cy="464521"/>
          </a:xfrm>
          <a:prstGeom prst="rect">
            <a:avLst/>
          </a:prstGeom>
        </p:spPr>
      </p:pic>
      <p:pic>
        <p:nvPicPr>
          <p:cNvPr id="27" name="Picture 4">
            <a:extLst>
              <a:ext uri="{FF2B5EF4-FFF2-40B4-BE49-F238E27FC236}">
                <a16:creationId xmlns:a16="http://schemas.microsoft.com/office/drawing/2014/main" id="{B9E24939-05C6-B672-CBCE-8F3BD52A8B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2207" y="5459379"/>
            <a:ext cx="1621758" cy="1213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6413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6E05B1-4543-3F24-827F-C8F369D52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335" y="49056"/>
            <a:ext cx="8894151" cy="67598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0CC27A-FC62-87BC-77A7-62488E4E9A9C}"/>
              </a:ext>
            </a:extLst>
          </p:cNvPr>
          <p:cNvSpPr txBox="1"/>
          <p:nvPr/>
        </p:nvSpPr>
        <p:spPr>
          <a:xfrm>
            <a:off x="7924800" y="166914"/>
            <a:ext cx="2690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On a </a:t>
            </a:r>
            <a:r>
              <a:rPr lang="en-US" dirty="0" err="1">
                <a:solidFill>
                  <a:srgbClr val="FF0000"/>
                </a:solidFill>
              </a:rPr>
              <a:t>google</a:t>
            </a:r>
            <a:r>
              <a:rPr lang="en-US" dirty="0">
                <a:solidFill>
                  <a:srgbClr val="FF0000"/>
                </a:solidFill>
              </a:rPr>
              <a:t> doc in </a:t>
            </a:r>
            <a:r>
              <a:rPr lang="en-US" dirty="0" err="1">
                <a:solidFill>
                  <a:srgbClr val="FF0000"/>
                </a:solidFill>
              </a:rPr>
              <a:t>moodle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5917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CE8AF1-7D9F-AD2C-7203-856B01EAB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9715" y="65390"/>
            <a:ext cx="6856170" cy="521094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/>
              <a:t>Parallel Pattern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144" y="860925"/>
            <a:ext cx="4768373" cy="562637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These patterns can be categorized:</a:t>
            </a:r>
          </a:p>
          <a:p>
            <a:pPr>
              <a:spcBef>
                <a:spcPts val="1368"/>
              </a:spcBef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Computational Patterns</a:t>
            </a:r>
            <a:r>
              <a:rPr lang="en-US" dirty="0"/>
              <a:t>: </a:t>
            </a:r>
          </a:p>
          <a:p>
            <a:pPr lvl="1">
              <a:spcBef>
                <a:spcPts val="1368"/>
              </a:spcBef>
            </a:pPr>
            <a:r>
              <a:rPr lang="en-US" dirty="0"/>
              <a:t>overall approach to a problem (originally sequential).</a:t>
            </a:r>
          </a:p>
          <a:p>
            <a:pPr>
              <a:spcBef>
                <a:spcPts val="1368"/>
              </a:spcBef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Algorithmic Strategies</a:t>
            </a:r>
            <a:r>
              <a:rPr lang="en-US" dirty="0"/>
              <a:t>: </a:t>
            </a:r>
          </a:p>
          <a:p>
            <a:pPr lvl="1">
              <a:spcBef>
                <a:spcPts val="1368"/>
              </a:spcBef>
            </a:pPr>
            <a:r>
              <a:rPr lang="en-US" dirty="0"/>
              <a:t>general approaches to devising parallel algorithms of a computational pattern.</a:t>
            </a:r>
          </a:p>
          <a:p>
            <a:pPr>
              <a:spcBef>
                <a:spcPts val="1368"/>
              </a:spcBef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Implementation Strategies</a:t>
            </a:r>
            <a:r>
              <a:rPr lang="en-US" dirty="0"/>
              <a:t>: </a:t>
            </a:r>
          </a:p>
          <a:p>
            <a:pPr lvl="1">
              <a:spcBef>
                <a:spcPts val="1368"/>
              </a:spcBef>
            </a:pPr>
            <a:r>
              <a:rPr lang="en-US" dirty="0"/>
              <a:t>patterns used to implement a given algorithmic strategy.</a:t>
            </a:r>
          </a:p>
          <a:p>
            <a:pPr>
              <a:spcBef>
                <a:spcPts val="1368"/>
              </a:spcBef>
            </a:pPr>
            <a:r>
              <a:rPr lang="en-US" dirty="0">
                <a:solidFill>
                  <a:srgbClr val="E7D677"/>
                </a:solidFill>
              </a:rPr>
              <a:t>Concurrent Hardware (Communication &amp; Synchronization)</a:t>
            </a:r>
            <a:r>
              <a:rPr lang="en-US" dirty="0"/>
              <a:t>: </a:t>
            </a:r>
          </a:p>
          <a:p>
            <a:pPr lvl="1">
              <a:spcBef>
                <a:spcPts val="1368"/>
              </a:spcBef>
            </a:pPr>
            <a:r>
              <a:rPr lang="en-US" dirty="0"/>
              <a:t>patterns for synchronizing/communicating between the tasks in a given strategy.</a:t>
            </a:r>
          </a:p>
          <a:p>
            <a:pPr lvl="1">
              <a:spcBef>
                <a:spcPts val="1368"/>
              </a:spcBef>
            </a:pPr>
            <a:r>
              <a:rPr lang="en-US" dirty="0"/>
              <a:t>--&gt; These are usually found inside of the libraries we use to build our code.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B92B1D-0923-9842-9154-68B31916BDA4}"/>
              </a:ext>
            </a:extLst>
          </p:cNvPr>
          <p:cNvSpPr/>
          <p:nvPr/>
        </p:nvSpPr>
        <p:spPr>
          <a:xfrm>
            <a:off x="6478741" y="1255639"/>
            <a:ext cx="1095950" cy="400165"/>
          </a:xfrm>
          <a:prstGeom prst="rect">
            <a:avLst/>
          </a:prstGeom>
          <a:noFill/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5B502B-C9B3-604E-8EF7-CC9236884B0A}"/>
              </a:ext>
            </a:extLst>
          </p:cNvPr>
          <p:cNvSpPr/>
          <p:nvPr/>
        </p:nvSpPr>
        <p:spPr>
          <a:xfrm>
            <a:off x="7747684" y="1264691"/>
            <a:ext cx="970689" cy="400164"/>
          </a:xfrm>
          <a:prstGeom prst="rect">
            <a:avLst/>
          </a:prstGeom>
          <a:noFill/>
          <a:ln w="254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5E1BAE-8727-B743-B6AD-2E96DFC5ACE0}"/>
              </a:ext>
            </a:extLst>
          </p:cNvPr>
          <p:cNvSpPr/>
          <p:nvPr/>
        </p:nvSpPr>
        <p:spPr>
          <a:xfrm>
            <a:off x="8894911" y="1216440"/>
            <a:ext cx="1544624" cy="510199"/>
          </a:xfrm>
          <a:prstGeom prst="rect">
            <a:avLst/>
          </a:prstGeom>
          <a:noFill/>
          <a:ln w="254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EFADFF-DB97-714B-AC7C-EB568035D707}"/>
              </a:ext>
            </a:extLst>
          </p:cNvPr>
          <p:cNvSpPr/>
          <p:nvPr/>
        </p:nvSpPr>
        <p:spPr>
          <a:xfrm>
            <a:off x="10507176" y="552448"/>
            <a:ext cx="1611518" cy="4551512"/>
          </a:xfrm>
          <a:prstGeom prst="rect">
            <a:avLst/>
          </a:prstGeom>
          <a:noFill/>
          <a:ln w="254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301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Parallel Algorithm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1198" y="1120380"/>
            <a:ext cx="8204426" cy="4617240"/>
          </a:xfrm>
        </p:spPr>
        <p:txBody>
          <a:bodyPr>
            <a:normAutofit/>
          </a:bodyPr>
          <a:lstStyle/>
          <a:p>
            <a:r>
              <a:rPr lang="en-US" dirty="0"/>
              <a:t>Most parallel programs use one of just three </a:t>
            </a:r>
            <a:r>
              <a:rPr lang="en-US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parallel algorithm strategy patterns</a:t>
            </a:r>
            <a:r>
              <a:rPr lang="en-US" dirty="0"/>
              <a:t>:</a:t>
            </a:r>
          </a:p>
          <a:p>
            <a:endParaRPr lang="en-US" dirty="0"/>
          </a:p>
          <a:p>
            <a:pPr>
              <a:spcBef>
                <a:spcPts val="1368"/>
              </a:spcBef>
            </a:pPr>
            <a:r>
              <a:rPr lang="en-US" dirty="0">
                <a:solidFill>
                  <a:schemeClr val="accent2"/>
                </a:solidFill>
              </a:rPr>
              <a:t>Data decomposition</a:t>
            </a:r>
            <a:r>
              <a:rPr lang="en-US" dirty="0"/>
              <a:t>: divide up the data and process it in parallel.</a:t>
            </a:r>
          </a:p>
          <a:p>
            <a:pPr>
              <a:spcBef>
                <a:spcPts val="1368"/>
              </a:spcBef>
            </a:pPr>
            <a:r>
              <a:rPr lang="en-US" dirty="0">
                <a:solidFill>
                  <a:schemeClr val="accent2"/>
                </a:solidFill>
              </a:rPr>
              <a:t>Task decomposition</a:t>
            </a:r>
            <a:r>
              <a:rPr lang="en-US" dirty="0"/>
              <a:t>: divide the algorithm into functional tasks that are performed in parallel (to the extent possible).</a:t>
            </a:r>
          </a:p>
          <a:p>
            <a:pPr>
              <a:spcBef>
                <a:spcPts val="1368"/>
              </a:spcBef>
            </a:pPr>
            <a:r>
              <a:rPr lang="en-US" dirty="0">
                <a:solidFill>
                  <a:schemeClr val="accent2"/>
                </a:solidFill>
              </a:rPr>
              <a:t>Pipeline</a:t>
            </a:r>
            <a:r>
              <a:rPr lang="en-US" dirty="0"/>
              <a:t>: divide the algorithm into linear stages, through which we “pump” the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7719" y="3824692"/>
            <a:ext cx="3066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6600"/>
                </a:solidFill>
              </a:rPr>
              <a:t>Also called </a:t>
            </a:r>
          </a:p>
          <a:p>
            <a:r>
              <a:rPr lang="en-US" sz="2000" dirty="0">
                <a:solidFill>
                  <a:srgbClr val="FF6600"/>
                </a:solidFill>
              </a:rPr>
              <a:t>“functional decomposition”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5624" y="2543876"/>
            <a:ext cx="33054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6600"/>
                </a:solidFill>
              </a:rPr>
              <a:t>This approach is usually</a:t>
            </a:r>
          </a:p>
          <a:p>
            <a:r>
              <a:rPr lang="en-US" sz="2000" dirty="0">
                <a:solidFill>
                  <a:srgbClr val="FF6600"/>
                </a:solidFill>
              </a:rPr>
              <a:t>more scalable than the others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CB91BD-10BF-4A4E-8E8C-2E402EA83BF6}"/>
              </a:ext>
            </a:extLst>
          </p:cNvPr>
          <p:cNvSpPr/>
          <p:nvPr/>
        </p:nvSpPr>
        <p:spPr>
          <a:xfrm>
            <a:off x="564204" y="2373549"/>
            <a:ext cx="8303515" cy="1055451"/>
          </a:xfrm>
          <a:prstGeom prst="rect">
            <a:avLst/>
          </a:prstGeom>
          <a:noFill/>
          <a:ln w="4445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ular Callout 10">
            <a:extLst>
              <a:ext uri="{FF2B5EF4-FFF2-40B4-BE49-F238E27FC236}">
                <a16:creationId xmlns:a16="http://schemas.microsoft.com/office/drawing/2014/main" id="{89DFF816-9236-0240-BD82-54A23497561E}"/>
              </a:ext>
            </a:extLst>
          </p:cNvPr>
          <p:cNvSpPr/>
          <p:nvPr/>
        </p:nvSpPr>
        <p:spPr>
          <a:xfrm>
            <a:off x="8699157" y="864973"/>
            <a:ext cx="2577641" cy="1508576"/>
          </a:xfrm>
          <a:prstGeom prst="wedgeRoundRectCallout">
            <a:avLst>
              <a:gd name="adj1" fmla="val -62539"/>
              <a:gd name="adj2" fmla="val 50214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Let’s start with this one</a:t>
            </a:r>
          </a:p>
        </p:txBody>
      </p:sp>
    </p:spTree>
    <p:extLst>
      <p:ext uri="{BB962C8B-B14F-4D97-AF65-F5344CB8AC3E}">
        <p14:creationId xmlns:p14="http://schemas.microsoft.com/office/powerpoint/2010/main" val="3027253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D9BE53F-190B-2275-A2C5-6468E79A5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9715" y="65390"/>
            <a:ext cx="6856170" cy="5210945"/>
          </a:xfrm>
          <a:prstGeom prst="rect">
            <a:avLst/>
          </a:prstGeom>
        </p:spPr>
      </p:pic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319628" y="4367401"/>
            <a:ext cx="9144000" cy="1371529"/>
          </a:xfrm>
        </p:spPr>
        <p:txBody>
          <a:bodyPr/>
          <a:lstStyle/>
          <a:p>
            <a:pPr algn="l"/>
            <a:r>
              <a:rPr lang="en-US" sz="5400" dirty="0"/>
              <a:t>Data </a:t>
            </a:r>
            <a:br>
              <a:rPr lang="en-US" sz="5400" dirty="0"/>
            </a:br>
            <a:r>
              <a:rPr lang="en-US" sz="5400" dirty="0"/>
              <a:t>Decomposition</a:t>
            </a:r>
            <a:br>
              <a:rPr lang="en-US" sz="5400" dirty="0"/>
            </a:br>
            <a:r>
              <a:rPr lang="en-US" sz="5400" dirty="0"/>
              <a:t>Algorithm Strategy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319628" y="5756864"/>
            <a:ext cx="5661042" cy="1020104"/>
          </a:xfrm>
        </p:spPr>
        <p:txBody>
          <a:bodyPr/>
          <a:lstStyle/>
          <a:p>
            <a:r>
              <a:rPr lang="en-US" dirty="0"/>
              <a:t>on shared memory machines with threads</a:t>
            </a:r>
          </a:p>
          <a:p>
            <a:r>
              <a:rPr lang="en-US" dirty="0"/>
              <a:t>Yet applies generally to other systems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46504FB-4B0B-5C49-8072-60FB55FAD687}"/>
              </a:ext>
            </a:extLst>
          </p:cNvPr>
          <p:cNvCxnSpPr>
            <a:cxnSpLocks/>
          </p:cNvCxnSpPr>
          <p:nvPr/>
        </p:nvCxnSpPr>
        <p:spPr>
          <a:xfrm flipV="1">
            <a:off x="3534032" y="2174789"/>
            <a:ext cx="4250725" cy="1507525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3872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0692" y="629625"/>
            <a:ext cx="8024065" cy="542778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Data Decomposition: 1 Thread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190331" y="2664446"/>
            <a:ext cx="8204426" cy="7263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2050" name="Picture 2" descr="http://tchester.org/srp/geology/pix_other/landscape-of-the-southern-iceland-iii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8613" y="1872049"/>
            <a:ext cx="5576568" cy="371242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7" name="Group 36"/>
          <p:cNvGrpSpPr/>
          <p:nvPr/>
        </p:nvGrpSpPr>
        <p:grpSpPr>
          <a:xfrm>
            <a:off x="2672578" y="1864235"/>
            <a:ext cx="6902603" cy="3720237"/>
            <a:chOff x="1325892" y="2041395"/>
            <a:chExt cx="6083225" cy="3279169"/>
          </a:xfrm>
        </p:grpSpPr>
        <p:sp>
          <p:nvSpPr>
            <p:cNvPr id="21" name="Rectangle 20"/>
            <p:cNvSpPr/>
            <p:nvPr/>
          </p:nvSpPr>
          <p:spPr>
            <a:xfrm>
              <a:off x="2494520" y="2041395"/>
              <a:ext cx="4914597" cy="3279169"/>
            </a:xfrm>
            <a:prstGeom prst="rect">
              <a:avLst/>
            </a:prstGeom>
            <a:solidFill>
              <a:srgbClr val="FF0000">
                <a:alpha val="60000"/>
              </a:srgb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325892" y="2266222"/>
              <a:ext cx="1102200" cy="3255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Thread 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23265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0692" y="629625"/>
            <a:ext cx="8024065" cy="542778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Data Decomposition: 2 Threads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190331" y="2664446"/>
            <a:ext cx="8204426" cy="7263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2050" name="Picture 2" descr="http://tchester.org/srp/geology/pix_other/landscape-of-the-southern-iceland-iii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8613" y="1872049"/>
            <a:ext cx="5576568" cy="371242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/>
          <p:cNvGrpSpPr/>
          <p:nvPr/>
        </p:nvGrpSpPr>
        <p:grpSpPr>
          <a:xfrm>
            <a:off x="2672578" y="1864234"/>
            <a:ext cx="6902603" cy="1849004"/>
            <a:chOff x="1148577" y="1864234"/>
            <a:chExt cx="6902603" cy="1849004"/>
          </a:xfrm>
        </p:grpSpPr>
        <p:sp>
          <p:nvSpPr>
            <p:cNvPr id="21" name="Rectangle 20"/>
            <p:cNvSpPr/>
            <p:nvPr/>
          </p:nvSpPr>
          <p:spPr>
            <a:xfrm>
              <a:off x="2474613" y="1864234"/>
              <a:ext cx="5576567" cy="1849004"/>
            </a:xfrm>
            <a:prstGeom prst="rect">
              <a:avLst/>
            </a:prstGeom>
            <a:solidFill>
              <a:srgbClr val="FF0000">
                <a:alpha val="60000"/>
              </a:srgb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148577" y="2119302"/>
              <a:ext cx="12506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Thread 0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2672578" y="3713239"/>
            <a:ext cx="6902603" cy="1860183"/>
            <a:chOff x="1148577" y="3713238"/>
            <a:chExt cx="6902603" cy="1860183"/>
          </a:xfrm>
        </p:grpSpPr>
        <p:sp>
          <p:nvSpPr>
            <p:cNvPr id="24" name="Rectangle 23"/>
            <p:cNvSpPr/>
            <p:nvPr/>
          </p:nvSpPr>
          <p:spPr>
            <a:xfrm>
              <a:off x="2474613" y="3713238"/>
              <a:ext cx="5576567" cy="1860183"/>
            </a:xfrm>
            <a:prstGeom prst="rect">
              <a:avLst/>
            </a:prstGeom>
            <a:solidFill>
              <a:srgbClr val="008000">
                <a:alpha val="60000"/>
              </a:srgb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148577" y="3885294"/>
              <a:ext cx="12506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8000"/>
                  </a:solidFill>
                </a:rPr>
                <a:t>Thread 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5393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0692" y="629625"/>
            <a:ext cx="8024065" cy="542778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Data Decomposition: 4 Threads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190331" y="2664446"/>
            <a:ext cx="8204426" cy="7263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2050" name="Picture 2" descr="http://tchester.org/srp/geology/pix_other/landscape-of-the-southern-iceland-iii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8613" y="1872049"/>
            <a:ext cx="5576568" cy="371242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/>
          <p:cNvGrpSpPr/>
          <p:nvPr/>
        </p:nvGrpSpPr>
        <p:grpSpPr>
          <a:xfrm>
            <a:off x="2672577" y="1864235"/>
            <a:ext cx="6902602" cy="900555"/>
            <a:chOff x="1148577" y="1864234"/>
            <a:chExt cx="6902602" cy="900555"/>
          </a:xfrm>
        </p:grpSpPr>
        <p:sp>
          <p:nvSpPr>
            <p:cNvPr id="21" name="Rectangle 20"/>
            <p:cNvSpPr/>
            <p:nvPr/>
          </p:nvSpPr>
          <p:spPr>
            <a:xfrm>
              <a:off x="2474613" y="1864234"/>
              <a:ext cx="5576566" cy="900555"/>
            </a:xfrm>
            <a:prstGeom prst="rect">
              <a:avLst/>
            </a:prstGeom>
            <a:solidFill>
              <a:srgbClr val="FF0000">
                <a:alpha val="60000"/>
              </a:srgb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148577" y="2119302"/>
              <a:ext cx="12506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Thread 0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2672577" y="2774057"/>
            <a:ext cx="6902602" cy="1009304"/>
            <a:chOff x="1148577" y="2774057"/>
            <a:chExt cx="6902602" cy="1009304"/>
          </a:xfrm>
        </p:grpSpPr>
        <p:sp>
          <p:nvSpPr>
            <p:cNvPr id="24" name="Rectangle 23"/>
            <p:cNvSpPr/>
            <p:nvPr/>
          </p:nvSpPr>
          <p:spPr>
            <a:xfrm>
              <a:off x="2474613" y="2774057"/>
              <a:ext cx="5576566" cy="1009304"/>
            </a:xfrm>
            <a:prstGeom prst="rect">
              <a:avLst/>
            </a:prstGeom>
            <a:solidFill>
              <a:srgbClr val="008000">
                <a:alpha val="60000"/>
              </a:srgb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148577" y="3014454"/>
              <a:ext cx="12506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8000"/>
                  </a:solidFill>
                </a:rPr>
                <a:t>Thread 1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2672577" y="3783362"/>
            <a:ext cx="6902604" cy="900555"/>
            <a:chOff x="1148577" y="3783361"/>
            <a:chExt cx="6902604" cy="900555"/>
          </a:xfrm>
        </p:grpSpPr>
        <p:sp>
          <p:nvSpPr>
            <p:cNvPr id="26" name="Rectangle 25"/>
            <p:cNvSpPr/>
            <p:nvPr/>
          </p:nvSpPr>
          <p:spPr>
            <a:xfrm>
              <a:off x="2474613" y="3783361"/>
              <a:ext cx="5576568" cy="900555"/>
            </a:xfrm>
            <a:prstGeom prst="rect">
              <a:avLst/>
            </a:prstGeom>
            <a:solidFill>
              <a:srgbClr val="FF6600">
                <a:alpha val="60000"/>
              </a:srgb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148577" y="4023757"/>
              <a:ext cx="12506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6600"/>
                  </a:solidFill>
                </a:rPr>
                <a:t>Thread 2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2672577" y="4683917"/>
            <a:ext cx="6902602" cy="900555"/>
            <a:chOff x="1148577" y="4683916"/>
            <a:chExt cx="6902602" cy="900555"/>
          </a:xfrm>
        </p:grpSpPr>
        <p:sp>
          <p:nvSpPr>
            <p:cNvPr id="25" name="Rectangle 24"/>
            <p:cNvSpPr/>
            <p:nvPr/>
          </p:nvSpPr>
          <p:spPr>
            <a:xfrm>
              <a:off x="2474613" y="4683916"/>
              <a:ext cx="5576566" cy="900555"/>
            </a:xfrm>
            <a:prstGeom prst="rect">
              <a:avLst/>
            </a:prstGeom>
            <a:solidFill>
              <a:srgbClr val="0000FF">
                <a:alpha val="60000"/>
              </a:srgb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148577" y="4923011"/>
              <a:ext cx="12506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</a:rPr>
                <a:t>Thread 3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DC7F0B90-D608-0E4F-9D2F-75406981564A}"/>
              </a:ext>
            </a:extLst>
          </p:cNvPr>
          <p:cNvSpPr txBox="1"/>
          <p:nvPr/>
        </p:nvSpPr>
        <p:spPr>
          <a:xfrm>
            <a:off x="3174960" y="5885041"/>
            <a:ext cx="72197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In OpenMP, this is accomplished by using “parallel for” in the pragma.</a:t>
            </a:r>
          </a:p>
          <a:p>
            <a:r>
              <a:rPr lang="en-US" dirty="0">
                <a:solidFill>
                  <a:schemeClr val="accent2"/>
                </a:solidFill>
              </a:rPr>
              <a:t>In this example, ‘chunks’ of the original data are worked on  by each thread</a:t>
            </a:r>
          </a:p>
        </p:txBody>
      </p:sp>
    </p:spTree>
    <p:extLst>
      <p:ext uri="{BB962C8B-B14F-4D97-AF65-F5344CB8AC3E}">
        <p14:creationId xmlns:p14="http://schemas.microsoft.com/office/powerpoint/2010/main" val="846071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75" y="195009"/>
            <a:ext cx="3118446" cy="1343781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Shared Memory Machines</a:t>
            </a:r>
          </a:p>
        </p:txBody>
      </p:sp>
      <p:pic>
        <p:nvPicPr>
          <p:cNvPr id="4" name="Content Placeholder 3" descr="McCoolFig2.2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2" b="2202"/>
          <a:stretch>
            <a:fillRect/>
          </a:stretch>
        </p:blipFill>
        <p:spPr>
          <a:xfrm>
            <a:off x="1187985" y="2167897"/>
            <a:ext cx="8013789" cy="4617240"/>
          </a:xfrm>
        </p:spPr>
      </p:pic>
      <p:sp>
        <p:nvSpPr>
          <p:cNvPr id="5" name="Rectangle 4"/>
          <p:cNvSpPr/>
          <p:nvPr/>
        </p:nvSpPr>
        <p:spPr>
          <a:xfrm>
            <a:off x="7637846" y="61087"/>
            <a:ext cx="2934165" cy="2124613"/>
          </a:xfrm>
          <a:prstGeom prst="rect">
            <a:avLst/>
          </a:prstGeom>
          <a:blipFill dpi="0" rotWithShape="1">
            <a:blip r:embed="rId3">
              <a:alphaModFix/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6936377" y="61087"/>
            <a:ext cx="3635633" cy="559180"/>
            <a:chOff x="1148577" y="1864234"/>
            <a:chExt cx="6902602" cy="900555"/>
          </a:xfrm>
        </p:grpSpPr>
        <p:sp>
          <p:nvSpPr>
            <p:cNvPr id="7" name="Rectangle 6"/>
            <p:cNvSpPr/>
            <p:nvPr/>
          </p:nvSpPr>
          <p:spPr>
            <a:xfrm>
              <a:off x="2474613" y="1864234"/>
              <a:ext cx="5576566" cy="900555"/>
            </a:xfrm>
            <a:prstGeom prst="rect">
              <a:avLst/>
            </a:prstGeom>
            <a:solidFill>
              <a:srgbClr val="FF0000">
                <a:alpha val="60000"/>
              </a:srgb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148577" y="2119302"/>
              <a:ext cx="1250661" cy="3965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rgbClr val="FF0000"/>
                  </a:solidFill>
                </a:rPr>
                <a:t>Thread 0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4062435" y="1094794"/>
            <a:ext cx="35738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False sharing is an issue!</a:t>
            </a:r>
          </a:p>
          <a:p>
            <a:r>
              <a:rPr lang="en-US" dirty="0"/>
              <a:t>Thread 0 could load part of thread 1</a:t>
            </a:r>
          </a:p>
          <a:p>
            <a:r>
              <a:rPr lang="en-US" dirty="0"/>
              <a:t>data into thread 0’s cache</a:t>
            </a:r>
          </a:p>
        </p:txBody>
      </p:sp>
    </p:spTree>
    <p:extLst>
      <p:ext uri="{BB962C8B-B14F-4D97-AF65-F5344CB8AC3E}">
        <p14:creationId xmlns:p14="http://schemas.microsoft.com/office/powerpoint/2010/main" val="2036066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56A27A6-1E33-7798-9B15-D55AD9594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9715" y="65390"/>
            <a:ext cx="6856170" cy="5210945"/>
          </a:xfrm>
          <a:prstGeom prst="rect">
            <a:avLst/>
          </a:prstGeom>
        </p:spPr>
      </p:pic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86497" y="3175686"/>
            <a:ext cx="9144000" cy="2387600"/>
          </a:xfrm>
        </p:spPr>
        <p:txBody>
          <a:bodyPr/>
          <a:lstStyle/>
          <a:p>
            <a:pPr algn="l"/>
            <a:r>
              <a:rPr lang="en-US" sz="5400" dirty="0"/>
              <a:t>Task </a:t>
            </a:r>
            <a:br>
              <a:rPr lang="en-US" sz="5400" dirty="0"/>
            </a:br>
            <a:r>
              <a:rPr lang="en-US" sz="5400" dirty="0"/>
              <a:t>Decomposition</a:t>
            </a:r>
            <a:br>
              <a:rPr lang="en-US" sz="5400" dirty="0"/>
            </a:br>
            <a:r>
              <a:rPr lang="en-US" sz="5400" dirty="0"/>
              <a:t>Algorithm Strategy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86497" y="5655361"/>
            <a:ext cx="9144000" cy="1022751"/>
          </a:xfrm>
        </p:spPr>
        <p:txBody>
          <a:bodyPr/>
          <a:lstStyle/>
          <a:p>
            <a:r>
              <a:rPr lang="en-US" dirty="0"/>
              <a:t>on shared memory machines with threads</a:t>
            </a:r>
          </a:p>
          <a:p>
            <a:r>
              <a:rPr lang="en-US" dirty="0"/>
              <a:t>Yet applies generally to other systems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14DF75F-40BF-8741-B4D0-1EAE05806858}"/>
              </a:ext>
            </a:extLst>
          </p:cNvPr>
          <p:cNvCxnSpPr>
            <a:cxnSpLocks/>
          </p:cNvCxnSpPr>
          <p:nvPr/>
        </p:nvCxnSpPr>
        <p:spPr>
          <a:xfrm flipV="1">
            <a:off x="2829697" y="2582871"/>
            <a:ext cx="5029200" cy="1087087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3902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0692" y="456627"/>
            <a:ext cx="8079594" cy="542778"/>
          </a:xfrm>
        </p:spPr>
        <p:txBody>
          <a:bodyPr>
            <a:noAutofit/>
          </a:bodyPr>
          <a:lstStyle/>
          <a:p>
            <a:pPr algn="l"/>
            <a:r>
              <a:rPr lang="en-US" sz="3600" dirty="0"/>
              <a:t>Algorithmic Strategy: Task Decomposition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5852" y="1542183"/>
            <a:ext cx="10360295" cy="1126140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The independent functions in a sequential computation can be “parallelized”: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358259" y="2668323"/>
            <a:ext cx="3918802" cy="2764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urier"/>
                <a:cs typeface="Courier"/>
              </a:rPr>
              <a:t>	</a:t>
            </a:r>
            <a:r>
              <a:rPr lang="en-US" sz="2400" b="1" dirty="0" err="1">
                <a:latin typeface="Courier"/>
                <a:cs typeface="Courier"/>
              </a:rPr>
              <a:t>int</a:t>
            </a:r>
            <a:r>
              <a:rPr lang="en-US" sz="2400" b="1" dirty="0">
                <a:latin typeface="Courier"/>
                <a:cs typeface="Courier"/>
              </a:rPr>
              <a:t> main() {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400" b="1" dirty="0">
                <a:latin typeface="Courier"/>
                <a:cs typeface="Courier"/>
              </a:rPr>
              <a:t>		x = </a:t>
            </a: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f()</a:t>
            </a:r>
            <a:r>
              <a:rPr lang="en-US" sz="2400" b="1" dirty="0">
                <a:latin typeface="Courier"/>
                <a:cs typeface="Courier"/>
              </a:rPr>
              <a:t>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400" b="1" dirty="0">
                <a:latin typeface="Courier"/>
                <a:cs typeface="Courier"/>
              </a:rPr>
              <a:t>		y = </a:t>
            </a: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g()</a:t>
            </a:r>
            <a:r>
              <a:rPr lang="en-US" sz="2400" b="1" dirty="0">
                <a:latin typeface="Courier"/>
                <a:cs typeface="Courier"/>
              </a:rPr>
              <a:t>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400" b="1" dirty="0">
                <a:latin typeface="Courier"/>
                <a:cs typeface="Courier"/>
              </a:rPr>
              <a:t>		z = </a:t>
            </a: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h()</a:t>
            </a:r>
            <a:r>
              <a:rPr lang="en-US" sz="2400" b="1" dirty="0">
                <a:latin typeface="Courier"/>
                <a:cs typeface="Courier"/>
              </a:rPr>
              <a:t>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400" b="1" dirty="0">
                <a:latin typeface="Courier"/>
                <a:cs typeface="Courier"/>
              </a:rPr>
              <a:t>		w = x + y + z;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400" b="1" dirty="0">
                <a:latin typeface="Courier"/>
                <a:cs typeface="Courier"/>
              </a:rPr>
              <a:t>	}</a:t>
            </a:r>
          </a:p>
        </p:txBody>
      </p:sp>
      <p:grpSp>
        <p:nvGrpSpPr>
          <p:cNvPr id="49" name="Group 48"/>
          <p:cNvGrpSpPr/>
          <p:nvPr/>
        </p:nvGrpSpPr>
        <p:grpSpPr>
          <a:xfrm>
            <a:off x="7296949" y="3430588"/>
            <a:ext cx="1810113" cy="549426"/>
            <a:chOff x="5661083" y="3433621"/>
            <a:chExt cx="1810113" cy="549426"/>
          </a:xfrm>
        </p:grpSpPr>
        <p:cxnSp>
          <p:nvCxnSpPr>
            <p:cNvPr id="38" name="Straight Arrow Connector 37"/>
            <p:cNvCxnSpPr>
              <a:stCxn id="7" idx="7"/>
            </p:cNvCxnSpPr>
            <p:nvPr/>
          </p:nvCxnSpPr>
          <p:spPr>
            <a:xfrm flipV="1">
              <a:off x="5661083" y="3433621"/>
              <a:ext cx="418169" cy="54663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>
            <a:xfrm flipH="1" flipV="1">
              <a:off x="6572729" y="3497708"/>
              <a:ext cx="6959" cy="48533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>
              <a:stCxn id="9" idx="1"/>
            </p:cNvCxnSpPr>
            <p:nvPr/>
          </p:nvCxnSpPr>
          <p:spPr>
            <a:xfrm flipH="1" flipV="1">
              <a:off x="7017075" y="3433621"/>
              <a:ext cx="454121" cy="54663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/>
          <p:cNvGrpSpPr/>
          <p:nvPr/>
        </p:nvGrpSpPr>
        <p:grpSpPr>
          <a:xfrm>
            <a:off x="6220225" y="3379224"/>
            <a:ext cx="3739831" cy="1388685"/>
            <a:chOff x="5091640" y="2929054"/>
            <a:chExt cx="3739831" cy="1388685"/>
          </a:xfrm>
        </p:grpSpPr>
        <p:sp>
          <p:nvSpPr>
            <p:cNvPr id="7" name="Oval 6"/>
            <p:cNvSpPr/>
            <p:nvPr/>
          </p:nvSpPr>
          <p:spPr>
            <a:xfrm>
              <a:off x="5256017" y="3468791"/>
              <a:ext cx="937823" cy="4185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01247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ourier"/>
                  <a:cs typeface="Courier"/>
                </a:rPr>
                <a:t>f()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6474668" y="3468791"/>
              <a:ext cx="937823" cy="4185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01247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ourier"/>
                  <a:cs typeface="Courier"/>
                </a:rPr>
                <a:t>g()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7729271" y="3468791"/>
              <a:ext cx="937823" cy="4185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01247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ourier"/>
                  <a:cs typeface="Courier"/>
                </a:rPr>
                <a:t>h()</a:t>
              </a:r>
            </a:p>
          </p:txBody>
        </p:sp>
        <p:cxnSp>
          <p:nvCxnSpPr>
            <p:cNvPr id="12" name="Straight Arrow Connector 11"/>
            <p:cNvCxnSpPr>
              <a:stCxn id="10" idx="3"/>
              <a:endCxn id="7" idx="0"/>
            </p:cNvCxnSpPr>
            <p:nvPr/>
          </p:nvCxnSpPr>
          <p:spPr>
            <a:xfrm flipH="1">
              <a:off x="5724929" y="2929054"/>
              <a:ext cx="567867" cy="539737"/>
            </a:xfrm>
            <a:prstGeom prst="straightConnector1">
              <a:avLst/>
            </a:prstGeom>
            <a:ln>
              <a:solidFill>
                <a:srgbClr val="012479"/>
              </a:solidFill>
              <a:tailEnd type="triangle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6792861" y="2983452"/>
              <a:ext cx="6959" cy="485339"/>
            </a:xfrm>
            <a:prstGeom prst="straightConnector1">
              <a:avLst/>
            </a:prstGeom>
            <a:ln>
              <a:solidFill>
                <a:srgbClr val="012479"/>
              </a:solidFill>
              <a:tailEnd type="triangle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10" idx="5"/>
              <a:endCxn id="9" idx="0"/>
            </p:cNvCxnSpPr>
            <p:nvPr/>
          </p:nvCxnSpPr>
          <p:spPr>
            <a:xfrm>
              <a:off x="7580445" y="2929054"/>
              <a:ext cx="617738" cy="539737"/>
            </a:xfrm>
            <a:prstGeom prst="straightConnector1">
              <a:avLst/>
            </a:prstGeom>
            <a:ln>
              <a:solidFill>
                <a:srgbClr val="012479"/>
              </a:solidFill>
              <a:tailEnd type="triangle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/>
            <p:cNvSpPr txBox="1"/>
            <p:nvPr/>
          </p:nvSpPr>
          <p:spPr>
            <a:xfrm>
              <a:off x="5091640" y="3948407"/>
              <a:ext cx="1102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Thread 1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6445151" y="3948407"/>
              <a:ext cx="1102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Thread 2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729271" y="3948407"/>
              <a:ext cx="1102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Thread 3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7154700" y="2689189"/>
            <a:ext cx="1821011" cy="744433"/>
            <a:chOff x="6026115" y="2239019"/>
            <a:chExt cx="1821011" cy="744433"/>
          </a:xfrm>
        </p:grpSpPr>
        <p:sp>
          <p:nvSpPr>
            <p:cNvPr id="10" name="Oval 9"/>
            <p:cNvSpPr/>
            <p:nvPr/>
          </p:nvSpPr>
          <p:spPr>
            <a:xfrm>
              <a:off x="6026115" y="2612002"/>
              <a:ext cx="1821011" cy="37145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01247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ourier"/>
                  <a:cs typeface="Courier"/>
                </a:rPr>
                <a:t>main()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346240" y="2239019"/>
              <a:ext cx="1102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Thread 0</a:t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2949088" y="999405"/>
            <a:ext cx="7242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Also called  “functional decomposition”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054CFA-BA94-BB44-8054-EE0C72B446DA}"/>
              </a:ext>
            </a:extLst>
          </p:cNvPr>
          <p:cNvSpPr txBox="1"/>
          <p:nvPr/>
        </p:nvSpPr>
        <p:spPr>
          <a:xfrm>
            <a:off x="4073462" y="5497370"/>
            <a:ext cx="4993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In OpenMP, this is accomplished by using ‘sections’.</a:t>
            </a:r>
          </a:p>
          <a:p>
            <a:r>
              <a:rPr lang="en-US" dirty="0">
                <a:solidFill>
                  <a:schemeClr val="accent2"/>
                </a:solidFill>
              </a:rPr>
              <a:t>See the 16.sections </a:t>
            </a:r>
            <a:r>
              <a:rPr lang="en-US" dirty="0" err="1">
                <a:solidFill>
                  <a:schemeClr val="accent2"/>
                </a:solidFill>
              </a:rPr>
              <a:t>patternlet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5893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7452453-ADF9-6D37-DB7D-0F2270EC2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9715" y="65390"/>
            <a:ext cx="6856170" cy="5210945"/>
          </a:xfrm>
          <a:prstGeom prst="rect">
            <a:avLst/>
          </a:prstGeom>
        </p:spPr>
      </p:pic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86497" y="3175686"/>
            <a:ext cx="9144000" cy="2387600"/>
          </a:xfrm>
        </p:spPr>
        <p:txBody>
          <a:bodyPr/>
          <a:lstStyle/>
          <a:p>
            <a:pPr algn="l"/>
            <a:r>
              <a:rPr lang="en-US" sz="5400" dirty="0"/>
              <a:t>Pipeline </a:t>
            </a:r>
            <a:br>
              <a:rPr lang="en-US" sz="5400" dirty="0"/>
            </a:br>
            <a:r>
              <a:rPr lang="en-US" sz="5400" dirty="0"/>
              <a:t>Algorithm Strategy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86497" y="5655361"/>
            <a:ext cx="9144000" cy="1022751"/>
          </a:xfrm>
        </p:spPr>
        <p:txBody>
          <a:bodyPr/>
          <a:lstStyle/>
          <a:p>
            <a:pPr algn="l"/>
            <a:r>
              <a:rPr lang="en-US" dirty="0"/>
              <a:t>on shared memory machines with threads</a:t>
            </a:r>
          </a:p>
          <a:p>
            <a:pPr algn="l"/>
            <a:r>
              <a:rPr lang="en-US" dirty="0"/>
              <a:t>Yet applies generally to other systems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14DF75F-40BF-8741-B4D0-1EAE05806858}"/>
              </a:ext>
            </a:extLst>
          </p:cNvPr>
          <p:cNvCxnSpPr>
            <a:cxnSpLocks/>
          </p:cNvCxnSpPr>
          <p:nvPr/>
        </p:nvCxnSpPr>
        <p:spPr>
          <a:xfrm flipV="1">
            <a:off x="3299254" y="2792627"/>
            <a:ext cx="4596714" cy="1285104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35945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/>
              <a:t>Algorithmic Strategy: Pipeline</a:t>
            </a:r>
          </a:p>
        </p:txBody>
      </p:sp>
      <p:sp>
        <p:nvSpPr>
          <p:cNvPr id="23" name="Content Placeholder 2"/>
          <p:cNvSpPr>
            <a:spLocks noGrp="1"/>
          </p:cNvSpPr>
          <p:nvPr>
            <p:ph idx="1"/>
          </p:nvPr>
        </p:nvSpPr>
        <p:spPr>
          <a:xfrm>
            <a:off x="2197011" y="1329194"/>
            <a:ext cx="8425349" cy="707682"/>
          </a:xfrm>
        </p:spPr>
        <p:txBody>
          <a:bodyPr>
            <a:normAutofit/>
          </a:bodyPr>
          <a:lstStyle/>
          <a:p>
            <a:r>
              <a:rPr lang="en-US" sz="2400" dirty="0"/>
              <a:t>- When functions are not independent:</a:t>
            </a:r>
          </a:p>
        </p:txBody>
      </p:sp>
      <p:sp>
        <p:nvSpPr>
          <p:cNvPr id="28" name="Content Placeholder 2"/>
          <p:cNvSpPr txBox="1">
            <a:spLocks/>
          </p:cNvSpPr>
          <p:nvPr/>
        </p:nvSpPr>
        <p:spPr>
          <a:xfrm>
            <a:off x="2181675" y="2278735"/>
            <a:ext cx="3918802" cy="328636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urier"/>
                <a:cs typeface="Courier"/>
              </a:rPr>
              <a:t>	</a:t>
            </a:r>
            <a:r>
              <a:rPr lang="en-US" sz="2400" b="1" dirty="0" err="1">
                <a:latin typeface="Courier"/>
                <a:cs typeface="Courier"/>
              </a:rPr>
              <a:t>int</a:t>
            </a:r>
            <a:r>
              <a:rPr lang="en-US" sz="2400" b="1" dirty="0">
                <a:latin typeface="Courier"/>
                <a:cs typeface="Courier"/>
              </a:rPr>
              <a:t> main() {</a:t>
            </a:r>
          </a:p>
          <a:p>
            <a:pPr marL="0" indent="0">
              <a:buNone/>
            </a:pPr>
            <a:r>
              <a:rPr lang="en-US" sz="2400" b="1" dirty="0">
                <a:latin typeface="Courier"/>
                <a:cs typeface="Courier"/>
              </a:rPr>
              <a:t>		...</a:t>
            </a:r>
          </a:p>
          <a:p>
            <a:pPr marL="0" indent="0">
              <a:buNone/>
            </a:pPr>
            <a:r>
              <a:rPr lang="en-US" sz="2400" b="1" dirty="0">
                <a:latin typeface="Courier"/>
                <a:cs typeface="Courier"/>
              </a:rPr>
              <a:t>		while (fin) {</a:t>
            </a:r>
          </a:p>
          <a:p>
            <a:pPr marL="0" indent="0">
              <a:buNone/>
            </a:pPr>
            <a:r>
              <a:rPr lang="en-US" sz="2400" b="1" dirty="0">
                <a:latin typeface="Courier"/>
                <a:cs typeface="Courier"/>
              </a:rPr>
              <a:t>			fin &gt;&gt; </a:t>
            </a:r>
            <a:r>
              <a:rPr lang="en-US" sz="2400" b="1" dirty="0">
                <a:solidFill>
                  <a:srgbClr val="FF0000"/>
                </a:solidFill>
                <a:latin typeface="Courier"/>
                <a:cs typeface="Courier"/>
              </a:rPr>
              <a:t>a</a:t>
            </a:r>
            <a:r>
              <a:rPr lang="en-US" sz="2400" b="1" dirty="0">
                <a:latin typeface="Courier"/>
                <a:cs typeface="Courier"/>
              </a:rPr>
              <a:t>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400" b="1" dirty="0">
                <a:latin typeface="Courier"/>
                <a:cs typeface="Courier"/>
              </a:rPr>
              <a:t>			</a:t>
            </a:r>
            <a:r>
              <a:rPr lang="en-US" sz="2400" b="1" dirty="0">
                <a:solidFill>
                  <a:srgbClr val="FF0000"/>
                </a:solidFill>
                <a:latin typeface="Courier"/>
                <a:cs typeface="Courier"/>
              </a:rPr>
              <a:t>b</a:t>
            </a:r>
            <a:r>
              <a:rPr lang="en-US" sz="2400" b="1" dirty="0">
                <a:latin typeface="Courier"/>
                <a:cs typeface="Courier"/>
              </a:rPr>
              <a:t> = f(</a:t>
            </a:r>
            <a:r>
              <a:rPr lang="en-US" sz="2400" b="1" dirty="0">
                <a:solidFill>
                  <a:srgbClr val="FF0000"/>
                </a:solidFill>
                <a:latin typeface="Courier"/>
                <a:cs typeface="Courier"/>
              </a:rPr>
              <a:t>a</a:t>
            </a:r>
            <a:r>
              <a:rPr lang="en-US" sz="2400" b="1" dirty="0">
                <a:latin typeface="Courier"/>
                <a:cs typeface="Courier"/>
              </a:rPr>
              <a:t>);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400" b="1" dirty="0">
                <a:latin typeface="Courier"/>
                <a:cs typeface="Courier"/>
              </a:rPr>
              <a:t>			</a:t>
            </a:r>
            <a:r>
              <a:rPr lang="en-US" sz="2400" b="1" dirty="0">
                <a:solidFill>
                  <a:srgbClr val="FF0000"/>
                </a:solidFill>
                <a:latin typeface="Courier"/>
                <a:cs typeface="Courier"/>
              </a:rPr>
              <a:t>c</a:t>
            </a:r>
            <a:r>
              <a:rPr lang="en-US" sz="2400" b="1" dirty="0">
                <a:latin typeface="Courier"/>
                <a:cs typeface="Courier"/>
              </a:rPr>
              <a:t> = g(</a:t>
            </a:r>
            <a:r>
              <a:rPr lang="en-US" sz="2400" b="1" dirty="0">
                <a:solidFill>
                  <a:srgbClr val="FF0000"/>
                </a:solidFill>
                <a:latin typeface="Courier"/>
                <a:cs typeface="Courier"/>
              </a:rPr>
              <a:t>b</a:t>
            </a:r>
            <a:r>
              <a:rPr lang="en-US" sz="2400" b="1" dirty="0">
                <a:latin typeface="Courier"/>
                <a:cs typeface="Courier"/>
              </a:rPr>
              <a:t>);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400" b="1" dirty="0">
                <a:latin typeface="Courier"/>
                <a:cs typeface="Courier"/>
              </a:rPr>
              <a:t>			</a:t>
            </a:r>
            <a:r>
              <a:rPr lang="en-US" sz="2400" b="1" dirty="0">
                <a:solidFill>
                  <a:srgbClr val="FF0000"/>
                </a:solidFill>
                <a:latin typeface="Courier"/>
                <a:cs typeface="Courier"/>
              </a:rPr>
              <a:t>d</a:t>
            </a:r>
            <a:r>
              <a:rPr lang="en-US" sz="2400" b="1" dirty="0">
                <a:latin typeface="Courier"/>
                <a:cs typeface="Courier"/>
              </a:rPr>
              <a:t> = h(</a:t>
            </a:r>
            <a:r>
              <a:rPr lang="en-US" sz="2400" b="1" dirty="0">
                <a:solidFill>
                  <a:srgbClr val="FF0000"/>
                </a:solidFill>
                <a:latin typeface="Courier"/>
                <a:cs typeface="Courier"/>
              </a:rPr>
              <a:t>c</a:t>
            </a:r>
            <a:r>
              <a:rPr lang="en-US" sz="2400" b="1" dirty="0">
                <a:latin typeface="Courier"/>
                <a:cs typeface="Courier"/>
              </a:rPr>
              <a:t>);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400" b="1" dirty="0">
                <a:latin typeface="Courier"/>
                <a:cs typeface="Courier"/>
              </a:rPr>
              <a:t>			</a:t>
            </a:r>
            <a:r>
              <a:rPr lang="en-US" sz="2400" b="1" dirty="0" err="1">
                <a:latin typeface="Courier"/>
                <a:cs typeface="Courier"/>
              </a:rPr>
              <a:t>fout</a:t>
            </a:r>
            <a:r>
              <a:rPr lang="en-US" sz="2400" b="1" dirty="0">
                <a:latin typeface="Courier"/>
                <a:cs typeface="Courier"/>
              </a:rPr>
              <a:t> &lt;&lt; d;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400" b="1" dirty="0">
                <a:latin typeface="Courier"/>
                <a:cs typeface="Courier"/>
              </a:rPr>
              <a:t>		}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400" b="1" dirty="0">
                <a:latin typeface="Courier"/>
                <a:cs typeface="Courier"/>
              </a:rPr>
              <a:t>		...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400" b="1" dirty="0">
                <a:latin typeface="Courier"/>
                <a:cs typeface="Courier"/>
              </a:rPr>
              <a:t>}</a:t>
            </a:r>
          </a:p>
        </p:txBody>
      </p:sp>
      <p:grpSp>
        <p:nvGrpSpPr>
          <p:cNvPr id="85" name="Group 84"/>
          <p:cNvGrpSpPr/>
          <p:nvPr/>
        </p:nvGrpSpPr>
        <p:grpSpPr>
          <a:xfrm>
            <a:off x="6723465" y="2009006"/>
            <a:ext cx="1617354" cy="1103395"/>
            <a:chOff x="5199465" y="1757281"/>
            <a:chExt cx="1617354" cy="1103395"/>
          </a:xfrm>
        </p:grpSpPr>
        <p:sp>
          <p:nvSpPr>
            <p:cNvPr id="41" name="TextBox 40"/>
            <p:cNvSpPr txBox="1"/>
            <p:nvPr/>
          </p:nvSpPr>
          <p:spPr>
            <a:xfrm>
              <a:off x="6313644" y="2491344"/>
              <a:ext cx="503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urier"/>
                  <a:cs typeface="Courier"/>
                </a:rPr>
                <a:t>a</a:t>
              </a:r>
              <a:r>
                <a:rPr lang="en-US" b="1" baseline="-25000" dirty="0">
                  <a:latin typeface="Courier"/>
                  <a:cs typeface="Courier"/>
                </a:rPr>
                <a:t>0</a:t>
              </a:r>
              <a:endParaRPr lang="en-US" baseline="-25000" dirty="0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5199465" y="1757281"/>
              <a:ext cx="11860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Time Step: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289678" y="1757281"/>
              <a:ext cx="4312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0</a:t>
              </a:r>
            </a:p>
          </p:txBody>
        </p:sp>
      </p:grpSp>
      <p:grpSp>
        <p:nvGrpSpPr>
          <p:cNvPr id="86" name="Group 85"/>
          <p:cNvGrpSpPr/>
          <p:nvPr/>
        </p:nvGrpSpPr>
        <p:grpSpPr>
          <a:xfrm>
            <a:off x="8205684" y="2009005"/>
            <a:ext cx="530490" cy="3911930"/>
            <a:chOff x="6681684" y="1757281"/>
            <a:chExt cx="530490" cy="3911930"/>
          </a:xfrm>
        </p:grpSpPr>
        <p:sp>
          <p:nvSpPr>
            <p:cNvPr id="42" name="TextBox 41"/>
            <p:cNvSpPr txBox="1"/>
            <p:nvPr/>
          </p:nvSpPr>
          <p:spPr>
            <a:xfrm>
              <a:off x="6708999" y="2477077"/>
              <a:ext cx="503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urier"/>
                  <a:cs typeface="Courier"/>
                </a:rPr>
                <a:t>a</a:t>
              </a:r>
              <a:r>
                <a:rPr lang="en-US" b="1" baseline="-25000" dirty="0">
                  <a:latin typeface="Courier"/>
                  <a:cs typeface="Courier"/>
                </a:rPr>
                <a:t>1</a:t>
              </a:r>
              <a:endParaRPr lang="en-US" baseline="-25000" dirty="0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708999" y="3307212"/>
              <a:ext cx="503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urier"/>
                  <a:cs typeface="Courier"/>
                </a:rPr>
                <a:t>b</a:t>
              </a:r>
              <a:r>
                <a:rPr lang="en-US" b="1" baseline="-25000" dirty="0">
                  <a:latin typeface="Courier"/>
                  <a:cs typeface="Courier"/>
                </a:rPr>
                <a:t>0</a:t>
              </a:r>
              <a:endParaRPr lang="en-US" baseline="-25000" dirty="0"/>
            </a:p>
          </p:txBody>
        </p:sp>
        <p:cxnSp>
          <p:nvCxnSpPr>
            <p:cNvPr id="76" name="Straight Connector 75"/>
            <p:cNvCxnSpPr/>
            <p:nvPr/>
          </p:nvCxnSpPr>
          <p:spPr>
            <a:xfrm>
              <a:off x="6717629" y="2062727"/>
              <a:ext cx="0" cy="3606484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Box 78"/>
            <p:cNvSpPr txBox="1"/>
            <p:nvPr/>
          </p:nvSpPr>
          <p:spPr>
            <a:xfrm>
              <a:off x="6681684" y="1757281"/>
              <a:ext cx="4312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</p:txBody>
        </p:sp>
      </p:grpSp>
      <p:grpSp>
        <p:nvGrpSpPr>
          <p:cNvPr id="87" name="Group 86"/>
          <p:cNvGrpSpPr/>
          <p:nvPr/>
        </p:nvGrpSpPr>
        <p:grpSpPr>
          <a:xfrm>
            <a:off x="8589048" y="2009005"/>
            <a:ext cx="542466" cy="3911930"/>
            <a:chOff x="7065048" y="1757281"/>
            <a:chExt cx="542466" cy="3911930"/>
          </a:xfrm>
        </p:grpSpPr>
        <p:sp>
          <p:nvSpPr>
            <p:cNvPr id="44" name="TextBox 43"/>
            <p:cNvSpPr txBox="1"/>
            <p:nvPr/>
          </p:nvSpPr>
          <p:spPr>
            <a:xfrm>
              <a:off x="7100999" y="2473711"/>
              <a:ext cx="503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urier"/>
                  <a:cs typeface="Courier"/>
                </a:rPr>
                <a:t>a</a:t>
              </a:r>
              <a:r>
                <a:rPr lang="en-US" b="1" baseline="-25000" dirty="0">
                  <a:latin typeface="Courier"/>
                  <a:cs typeface="Courier"/>
                </a:rPr>
                <a:t>2</a:t>
              </a:r>
              <a:endParaRPr lang="en-US" baseline="-25000" dirty="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7100999" y="3303846"/>
              <a:ext cx="503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urier"/>
                  <a:cs typeface="Courier"/>
                </a:rPr>
                <a:t>b</a:t>
              </a:r>
              <a:r>
                <a:rPr lang="en-US" b="1" baseline="-25000" dirty="0">
                  <a:latin typeface="Courier"/>
                  <a:cs typeface="Courier"/>
                </a:rPr>
                <a:t>1</a:t>
              </a:r>
              <a:endParaRPr lang="en-US" baseline="-25000" dirty="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7104339" y="4101136"/>
              <a:ext cx="503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urier"/>
                  <a:cs typeface="Courier"/>
                </a:rPr>
                <a:t>c</a:t>
              </a:r>
              <a:r>
                <a:rPr lang="en-US" b="1" baseline="-25000" dirty="0">
                  <a:latin typeface="Courier"/>
                  <a:cs typeface="Courier"/>
                </a:rPr>
                <a:t>0</a:t>
              </a:r>
              <a:endParaRPr lang="en-US" baseline="-25000" dirty="0"/>
            </a:p>
          </p:txBody>
        </p:sp>
        <p:cxnSp>
          <p:nvCxnSpPr>
            <p:cNvPr id="75" name="Straight Connector 74"/>
            <p:cNvCxnSpPr/>
            <p:nvPr/>
          </p:nvCxnSpPr>
          <p:spPr>
            <a:xfrm>
              <a:off x="7104339" y="2062727"/>
              <a:ext cx="0" cy="3606484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/>
            <p:cNvSpPr txBox="1"/>
            <p:nvPr/>
          </p:nvSpPr>
          <p:spPr>
            <a:xfrm>
              <a:off x="7065048" y="1757281"/>
              <a:ext cx="4312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grpSp>
        <p:nvGrpSpPr>
          <p:cNvPr id="88" name="Group 87"/>
          <p:cNvGrpSpPr/>
          <p:nvPr/>
        </p:nvGrpSpPr>
        <p:grpSpPr>
          <a:xfrm>
            <a:off x="8957094" y="2009005"/>
            <a:ext cx="554446" cy="3911930"/>
            <a:chOff x="7433094" y="1757281"/>
            <a:chExt cx="554446" cy="3911930"/>
          </a:xfrm>
        </p:grpSpPr>
        <p:sp>
          <p:nvSpPr>
            <p:cNvPr id="47" name="TextBox 46"/>
            <p:cNvSpPr txBox="1"/>
            <p:nvPr/>
          </p:nvSpPr>
          <p:spPr>
            <a:xfrm>
              <a:off x="7484365" y="2474844"/>
              <a:ext cx="503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urier"/>
                  <a:cs typeface="Courier"/>
                </a:rPr>
                <a:t>a</a:t>
              </a:r>
              <a:r>
                <a:rPr lang="en-US" b="1" baseline="-25000" dirty="0">
                  <a:latin typeface="Courier"/>
                  <a:cs typeface="Courier"/>
                </a:rPr>
                <a:t>3</a:t>
              </a:r>
              <a:endParaRPr lang="en-US" baseline="-25000" dirty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484365" y="3304979"/>
              <a:ext cx="503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urier"/>
                  <a:cs typeface="Courier"/>
                </a:rPr>
                <a:t>b</a:t>
              </a:r>
              <a:r>
                <a:rPr lang="en-US" b="1" baseline="-25000" dirty="0">
                  <a:latin typeface="Courier"/>
                  <a:cs typeface="Courier"/>
                </a:rPr>
                <a:t>2</a:t>
              </a:r>
              <a:endParaRPr lang="en-US" baseline="-25000" dirty="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7484365" y="4102269"/>
              <a:ext cx="503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urier"/>
                  <a:cs typeface="Courier"/>
                </a:rPr>
                <a:t>c</a:t>
              </a:r>
              <a:r>
                <a:rPr lang="en-US" b="1" baseline="-25000" dirty="0">
                  <a:latin typeface="Courier"/>
                  <a:cs typeface="Courier"/>
                </a:rPr>
                <a:t>1</a:t>
              </a:r>
              <a:endParaRPr lang="en-US" baseline="-25000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484365" y="4966938"/>
              <a:ext cx="503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urier"/>
                  <a:cs typeface="Courier"/>
                </a:rPr>
                <a:t>d</a:t>
              </a:r>
              <a:r>
                <a:rPr lang="en-US" b="1" baseline="-25000" dirty="0">
                  <a:latin typeface="Courier"/>
                  <a:cs typeface="Courier"/>
                </a:rPr>
                <a:t>0</a:t>
              </a:r>
              <a:endParaRPr lang="en-US" baseline="-25000" dirty="0"/>
            </a:p>
          </p:txBody>
        </p:sp>
        <p:cxnSp>
          <p:nvCxnSpPr>
            <p:cNvPr id="74" name="Straight Connector 73"/>
            <p:cNvCxnSpPr/>
            <p:nvPr/>
          </p:nvCxnSpPr>
          <p:spPr>
            <a:xfrm>
              <a:off x="7489665" y="2062727"/>
              <a:ext cx="0" cy="3606484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/>
            <p:cNvSpPr txBox="1"/>
            <p:nvPr/>
          </p:nvSpPr>
          <p:spPr>
            <a:xfrm>
              <a:off x="7433094" y="1757281"/>
              <a:ext cx="4312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3</a:t>
              </a:r>
            </a:p>
          </p:txBody>
        </p:sp>
      </p:grpSp>
      <p:grpSp>
        <p:nvGrpSpPr>
          <p:cNvPr id="89" name="Group 88"/>
          <p:cNvGrpSpPr/>
          <p:nvPr/>
        </p:nvGrpSpPr>
        <p:grpSpPr>
          <a:xfrm>
            <a:off x="9354380" y="2009005"/>
            <a:ext cx="537181" cy="3903314"/>
            <a:chOff x="7830379" y="1757281"/>
            <a:chExt cx="537181" cy="3903314"/>
          </a:xfrm>
        </p:grpSpPr>
        <p:sp>
          <p:nvSpPr>
            <p:cNvPr id="51" name="TextBox 50"/>
            <p:cNvSpPr txBox="1"/>
            <p:nvPr/>
          </p:nvSpPr>
          <p:spPr>
            <a:xfrm>
              <a:off x="7864385" y="2471478"/>
              <a:ext cx="503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urier"/>
                  <a:cs typeface="Courier"/>
                </a:rPr>
                <a:t>a</a:t>
              </a:r>
              <a:r>
                <a:rPr lang="en-US" b="1" baseline="-25000" dirty="0">
                  <a:latin typeface="Courier"/>
                  <a:cs typeface="Courier"/>
                </a:rPr>
                <a:t>4</a:t>
              </a:r>
              <a:endParaRPr lang="en-US" baseline="-25000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864385" y="3301613"/>
              <a:ext cx="503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urier"/>
                  <a:cs typeface="Courier"/>
                </a:rPr>
                <a:t>b</a:t>
              </a:r>
              <a:r>
                <a:rPr lang="en-US" baseline="-25000" dirty="0"/>
                <a:t>3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7864385" y="4098903"/>
              <a:ext cx="503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urier"/>
                  <a:cs typeface="Courier"/>
                </a:rPr>
                <a:t>c</a:t>
              </a:r>
              <a:r>
                <a:rPr lang="en-US" b="1" baseline="-25000" dirty="0">
                  <a:latin typeface="Courier"/>
                  <a:cs typeface="Courier"/>
                </a:rPr>
                <a:t>2</a:t>
              </a:r>
              <a:endParaRPr lang="en-US" baseline="-25000" dirty="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7864385" y="4963572"/>
              <a:ext cx="503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urier"/>
                  <a:cs typeface="Courier"/>
                </a:rPr>
                <a:t>d</a:t>
              </a:r>
              <a:r>
                <a:rPr lang="en-US" b="1" baseline="-25000" dirty="0">
                  <a:latin typeface="Courier"/>
                  <a:cs typeface="Courier"/>
                </a:rPr>
                <a:t>1</a:t>
              </a:r>
              <a:endParaRPr lang="en-US" baseline="-25000" dirty="0"/>
            </a:p>
          </p:txBody>
        </p:sp>
        <p:cxnSp>
          <p:nvCxnSpPr>
            <p:cNvPr id="73" name="Straight Connector 72"/>
            <p:cNvCxnSpPr/>
            <p:nvPr/>
          </p:nvCxnSpPr>
          <p:spPr>
            <a:xfrm>
              <a:off x="7864385" y="2054111"/>
              <a:ext cx="0" cy="3606484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/>
            <p:cNvSpPr txBox="1"/>
            <p:nvPr/>
          </p:nvSpPr>
          <p:spPr>
            <a:xfrm>
              <a:off x="7830379" y="1757281"/>
              <a:ext cx="4312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4</a:t>
              </a:r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9771753" y="2009005"/>
            <a:ext cx="503175" cy="3903314"/>
            <a:chOff x="8247752" y="1757281"/>
            <a:chExt cx="503175" cy="3903314"/>
          </a:xfrm>
        </p:grpSpPr>
        <p:sp>
          <p:nvSpPr>
            <p:cNvPr id="55" name="TextBox 54"/>
            <p:cNvSpPr txBox="1"/>
            <p:nvPr/>
          </p:nvSpPr>
          <p:spPr>
            <a:xfrm>
              <a:off x="8247752" y="2479362"/>
              <a:ext cx="503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urier"/>
                  <a:cs typeface="Courier"/>
                </a:rPr>
                <a:t>a</a:t>
              </a:r>
              <a:r>
                <a:rPr lang="en-US" b="1" baseline="-25000" dirty="0">
                  <a:latin typeface="Courier"/>
                  <a:cs typeface="Courier"/>
                </a:rPr>
                <a:t>5</a:t>
              </a:r>
              <a:endParaRPr lang="en-US" baseline="-25000" dirty="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8247752" y="3309497"/>
              <a:ext cx="503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urier"/>
                  <a:cs typeface="Courier"/>
                </a:rPr>
                <a:t>b</a:t>
              </a:r>
              <a:r>
                <a:rPr lang="en-US" baseline="-25000" dirty="0"/>
                <a:t>4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8247752" y="4106787"/>
              <a:ext cx="503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urier"/>
                  <a:cs typeface="Courier"/>
                </a:rPr>
                <a:t>c</a:t>
              </a:r>
              <a:r>
                <a:rPr lang="en-US" b="1" baseline="-25000" dirty="0">
                  <a:latin typeface="Courier"/>
                  <a:cs typeface="Courier"/>
                </a:rPr>
                <a:t>3</a:t>
              </a:r>
              <a:endParaRPr lang="en-US" baseline="-25000" dirty="0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8247752" y="4971456"/>
              <a:ext cx="503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urier"/>
                  <a:cs typeface="Courier"/>
                </a:rPr>
                <a:t>d</a:t>
              </a:r>
              <a:r>
                <a:rPr lang="en-US" b="1" baseline="-25000" dirty="0">
                  <a:latin typeface="Courier"/>
                  <a:cs typeface="Courier"/>
                </a:rPr>
                <a:t>2</a:t>
              </a:r>
              <a:endParaRPr lang="en-US" baseline="-25000" dirty="0"/>
            </a:p>
          </p:txBody>
        </p:sp>
        <p:cxnSp>
          <p:nvCxnSpPr>
            <p:cNvPr id="72" name="Straight Connector 71"/>
            <p:cNvCxnSpPr/>
            <p:nvPr/>
          </p:nvCxnSpPr>
          <p:spPr>
            <a:xfrm>
              <a:off x="8261672" y="2054111"/>
              <a:ext cx="0" cy="3606484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Box 82"/>
            <p:cNvSpPr txBox="1"/>
            <p:nvPr/>
          </p:nvSpPr>
          <p:spPr>
            <a:xfrm>
              <a:off x="8247752" y="1757281"/>
              <a:ext cx="4312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5</a:t>
              </a:r>
            </a:p>
          </p:txBody>
        </p:sp>
      </p:grpSp>
      <p:grpSp>
        <p:nvGrpSpPr>
          <p:cNvPr id="91" name="Group 90"/>
          <p:cNvGrpSpPr/>
          <p:nvPr/>
        </p:nvGrpSpPr>
        <p:grpSpPr>
          <a:xfrm>
            <a:off x="10191067" y="2009006"/>
            <a:ext cx="511800" cy="3886079"/>
            <a:chOff x="8667067" y="1757281"/>
            <a:chExt cx="511800" cy="3886079"/>
          </a:xfrm>
        </p:grpSpPr>
        <p:sp>
          <p:nvSpPr>
            <p:cNvPr id="66" name="TextBox 65"/>
            <p:cNvSpPr txBox="1"/>
            <p:nvPr/>
          </p:nvSpPr>
          <p:spPr>
            <a:xfrm>
              <a:off x="8675692" y="2475996"/>
              <a:ext cx="503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urier"/>
                  <a:cs typeface="Courier"/>
                </a:rPr>
                <a:t>a</a:t>
              </a:r>
              <a:r>
                <a:rPr lang="en-US" b="1" baseline="-25000" dirty="0">
                  <a:latin typeface="Courier"/>
                  <a:cs typeface="Courier"/>
                </a:rPr>
                <a:t>6</a:t>
              </a:r>
              <a:endParaRPr lang="en-US" baseline="-25000" dirty="0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8675692" y="3306131"/>
              <a:ext cx="503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urier"/>
                  <a:cs typeface="Courier"/>
                </a:rPr>
                <a:t>b</a:t>
              </a:r>
              <a:r>
                <a:rPr lang="en-US" baseline="-25000" dirty="0"/>
                <a:t>5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8675692" y="4103421"/>
              <a:ext cx="503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urier"/>
                  <a:cs typeface="Courier"/>
                </a:rPr>
                <a:t>c</a:t>
              </a:r>
              <a:r>
                <a:rPr lang="en-US" b="1" baseline="-25000" dirty="0">
                  <a:latin typeface="Courier"/>
                  <a:cs typeface="Courier"/>
                </a:rPr>
                <a:t>4</a:t>
              </a:r>
              <a:endParaRPr lang="en-US" baseline="-25000" dirty="0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8675692" y="4968090"/>
              <a:ext cx="503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urier"/>
                  <a:cs typeface="Courier"/>
                </a:rPr>
                <a:t>d</a:t>
              </a:r>
              <a:r>
                <a:rPr lang="en-US" b="1" baseline="-25000" dirty="0">
                  <a:latin typeface="Courier"/>
                  <a:cs typeface="Courier"/>
                </a:rPr>
                <a:t>3</a:t>
              </a:r>
              <a:endParaRPr lang="en-US" baseline="-25000" dirty="0"/>
            </a:p>
          </p:txBody>
        </p:sp>
        <p:cxnSp>
          <p:nvCxnSpPr>
            <p:cNvPr id="71" name="Straight Connector 70"/>
            <p:cNvCxnSpPr/>
            <p:nvPr/>
          </p:nvCxnSpPr>
          <p:spPr>
            <a:xfrm>
              <a:off x="8667067" y="2036876"/>
              <a:ext cx="0" cy="3606484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TextBox 83"/>
            <p:cNvSpPr txBox="1"/>
            <p:nvPr/>
          </p:nvSpPr>
          <p:spPr>
            <a:xfrm>
              <a:off x="8667067" y="1757281"/>
              <a:ext cx="4312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6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6064541" y="2385590"/>
            <a:ext cx="2348159" cy="3299097"/>
            <a:chOff x="4540540" y="2133865"/>
            <a:chExt cx="2348159" cy="3299097"/>
          </a:xfrm>
        </p:grpSpPr>
        <p:sp>
          <p:nvSpPr>
            <p:cNvPr id="30" name="Oval 29"/>
            <p:cNvSpPr/>
            <p:nvPr/>
          </p:nvSpPr>
          <p:spPr>
            <a:xfrm>
              <a:off x="5612083" y="2892104"/>
              <a:ext cx="1276616" cy="4313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01247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00FF"/>
                  </a:solidFill>
                  <a:latin typeface="Courier"/>
                  <a:cs typeface="Courier"/>
                </a:rPr>
                <a:t>f(a)</a:t>
              </a:r>
            </a:p>
          </p:txBody>
        </p:sp>
        <p:sp>
          <p:nvSpPr>
            <p:cNvPr id="31" name="Oval 30"/>
            <p:cNvSpPr/>
            <p:nvPr/>
          </p:nvSpPr>
          <p:spPr>
            <a:xfrm>
              <a:off x="5612082" y="2133865"/>
              <a:ext cx="1276617" cy="37145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01247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rtlCol="0" anchor="ctr"/>
            <a:lstStyle/>
            <a:p>
              <a:pPr algn="ctr"/>
              <a:r>
                <a:rPr lang="en-US" b="1" dirty="0">
                  <a:solidFill>
                    <a:srgbClr val="0000FF"/>
                  </a:solidFill>
                  <a:latin typeface="Courier"/>
                  <a:cs typeface="Courier"/>
                </a:rPr>
                <a:t>main()</a:t>
              </a:r>
            </a:p>
          </p:txBody>
        </p:sp>
        <p:sp>
          <p:nvSpPr>
            <p:cNvPr id="32" name="Oval 31"/>
            <p:cNvSpPr/>
            <p:nvPr/>
          </p:nvSpPr>
          <p:spPr>
            <a:xfrm>
              <a:off x="5612082" y="3714322"/>
              <a:ext cx="1276617" cy="4313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01247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00FF"/>
                  </a:solidFill>
                  <a:latin typeface="Courier"/>
                  <a:cs typeface="Courier"/>
                </a:rPr>
                <a:t>g(b)</a:t>
              </a:r>
            </a:p>
          </p:txBody>
        </p:sp>
        <p:sp>
          <p:nvSpPr>
            <p:cNvPr id="33" name="Oval 32"/>
            <p:cNvSpPr/>
            <p:nvPr/>
          </p:nvSpPr>
          <p:spPr>
            <a:xfrm>
              <a:off x="5612082" y="4573642"/>
              <a:ext cx="1276617" cy="4313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01247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00FF"/>
                  </a:solidFill>
                  <a:latin typeface="Courier"/>
                  <a:cs typeface="Courier"/>
                </a:rPr>
                <a:t>h(c)</a:t>
              </a:r>
            </a:p>
          </p:txBody>
        </p:sp>
        <p:cxnSp>
          <p:nvCxnSpPr>
            <p:cNvPr id="34" name="Straight Arrow Connector 33"/>
            <p:cNvCxnSpPr>
              <a:stCxn id="31" idx="4"/>
              <a:endCxn id="30" idx="0"/>
            </p:cNvCxnSpPr>
            <p:nvPr/>
          </p:nvCxnSpPr>
          <p:spPr>
            <a:xfrm>
              <a:off x="6250391" y="2505315"/>
              <a:ext cx="0" cy="386789"/>
            </a:xfrm>
            <a:prstGeom prst="straightConnector1">
              <a:avLst/>
            </a:prstGeom>
            <a:ln>
              <a:solidFill>
                <a:srgbClr val="012479"/>
              </a:solidFill>
              <a:tailEnd type="triangle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>
              <a:stCxn id="30" idx="4"/>
              <a:endCxn id="32" idx="0"/>
            </p:cNvCxnSpPr>
            <p:nvPr/>
          </p:nvCxnSpPr>
          <p:spPr>
            <a:xfrm>
              <a:off x="6250391" y="3323444"/>
              <a:ext cx="0" cy="390878"/>
            </a:xfrm>
            <a:prstGeom prst="straightConnector1">
              <a:avLst/>
            </a:prstGeom>
            <a:ln>
              <a:solidFill>
                <a:srgbClr val="012479"/>
              </a:solidFill>
              <a:tailEnd type="triangle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>
              <a:stCxn id="32" idx="4"/>
              <a:endCxn id="33" idx="0"/>
            </p:cNvCxnSpPr>
            <p:nvPr/>
          </p:nvCxnSpPr>
          <p:spPr>
            <a:xfrm>
              <a:off x="6250391" y="4145662"/>
              <a:ext cx="0" cy="427980"/>
            </a:xfrm>
            <a:prstGeom prst="straightConnector1">
              <a:avLst/>
            </a:prstGeom>
            <a:ln>
              <a:solidFill>
                <a:srgbClr val="012479"/>
              </a:solidFill>
              <a:tailEnd type="triangle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>
              <a:off x="6250391" y="5004982"/>
              <a:ext cx="0" cy="427980"/>
            </a:xfrm>
            <a:prstGeom prst="straightConnector1">
              <a:avLst/>
            </a:prstGeom>
            <a:ln>
              <a:solidFill>
                <a:srgbClr val="012479"/>
              </a:solidFill>
              <a:tailEnd type="triangle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/>
            <p:cNvSpPr txBox="1"/>
            <p:nvPr/>
          </p:nvSpPr>
          <p:spPr>
            <a:xfrm>
              <a:off x="4540540" y="2922510"/>
              <a:ext cx="1102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Thread 1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540540" y="3731804"/>
              <a:ext cx="1102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Thread 2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540540" y="4597606"/>
              <a:ext cx="1102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Thread 3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4540540" y="2148138"/>
              <a:ext cx="1102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Thread 0</a:t>
              </a:r>
            </a:p>
          </p:txBody>
        </p:sp>
      </p:grpSp>
      <p:sp>
        <p:nvSpPr>
          <p:cNvPr id="65" name="Content Placeholder 2"/>
          <p:cNvSpPr txBox="1">
            <a:spLocks/>
          </p:cNvSpPr>
          <p:nvPr/>
        </p:nvSpPr>
        <p:spPr>
          <a:xfrm>
            <a:off x="2519711" y="5806963"/>
            <a:ext cx="4949913" cy="803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they can still be </a:t>
            </a:r>
            <a:r>
              <a:rPr lang="en-US" i="1" dirty="0"/>
              <a:t>pipelined</a:t>
            </a:r>
            <a:r>
              <a:rPr lang="en-US" dirty="0"/>
              <a:t>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60D606-686F-B843-A0D7-CCBAD87D2AF7}"/>
              </a:ext>
            </a:extLst>
          </p:cNvPr>
          <p:cNvSpPr txBox="1"/>
          <p:nvPr/>
        </p:nvSpPr>
        <p:spPr>
          <a:xfrm>
            <a:off x="3929979" y="1889889"/>
            <a:ext cx="266162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fin is a stream of elements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F90D64C-F208-3B4C-A046-6E2C4BF33956}"/>
              </a:ext>
            </a:extLst>
          </p:cNvPr>
          <p:cNvCxnSpPr/>
          <p:nvPr/>
        </p:nvCxnSpPr>
        <p:spPr>
          <a:xfrm flipH="1">
            <a:off x="4729537" y="2247133"/>
            <a:ext cx="883578" cy="7336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3991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B20BDBA-FEF2-7E3E-CE17-1F021A48A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7340" y="53808"/>
            <a:ext cx="7848091" cy="596484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6A65E3B-48C8-A14E-A5FF-DCEF36DE7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739942"/>
            <a:ext cx="10515600" cy="894191"/>
          </a:xfrm>
        </p:spPr>
        <p:txBody>
          <a:bodyPr/>
          <a:lstStyle/>
          <a:p>
            <a:pPr algn="l"/>
            <a:r>
              <a:rPr lang="en-US" sz="4000" dirty="0"/>
              <a:t>Implementation Strategies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ADDF9D7-82D5-5F40-B27B-588F31307DAC}"/>
              </a:ext>
            </a:extLst>
          </p:cNvPr>
          <p:cNvSpPr/>
          <p:nvPr/>
        </p:nvSpPr>
        <p:spPr>
          <a:xfrm>
            <a:off x="6503427" y="1448223"/>
            <a:ext cx="2541720" cy="355864"/>
          </a:xfrm>
          <a:prstGeom prst="ellipse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373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How do we implement Data Decomposition?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2190331" y="2664446"/>
            <a:ext cx="8204426" cy="7263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5" name="Picture 2" descr="http://tchester.org/srp/geology/pix_other/landscape-of-the-southern-iceland-iii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8613" y="1872049"/>
            <a:ext cx="5576568" cy="371242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/>
          <p:cNvGrpSpPr/>
          <p:nvPr/>
        </p:nvGrpSpPr>
        <p:grpSpPr>
          <a:xfrm>
            <a:off x="2672577" y="1864235"/>
            <a:ext cx="6902602" cy="900555"/>
            <a:chOff x="1148577" y="1864234"/>
            <a:chExt cx="6902602" cy="900555"/>
          </a:xfrm>
        </p:grpSpPr>
        <p:sp>
          <p:nvSpPr>
            <p:cNvPr id="7" name="Rectangle 6"/>
            <p:cNvSpPr/>
            <p:nvPr/>
          </p:nvSpPr>
          <p:spPr>
            <a:xfrm>
              <a:off x="2474613" y="1864234"/>
              <a:ext cx="5576566" cy="900555"/>
            </a:xfrm>
            <a:prstGeom prst="rect">
              <a:avLst/>
            </a:prstGeom>
            <a:solidFill>
              <a:srgbClr val="FF0000">
                <a:alpha val="60000"/>
              </a:srgb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148577" y="2119302"/>
              <a:ext cx="12506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Thread 0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2672577" y="2774057"/>
            <a:ext cx="6902602" cy="1009304"/>
            <a:chOff x="1148577" y="2774057"/>
            <a:chExt cx="6902602" cy="1009304"/>
          </a:xfrm>
        </p:grpSpPr>
        <p:sp>
          <p:nvSpPr>
            <p:cNvPr id="10" name="Rectangle 9"/>
            <p:cNvSpPr/>
            <p:nvPr/>
          </p:nvSpPr>
          <p:spPr>
            <a:xfrm>
              <a:off x="2474613" y="2774057"/>
              <a:ext cx="5576566" cy="1009304"/>
            </a:xfrm>
            <a:prstGeom prst="rect">
              <a:avLst/>
            </a:prstGeom>
            <a:solidFill>
              <a:srgbClr val="008000">
                <a:alpha val="60000"/>
              </a:srgb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148577" y="3014454"/>
              <a:ext cx="12506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8000"/>
                  </a:solidFill>
                </a:rPr>
                <a:t>Thread 1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2672577" y="3783362"/>
            <a:ext cx="6902604" cy="900555"/>
            <a:chOff x="1148577" y="3783361"/>
            <a:chExt cx="6902604" cy="900555"/>
          </a:xfrm>
        </p:grpSpPr>
        <p:sp>
          <p:nvSpPr>
            <p:cNvPr id="13" name="Rectangle 12"/>
            <p:cNvSpPr/>
            <p:nvPr/>
          </p:nvSpPr>
          <p:spPr>
            <a:xfrm>
              <a:off x="2474613" y="3783361"/>
              <a:ext cx="5576568" cy="900555"/>
            </a:xfrm>
            <a:prstGeom prst="rect">
              <a:avLst/>
            </a:prstGeom>
            <a:solidFill>
              <a:srgbClr val="FF6600">
                <a:alpha val="60000"/>
              </a:srgb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148577" y="4023757"/>
              <a:ext cx="12506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6600"/>
                  </a:solidFill>
                </a:rPr>
                <a:t>Thread 2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2672577" y="4683917"/>
            <a:ext cx="6902602" cy="900555"/>
            <a:chOff x="1148577" y="4683916"/>
            <a:chExt cx="6902602" cy="900555"/>
          </a:xfrm>
        </p:grpSpPr>
        <p:sp>
          <p:nvSpPr>
            <p:cNvPr id="16" name="Rectangle 15"/>
            <p:cNvSpPr/>
            <p:nvPr/>
          </p:nvSpPr>
          <p:spPr>
            <a:xfrm>
              <a:off x="2474613" y="4683916"/>
              <a:ext cx="5576566" cy="900555"/>
            </a:xfrm>
            <a:prstGeom prst="rect">
              <a:avLst/>
            </a:prstGeom>
            <a:solidFill>
              <a:srgbClr val="0000FF">
                <a:alpha val="60000"/>
              </a:srgb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148577" y="4923011"/>
              <a:ext cx="12506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</a:rPr>
                <a:t>Thread 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87526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CEDA5D-D0A8-8F30-E0E7-92E9D525C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335" y="98484"/>
            <a:ext cx="8894151" cy="6759887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D78324F2-D3D9-CD4A-BDE6-FC86936D880B}"/>
              </a:ext>
            </a:extLst>
          </p:cNvPr>
          <p:cNvSpPr/>
          <p:nvPr/>
        </p:nvSpPr>
        <p:spPr>
          <a:xfrm>
            <a:off x="6096000" y="1672318"/>
            <a:ext cx="2856216" cy="510869"/>
          </a:xfrm>
          <a:prstGeom prst="ellipse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9FDF6AC-08AD-604B-B66C-144738513209}"/>
              </a:ext>
            </a:extLst>
          </p:cNvPr>
          <p:cNvSpPr/>
          <p:nvPr/>
        </p:nvSpPr>
        <p:spPr>
          <a:xfrm>
            <a:off x="6166113" y="4382832"/>
            <a:ext cx="1171254" cy="325091"/>
          </a:xfrm>
          <a:prstGeom prst="ellipse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296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0692" y="629625"/>
            <a:ext cx="8079594" cy="542778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Implementation Strategy: Parallel Loop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7454" y="1872646"/>
            <a:ext cx="8297308" cy="698484"/>
          </a:xfrm>
          <a:prstGeom prst="rect">
            <a:avLst/>
          </a:prstGeom>
        </p:spPr>
      </p:pic>
      <p:sp>
        <p:nvSpPr>
          <p:cNvPr id="24" name="Content Placeholder 2"/>
          <p:cNvSpPr txBox="1">
            <a:spLocks/>
          </p:cNvSpPr>
          <p:nvPr/>
        </p:nvSpPr>
        <p:spPr>
          <a:xfrm>
            <a:off x="2131702" y="1518526"/>
            <a:ext cx="2658018" cy="6302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One Thread: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2107512" y="2735309"/>
            <a:ext cx="8560488" cy="1544325"/>
            <a:chOff x="583512" y="2735308"/>
            <a:chExt cx="8560488" cy="1544325"/>
          </a:xfrm>
        </p:grpSpPr>
        <p:sp>
          <p:nvSpPr>
            <p:cNvPr id="25" name="Content Placeholder 2"/>
            <p:cNvSpPr txBox="1">
              <a:spLocks/>
            </p:cNvSpPr>
            <p:nvPr/>
          </p:nvSpPr>
          <p:spPr>
            <a:xfrm>
              <a:off x="583512" y="2735308"/>
              <a:ext cx="2658018" cy="63023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57200" lvl="1" indent="0">
                <a:buNone/>
              </a:pPr>
              <a:r>
                <a:rPr lang="en-US" dirty="0">
                  <a:solidFill>
                    <a:schemeClr val="accent1">
                      <a:lumMod val="50000"/>
                    </a:schemeClr>
                  </a:solidFill>
                </a:rPr>
                <a:t>Two Threads:</a:t>
              </a:r>
            </a:p>
          </p:txBody>
        </p:sp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88570" y="3115485"/>
              <a:ext cx="8055430" cy="1164148"/>
            </a:xfrm>
            <a:prstGeom prst="rect">
              <a:avLst/>
            </a:prstGeom>
          </p:spPr>
        </p:pic>
      </p:grpSp>
      <p:grpSp>
        <p:nvGrpSpPr>
          <p:cNvPr id="19" name="Group 18"/>
          <p:cNvGrpSpPr/>
          <p:nvPr/>
        </p:nvGrpSpPr>
        <p:grpSpPr>
          <a:xfrm>
            <a:off x="2107512" y="4447993"/>
            <a:ext cx="8560488" cy="1541340"/>
            <a:chOff x="583512" y="4447993"/>
            <a:chExt cx="8560488" cy="1541340"/>
          </a:xfrm>
        </p:grpSpPr>
        <p:sp>
          <p:nvSpPr>
            <p:cNvPr id="28" name="Content Placeholder 2"/>
            <p:cNvSpPr txBox="1">
              <a:spLocks/>
            </p:cNvSpPr>
            <p:nvPr/>
          </p:nvSpPr>
          <p:spPr>
            <a:xfrm>
              <a:off x="583512" y="4447993"/>
              <a:ext cx="2658018" cy="63023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57200" lvl="1" indent="0">
                <a:buNone/>
              </a:pPr>
              <a:r>
                <a:rPr lang="en-US" dirty="0">
                  <a:solidFill>
                    <a:schemeClr val="accent1">
                      <a:lumMod val="50000"/>
                    </a:schemeClr>
                  </a:solidFill>
                </a:rPr>
                <a:t>Four Threads:</a:t>
              </a:r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88570" y="4824340"/>
              <a:ext cx="8055430" cy="11649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7298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0692" y="629625"/>
            <a:ext cx="8079594" cy="542778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Implementation Strategy: Parallel Loop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7454" y="1872646"/>
            <a:ext cx="8297308" cy="698484"/>
          </a:xfrm>
          <a:prstGeom prst="rect">
            <a:avLst/>
          </a:prstGeom>
        </p:spPr>
      </p:pic>
      <p:sp>
        <p:nvSpPr>
          <p:cNvPr id="24" name="Content Placeholder 2"/>
          <p:cNvSpPr txBox="1">
            <a:spLocks/>
          </p:cNvSpPr>
          <p:nvPr/>
        </p:nvSpPr>
        <p:spPr>
          <a:xfrm>
            <a:off x="2131702" y="1518526"/>
            <a:ext cx="2658018" cy="6302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One Thread: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2107512" y="2735309"/>
            <a:ext cx="8560488" cy="1544325"/>
            <a:chOff x="583512" y="2735308"/>
            <a:chExt cx="8560488" cy="1544325"/>
          </a:xfrm>
        </p:grpSpPr>
        <p:sp>
          <p:nvSpPr>
            <p:cNvPr id="25" name="Content Placeholder 2"/>
            <p:cNvSpPr txBox="1">
              <a:spLocks/>
            </p:cNvSpPr>
            <p:nvPr/>
          </p:nvSpPr>
          <p:spPr>
            <a:xfrm>
              <a:off x="583512" y="2735308"/>
              <a:ext cx="2658018" cy="63023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57200" lvl="1" indent="0">
                <a:buNone/>
              </a:pPr>
              <a:r>
                <a:rPr lang="en-US" dirty="0">
                  <a:solidFill>
                    <a:schemeClr val="accent1">
                      <a:lumMod val="50000"/>
                    </a:schemeClr>
                  </a:solidFill>
                </a:rPr>
                <a:t>Two Threads:</a:t>
              </a:r>
            </a:p>
          </p:txBody>
        </p:sp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88570" y="3115485"/>
              <a:ext cx="8055430" cy="1164148"/>
            </a:xfrm>
            <a:prstGeom prst="rect">
              <a:avLst/>
            </a:prstGeom>
          </p:spPr>
        </p:pic>
      </p:grpSp>
      <p:grpSp>
        <p:nvGrpSpPr>
          <p:cNvPr id="19" name="Group 18"/>
          <p:cNvGrpSpPr/>
          <p:nvPr/>
        </p:nvGrpSpPr>
        <p:grpSpPr>
          <a:xfrm>
            <a:off x="2107512" y="4447993"/>
            <a:ext cx="8560488" cy="1541340"/>
            <a:chOff x="583512" y="4447993"/>
            <a:chExt cx="8560488" cy="1541340"/>
          </a:xfrm>
        </p:grpSpPr>
        <p:sp>
          <p:nvSpPr>
            <p:cNvPr id="28" name="Content Placeholder 2"/>
            <p:cNvSpPr txBox="1">
              <a:spLocks/>
            </p:cNvSpPr>
            <p:nvPr/>
          </p:nvSpPr>
          <p:spPr>
            <a:xfrm>
              <a:off x="583512" y="4447993"/>
              <a:ext cx="2658018" cy="63023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57200" lvl="1" indent="0">
                <a:buNone/>
              </a:pPr>
              <a:r>
                <a:rPr lang="en-US" dirty="0">
                  <a:solidFill>
                    <a:schemeClr val="accent1">
                      <a:lumMod val="50000"/>
                    </a:schemeClr>
                  </a:solidFill>
                </a:rPr>
                <a:t>Four Threads:</a:t>
              </a:r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88570" y="4824340"/>
              <a:ext cx="8055430" cy="1164993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70BE379-68EB-1144-8AF7-0450D02BC027}"/>
              </a:ext>
            </a:extLst>
          </p:cNvPr>
          <p:cNvSpPr txBox="1"/>
          <p:nvPr/>
        </p:nvSpPr>
        <p:spPr>
          <a:xfrm>
            <a:off x="4009281" y="2454787"/>
            <a:ext cx="4850514" cy="193899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Suppose the task was to add all the numbers in this array:</a:t>
            </a:r>
          </a:p>
          <a:p>
            <a:r>
              <a:rPr lang="en-US" sz="2400" dirty="0"/>
              <a:t>Reduce to a single sum</a:t>
            </a:r>
          </a:p>
          <a:p>
            <a:endParaRPr lang="en-US" sz="2400" dirty="0"/>
          </a:p>
          <a:p>
            <a:r>
              <a:rPr lang="en-US" sz="2400" dirty="0"/>
              <a:t>We will use another pattern for that!</a:t>
            </a:r>
          </a:p>
        </p:txBody>
      </p:sp>
    </p:spTree>
    <p:extLst>
      <p:ext uri="{BB962C8B-B14F-4D97-AF65-F5344CB8AC3E}">
        <p14:creationId xmlns:p14="http://schemas.microsoft.com/office/powerpoint/2010/main" val="24448094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CE2D6C-1ABD-074A-3E7C-ED09DBFAF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335" y="49056"/>
            <a:ext cx="8894151" cy="6759887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D78324F2-D3D9-CD4A-BDE6-FC86936D880B}"/>
              </a:ext>
            </a:extLst>
          </p:cNvPr>
          <p:cNvSpPr/>
          <p:nvPr/>
        </p:nvSpPr>
        <p:spPr>
          <a:xfrm>
            <a:off x="9116882" y="3954162"/>
            <a:ext cx="1505372" cy="421232"/>
          </a:xfrm>
          <a:prstGeom prst="ellipse">
            <a:avLst/>
          </a:prstGeom>
          <a:noFill/>
          <a:ln w="2222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9FDF6AC-08AD-604B-B66C-144738513209}"/>
              </a:ext>
            </a:extLst>
          </p:cNvPr>
          <p:cNvSpPr/>
          <p:nvPr/>
        </p:nvSpPr>
        <p:spPr>
          <a:xfrm>
            <a:off x="9455089" y="4375393"/>
            <a:ext cx="965771" cy="314604"/>
          </a:xfrm>
          <a:prstGeom prst="ellipse">
            <a:avLst/>
          </a:prstGeom>
          <a:noFill/>
          <a:ln w="2222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452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/>
              <a:t>Communication Pattern: Reduction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6497" y="768467"/>
            <a:ext cx="10773155" cy="83680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Parallel programs often need to combine the local results of N parallel tasks.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reduction </a:t>
            </a:r>
            <a:r>
              <a:rPr lang="en-US" dirty="0"/>
              <a:t>pattern typically does it in </a:t>
            </a:r>
            <a:r>
              <a:rPr lang="en-US" i="1" dirty="0">
                <a:solidFill>
                  <a:srgbClr val="FF0000"/>
                </a:solidFill>
              </a:rPr>
              <a:t>O(log(N))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time</a:t>
            </a:r>
          </a:p>
        </p:txBody>
      </p:sp>
      <p:grpSp>
        <p:nvGrpSpPr>
          <p:cNvPr id="52" name="Group 51"/>
          <p:cNvGrpSpPr/>
          <p:nvPr/>
        </p:nvGrpSpPr>
        <p:grpSpPr>
          <a:xfrm>
            <a:off x="1633189" y="3571418"/>
            <a:ext cx="7204103" cy="646331"/>
            <a:chOff x="-262191" y="3571417"/>
            <a:chExt cx="7204103" cy="646331"/>
          </a:xfrm>
        </p:grpSpPr>
        <p:sp>
          <p:nvSpPr>
            <p:cNvPr id="4" name="Oval 3"/>
            <p:cNvSpPr/>
            <p:nvPr/>
          </p:nvSpPr>
          <p:spPr>
            <a:xfrm>
              <a:off x="2156462" y="3627090"/>
              <a:ext cx="515155" cy="431340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rgbClr val="01247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2871938" y="3627090"/>
              <a:ext cx="515155" cy="43134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rgbClr val="01247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3587415" y="3627090"/>
              <a:ext cx="515155" cy="431340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01247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4306234" y="3627090"/>
              <a:ext cx="515155" cy="431340"/>
            </a:xfrm>
            <a:prstGeom prst="ellipse">
              <a:avLst/>
            </a:prstGeom>
            <a:solidFill>
              <a:schemeClr val="tx2">
                <a:lumMod val="25000"/>
              </a:schemeClr>
            </a:solidFill>
            <a:ln>
              <a:solidFill>
                <a:srgbClr val="01247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5019065" y="3627090"/>
              <a:ext cx="515155" cy="43134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01247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1410336" y="3627090"/>
              <a:ext cx="515155" cy="43134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rgbClr val="01247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5699300" y="3627090"/>
              <a:ext cx="515155" cy="43134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rgbClr val="01247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6426757" y="3627090"/>
              <a:ext cx="515155" cy="43134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01247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-262191" y="3571417"/>
              <a:ext cx="118564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Sum from</a:t>
              </a:r>
              <a:br>
                <a:rPr lang="en-US" dirty="0"/>
              </a:br>
              <a:r>
                <a:rPr lang="en-US" dirty="0"/>
                <a:t>thread: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3317696" y="4013121"/>
            <a:ext cx="6688386" cy="748866"/>
            <a:chOff x="1793696" y="4013121"/>
            <a:chExt cx="6688386" cy="748866"/>
          </a:xfrm>
        </p:grpSpPr>
        <p:grpSp>
          <p:nvGrpSpPr>
            <p:cNvPr id="48" name="Group 47"/>
            <p:cNvGrpSpPr/>
            <p:nvPr/>
          </p:nvGrpSpPr>
          <p:grpSpPr>
            <a:xfrm>
              <a:off x="1793696" y="4330647"/>
              <a:ext cx="4804119" cy="431340"/>
              <a:chOff x="1410336" y="4330647"/>
              <a:chExt cx="4804119" cy="431340"/>
            </a:xfrm>
          </p:grpSpPr>
          <p:sp>
            <p:nvSpPr>
              <p:cNvPr id="12" name="Oval 11"/>
              <p:cNvSpPr/>
              <p:nvPr/>
            </p:nvSpPr>
            <p:spPr>
              <a:xfrm>
                <a:off x="1410336" y="4330647"/>
                <a:ext cx="515155" cy="431340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rgbClr val="01247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45720" rtlCol="0" anchor="ctr"/>
              <a:lstStyle/>
              <a:p>
                <a:pPr algn="ctr"/>
                <a:r>
                  <a:rPr lang="en-US" dirty="0">
                    <a:solidFill>
                      <a:srgbClr val="0000FF"/>
                    </a:solidFill>
                  </a:rPr>
                  <a:t>14</a:t>
                </a:r>
              </a:p>
            </p:txBody>
          </p:sp>
          <p:sp>
            <p:nvSpPr>
              <p:cNvPr id="13" name="Oval 12"/>
              <p:cNvSpPr/>
              <p:nvPr/>
            </p:nvSpPr>
            <p:spPr>
              <a:xfrm>
                <a:off x="2871938" y="4330647"/>
                <a:ext cx="515155" cy="431340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rgbClr val="01247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45720" rtlCol="0" anchor="ctr"/>
              <a:lstStyle/>
              <a:p>
                <a:pPr algn="ctr"/>
                <a:r>
                  <a:rPr lang="en-US" dirty="0">
                    <a:solidFill>
                      <a:srgbClr val="0000FF"/>
                    </a:solidFill>
                  </a:rPr>
                  <a:t>8</a:t>
                </a:r>
              </a:p>
            </p:txBody>
          </p:sp>
          <p:sp>
            <p:nvSpPr>
              <p:cNvPr id="14" name="Oval 13"/>
              <p:cNvSpPr/>
              <p:nvPr/>
            </p:nvSpPr>
            <p:spPr>
              <a:xfrm>
                <a:off x="4306234" y="4330647"/>
                <a:ext cx="515155" cy="431340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rgbClr val="01247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45720" rtlCol="0" anchor="ctr"/>
              <a:lstStyle/>
              <a:p>
                <a:pPr algn="ctr"/>
                <a:r>
                  <a:rPr lang="en-US" dirty="0">
                    <a:solidFill>
                      <a:srgbClr val="0000FF"/>
                    </a:solidFill>
                  </a:rPr>
                  <a:t>14</a:t>
                </a:r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5699300" y="4330647"/>
                <a:ext cx="515155" cy="431340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rgbClr val="01247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45720" rtlCol="0" anchor="ctr"/>
              <a:lstStyle/>
              <a:p>
                <a:pPr algn="ctr"/>
                <a:r>
                  <a:rPr lang="en-US" dirty="0">
                    <a:solidFill>
                      <a:srgbClr val="0000FF"/>
                    </a:solidFill>
                  </a:rPr>
                  <a:t>6</a:t>
                </a:r>
              </a:p>
            </p:txBody>
          </p:sp>
        </p:grpSp>
        <p:grpSp>
          <p:nvGrpSpPr>
            <p:cNvPr id="47" name="Group 46"/>
            <p:cNvGrpSpPr/>
            <p:nvPr/>
          </p:nvGrpSpPr>
          <p:grpSpPr>
            <a:xfrm>
              <a:off x="2045644" y="4013121"/>
              <a:ext cx="6436438" cy="369332"/>
              <a:chOff x="2045644" y="4013121"/>
              <a:chExt cx="6436438" cy="369332"/>
            </a:xfrm>
          </p:grpSpPr>
          <p:cxnSp>
            <p:nvCxnSpPr>
              <p:cNvPr id="23" name="Curved Connector 22"/>
              <p:cNvCxnSpPr>
                <a:stCxn id="4" idx="4"/>
                <a:endCxn id="9" idx="4"/>
              </p:cNvCxnSpPr>
              <p:nvPr/>
            </p:nvCxnSpPr>
            <p:spPr>
              <a:xfrm rot="5400000">
                <a:off x="2412357" y="3685367"/>
                <a:ext cx="12700" cy="746126"/>
              </a:xfrm>
              <a:prstGeom prst="curvedConnector3">
                <a:avLst>
                  <a:gd name="adj1" fmla="val 1800000"/>
                </a:avLst>
              </a:prstGeom>
              <a:ln>
                <a:solidFill>
                  <a:srgbClr val="FF0000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Curved Connector 24"/>
              <p:cNvCxnSpPr>
                <a:stCxn id="6" idx="4"/>
                <a:endCxn id="5" idx="4"/>
              </p:cNvCxnSpPr>
              <p:nvPr/>
            </p:nvCxnSpPr>
            <p:spPr>
              <a:xfrm rot="5400000">
                <a:off x="3858635" y="3700692"/>
                <a:ext cx="12700" cy="715477"/>
              </a:xfrm>
              <a:prstGeom prst="curvedConnector3">
                <a:avLst>
                  <a:gd name="adj1" fmla="val 1800000"/>
                </a:avLst>
              </a:prstGeom>
              <a:ln>
                <a:solidFill>
                  <a:srgbClr val="FF0000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Curved Connector 27"/>
              <p:cNvCxnSpPr>
                <a:stCxn id="8" idx="4"/>
                <a:endCxn id="7" idx="4"/>
              </p:cNvCxnSpPr>
              <p:nvPr/>
            </p:nvCxnSpPr>
            <p:spPr>
              <a:xfrm rot="5400000">
                <a:off x="5291608" y="3702015"/>
                <a:ext cx="12700" cy="712831"/>
              </a:xfrm>
              <a:prstGeom prst="curvedConnector3">
                <a:avLst>
                  <a:gd name="adj1" fmla="val 1800000"/>
                </a:avLst>
              </a:prstGeom>
              <a:ln>
                <a:solidFill>
                  <a:srgbClr val="FF0000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Curved Connector 30"/>
              <p:cNvCxnSpPr>
                <a:stCxn id="11" idx="4"/>
                <a:endCxn id="10" idx="4"/>
              </p:cNvCxnSpPr>
              <p:nvPr/>
            </p:nvCxnSpPr>
            <p:spPr>
              <a:xfrm rot="5400000">
                <a:off x="6691987" y="3694702"/>
                <a:ext cx="12700" cy="727457"/>
              </a:xfrm>
              <a:prstGeom prst="curvedConnector3">
                <a:avLst>
                  <a:gd name="adj1" fmla="val 1800000"/>
                </a:avLst>
              </a:prstGeom>
              <a:ln>
                <a:solidFill>
                  <a:srgbClr val="FF0000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TextBox 43"/>
              <p:cNvSpPr txBox="1"/>
              <p:nvPr/>
            </p:nvSpPr>
            <p:spPr>
              <a:xfrm>
                <a:off x="7571571" y="4013121"/>
                <a:ext cx="9105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Time 1</a:t>
                </a:r>
              </a:p>
            </p:txBody>
          </p:sp>
        </p:grpSp>
      </p:grpSp>
      <p:grpSp>
        <p:nvGrpSpPr>
          <p:cNvPr id="20" name="Group 19"/>
          <p:cNvGrpSpPr/>
          <p:nvPr/>
        </p:nvGrpSpPr>
        <p:grpSpPr>
          <a:xfrm>
            <a:off x="3317696" y="4670659"/>
            <a:ext cx="6688386" cy="782903"/>
            <a:chOff x="1793696" y="4670658"/>
            <a:chExt cx="6688386" cy="782903"/>
          </a:xfrm>
        </p:grpSpPr>
        <p:grpSp>
          <p:nvGrpSpPr>
            <p:cNvPr id="50" name="Group 49"/>
            <p:cNvGrpSpPr/>
            <p:nvPr/>
          </p:nvGrpSpPr>
          <p:grpSpPr>
            <a:xfrm>
              <a:off x="1793696" y="5022221"/>
              <a:ext cx="3411053" cy="431340"/>
              <a:chOff x="1410336" y="5022221"/>
              <a:chExt cx="3411053" cy="431340"/>
            </a:xfrm>
          </p:grpSpPr>
          <p:sp>
            <p:nvSpPr>
              <p:cNvPr id="16" name="Oval 15"/>
              <p:cNvSpPr/>
              <p:nvPr/>
            </p:nvSpPr>
            <p:spPr>
              <a:xfrm>
                <a:off x="1410336" y="5022221"/>
                <a:ext cx="515155" cy="431340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rgbClr val="01247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45720" rtlCol="0" anchor="ctr"/>
              <a:lstStyle/>
              <a:p>
                <a:pPr algn="ctr"/>
                <a:r>
                  <a:rPr lang="en-US" dirty="0">
                    <a:solidFill>
                      <a:srgbClr val="0000FF"/>
                    </a:solidFill>
                  </a:rPr>
                  <a:t>22</a:t>
                </a:r>
              </a:p>
            </p:txBody>
          </p:sp>
          <p:sp>
            <p:nvSpPr>
              <p:cNvPr id="17" name="Oval 16"/>
              <p:cNvSpPr/>
              <p:nvPr/>
            </p:nvSpPr>
            <p:spPr>
              <a:xfrm>
                <a:off x="4306234" y="5022221"/>
                <a:ext cx="515155" cy="431340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rgbClr val="01247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45720" rtlCol="0" anchor="ctr"/>
              <a:lstStyle/>
              <a:p>
                <a:pPr algn="ctr"/>
                <a:r>
                  <a:rPr lang="en-US" dirty="0">
                    <a:solidFill>
                      <a:srgbClr val="0000FF"/>
                    </a:solidFill>
                  </a:rPr>
                  <a:t>20</a:t>
                </a:r>
              </a:p>
            </p:txBody>
          </p:sp>
        </p:grpSp>
        <p:grpSp>
          <p:nvGrpSpPr>
            <p:cNvPr id="49" name="Group 48"/>
            <p:cNvGrpSpPr/>
            <p:nvPr/>
          </p:nvGrpSpPr>
          <p:grpSpPr>
            <a:xfrm>
              <a:off x="2057624" y="4670658"/>
              <a:ext cx="6424458" cy="369332"/>
              <a:chOff x="2057624" y="4670658"/>
              <a:chExt cx="6424458" cy="369332"/>
            </a:xfrm>
          </p:grpSpPr>
          <p:cxnSp>
            <p:nvCxnSpPr>
              <p:cNvPr id="34" name="Curved Connector 33"/>
              <p:cNvCxnSpPr>
                <a:stCxn id="13" idx="4"/>
                <a:endCxn id="12" idx="4"/>
              </p:cNvCxnSpPr>
              <p:nvPr/>
            </p:nvCxnSpPr>
            <p:spPr>
              <a:xfrm rot="5400000">
                <a:off x="2782075" y="4031186"/>
                <a:ext cx="12700" cy="1461602"/>
              </a:xfrm>
              <a:prstGeom prst="curvedConnector3">
                <a:avLst>
                  <a:gd name="adj1" fmla="val 1800000"/>
                </a:avLst>
              </a:prstGeom>
              <a:ln>
                <a:solidFill>
                  <a:srgbClr val="FF0000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Curved Connector 36"/>
              <p:cNvCxnSpPr>
                <a:stCxn id="15" idx="4"/>
                <a:endCxn id="14" idx="4"/>
              </p:cNvCxnSpPr>
              <p:nvPr/>
            </p:nvCxnSpPr>
            <p:spPr>
              <a:xfrm rot="5400000">
                <a:off x="5643705" y="4065454"/>
                <a:ext cx="12700" cy="1393066"/>
              </a:xfrm>
              <a:prstGeom prst="curvedConnector3">
                <a:avLst>
                  <a:gd name="adj1" fmla="val 1800000"/>
                </a:avLst>
              </a:prstGeom>
              <a:ln>
                <a:solidFill>
                  <a:srgbClr val="FF0000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TextBox 44"/>
              <p:cNvSpPr txBox="1"/>
              <p:nvPr/>
            </p:nvSpPr>
            <p:spPr>
              <a:xfrm>
                <a:off x="7571571" y="4670658"/>
                <a:ext cx="9105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Time 2</a:t>
                </a:r>
              </a:p>
            </p:txBody>
          </p:sp>
        </p:grpSp>
      </p:grpSp>
      <p:grpSp>
        <p:nvGrpSpPr>
          <p:cNvPr id="21" name="Group 20"/>
          <p:cNvGrpSpPr/>
          <p:nvPr/>
        </p:nvGrpSpPr>
        <p:grpSpPr>
          <a:xfrm>
            <a:off x="3317696" y="5323174"/>
            <a:ext cx="6688386" cy="881871"/>
            <a:chOff x="1793696" y="5323173"/>
            <a:chExt cx="6688386" cy="881871"/>
          </a:xfrm>
        </p:grpSpPr>
        <p:sp>
          <p:nvSpPr>
            <p:cNvPr id="19" name="Oval 18"/>
            <p:cNvSpPr/>
            <p:nvPr/>
          </p:nvSpPr>
          <p:spPr>
            <a:xfrm>
              <a:off x="1793696" y="5773704"/>
              <a:ext cx="515155" cy="431340"/>
            </a:xfrm>
            <a:prstGeom prst="ellipse">
              <a:avLst/>
            </a:prstGeom>
            <a:solidFill>
              <a:srgbClr val="D9D9D9"/>
            </a:solidFill>
            <a:ln>
              <a:solidFill>
                <a:srgbClr val="01247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45720"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42</a:t>
              </a:r>
            </a:p>
          </p:txBody>
        </p:sp>
        <p:grpSp>
          <p:nvGrpSpPr>
            <p:cNvPr id="51" name="Group 50"/>
            <p:cNvGrpSpPr/>
            <p:nvPr/>
          </p:nvGrpSpPr>
          <p:grpSpPr>
            <a:xfrm>
              <a:off x="2057624" y="5323173"/>
              <a:ext cx="6424458" cy="369332"/>
              <a:chOff x="2057624" y="5323173"/>
              <a:chExt cx="6424458" cy="369332"/>
            </a:xfrm>
          </p:grpSpPr>
          <p:cxnSp>
            <p:nvCxnSpPr>
              <p:cNvPr id="40" name="Curved Connector 39"/>
              <p:cNvCxnSpPr>
                <a:stCxn id="17" idx="4"/>
                <a:endCxn id="16" idx="4"/>
              </p:cNvCxnSpPr>
              <p:nvPr/>
            </p:nvCxnSpPr>
            <p:spPr>
              <a:xfrm rot="5400000">
                <a:off x="3499223" y="4005612"/>
                <a:ext cx="12700" cy="2895898"/>
              </a:xfrm>
              <a:prstGeom prst="curvedConnector3">
                <a:avLst>
                  <a:gd name="adj1" fmla="val 1800000"/>
                </a:avLst>
              </a:prstGeom>
              <a:ln>
                <a:solidFill>
                  <a:srgbClr val="FF0000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TextBox 45"/>
              <p:cNvSpPr txBox="1"/>
              <p:nvPr/>
            </p:nvSpPr>
            <p:spPr>
              <a:xfrm>
                <a:off x="7571571" y="5323173"/>
                <a:ext cx="9105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Time 3</a:t>
                </a:r>
              </a:p>
            </p:txBody>
          </p:sp>
        </p:grp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79D91F59-708D-7943-8BA0-A7B7BBB813B6}"/>
              </a:ext>
            </a:extLst>
          </p:cNvPr>
          <p:cNvSpPr txBox="1"/>
          <p:nvPr/>
        </p:nvSpPr>
        <p:spPr>
          <a:xfrm>
            <a:off x="4163292" y="3197326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212312D-1518-4F43-9BA5-221068A25CCB}"/>
              </a:ext>
            </a:extLst>
          </p:cNvPr>
          <p:cNvSpPr txBox="1"/>
          <p:nvPr/>
        </p:nvSpPr>
        <p:spPr>
          <a:xfrm>
            <a:off x="3395663" y="3182236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924676F-EB6B-8145-BFF8-D4E6ED4E7454}"/>
              </a:ext>
            </a:extLst>
          </p:cNvPr>
          <p:cNvSpPr txBox="1"/>
          <p:nvPr/>
        </p:nvSpPr>
        <p:spPr>
          <a:xfrm>
            <a:off x="8468060" y="327376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86A4C8E-9014-C148-8014-B24C3979D9CB}"/>
              </a:ext>
            </a:extLst>
          </p:cNvPr>
          <p:cNvSpPr txBox="1"/>
          <p:nvPr/>
        </p:nvSpPr>
        <p:spPr>
          <a:xfrm>
            <a:off x="5655823" y="323172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F20DA38-23C3-574D-9F65-A2E2B8BEB02A}"/>
              </a:ext>
            </a:extLst>
          </p:cNvPr>
          <p:cNvSpPr txBox="1"/>
          <p:nvPr/>
        </p:nvSpPr>
        <p:spPr>
          <a:xfrm>
            <a:off x="4888194" y="321663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E18CF55-29F6-AC41-9DC2-6AAB4109E145}"/>
              </a:ext>
            </a:extLst>
          </p:cNvPr>
          <p:cNvSpPr txBox="1"/>
          <p:nvPr/>
        </p:nvSpPr>
        <p:spPr>
          <a:xfrm>
            <a:off x="7040355" y="3252586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62C2E74-FBB1-5245-BF33-DC5F6EBC6B74}"/>
              </a:ext>
            </a:extLst>
          </p:cNvPr>
          <p:cNvSpPr txBox="1"/>
          <p:nvPr/>
        </p:nvSpPr>
        <p:spPr>
          <a:xfrm>
            <a:off x="6272726" y="3237496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FC6CDC8-1785-8F44-AA2B-35AE0EC0BF32}"/>
              </a:ext>
            </a:extLst>
          </p:cNvPr>
          <p:cNvSpPr txBox="1"/>
          <p:nvPr/>
        </p:nvSpPr>
        <p:spPr>
          <a:xfrm>
            <a:off x="7720589" y="3241596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6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C41BB18E-513E-C56C-F863-52D6B657D0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291405"/>
              </p:ext>
            </p:extLst>
          </p:nvPr>
        </p:nvGraphicFramePr>
        <p:xfrm>
          <a:off x="353283" y="2290667"/>
          <a:ext cx="1444344" cy="404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086">
                  <a:extLst>
                    <a:ext uri="{9D8B030D-6E8A-4147-A177-3AD203B41FA5}">
                      <a16:colId xmlns:a16="http://schemas.microsoft.com/office/drawing/2014/main" val="1443050677"/>
                    </a:ext>
                  </a:extLst>
                </a:gridCol>
                <a:gridCol w="361086">
                  <a:extLst>
                    <a:ext uri="{9D8B030D-6E8A-4147-A177-3AD203B41FA5}">
                      <a16:colId xmlns:a16="http://schemas.microsoft.com/office/drawing/2014/main" val="2326061019"/>
                    </a:ext>
                  </a:extLst>
                </a:gridCol>
                <a:gridCol w="361086">
                  <a:extLst>
                    <a:ext uri="{9D8B030D-6E8A-4147-A177-3AD203B41FA5}">
                      <a16:colId xmlns:a16="http://schemas.microsoft.com/office/drawing/2014/main" val="2829439690"/>
                    </a:ext>
                  </a:extLst>
                </a:gridCol>
                <a:gridCol w="361086">
                  <a:extLst>
                    <a:ext uri="{9D8B030D-6E8A-4147-A177-3AD203B41FA5}">
                      <a16:colId xmlns:a16="http://schemas.microsoft.com/office/drawing/2014/main" val="276769053"/>
                    </a:ext>
                  </a:extLst>
                </a:gridCol>
              </a:tblGrid>
              <a:tr h="404705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0194366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8281468C-90B5-B0C7-70EC-4214CB948E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8840425"/>
              </p:ext>
            </p:extLst>
          </p:nvPr>
        </p:nvGraphicFramePr>
        <p:xfrm>
          <a:off x="1797627" y="2286778"/>
          <a:ext cx="1400469" cy="404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211">
                  <a:extLst>
                    <a:ext uri="{9D8B030D-6E8A-4147-A177-3AD203B41FA5}">
                      <a16:colId xmlns:a16="http://schemas.microsoft.com/office/drawing/2014/main" val="1443050677"/>
                    </a:ext>
                  </a:extLst>
                </a:gridCol>
                <a:gridCol w="361086">
                  <a:extLst>
                    <a:ext uri="{9D8B030D-6E8A-4147-A177-3AD203B41FA5}">
                      <a16:colId xmlns:a16="http://schemas.microsoft.com/office/drawing/2014/main" val="2326061019"/>
                    </a:ext>
                  </a:extLst>
                </a:gridCol>
                <a:gridCol w="361086">
                  <a:extLst>
                    <a:ext uri="{9D8B030D-6E8A-4147-A177-3AD203B41FA5}">
                      <a16:colId xmlns:a16="http://schemas.microsoft.com/office/drawing/2014/main" val="2829439690"/>
                    </a:ext>
                  </a:extLst>
                </a:gridCol>
                <a:gridCol w="361086">
                  <a:extLst>
                    <a:ext uri="{9D8B030D-6E8A-4147-A177-3AD203B41FA5}">
                      <a16:colId xmlns:a16="http://schemas.microsoft.com/office/drawing/2014/main" val="276769053"/>
                    </a:ext>
                  </a:extLst>
                </a:gridCol>
              </a:tblGrid>
              <a:tr h="404705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194366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E0AAE4EF-3354-8A94-1B40-0672221997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2825871"/>
              </p:ext>
            </p:extLst>
          </p:nvPr>
        </p:nvGraphicFramePr>
        <p:xfrm>
          <a:off x="3198096" y="2286777"/>
          <a:ext cx="1444344" cy="404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086">
                  <a:extLst>
                    <a:ext uri="{9D8B030D-6E8A-4147-A177-3AD203B41FA5}">
                      <a16:colId xmlns:a16="http://schemas.microsoft.com/office/drawing/2014/main" val="1443050677"/>
                    </a:ext>
                  </a:extLst>
                </a:gridCol>
                <a:gridCol w="361086">
                  <a:extLst>
                    <a:ext uri="{9D8B030D-6E8A-4147-A177-3AD203B41FA5}">
                      <a16:colId xmlns:a16="http://schemas.microsoft.com/office/drawing/2014/main" val="2326061019"/>
                    </a:ext>
                  </a:extLst>
                </a:gridCol>
                <a:gridCol w="361086">
                  <a:extLst>
                    <a:ext uri="{9D8B030D-6E8A-4147-A177-3AD203B41FA5}">
                      <a16:colId xmlns:a16="http://schemas.microsoft.com/office/drawing/2014/main" val="2829439690"/>
                    </a:ext>
                  </a:extLst>
                </a:gridCol>
                <a:gridCol w="361086">
                  <a:extLst>
                    <a:ext uri="{9D8B030D-6E8A-4147-A177-3AD203B41FA5}">
                      <a16:colId xmlns:a16="http://schemas.microsoft.com/office/drawing/2014/main" val="276769053"/>
                    </a:ext>
                  </a:extLst>
                </a:gridCol>
              </a:tblGrid>
              <a:tr h="404705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194366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DB0A57AB-8274-71DF-0D95-23A801963F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5985266"/>
              </p:ext>
            </p:extLst>
          </p:nvPr>
        </p:nvGraphicFramePr>
        <p:xfrm>
          <a:off x="4642440" y="2286776"/>
          <a:ext cx="1444344" cy="404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086">
                  <a:extLst>
                    <a:ext uri="{9D8B030D-6E8A-4147-A177-3AD203B41FA5}">
                      <a16:colId xmlns:a16="http://schemas.microsoft.com/office/drawing/2014/main" val="1443050677"/>
                    </a:ext>
                  </a:extLst>
                </a:gridCol>
                <a:gridCol w="361086">
                  <a:extLst>
                    <a:ext uri="{9D8B030D-6E8A-4147-A177-3AD203B41FA5}">
                      <a16:colId xmlns:a16="http://schemas.microsoft.com/office/drawing/2014/main" val="2326061019"/>
                    </a:ext>
                  </a:extLst>
                </a:gridCol>
                <a:gridCol w="361086">
                  <a:extLst>
                    <a:ext uri="{9D8B030D-6E8A-4147-A177-3AD203B41FA5}">
                      <a16:colId xmlns:a16="http://schemas.microsoft.com/office/drawing/2014/main" val="2829439690"/>
                    </a:ext>
                  </a:extLst>
                </a:gridCol>
                <a:gridCol w="361086">
                  <a:extLst>
                    <a:ext uri="{9D8B030D-6E8A-4147-A177-3AD203B41FA5}">
                      <a16:colId xmlns:a16="http://schemas.microsoft.com/office/drawing/2014/main" val="276769053"/>
                    </a:ext>
                  </a:extLst>
                </a:gridCol>
              </a:tblGrid>
              <a:tr h="404705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194366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3413813C-6FBC-8D82-39AB-18926C7EA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388981"/>
              </p:ext>
            </p:extLst>
          </p:nvPr>
        </p:nvGraphicFramePr>
        <p:xfrm>
          <a:off x="6086784" y="2286776"/>
          <a:ext cx="1444344" cy="404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086">
                  <a:extLst>
                    <a:ext uri="{9D8B030D-6E8A-4147-A177-3AD203B41FA5}">
                      <a16:colId xmlns:a16="http://schemas.microsoft.com/office/drawing/2014/main" val="1443050677"/>
                    </a:ext>
                  </a:extLst>
                </a:gridCol>
                <a:gridCol w="361086">
                  <a:extLst>
                    <a:ext uri="{9D8B030D-6E8A-4147-A177-3AD203B41FA5}">
                      <a16:colId xmlns:a16="http://schemas.microsoft.com/office/drawing/2014/main" val="2326061019"/>
                    </a:ext>
                  </a:extLst>
                </a:gridCol>
                <a:gridCol w="361086">
                  <a:extLst>
                    <a:ext uri="{9D8B030D-6E8A-4147-A177-3AD203B41FA5}">
                      <a16:colId xmlns:a16="http://schemas.microsoft.com/office/drawing/2014/main" val="2829439690"/>
                    </a:ext>
                  </a:extLst>
                </a:gridCol>
                <a:gridCol w="361086">
                  <a:extLst>
                    <a:ext uri="{9D8B030D-6E8A-4147-A177-3AD203B41FA5}">
                      <a16:colId xmlns:a16="http://schemas.microsoft.com/office/drawing/2014/main" val="276769053"/>
                    </a:ext>
                  </a:extLst>
                </a:gridCol>
              </a:tblGrid>
              <a:tr h="404705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194366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062E1D83-36DE-C8F2-9AA9-67CE563B14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6673530"/>
              </p:ext>
            </p:extLst>
          </p:nvPr>
        </p:nvGraphicFramePr>
        <p:xfrm>
          <a:off x="7531128" y="2286775"/>
          <a:ext cx="1444344" cy="404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086">
                  <a:extLst>
                    <a:ext uri="{9D8B030D-6E8A-4147-A177-3AD203B41FA5}">
                      <a16:colId xmlns:a16="http://schemas.microsoft.com/office/drawing/2014/main" val="1443050677"/>
                    </a:ext>
                  </a:extLst>
                </a:gridCol>
                <a:gridCol w="361086">
                  <a:extLst>
                    <a:ext uri="{9D8B030D-6E8A-4147-A177-3AD203B41FA5}">
                      <a16:colId xmlns:a16="http://schemas.microsoft.com/office/drawing/2014/main" val="2326061019"/>
                    </a:ext>
                  </a:extLst>
                </a:gridCol>
                <a:gridCol w="361086">
                  <a:extLst>
                    <a:ext uri="{9D8B030D-6E8A-4147-A177-3AD203B41FA5}">
                      <a16:colId xmlns:a16="http://schemas.microsoft.com/office/drawing/2014/main" val="2829439690"/>
                    </a:ext>
                  </a:extLst>
                </a:gridCol>
                <a:gridCol w="361086">
                  <a:extLst>
                    <a:ext uri="{9D8B030D-6E8A-4147-A177-3AD203B41FA5}">
                      <a16:colId xmlns:a16="http://schemas.microsoft.com/office/drawing/2014/main" val="276769053"/>
                    </a:ext>
                  </a:extLst>
                </a:gridCol>
              </a:tblGrid>
              <a:tr h="404705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194366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409220F3-CC11-148B-E00A-6997F9F1CC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5309920"/>
              </p:ext>
            </p:extLst>
          </p:nvPr>
        </p:nvGraphicFramePr>
        <p:xfrm>
          <a:off x="8975472" y="2286774"/>
          <a:ext cx="1444344" cy="404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086">
                  <a:extLst>
                    <a:ext uri="{9D8B030D-6E8A-4147-A177-3AD203B41FA5}">
                      <a16:colId xmlns:a16="http://schemas.microsoft.com/office/drawing/2014/main" val="1443050677"/>
                    </a:ext>
                  </a:extLst>
                </a:gridCol>
                <a:gridCol w="361086">
                  <a:extLst>
                    <a:ext uri="{9D8B030D-6E8A-4147-A177-3AD203B41FA5}">
                      <a16:colId xmlns:a16="http://schemas.microsoft.com/office/drawing/2014/main" val="2326061019"/>
                    </a:ext>
                  </a:extLst>
                </a:gridCol>
                <a:gridCol w="361086">
                  <a:extLst>
                    <a:ext uri="{9D8B030D-6E8A-4147-A177-3AD203B41FA5}">
                      <a16:colId xmlns:a16="http://schemas.microsoft.com/office/drawing/2014/main" val="2829439690"/>
                    </a:ext>
                  </a:extLst>
                </a:gridCol>
                <a:gridCol w="361086">
                  <a:extLst>
                    <a:ext uri="{9D8B030D-6E8A-4147-A177-3AD203B41FA5}">
                      <a16:colId xmlns:a16="http://schemas.microsoft.com/office/drawing/2014/main" val="276769053"/>
                    </a:ext>
                  </a:extLst>
                </a:gridCol>
              </a:tblGrid>
              <a:tr h="404705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194366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B32A5BD1-9E23-B1EF-6A9B-D47C3C99DA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4044924"/>
              </p:ext>
            </p:extLst>
          </p:nvPr>
        </p:nvGraphicFramePr>
        <p:xfrm>
          <a:off x="10419816" y="2286773"/>
          <a:ext cx="1444344" cy="404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086">
                  <a:extLst>
                    <a:ext uri="{9D8B030D-6E8A-4147-A177-3AD203B41FA5}">
                      <a16:colId xmlns:a16="http://schemas.microsoft.com/office/drawing/2014/main" val="1443050677"/>
                    </a:ext>
                  </a:extLst>
                </a:gridCol>
                <a:gridCol w="361086">
                  <a:extLst>
                    <a:ext uri="{9D8B030D-6E8A-4147-A177-3AD203B41FA5}">
                      <a16:colId xmlns:a16="http://schemas.microsoft.com/office/drawing/2014/main" val="2326061019"/>
                    </a:ext>
                  </a:extLst>
                </a:gridCol>
                <a:gridCol w="361086">
                  <a:extLst>
                    <a:ext uri="{9D8B030D-6E8A-4147-A177-3AD203B41FA5}">
                      <a16:colId xmlns:a16="http://schemas.microsoft.com/office/drawing/2014/main" val="2829439690"/>
                    </a:ext>
                  </a:extLst>
                </a:gridCol>
                <a:gridCol w="361086">
                  <a:extLst>
                    <a:ext uri="{9D8B030D-6E8A-4147-A177-3AD203B41FA5}">
                      <a16:colId xmlns:a16="http://schemas.microsoft.com/office/drawing/2014/main" val="276769053"/>
                    </a:ext>
                  </a:extLst>
                </a:gridCol>
              </a:tblGrid>
              <a:tr h="404705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194366"/>
                  </a:ext>
                </a:extLst>
              </a:tr>
            </a:tbl>
          </a:graphicData>
        </a:graphic>
      </p:graphicFrame>
      <p:sp>
        <p:nvSpPr>
          <p:cNvPr id="39" name="TextBox 38">
            <a:extLst>
              <a:ext uri="{FF2B5EF4-FFF2-40B4-BE49-F238E27FC236}">
                <a16:creationId xmlns:a16="http://schemas.microsoft.com/office/drawing/2014/main" id="{10E1E4D4-7F42-CCC9-9583-04E67ABBEDCE}"/>
              </a:ext>
            </a:extLst>
          </p:cNvPr>
          <p:cNvSpPr txBox="1"/>
          <p:nvPr/>
        </p:nvSpPr>
        <p:spPr>
          <a:xfrm>
            <a:off x="2298079" y="1909579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9218FA7-168C-5569-32F2-5117CE5EC1EE}"/>
              </a:ext>
            </a:extLst>
          </p:cNvPr>
          <p:cNvSpPr txBox="1"/>
          <p:nvPr/>
        </p:nvSpPr>
        <p:spPr>
          <a:xfrm>
            <a:off x="1031201" y="1909579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0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4F15C21-89F9-3B5D-B2EF-0EDF58388220}"/>
              </a:ext>
            </a:extLst>
          </p:cNvPr>
          <p:cNvSpPr txBox="1"/>
          <p:nvPr/>
        </p:nvSpPr>
        <p:spPr>
          <a:xfrm>
            <a:off x="11001370" y="1909579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BAD46E8-96B1-4AD9-AAD6-1C7D8712BB3C}"/>
              </a:ext>
            </a:extLst>
          </p:cNvPr>
          <p:cNvSpPr txBox="1"/>
          <p:nvPr/>
        </p:nvSpPr>
        <p:spPr>
          <a:xfrm>
            <a:off x="5183232" y="1909579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89690FE-7B1B-D5EE-7024-45241EB8D2E3}"/>
              </a:ext>
            </a:extLst>
          </p:cNvPr>
          <p:cNvSpPr txBox="1"/>
          <p:nvPr/>
        </p:nvSpPr>
        <p:spPr>
          <a:xfrm>
            <a:off x="3824853" y="1909579"/>
            <a:ext cx="276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0613334-E7EB-5C5F-2260-A46B1E4E8B9D}"/>
              </a:ext>
            </a:extLst>
          </p:cNvPr>
          <p:cNvSpPr txBox="1"/>
          <p:nvPr/>
        </p:nvSpPr>
        <p:spPr>
          <a:xfrm>
            <a:off x="7971816" y="1909579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AF02D3D-AFF3-48F5-ADFD-F8F01907CA48}"/>
              </a:ext>
            </a:extLst>
          </p:cNvPr>
          <p:cNvSpPr txBox="1"/>
          <p:nvPr/>
        </p:nvSpPr>
        <p:spPr>
          <a:xfrm>
            <a:off x="6578750" y="1909579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A3B767F-D8CC-CF51-F147-4BD729EB53E3}"/>
              </a:ext>
            </a:extLst>
          </p:cNvPr>
          <p:cNvSpPr txBox="1"/>
          <p:nvPr/>
        </p:nvSpPr>
        <p:spPr>
          <a:xfrm>
            <a:off x="9567406" y="1909579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132630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41" grpId="0"/>
      <p:bldP spid="42" grpId="0"/>
      <p:bldP spid="53" grpId="0"/>
      <p:bldP spid="54" grpId="0"/>
      <p:bldP spid="55" grpId="0"/>
      <p:bldP spid="56" grpId="0"/>
      <p:bldP spid="57" grpId="0"/>
      <p:bldP spid="39" grpId="0"/>
      <p:bldP spid="58" grpId="0"/>
      <p:bldP spid="59" grpId="0"/>
      <p:bldP spid="60" grpId="0"/>
      <p:bldP spid="61" grpId="0"/>
      <p:bldP spid="62" grpId="0"/>
      <p:bldP spid="63" grpId="0"/>
      <p:bldP spid="6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D3A6087-6190-0961-3C0C-5DC8C3F17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5001" y="65390"/>
            <a:ext cx="6856170" cy="5210945"/>
          </a:xfrm>
          <a:prstGeom prst="rect">
            <a:avLst/>
          </a:prstGeom>
        </p:spPr>
      </p:pic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86497" y="3361041"/>
            <a:ext cx="9144000" cy="2387600"/>
          </a:xfrm>
        </p:spPr>
        <p:txBody>
          <a:bodyPr/>
          <a:lstStyle/>
          <a:p>
            <a:pPr algn="l"/>
            <a:r>
              <a:rPr lang="en-US" sz="5400" dirty="0"/>
              <a:t>Concurrent </a:t>
            </a:r>
            <a:br>
              <a:rPr lang="en-US" sz="5400" dirty="0"/>
            </a:br>
            <a:r>
              <a:rPr lang="en-US" sz="5400" dirty="0"/>
              <a:t>Hardware Patterns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86497" y="5840716"/>
            <a:ext cx="9144000" cy="1022751"/>
          </a:xfrm>
        </p:spPr>
        <p:txBody>
          <a:bodyPr/>
          <a:lstStyle/>
          <a:p>
            <a:pPr algn="l"/>
            <a:r>
              <a:rPr lang="en-US" dirty="0"/>
              <a:t>Communication and synchronization of tasks</a:t>
            </a:r>
          </a:p>
          <a:p>
            <a:pPr algn="l"/>
            <a:r>
              <a:rPr lang="en-US" dirty="0"/>
              <a:t>These are usually found inside of the libraries we use to build our code.</a:t>
            </a:r>
          </a:p>
          <a:p>
            <a:pPr algn="l"/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14DF75F-40BF-8741-B4D0-1EAE05806858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3299254" y="2854721"/>
            <a:ext cx="7129849" cy="1223012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D8757FC3-D001-E94C-8B6F-3E9CD8F4E63A}"/>
              </a:ext>
            </a:extLst>
          </p:cNvPr>
          <p:cNvSpPr/>
          <p:nvPr/>
        </p:nvSpPr>
        <p:spPr>
          <a:xfrm>
            <a:off x="10429103" y="605481"/>
            <a:ext cx="1706322" cy="4498479"/>
          </a:xfrm>
          <a:prstGeom prst="rect">
            <a:avLst/>
          </a:prstGeom>
          <a:noFill/>
          <a:ln w="254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421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9772384-EBD1-11F1-1F68-A522D173B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041" y="0"/>
            <a:ext cx="268396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AE1502-54C0-6F4F-A166-6F5DB365E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8517" y="179888"/>
            <a:ext cx="6177407" cy="734512"/>
          </a:xfrm>
        </p:spPr>
        <p:txBody>
          <a:bodyPr/>
          <a:lstStyle/>
          <a:p>
            <a:r>
              <a:rPr lang="en-US" dirty="0"/>
              <a:t>Shared Memory OpenMP &amp; MPI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26C8F-F3E1-2B43-A74D-CB5094330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6531" y="914400"/>
            <a:ext cx="6163094" cy="5474840"/>
          </a:xfrm>
        </p:spPr>
        <p:txBody>
          <a:bodyPr/>
          <a:lstStyle/>
          <a:p>
            <a:r>
              <a:rPr lang="en-US" dirty="0"/>
              <a:t>MIMD:</a:t>
            </a:r>
          </a:p>
          <a:p>
            <a:r>
              <a:rPr lang="en-US" dirty="0"/>
              <a:t>Multiple Instruction, Multiple Data</a:t>
            </a:r>
          </a:p>
          <a:p>
            <a:endParaRPr lang="en-US" dirty="0"/>
          </a:p>
          <a:p>
            <a:r>
              <a:rPr lang="en-US" dirty="0"/>
              <a:t>A consequence of </a:t>
            </a:r>
            <a:r>
              <a:rPr lang="en-US" i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shared memory CPU architecture</a:t>
            </a:r>
            <a:r>
              <a:rPr lang="en-US" dirty="0"/>
              <a:t>:</a:t>
            </a:r>
          </a:p>
          <a:p>
            <a:r>
              <a:rPr lang="en-US" dirty="0"/>
              <a:t>simultaneous instructions accessing shared data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7A5501B-27AA-0F45-94FA-E600884F5626}"/>
              </a:ext>
            </a:extLst>
          </p:cNvPr>
          <p:cNvSpPr/>
          <p:nvPr/>
        </p:nvSpPr>
        <p:spPr>
          <a:xfrm>
            <a:off x="2306923" y="5164649"/>
            <a:ext cx="1316137" cy="467523"/>
          </a:xfrm>
          <a:prstGeom prst="ellipse">
            <a:avLst/>
          </a:prstGeom>
          <a:noFill/>
          <a:ln w="2222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9A78E01-5AF0-6E4F-8BB3-342B24648448}"/>
              </a:ext>
            </a:extLst>
          </p:cNvPr>
          <p:cNvSpPr/>
          <p:nvPr/>
        </p:nvSpPr>
        <p:spPr>
          <a:xfrm>
            <a:off x="2418135" y="5575726"/>
            <a:ext cx="1839496" cy="467523"/>
          </a:xfrm>
          <a:prstGeom prst="ellipse">
            <a:avLst/>
          </a:prstGeom>
          <a:noFill/>
          <a:ln w="2222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F11006-F496-ACAA-624B-A81EB4D1E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023" y="4374678"/>
            <a:ext cx="2103015" cy="4686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16DCF29-D5F8-6339-7E71-DCC617B9D0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7736" y="3908879"/>
            <a:ext cx="2222462" cy="16668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8297845-CB04-233D-C108-1FCE98FD27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4784" y="4378852"/>
            <a:ext cx="2123525" cy="46452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483C0E8-FA08-BF4A-F77A-E76B0B94BBA2}"/>
              </a:ext>
            </a:extLst>
          </p:cNvPr>
          <p:cNvSpPr txBox="1"/>
          <p:nvPr/>
        </p:nvSpPr>
        <p:spPr>
          <a:xfrm>
            <a:off x="4855023" y="5144135"/>
            <a:ext cx="1871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Threads, OpenMP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C7F126-6592-3DDF-E97E-14C4371D720F}"/>
              </a:ext>
            </a:extLst>
          </p:cNvPr>
          <p:cNvSpPr txBox="1"/>
          <p:nvPr/>
        </p:nvSpPr>
        <p:spPr>
          <a:xfrm>
            <a:off x="8760941" y="5758934"/>
            <a:ext cx="15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Processes, MPI</a:t>
            </a:r>
          </a:p>
        </p:txBody>
      </p:sp>
    </p:spTree>
    <p:extLst>
      <p:ext uri="{BB962C8B-B14F-4D97-AF65-F5344CB8AC3E}">
        <p14:creationId xmlns:p14="http://schemas.microsoft.com/office/powerpoint/2010/main" val="2838706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F5C213-6B4C-7802-219A-C4F187F0C2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5784" y="0"/>
            <a:ext cx="268396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AE1502-54C0-6F4F-A166-6F5DB365E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1538" y="75163"/>
            <a:ext cx="6708737" cy="501149"/>
          </a:xfrm>
        </p:spPr>
        <p:txBody>
          <a:bodyPr/>
          <a:lstStyle/>
          <a:p>
            <a:r>
              <a:rPr lang="en-US" dirty="0"/>
              <a:t>Shared Memory OpenMP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26C8F-F3E1-2B43-A74D-CB5094330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5615" y="827121"/>
            <a:ext cx="4585791" cy="3174743"/>
          </a:xfrm>
        </p:spPr>
        <p:txBody>
          <a:bodyPr/>
          <a:lstStyle/>
          <a:p>
            <a:r>
              <a:rPr lang="en-US" dirty="0"/>
              <a:t>Thread Pool:</a:t>
            </a:r>
          </a:p>
          <a:p>
            <a:endParaRPr lang="en-US" dirty="0"/>
          </a:p>
          <a:p>
            <a:r>
              <a:rPr lang="en-US" dirty="0"/>
              <a:t>Before parallel execution, threads are set up in a ‘pool’: </a:t>
            </a:r>
          </a:p>
          <a:p>
            <a:r>
              <a:rPr lang="en-US" dirty="0"/>
              <a:t>a group of available threads</a:t>
            </a:r>
          </a:p>
          <a:p>
            <a:endParaRPr lang="en-US" dirty="0"/>
          </a:p>
          <a:p>
            <a:endParaRPr lang="en-US" sz="120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7A5501B-27AA-0F45-94FA-E600884F5626}"/>
              </a:ext>
            </a:extLst>
          </p:cNvPr>
          <p:cNvSpPr/>
          <p:nvPr/>
        </p:nvSpPr>
        <p:spPr>
          <a:xfrm>
            <a:off x="3130856" y="573417"/>
            <a:ext cx="1893136" cy="402768"/>
          </a:xfrm>
          <a:prstGeom prst="ellipse">
            <a:avLst/>
          </a:prstGeom>
          <a:noFill/>
          <a:ln w="2222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9A78E01-5AF0-6E4F-8BB3-342B24648448}"/>
              </a:ext>
            </a:extLst>
          </p:cNvPr>
          <p:cNvSpPr/>
          <p:nvPr/>
        </p:nvSpPr>
        <p:spPr>
          <a:xfrm>
            <a:off x="3656323" y="976185"/>
            <a:ext cx="965771" cy="314604"/>
          </a:xfrm>
          <a:prstGeom prst="ellipse">
            <a:avLst/>
          </a:prstGeom>
          <a:noFill/>
          <a:ln w="2222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78CCFE-D75B-C842-8B52-032AC7ABE438}"/>
              </a:ext>
            </a:extLst>
          </p:cNvPr>
          <p:cNvSpPr txBox="1"/>
          <p:nvPr/>
        </p:nvSpPr>
        <p:spPr>
          <a:xfrm>
            <a:off x="6663913" y="5661547"/>
            <a:ext cx="5405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en.wikipedia.org</a:t>
            </a:r>
            <a:r>
              <a:rPr lang="en-US" dirty="0"/>
              <a:t>/wiki/Pool_(</a:t>
            </a:r>
            <a:r>
              <a:rPr lang="en-US" dirty="0" err="1"/>
              <a:t>computer_science</a:t>
            </a:r>
            <a:r>
              <a:rPr lang="en-US" dirty="0"/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8639E1-B8F6-224A-8EE5-A4CA3690B80A}"/>
              </a:ext>
            </a:extLst>
          </p:cNvPr>
          <p:cNvSpPr txBox="1"/>
          <p:nvPr/>
        </p:nvSpPr>
        <p:spPr>
          <a:xfrm>
            <a:off x="6889013" y="4231541"/>
            <a:ext cx="52002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 computer science, a </a:t>
            </a:r>
            <a:r>
              <a:rPr lang="en-US" b="1" dirty="0"/>
              <a:t>pool</a:t>
            </a:r>
            <a:r>
              <a:rPr lang="en-US" dirty="0"/>
              <a:t> is a collection of resources that are kept</a:t>
            </a:r>
            <a:r>
              <a:rPr lang="en-US" baseline="30000" dirty="0"/>
              <a:t> </a:t>
            </a:r>
            <a:r>
              <a:rPr lang="en-US" dirty="0"/>
              <a:t>ready to use, rather than acquired on use and released afterwards. In this context, </a:t>
            </a:r>
            <a:r>
              <a:rPr lang="en-US" i="1" dirty="0"/>
              <a:t>resources</a:t>
            </a:r>
            <a:r>
              <a:rPr lang="en-US" dirty="0"/>
              <a:t> can refer to system resources …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FE95E3F-5392-71DD-4ABA-03E6B6E452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109" y="1495554"/>
            <a:ext cx="2103015" cy="46869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4D3C885-4BDB-B460-DE26-BB0B699BA5EC}"/>
              </a:ext>
            </a:extLst>
          </p:cNvPr>
          <p:cNvSpPr txBox="1"/>
          <p:nvPr/>
        </p:nvSpPr>
        <p:spPr>
          <a:xfrm>
            <a:off x="266008" y="2227940"/>
            <a:ext cx="1871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Threads, OpenMP</a:t>
            </a:r>
          </a:p>
        </p:txBody>
      </p:sp>
    </p:spTree>
    <p:extLst>
      <p:ext uri="{BB962C8B-B14F-4D97-AF65-F5344CB8AC3E}">
        <p14:creationId xmlns:p14="http://schemas.microsoft.com/office/powerpoint/2010/main" val="1689648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638672-49E2-ED8C-AA05-025C4C066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802" y="0"/>
            <a:ext cx="2683968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26C8F-F3E1-2B43-A74D-CB5094330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1673" y="1030981"/>
            <a:ext cx="7744317" cy="2003164"/>
          </a:xfrm>
        </p:spPr>
        <p:txBody>
          <a:bodyPr>
            <a:normAutofit fontScale="85000" lnSpcReduction="20000"/>
          </a:bodyPr>
          <a:lstStyle/>
          <a:p>
            <a:r>
              <a:rPr lang="en-US" sz="2400" dirty="0"/>
              <a:t>Barrier:</a:t>
            </a:r>
          </a:p>
          <a:p>
            <a:r>
              <a:rPr lang="en-US" sz="2400" dirty="0"/>
              <a:t>Place in code where all threads or processes  must finish before continuing</a:t>
            </a:r>
          </a:p>
          <a:p>
            <a:endParaRPr lang="en-US" sz="2400" dirty="0"/>
          </a:p>
          <a:p>
            <a:r>
              <a:rPr lang="en-US" sz="2400" dirty="0"/>
              <a:t>Code examples in book, activities</a:t>
            </a:r>
          </a:p>
          <a:p>
            <a:r>
              <a:rPr lang="en-US" sz="2400" dirty="0"/>
              <a:t>There are implicit barriers also: end of parallel loop, e.g.</a:t>
            </a:r>
          </a:p>
          <a:p>
            <a:endParaRPr lang="en-US" sz="110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7A5501B-27AA-0F45-94FA-E600884F5626}"/>
              </a:ext>
            </a:extLst>
          </p:cNvPr>
          <p:cNvSpPr/>
          <p:nvPr/>
        </p:nvSpPr>
        <p:spPr>
          <a:xfrm>
            <a:off x="2191289" y="2725156"/>
            <a:ext cx="1392505" cy="413954"/>
          </a:xfrm>
          <a:prstGeom prst="ellipse">
            <a:avLst/>
          </a:prstGeom>
          <a:noFill/>
          <a:ln w="2222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9A78E01-5AF0-6E4F-8BB3-342B24648448}"/>
              </a:ext>
            </a:extLst>
          </p:cNvPr>
          <p:cNvSpPr/>
          <p:nvPr/>
        </p:nvSpPr>
        <p:spPr>
          <a:xfrm>
            <a:off x="2478797" y="3139110"/>
            <a:ext cx="965771" cy="314604"/>
          </a:xfrm>
          <a:prstGeom prst="ellipse">
            <a:avLst/>
          </a:prstGeom>
          <a:noFill/>
          <a:ln w="2222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C9996BD-98C2-FDCD-252E-EC9619C113F8}"/>
              </a:ext>
            </a:extLst>
          </p:cNvPr>
          <p:cNvSpPr txBox="1">
            <a:spLocks/>
          </p:cNvSpPr>
          <p:nvPr/>
        </p:nvSpPr>
        <p:spPr>
          <a:xfrm>
            <a:off x="4544499" y="179888"/>
            <a:ext cx="7021426" cy="7345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accent5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Shared Memory OpenMP &amp; MPI pattern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81917B-DB5B-7D24-93A4-C9CA89788A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0722" y="4980166"/>
            <a:ext cx="2103015" cy="4686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9243817-953E-DDE3-2DA8-5AABC956B2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3435" y="4514367"/>
            <a:ext cx="2222462" cy="16668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A01D4B0-449C-F905-AA57-96D340F6B3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0483" y="4984340"/>
            <a:ext cx="2123525" cy="46452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A9069D4-956C-A37F-9277-69B2F53512C0}"/>
              </a:ext>
            </a:extLst>
          </p:cNvPr>
          <p:cNvSpPr txBox="1"/>
          <p:nvPr/>
        </p:nvSpPr>
        <p:spPr>
          <a:xfrm>
            <a:off x="4740722" y="5749623"/>
            <a:ext cx="1871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Threads, OpenMP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E13168-389E-8EE3-726A-6BDA5BD43451}"/>
              </a:ext>
            </a:extLst>
          </p:cNvPr>
          <p:cNvSpPr txBox="1"/>
          <p:nvPr/>
        </p:nvSpPr>
        <p:spPr>
          <a:xfrm>
            <a:off x="8646640" y="6364422"/>
            <a:ext cx="15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Processes, MPI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3A44BE-AE39-8437-E856-7BD7381E91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2765" y="3129965"/>
            <a:ext cx="4341479" cy="988104"/>
          </a:xfrm>
          <a:prstGeom prst="rect">
            <a:avLst/>
          </a:prstGeom>
          <a:solidFill>
            <a:schemeClr val="tx1"/>
          </a:solidFill>
        </p:spPr>
      </p:pic>
    </p:spTree>
    <p:extLst>
      <p:ext uri="{BB962C8B-B14F-4D97-AF65-F5344CB8AC3E}">
        <p14:creationId xmlns:p14="http://schemas.microsoft.com/office/powerpoint/2010/main" val="2786966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F54AAFF-018D-B51F-2E49-3F72EDB85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5784" y="0"/>
            <a:ext cx="2683968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78F1D7-6CE5-52B6-53D0-4CB7F94D64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6585" y="4929162"/>
            <a:ext cx="2103015" cy="4686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FDD7B37-5906-AB39-1CF5-6A4F3CA662D7}"/>
              </a:ext>
            </a:extLst>
          </p:cNvPr>
          <p:cNvSpPr txBox="1"/>
          <p:nvPr/>
        </p:nvSpPr>
        <p:spPr>
          <a:xfrm>
            <a:off x="7902484" y="5661548"/>
            <a:ext cx="1871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Threads, OpenMP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AE1502-54C0-6F4F-A166-6F5DB365E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160" y="143376"/>
            <a:ext cx="7020361" cy="501149"/>
          </a:xfrm>
        </p:spPr>
        <p:txBody>
          <a:bodyPr/>
          <a:lstStyle/>
          <a:p>
            <a:r>
              <a:rPr lang="en-US" dirty="0"/>
              <a:t>Shared Memory OpenMP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26C8F-F3E1-2B43-A74D-CB5094330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6503" y="827120"/>
            <a:ext cx="5554903" cy="4362717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Mutual Exclusion:</a:t>
            </a:r>
          </a:p>
          <a:p>
            <a:r>
              <a:rPr lang="en-US" dirty="0"/>
              <a:t>Provides a place in code where only one thread can execute at a time</a:t>
            </a:r>
          </a:p>
          <a:p>
            <a:r>
              <a:rPr lang="en-US" dirty="0"/>
              <a:t>(critical section)</a:t>
            </a:r>
          </a:p>
          <a:p>
            <a:endParaRPr lang="en-US" dirty="0"/>
          </a:p>
          <a:p>
            <a:r>
              <a:rPr lang="en-US" dirty="0"/>
              <a:t>Specific to shared-memory systems where race conditions can occur</a:t>
            </a:r>
          </a:p>
          <a:p>
            <a:endParaRPr lang="en-US" dirty="0"/>
          </a:p>
          <a:p>
            <a:r>
              <a:rPr lang="en-US" dirty="0" err="1"/>
              <a:t>Patternlets</a:t>
            </a:r>
            <a:r>
              <a:rPr lang="en-US" dirty="0"/>
              <a:t> show two possibilities for this in OpenMP</a:t>
            </a:r>
          </a:p>
          <a:p>
            <a:pPr lvl="1"/>
            <a:r>
              <a:rPr lang="en-US" dirty="0"/>
              <a:t>atomic</a:t>
            </a:r>
          </a:p>
          <a:p>
            <a:pPr lvl="1"/>
            <a:r>
              <a:rPr lang="en-US" dirty="0"/>
              <a:t>critical</a:t>
            </a:r>
          </a:p>
          <a:p>
            <a:endParaRPr lang="en-US" sz="120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7A5501B-27AA-0F45-94FA-E600884F5626}"/>
              </a:ext>
            </a:extLst>
          </p:cNvPr>
          <p:cNvSpPr/>
          <p:nvPr/>
        </p:nvSpPr>
        <p:spPr>
          <a:xfrm>
            <a:off x="3242535" y="1679719"/>
            <a:ext cx="1470466" cy="321602"/>
          </a:xfrm>
          <a:prstGeom prst="ellipse">
            <a:avLst/>
          </a:prstGeom>
          <a:noFill/>
          <a:ln w="2222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9A78E01-5AF0-6E4F-8BB3-342B24648448}"/>
              </a:ext>
            </a:extLst>
          </p:cNvPr>
          <p:cNvSpPr/>
          <p:nvPr/>
        </p:nvSpPr>
        <p:spPr>
          <a:xfrm>
            <a:off x="3839235" y="2001321"/>
            <a:ext cx="1297744" cy="281140"/>
          </a:xfrm>
          <a:prstGeom prst="ellipse">
            <a:avLst/>
          </a:prstGeom>
          <a:noFill/>
          <a:ln w="2222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227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/>
              <a:t>Parallel Patterns in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9226" y="1517515"/>
            <a:ext cx="10000034" cy="3881336"/>
          </a:xfrm>
        </p:spPr>
        <p:txBody>
          <a:bodyPr>
            <a:normAutofit/>
          </a:bodyPr>
          <a:lstStyle/>
          <a:p>
            <a:pPr>
              <a:spcBef>
                <a:spcPts val="1368"/>
              </a:spcBef>
              <a:spcAft>
                <a:spcPts val="2400"/>
              </a:spcAft>
            </a:pPr>
            <a:r>
              <a:rPr lang="en-US" dirty="0"/>
              <a:t>… are industry-standard techniques and best-practices that have proven useful in many different parallel contexts.</a:t>
            </a:r>
          </a:p>
          <a:p>
            <a:pPr>
              <a:spcBef>
                <a:spcPts val="1368"/>
              </a:spcBef>
              <a:spcAft>
                <a:spcPts val="2400"/>
              </a:spcAft>
            </a:pPr>
            <a:r>
              <a:rPr lang="en-US" dirty="0"/>
              <a:t>… are built into popular platforms like MPI and </a:t>
            </a:r>
            <a:r>
              <a:rPr lang="en-US" dirty="0" err="1"/>
              <a:t>OpenMP</a:t>
            </a:r>
            <a:r>
              <a:rPr lang="en-US" dirty="0"/>
              <a:t>.</a:t>
            </a:r>
          </a:p>
          <a:p>
            <a:pPr>
              <a:spcBef>
                <a:spcPts val="1368"/>
              </a:spcBef>
              <a:spcAft>
                <a:spcPts val="2400"/>
              </a:spcAft>
            </a:pPr>
            <a:r>
              <a:rPr lang="en-US" dirty="0"/>
              <a:t>… are likely to be useful for the long-term, regardless of future PDC developments.</a:t>
            </a:r>
          </a:p>
          <a:p>
            <a:pPr>
              <a:spcBef>
                <a:spcPts val="1368"/>
              </a:spcBef>
              <a:spcAft>
                <a:spcPts val="2400"/>
              </a:spcAft>
            </a:pPr>
            <a:r>
              <a:rPr lang="en-US" dirty="0"/>
              <a:t>… provide a way to organize PDC concepts.</a:t>
            </a:r>
          </a:p>
        </p:txBody>
      </p:sp>
    </p:spTree>
    <p:extLst>
      <p:ext uri="{BB962C8B-B14F-4D97-AF65-F5344CB8AC3E}">
        <p14:creationId xmlns:p14="http://schemas.microsoft.com/office/powerpoint/2010/main" val="3345846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198" y="179888"/>
            <a:ext cx="10515600" cy="746869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1198" y="1157450"/>
            <a:ext cx="10515600" cy="5317490"/>
          </a:xfrm>
        </p:spPr>
        <p:txBody>
          <a:bodyPr>
            <a:normAutofit/>
          </a:bodyPr>
          <a:lstStyle/>
          <a:p>
            <a:r>
              <a:rPr lang="en-US" dirty="0"/>
              <a:t>There are many possible starting points in PDC</a:t>
            </a:r>
          </a:p>
          <a:p>
            <a:pPr lvl="1"/>
            <a:r>
              <a:rPr lang="en-US" dirty="0"/>
              <a:t>There are </a:t>
            </a:r>
            <a:r>
              <a:rPr lang="en-US" i="1" dirty="0"/>
              <a:t>many</a:t>
            </a:r>
            <a:r>
              <a:rPr lang="en-US" dirty="0"/>
              <a:t> hardware and software options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Getting started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is more important than where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Choose a software platform(s) that we can start with:</a:t>
            </a:r>
          </a:p>
          <a:p>
            <a:pPr lvl="2"/>
            <a:r>
              <a:rPr lang="en-US" dirty="0"/>
              <a:t>In first part of course:</a:t>
            </a:r>
          </a:p>
          <a:p>
            <a:pPr lvl="3"/>
            <a:r>
              <a:rPr lang="en-US" dirty="0"/>
              <a:t>C/C++ and shared memory:  </a:t>
            </a:r>
            <a:r>
              <a:rPr lang="en-US" dirty="0">
                <a:solidFill>
                  <a:schemeClr val="accent2"/>
                </a:solidFill>
              </a:rPr>
              <a:t>OpenMP, </a:t>
            </a:r>
            <a:r>
              <a:rPr lang="en-US" dirty="0" err="1">
                <a:solidFill>
                  <a:schemeClr val="accent2"/>
                </a:solidFill>
              </a:rPr>
              <a:t>OpenACC</a:t>
            </a:r>
            <a:endParaRPr lang="en-US" dirty="0">
              <a:solidFill>
                <a:schemeClr val="accent2"/>
              </a:solidFill>
            </a:endParaRPr>
          </a:p>
          <a:p>
            <a:pPr lvl="3"/>
            <a:r>
              <a:rPr lang="en-US" dirty="0"/>
              <a:t>C and “distributed” systems:  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chemeClr val="accent2"/>
                </a:solidFill>
              </a:rPr>
              <a:t>MPI</a:t>
            </a:r>
          </a:p>
          <a:p>
            <a:pPr>
              <a:spcBef>
                <a:spcPts val="1600"/>
              </a:spcBef>
            </a:pPr>
            <a:r>
              <a:rPr lang="en-US" dirty="0"/>
              <a:t>Patterns offer a much-needed source of stability</a:t>
            </a:r>
          </a:p>
          <a:p>
            <a:pPr>
              <a:spcBef>
                <a:spcPts val="1600"/>
              </a:spcBef>
            </a:pPr>
            <a:r>
              <a:rPr lang="en-US" dirty="0"/>
              <a:t>You will find them in different types of software on various hardware</a:t>
            </a:r>
          </a:p>
        </p:txBody>
      </p:sp>
    </p:spTree>
    <p:extLst>
      <p:ext uri="{BB962C8B-B14F-4D97-AF65-F5344CB8AC3E}">
        <p14:creationId xmlns:p14="http://schemas.microsoft.com/office/powerpoint/2010/main" val="29996855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5357AF1-F515-A22F-8D5A-C224D2847776}"/>
              </a:ext>
            </a:extLst>
          </p:cNvPr>
          <p:cNvSpPr/>
          <p:nvPr/>
        </p:nvSpPr>
        <p:spPr>
          <a:xfrm>
            <a:off x="284206" y="1828800"/>
            <a:ext cx="6837745" cy="47815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A078E8-41A9-E4E7-0EDA-DBE3645EF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1951" y="247650"/>
            <a:ext cx="4591538" cy="5374674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7C6D0B5A-A26C-6B14-D381-33C36A6E0321}"/>
              </a:ext>
            </a:extLst>
          </p:cNvPr>
          <p:cNvSpPr/>
          <p:nvPr/>
        </p:nvSpPr>
        <p:spPr>
          <a:xfrm>
            <a:off x="8631159" y="3834274"/>
            <a:ext cx="1933868" cy="465875"/>
          </a:xfrm>
          <a:prstGeom prst="ellipse">
            <a:avLst/>
          </a:prstGeom>
          <a:noFill/>
          <a:ln w="2222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61CD36-782B-1737-690F-89F8C02702A7}"/>
              </a:ext>
            </a:extLst>
          </p:cNvPr>
          <p:cNvSpPr txBox="1"/>
          <p:nvPr/>
        </p:nvSpPr>
        <p:spPr>
          <a:xfrm>
            <a:off x="284206" y="1285103"/>
            <a:ext cx="2973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#pragma</a:t>
            </a:r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omp</a:t>
            </a:r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parallel</a:t>
            </a:r>
            <a:endParaRPr lang="en-US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13AD4AE-4835-DDFA-8E94-625A1474CC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95" y="2044136"/>
            <a:ext cx="6926172" cy="4270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AF76F93-DDBA-5E91-F0D1-3F8F40186B93}"/>
              </a:ext>
            </a:extLst>
          </p:cNvPr>
          <p:cNvSpPr txBox="1"/>
          <p:nvPr/>
        </p:nvSpPr>
        <p:spPr>
          <a:xfrm>
            <a:off x="481914" y="543697"/>
            <a:ext cx="30441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Hw</a:t>
            </a:r>
            <a:r>
              <a:rPr lang="en-US" dirty="0"/>
              <a:t> 0:</a:t>
            </a:r>
          </a:p>
          <a:p>
            <a:r>
              <a:rPr lang="en-US" dirty="0"/>
              <a:t>Shared Memory with OpenMP</a:t>
            </a:r>
          </a:p>
        </p:txBody>
      </p:sp>
    </p:spTree>
    <p:extLst>
      <p:ext uri="{BB962C8B-B14F-4D97-AF65-F5344CB8AC3E}">
        <p14:creationId xmlns:p14="http://schemas.microsoft.com/office/powerpoint/2010/main" val="2600415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005BB9AB-CB83-2F4A-B8D3-3923B16C45C5}" vid="{6DAF6F60-9D35-814E-917A-A7202DE102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7344</TotalTime>
  <Words>1263</Words>
  <Application>Microsoft Macintosh PowerPoint</Application>
  <PresentationFormat>Widescreen</PresentationFormat>
  <Paragraphs>318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Calibri Light</vt:lpstr>
      <vt:lpstr>Courier</vt:lpstr>
      <vt:lpstr>Menlo</vt:lpstr>
      <vt:lpstr>Office Theme</vt:lpstr>
      <vt:lpstr>Patterns in Parallel Programming</vt:lpstr>
      <vt:lpstr>Parallel Patterns in Programs</vt:lpstr>
      <vt:lpstr>Patterns: tried and true methods in our code</vt:lpstr>
      <vt:lpstr>Parallel Hardware Systems</vt:lpstr>
      <vt:lpstr>PowerPoint Presentation</vt:lpstr>
      <vt:lpstr>Parallel Pattern Categories</vt:lpstr>
      <vt:lpstr>Parallel Algorithm Strategies</vt:lpstr>
      <vt:lpstr>Data  Decomposition Algorithm Strategy</vt:lpstr>
      <vt:lpstr>Data Decomposition: 1 Thread</vt:lpstr>
      <vt:lpstr>Data Decomposition: 2 Threads</vt:lpstr>
      <vt:lpstr>Data Decomposition: 4 Threads</vt:lpstr>
      <vt:lpstr>Shared Memory Machines</vt:lpstr>
      <vt:lpstr>Task  Decomposition Algorithm Strategy</vt:lpstr>
      <vt:lpstr>Algorithmic Strategy: Task Decomposition</vt:lpstr>
      <vt:lpstr>Pipeline  Algorithm Strategy</vt:lpstr>
      <vt:lpstr>Algorithmic Strategy: Pipeline</vt:lpstr>
      <vt:lpstr>Implementation Strategies</vt:lpstr>
      <vt:lpstr>How do we implement Data Decomposition?</vt:lpstr>
      <vt:lpstr>PowerPoint Presentation</vt:lpstr>
      <vt:lpstr>Implementation Strategy: Parallel Loop</vt:lpstr>
      <vt:lpstr>Implementation Strategy: Parallel Loop</vt:lpstr>
      <vt:lpstr>PowerPoint Presentation</vt:lpstr>
      <vt:lpstr>Communication Pattern: Reduction</vt:lpstr>
      <vt:lpstr>Concurrent  Hardware Patterns</vt:lpstr>
      <vt:lpstr>Shared Memory OpenMP &amp; MPI pattern</vt:lpstr>
      <vt:lpstr>Shared Memory OpenMP patterns</vt:lpstr>
      <vt:lpstr>PowerPoint Presentation</vt:lpstr>
      <vt:lpstr>Shared Memory OpenMP pattern</vt:lpstr>
      <vt:lpstr>Parallel Patterns in Programs</vt:lpstr>
      <vt:lpstr>Conclusions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Libby Shoop</dc:creator>
  <cp:lastModifiedBy>Microsoft Office User</cp:lastModifiedBy>
  <cp:revision>74</cp:revision>
  <dcterms:created xsi:type="dcterms:W3CDTF">2021-03-25T20:00:21Z</dcterms:created>
  <dcterms:modified xsi:type="dcterms:W3CDTF">2024-09-05T16:36:22Z</dcterms:modified>
</cp:coreProperties>
</file>