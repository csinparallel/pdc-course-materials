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2" r:id="rId3"/>
    <p:sldId id="257" r:id="rId4"/>
    <p:sldId id="258" r:id="rId5"/>
    <p:sldId id="259" r:id="rId6"/>
    <p:sldId id="260"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6405"/>
  </p:normalViewPr>
  <p:slideViewPr>
    <p:cSldViewPr snapToGrid="0" snapToObjects="1">
      <p:cViewPr varScale="1">
        <p:scale>
          <a:sx n="104" d="100"/>
          <a:sy n="104" d="100"/>
        </p:scale>
        <p:origin x="232" y="7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F2CFB-B9D9-0347-8C82-1A463FED25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735EB2-C00A-0F45-B47A-115D1C0D60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BD23B3-3698-8348-B5F0-FBA4DB9ABD05}"/>
              </a:ext>
            </a:extLst>
          </p:cNvPr>
          <p:cNvSpPr>
            <a:spLocks noGrp="1"/>
          </p:cNvSpPr>
          <p:nvPr>
            <p:ph type="dt" sz="half" idx="10"/>
          </p:nvPr>
        </p:nvSpPr>
        <p:spPr/>
        <p:txBody>
          <a:bodyPr/>
          <a:lstStyle/>
          <a:p>
            <a:fld id="{75DD9E5A-6977-4640-B621-2F6686AF40B9}" type="datetimeFigureOut">
              <a:rPr lang="en-US" smtClean="0"/>
              <a:t>9/22/22</a:t>
            </a:fld>
            <a:endParaRPr lang="en-US"/>
          </a:p>
        </p:txBody>
      </p:sp>
      <p:sp>
        <p:nvSpPr>
          <p:cNvPr id="5" name="Footer Placeholder 4">
            <a:extLst>
              <a:ext uri="{FF2B5EF4-FFF2-40B4-BE49-F238E27FC236}">
                <a16:creationId xmlns:a16="http://schemas.microsoft.com/office/drawing/2014/main" id="{2C91B99A-70EB-764A-8A71-D04AD7952B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4EAB5B-DDFF-DC4E-8E08-74636B65FEDB}"/>
              </a:ext>
            </a:extLst>
          </p:cNvPr>
          <p:cNvSpPr>
            <a:spLocks noGrp="1"/>
          </p:cNvSpPr>
          <p:nvPr>
            <p:ph type="sldNum" sz="quarter" idx="12"/>
          </p:nvPr>
        </p:nvSpPr>
        <p:spPr/>
        <p:txBody>
          <a:bodyPr/>
          <a:lstStyle/>
          <a:p>
            <a:fld id="{4BA33E12-7BD3-BD48-ACF8-D02633902001}" type="slidenum">
              <a:rPr lang="en-US" smtClean="0"/>
              <a:t>‹#›</a:t>
            </a:fld>
            <a:endParaRPr lang="en-US"/>
          </a:p>
        </p:txBody>
      </p:sp>
    </p:spTree>
    <p:extLst>
      <p:ext uri="{BB962C8B-B14F-4D97-AF65-F5344CB8AC3E}">
        <p14:creationId xmlns:p14="http://schemas.microsoft.com/office/powerpoint/2010/main" val="2094525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C138A-9BEC-E748-B32B-3480D57CD8A9}"/>
              </a:ext>
            </a:extLst>
          </p:cNvPr>
          <p:cNvSpPr>
            <a:spLocks noGrp="1"/>
          </p:cNvSpPr>
          <p:nvPr>
            <p:ph type="title"/>
          </p:nvPr>
        </p:nvSpPr>
        <p:spPr>
          <a:xfrm>
            <a:off x="761198" y="179888"/>
            <a:ext cx="10515600" cy="501149"/>
          </a:xfrm>
        </p:spPr>
        <p:txBody>
          <a:bodyPr>
            <a:noAutofit/>
          </a:bodyPr>
          <a:lstStyle>
            <a:lvl1pPr algn="ctr">
              <a:defRPr sz="3200">
                <a:solidFill>
                  <a:schemeClr val="accent5">
                    <a:lumMod val="40000"/>
                    <a:lumOff val="60000"/>
                  </a:schemeClr>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86FA5FC-38B9-1849-9B97-67F8642B3374}"/>
              </a:ext>
            </a:extLst>
          </p:cNvPr>
          <p:cNvSpPr>
            <a:spLocks noGrp="1"/>
          </p:cNvSpPr>
          <p:nvPr>
            <p:ph idx="1"/>
          </p:nvPr>
        </p:nvSpPr>
        <p:spPr>
          <a:xfrm>
            <a:off x="395438" y="891974"/>
            <a:ext cx="11308882" cy="44115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5754FF-469B-5241-92A1-6B0FB51FA87D}"/>
              </a:ext>
            </a:extLst>
          </p:cNvPr>
          <p:cNvSpPr>
            <a:spLocks noGrp="1"/>
          </p:cNvSpPr>
          <p:nvPr>
            <p:ph type="dt" sz="half" idx="10"/>
          </p:nvPr>
        </p:nvSpPr>
        <p:spPr/>
        <p:txBody>
          <a:bodyPr/>
          <a:lstStyle/>
          <a:p>
            <a:fld id="{75DD9E5A-6977-4640-B621-2F6686AF40B9}" type="datetimeFigureOut">
              <a:rPr lang="en-US" smtClean="0"/>
              <a:t>9/22/22</a:t>
            </a:fld>
            <a:endParaRPr lang="en-US"/>
          </a:p>
        </p:txBody>
      </p:sp>
      <p:sp>
        <p:nvSpPr>
          <p:cNvPr id="5" name="Footer Placeholder 4">
            <a:extLst>
              <a:ext uri="{FF2B5EF4-FFF2-40B4-BE49-F238E27FC236}">
                <a16:creationId xmlns:a16="http://schemas.microsoft.com/office/drawing/2014/main" id="{5BD488FF-C544-EE4F-94BE-BC977C8F01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CD8A44-5402-F44C-8FAF-A46B0A2FEF18}"/>
              </a:ext>
            </a:extLst>
          </p:cNvPr>
          <p:cNvSpPr>
            <a:spLocks noGrp="1"/>
          </p:cNvSpPr>
          <p:nvPr>
            <p:ph type="sldNum" sz="quarter" idx="12"/>
          </p:nvPr>
        </p:nvSpPr>
        <p:spPr/>
        <p:txBody>
          <a:bodyPr/>
          <a:lstStyle/>
          <a:p>
            <a:fld id="{4BA33E12-7BD3-BD48-ACF8-D02633902001}" type="slidenum">
              <a:rPr lang="en-US" smtClean="0"/>
              <a:t>‹#›</a:t>
            </a:fld>
            <a:endParaRPr lang="en-US"/>
          </a:p>
        </p:txBody>
      </p:sp>
    </p:spTree>
    <p:extLst>
      <p:ext uri="{BB962C8B-B14F-4D97-AF65-F5344CB8AC3E}">
        <p14:creationId xmlns:p14="http://schemas.microsoft.com/office/powerpoint/2010/main" val="329898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6C8A8-C4BF-6D4B-B2E2-62B5F1E30B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FF2076-2626-6648-AC43-CF23755A6D3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C2CF57-C8D4-8B47-837F-F3FABDF647D5}"/>
              </a:ext>
            </a:extLst>
          </p:cNvPr>
          <p:cNvSpPr>
            <a:spLocks noGrp="1"/>
          </p:cNvSpPr>
          <p:nvPr>
            <p:ph type="dt" sz="half" idx="10"/>
          </p:nvPr>
        </p:nvSpPr>
        <p:spPr/>
        <p:txBody>
          <a:bodyPr/>
          <a:lstStyle/>
          <a:p>
            <a:fld id="{75DD9E5A-6977-4640-B621-2F6686AF40B9}" type="datetimeFigureOut">
              <a:rPr lang="en-US" smtClean="0"/>
              <a:t>9/22/22</a:t>
            </a:fld>
            <a:endParaRPr lang="en-US"/>
          </a:p>
        </p:txBody>
      </p:sp>
      <p:sp>
        <p:nvSpPr>
          <p:cNvPr id="5" name="Footer Placeholder 4">
            <a:extLst>
              <a:ext uri="{FF2B5EF4-FFF2-40B4-BE49-F238E27FC236}">
                <a16:creationId xmlns:a16="http://schemas.microsoft.com/office/drawing/2014/main" id="{A060A8FB-AC28-C249-91CE-B2B702638A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74117C-62F0-6C48-874B-605E5F294864}"/>
              </a:ext>
            </a:extLst>
          </p:cNvPr>
          <p:cNvSpPr>
            <a:spLocks noGrp="1"/>
          </p:cNvSpPr>
          <p:nvPr>
            <p:ph type="sldNum" sz="quarter" idx="12"/>
          </p:nvPr>
        </p:nvSpPr>
        <p:spPr/>
        <p:txBody>
          <a:bodyPr/>
          <a:lstStyle/>
          <a:p>
            <a:fld id="{4BA33E12-7BD3-BD48-ACF8-D02633902001}" type="slidenum">
              <a:rPr lang="en-US" smtClean="0"/>
              <a:t>‹#›</a:t>
            </a:fld>
            <a:endParaRPr lang="en-US"/>
          </a:p>
        </p:txBody>
      </p:sp>
    </p:spTree>
    <p:extLst>
      <p:ext uri="{BB962C8B-B14F-4D97-AF65-F5344CB8AC3E}">
        <p14:creationId xmlns:p14="http://schemas.microsoft.com/office/powerpoint/2010/main" val="1509778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53357-14B8-A74D-976F-CCC6ADD09163}"/>
              </a:ext>
            </a:extLst>
          </p:cNvPr>
          <p:cNvSpPr>
            <a:spLocks noGrp="1"/>
          </p:cNvSpPr>
          <p:nvPr>
            <p:ph type="title"/>
          </p:nvPr>
        </p:nvSpPr>
        <p:spPr>
          <a:xfrm>
            <a:off x="838200" y="189514"/>
            <a:ext cx="10515600" cy="491523"/>
          </a:xfrm>
        </p:spPr>
        <p:txBody>
          <a:bodyPr>
            <a:noAutofit/>
          </a:bodyPr>
          <a:lstStyle>
            <a:lvl1pPr algn="ctr">
              <a:defRPr sz="4000">
                <a:solidFill>
                  <a:schemeClr val="accent5">
                    <a:lumMod val="40000"/>
                    <a:lumOff val="60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F3F1537-708E-BA44-B740-00A80BD14BD0}"/>
              </a:ext>
            </a:extLst>
          </p:cNvPr>
          <p:cNvSpPr>
            <a:spLocks noGrp="1"/>
          </p:cNvSpPr>
          <p:nvPr>
            <p:ph sz="half" idx="1"/>
          </p:nvPr>
        </p:nvSpPr>
        <p:spPr>
          <a:xfrm>
            <a:off x="519764" y="988226"/>
            <a:ext cx="5500036" cy="44500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674D18E-AB89-214A-80F6-AED6E054DBEF}"/>
              </a:ext>
            </a:extLst>
          </p:cNvPr>
          <p:cNvSpPr>
            <a:spLocks noGrp="1"/>
          </p:cNvSpPr>
          <p:nvPr>
            <p:ph sz="half" idx="2"/>
          </p:nvPr>
        </p:nvSpPr>
        <p:spPr>
          <a:xfrm>
            <a:off x="6095999" y="988227"/>
            <a:ext cx="5329187" cy="44500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266789A-F040-E241-9153-81B8368A16F1}"/>
              </a:ext>
            </a:extLst>
          </p:cNvPr>
          <p:cNvSpPr>
            <a:spLocks noGrp="1"/>
          </p:cNvSpPr>
          <p:nvPr>
            <p:ph type="dt" sz="half" idx="10"/>
          </p:nvPr>
        </p:nvSpPr>
        <p:spPr/>
        <p:txBody>
          <a:bodyPr/>
          <a:lstStyle/>
          <a:p>
            <a:fld id="{75DD9E5A-6977-4640-B621-2F6686AF40B9}" type="datetimeFigureOut">
              <a:rPr lang="en-US" smtClean="0"/>
              <a:t>9/22/22</a:t>
            </a:fld>
            <a:endParaRPr lang="en-US"/>
          </a:p>
        </p:txBody>
      </p:sp>
      <p:sp>
        <p:nvSpPr>
          <p:cNvPr id="6" name="Footer Placeholder 5">
            <a:extLst>
              <a:ext uri="{FF2B5EF4-FFF2-40B4-BE49-F238E27FC236}">
                <a16:creationId xmlns:a16="http://schemas.microsoft.com/office/drawing/2014/main" id="{326BED59-0F05-CB42-971F-06F288F130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D06800-CDC3-B44E-9AC8-50E9DB14321E}"/>
              </a:ext>
            </a:extLst>
          </p:cNvPr>
          <p:cNvSpPr>
            <a:spLocks noGrp="1"/>
          </p:cNvSpPr>
          <p:nvPr>
            <p:ph type="sldNum" sz="quarter" idx="12"/>
          </p:nvPr>
        </p:nvSpPr>
        <p:spPr/>
        <p:txBody>
          <a:bodyPr/>
          <a:lstStyle/>
          <a:p>
            <a:fld id="{4BA33E12-7BD3-BD48-ACF8-D02633902001}" type="slidenum">
              <a:rPr lang="en-US" smtClean="0"/>
              <a:t>‹#›</a:t>
            </a:fld>
            <a:endParaRPr lang="en-US"/>
          </a:p>
        </p:txBody>
      </p:sp>
    </p:spTree>
    <p:extLst>
      <p:ext uri="{BB962C8B-B14F-4D97-AF65-F5344CB8AC3E}">
        <p14:creationId xmlns:p14="http://schemas.microsoft.com/office/powerpoint/2010/main" val="3779470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899CA-270D-C04D-9BAB-4160608C265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E068B1E-725C-F746-A421-12E70C8A07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61F14B-39D0-3E47-977B-CB4D32538A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F2001A9-4D9B-D24E-AFCC-E62A5C78F4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7EAD10-CBCB-3645-9FDB-B4541176CE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B8E3AA-1007-974B-89AC-134FFAAE41B2}"/>
              </a:ext>
            </a:extLst>
          </p:cNvPr>
          <p:cNvSpPr>
            <a:spLocks noGrp="1"/>
          </p:cNvSpPr>
          <p:nvPr>
            <p:ph type="dt" sz="half" idx="10"/>
          </p:nvPr>
        </p:nvSpPr>
        <p:spPr/>
        <p:txBody>
          <a:bodyPr/>
          <a:lstStyle/>
          <a:p>
            <a:fld id="{75DD9E5A-6977-4640-B621-2F6686AF40B9}" type="datetimeFigureOut">
              <a:rPr lang="en-US" smtClean="0"/>
              <a:t>9/22/22</a:t>
            </a:fld>
            <a:endParaRPr lang="en-US"/>
          </a:p>
        </p:txBody>
      </p:sp>
      <p:sp>
        <p:nvSpPr>
          <p:cNvPr id="8" name="Footer Placeholder 7">
            <a:extLst>
              <a:ext uri="{FF2B5EF4-FFF2-40B4-BE49-F238E27FC236}">
                <a16:creationId xmlns:a16="http://schemas.microsoft.com/office/drawing/2014/main" id="{0674C07F-994D-E147-B9C4-4D2DA79FE0A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99B744-A6AB-B84D-814D-27AFAAA59D6D}"/>
              </a:ext>
            </a:extLst>
          </p:cNvPr>
          <p:cNvSpPr>
            <a:spLocks noGrp="1"/>
          </p:cNvSpPr>
          <p:nvPr>
            <p:ph type="sldNum" sz="quarter" idx="12"/>
          </p:nvPr>
        </p:nvSpPr>
        <p:spPr/>
        <p:txBody>
          <a:bodyPr/>
          <a:lstStyle/>
          <a:p>
            <a:fld id="{4BA33E12-7BD3-BD48-ACF8-D02633902001}" type="slidenum">
              <a:rPr lang="en-US" smtClean="0"/>
              <a:t>‹#›</a:t>
            </a:fld>
            <a:endParaRPr lang="en-US"/>
          </a:p>
        </p:txBody>
      </p:sp>
    </p:spTree>
    <p:extLst>
      <p:ext uri="{BB962C8B-B14F-4D97-AF65-F5344CB8AC3E}">
        <p14:creationId xmlns:p14="http://schemas.microsoft.com/office/powerpoint/2010/main" val="2653387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9B2A6-D0A5-5842-9326-C3248661DEB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7CBE5BB-7D4A-3443-8011-50BFA20FB1DF}"/>
              </a:ext>
            </a:extLst>
          </p:cNvPr>
          <p:cNvSpPr>
            <a:spLocks noGrp="1"/>
          </p:cNvSpPr>
          <p:nvPr>
            <p:ph type="dt" sz="half" idx="10"/>
          </p:nvPr>
        </p:nvSpPr>
        <p:spPr/>
        <p:txBody>
          <a:bodyPr/>
          <a:lstStyle/>
          <a:p>
            <a:fld id="{75DD9E5A-6977-4640-B621-2F6686AF40B9}" type="datetimeFigureOut">
              <a:rPr lang="en-US" smtClean="0"/>
              <a:t>9/22/22</a:t>
            </a:fld>
            <a:endParaRPr lang="en-US"/>
          </a:p>
        </p:txBody>
      </p:sp>
      <p:sp>
        <p:nvSpPr>
          <p:cNvPr id="4" name="Footer Placeholder 3">
            <a:extLst>
              <a:ext uri="{FF2B5EF4-FFF2-40B4-BE49-F238E27FC236}">
                <a16:creationId xmlns:a16="http://schemas.microsoft.com/office/drawing/2014/main" id="{A401EC94-4F6E-A842-B2B4-745B72879BD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2FEA374-F9D1-5047-8E00-EEBC558E530B}"/>
              </a:ext>
            </a:extLst>
          </p:cNvPr>
          <p:cNvSpPr>
            <a:spLocks noGrp="1"/>
          </p:cNvSpPr>
          <p:nvPr>
            <p:ph type="sldNum" sz="quarter" idx="12"/>
          </p:nvPr>
        </p:nvSpPr>
        <p:spPr/>
        <p:txBody>
          <a:bodyPr/>
          <a:lstStyle/>
          <a:p>
            <a:fld id="{4BA33E12-7BD3-BD48-ACF8-D02633902001}" type="slidenum">
              <a:rPr lang="en-US" smtClean="0"/>
              <a:t>‹#›</a:t>
            </a:fld>
            <a:endParaRPr lang="en-US"/>
          </a:p>
        </p:txBody>
      </p:sp>
    </p:spTree>
    <p:extLst>
      <p:ext uri="{BB962C8B-B14F-4D97-AF65-F5344CB8AC3E}">
        <p14:creationId xmlns:p14="http://schemas.microsoft.com/office/powerpoint/2010/main" val="4005054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4E34A2-FF06-4646-9B11-3960AAD81C8F}"/>
              </a:ext>
            </a:extLst>
          </p:cNvPr>
          <p:cNvSpPr>
            <a:spLocks noGrp="1"/>
          </p:cNvSpPr>
          <p:nvPr>
            <p:ph type="dt" sz="half" idx="10"/>
          </p:nvPr>
        </p:nvSpPr>
        <p:spPr/>
        <p:txBody>
          <a:bodyPr/>
          <a:lstStyle/>
          <a:p>
            <a:fld id="{75DD9E5A-6977-4640-B621-2F6686AF40B9}" type="datetimeFigureOut">
              <a:rPr lang="en-US" smtClean="0"/>
              <a:t>9/22/22</a:t>
            </a:fld>
            <a:endParaRPr lang="en-US"/>
          </a:p>
        </p:txBody>
      </p:sp>
      <p:sp>
        <p:nvSpPr>
          <p:cNvPr id="3" name="Footer Placeholder 2">
            <a:extLst>
              <a:ext uri="{FF2B5EF4-FFF2-40B4-BE49-F238E27FC236}">
                <a16:creationId xmlns:a16="http://schemas.microsoft.com/office/drawing/2014/main" id="{6F602A72-9F03-3047-A58F-5478424B868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07045E1-1CAC-6540-AC9E-33B763897408}"/>
              </a:ext>
            </a:extLst>
          </p:cNvPr>
          <p:cNvSpPr>
            <a:spLocks noGrp="1"/>
          </p:cNvSpPr>
          <p:nvPr>
            <p:ph type="sldNum" sz="quarter" idx="12"/>
          </p:nvPr>
        </p:nvSpPr>
        <p:spPr/>
        <p:txBody>
          <a:bodyPr/>
          <a:lstStyle/>
          <a:p>
            <a:fld id="{4BA33E12-7BD3-BD48-ACF8-D02633902001}" type="slidenum">
              <a:rPr lang="en-US" smtClean="0"/>
              <a:t>‹#›</a:t>
            </a:fld>
            <a:endParaRPr lang="en-US"/>
          </a:p>
        </p:txBody>
      </p:sp>
    </p:spTree>
    <p:extLst>
      <p:ext uri="{BB962C8B-B14F-4D97-AF65-F5344CB8AC3E}">
        <p14:creationId xmlns:p14="http://schemas.microsoft.com/office/powerpoint/2010/main" val="1109468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5D1BE-D122-7443-B909-666D7E00B3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2962548-6163-DF42-8D6F-E0DF3CD999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7292E66-003D-CB49-91E5-89A87B22CB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86E865-8FAD-AB45-8489-9C2AA8200CE0}"/>
              </a:ext>
            </a:extLst>
          </p:cNvPr>
          <p:cNvSpPr>
            <a:spLocks noGrp="1"/>
          </p:cNvSpPr>
          <p:nvPr>
            <p:ph type="dt" sz="half" idx="10"/>
          </p:nvPr>
        </p:nvSpPr>
        <p:spPr/>
        <p:txBody>
          <a:bodyPr/>
          <a:lstStyle/>
          <a:p>
            <a:fld id="{75DD9E5A-6977-4640-B621-2F6686AF40B9}" type="datetimeFigureOut">
              <a:rPr lang="en-US" smtClean="0"/>
              <a:t>9/22/22</a:t>
            </a:fld>
            <a:endParaRPr lang="en-US"/>
          </a:p>
        </p:txBody>
      </p:sp>
      <p:sp>
        <p:nvSpPr>
          <p:cNvPr id="6" name="Footer Placeholder 5">
            <a:extLst>
              <a:ext uri="{FF2B5EF4-FFF2-40B4-BE49-F238E27FC236}">
                <a16:creationId xmlns:a16="http://schemas.microsoft.com/office/drawing/2014/main" id="{8C49390D-6CA7-334E-BFE4-ADD6E1237B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10F00F-8DAC-6B45-A36C-CE3F91225712}"/>
              </a:ext>
            </a:extLst>
          </p:cNvPr>
          <p:cNvSpPr>
            <a:spLocks noGrp="1"/>
          </p:cNvSpPr>
          <p:nvPr>
            <p:ph type="sldNum" sz="quarter" idx="12"/>
          </p:nvPr>
        </p:nvSpPr>
        <p:spPr/>
        <p:txBody>
          <a:bodyPr/>
          <a:lstStyle/>
          <a:p>
            <a:fld id="{4BA33E12-7BD3-BD48-ACF8-D02633902001}" type="slidenum">
              <a:rPr lang="en-US" smtClean="0"/>
              <a:t>‹#›</a:t>
            </a:fld>
            <a:endParaRPr lang="en-US"/>
          </a:p>
        </p:txBody>
      </p:sp>
    </p:spTree>
    <p:extLst>
      <p:ext uri="{BB962C8B-B14F-4D97-AF65-F5344CB8AC3E}">
        <p14:creationId xmlns:p14="http://schemas.microsoft.com/office/powerpoint/2010/main" val="42168788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0B418-47B0-DC4F-AD09-F59EBFBA68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9876A39-FD73-2C42-9F0E-A75F94321F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03EE543-5E7F-2D4E-ACC3-81F5986703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ACE77D-1E65-A543-870E-17E38C699AAC}"/>
              </a:ext>
            </a:extLst>
          </p:cNvPr>
          <p:cNvSpPr>
            <a:spLocks noGrp="1"/>
          </p:cNvSpPr>
          <p:nvPr>
            <p:ph type="dt" sz="half" idx="10"/>
          </p:nvPr>
        </p:nvSpPr>
        <p:spPr/>
        <p:txBody>
          <a:bodyPr/>
          <a:lstStyle/>
          <a:p>
            <a:fld id="{75DD9E5A-6977-4640-B621-2F6686AF40B9}" type="datetimeFigureOut">
              <a:rPr lang="en-US" smtClean="0"/>
              <a:t>9/22/22</a:t>
            </a:fld>
            <a:endParaRPr lang="en-US"/>
          </a:p>
        </p:txBody>
      </p:sp>
      <p:sp>
        <p:nvSpPr>
          <p:cNvPr id="6" name="Footer Placeholder 5">
            <a:extLst>
              <a:ext uri="{FF2B5EF4-FFF2-40B4-BE49-F238E27FC236}">
                <a16:creationId xmlns:a16="http://schemas.microsoft.com/office/drawing/2014/main" id="{F2BC2DB8-1E2E-9744-9E99-8F5A7BB6ED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3D143D-B79E-C44A-A040-D785D07EB4E0}"/>
              </a:ext>
            </a:extLst>
          </p:cNvPr>
          <p:cNvSpPr>
            <a:spLocks noGrp="1"/>
          </p:cNvSpPr>
          <p:nvPr>
            <p:ph type="sldNum" sz="quarter" idx="12"/>
          </p:nvPr>
        </p:nvSpPr>
        <p:spPr/>
        <p:txBody>
          <a:bodyPr/>
          <a:lstStyle/>
          <a:p>
            <a:fld id="{4BA33E12-7BD3-BD48-ACF8-D02633902001}" type="slidenum">
              <a:rPr lang="en-US" smtClean="0"/>
              <a:t>‹#›</a:t>
            </a:fld>
            <a:endParaRPr lang="en-US"/>
          </a:p>
        </p:txBody>
      </p:sp>
    </p:spTree>
    <p:extLst>
      <p:ext uri="{BB962C8B-B14F-4D97-AF65-F5344CB8AC3E}">
        <p14:creationId xmlns:p14="http://schemas.microsoft.com/office/powerpoint/2010/main" val="99226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D784D-E7A9-E848-B261-413FCAA9888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47E922-260A-DB4E-9833-35B0C3BCFE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3677AC-6170-254E-A053-DE7A25AA64E5}"/>
              </a:ext>
            </a:extLst>
          </p:cNvPr>
          <p:cNvSpPr>
            <a:spLocks noGrp="1"/>
          </p:cNvSpPr>
          <p:nvPr>
            <p:ph type="dt" sz="half" idx="10"/>
          </p:nvPr>
        </p:nvSpPr>
        <p:spPr/>
        <p:txBody>
          <a:bodyPr/>
          <a:lstStyle/>
          <a:p>
            <a:fld id="{75DD9E5A-6977-4640-B621-2F6686AF40B9}" type="datetimeFigureOut">
              <a:rPr lang="en-US" smtClean="0"/>
              <a:t>9/22/22</a:t>
            </a:fld>
            <a:endParaRPr lang="en-US"/>
          </a:p>
        </p:txBody>
      </p:sp>
      <p:sp>
        <p:nvSpPr>
          <p:cNvPr id="5" name="Footer Placeholder 4">
            <a:extLst>
              <a:ext uri="{FF2B5EF4-FFF2-40B4-BE49-F238E27FC236}">
                <a16:creationId xmlns:a16="http://schemas.microsoft.com/office/drawing/2014/main" id="{E6ADA906-7BEF-1B45-899D-93233ACC4A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45448D-80D6-EC47-8869-6FC033A403AD}"/>
              </a:ext>
            </a:extLst>
          </p:cNvPr>
          <p:cNvSpPr>
            <a:spLocks noGrp="1"/>
          </p:cNvSpPr>
          <p:nvPr>
            <p:ph type="sldNum" sz="quarter" idx="12"/>
          </p:nvPr>
        </p:nvSpPr>
        <p:spPr/>
        <p:txBody>
          <a:bodyPr/>
          <a:lstStyle/>
          <a:p>
            <a:fld id="{4BA33E12-7BD3-BD48-ACF8-D02633902001}" type="slidenum">
              <a:rPr lang="en-US" smtClean="0"/>
              <a:t>‹#›</a:t>
            </a:fld>
            <a:endParaRPr lang="en-US"/>
          </a:p>
        </p:txBody>
      </p:sp>
    </p:spTree>
    <p:extLst>
      <p:ext uri="{BB962C8B-B14F-4D97-AF65-F5344CB8AC3E}">
        <p14:creationId xmlns:p14="http://schemas.microsoft.com/office/powerpoint/2010/main" val="2096980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2D4714-F165-6A49-83C2-6099569240F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E4160F5-13DB-3E4A-813A-01FB9ABFDD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47A2AB-D055-C647-830B-BCC1230991A0}"/>
              </a:ext>
            </a:extLst>
          </p:cNvPr>
          <p:cNvSpPr>
            <a:spLocks noGrp="1"/>
          </p:cNvSpPr>
          <p:nvPr>
            <p:ph type="dt" sz="half" idx="10"/>
          </p:nvPr>
        </p:nvSpPr>
        <p:spPr/>
        <p:txBody>
          <a:bodyPr/>
          <a:lstStyle/>
          <a:p>
            <a:fld id="{75DD9E5A-6977-4640-B621-2F6686AF40B9}" type="datetimeFigureOut">
              <a:rPr lang="en-US" smtClean="0"/>
              <a:t>9/22/22</a:t>
            </a:fld>
            <a:endParaRPr lang="en-US"/>
          </a:p>
        </p:txBody>
      </p:sp>
      <p:sp>
        <p:nvSpPr>
          <p:cNvPr id="5" name="Footer Placeholder 4">
            <a:extLst>
              <a:ext uri="{FF2B5EF4-FFF2-40B4-BE49-F238E27FC236}">
                <a16:creationId xmlns:a16="http://schemas.microsoft.com/office/drawing/2014/main" id="{506ECAB2-8B81-5843-AFAD-4CEA8ADCED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02BE4B-ED0D-664C-8695-58D23CDCC1E1}"/>
              </a:ext>
            </a:extLst>
          </p:cNvPr>
          <p:cNvSpPr>
            <a:spLocks noGrp="1"/>
          </p:cNvSpPr>
          <p:nvPr>
            <p:ph type="sldNum" sz="quarter" idx="12"/>
          </p:nvPr>
        </p:nvSpPr>
        <p:spPr/>
        <p:txBody>
          <a:bodyPr/>
          <a:lstStyle/>
          <a:p>
            <a:fld id="{4BA33E12-7BD3-BD48-ACF8-D02633902001}" type="slidenum">
              <a:rPr lang="en-US" smtClean="0"/>
              <a:t>‹#›</a:t>
            </a:fld>
            <a:endParaRPr lang="en-US"/>
          </a:p>
        </p:txBody>
      </p:sp>
    </p:spTree>
    <p:extLst>
      <p:ext uri="{BB962C8B-B14F-4D97-AF65-F5344CB8AC3E}">
        <p14:creationId xmlns:p14="http://schemas.microsoft.com/office/powerpoint/2010/main" val="4052723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65F063-E93D-BB4B-A024-282AB21ED38D}"/>
              </a:ext>
            </a:extLst>
          </p:cNvPr>
          <p:cNvSpPr>
            <a:spLocks noGrp="1"/>
          </p:cNvSpPr>
          <p:nvPr>
            <p:ph type="title"/>
          </p:nvPr>
        </p:nvSpPr>
        <p:spPr>
          <a:xfrm>
            <a:off x="838200" y="136525"/>
            <a:ext cx="10515600" cy="558900"/>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DCF7D538-68DF-DA4B-AD57-2CBD80BC2662}"/>
              </a:ext>
            </a:extLst>
          </p:cNvPr>
          <p:cNvSpPr>
            <a:spLocks noGrp="1"/>
          </p:cNvSpPr>
          <p:nvPr>
            <p:ph type="body" idx="1"/>
          </p:nvPr>
        </p:nvSpPr>
        <p:spPr>
          <a:xfrm>
            <a:off x="838199" y="766845"/>
            <a:ext cx="10596613" cy="48158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938257B-4037-8B41-8672-5C16900FA3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DD9E5A-6977-4640-B621-2F6686AF40B9}" type="datetimeFigureOut">
              <a:rPr lang="en-US" smtClean="0"/>
              <a:t>9/22/22</a:t>
            </a:fld>
            <a:endParaRPr lang="en-US"/>
          </a:p>
        </p:txBody>
      </p:sp>
      <p:sp>
        <p:nvSpPr>
          <p:cNvPr id="5" name="Footer Placeholder 4">
            <a:extLst>
              <a:ext uri="{FF2B5EF4-FFF2-40B4-BE49-F238E27FC236}">
                <a16:creationId xmlns:a16="http://schemas.microsoft.com/office/drawing/2014/main" id="{6865CD5B-6D1E-0245-BBB5-6DB2BF2FBC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CA99468-12B3-E843-93F2-1CFFE8CF74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A33E12-7BD3-BD48-ACF8-D02633902001}" type="slidenum">
              <a:rPr lang="en-US" smtClean="0"/>
              <a:t>‹#›</a:t>
            </a:fld>
            <a:endParaRPr lang="en-US"/>
          </a:p>
        </p:txBody>
      </p:sp>
    </p:spTree>
    <p:extLst>
      <p:ext uri="{BB962C8B-B14F-4D97-AF65-F5344CB8AC3E}">
        <p14:creationId xmlns:p14="http://schemas.microsoft.com/office/powerpoint/2010/main" val="151414430"/>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3200" kern="1200">
          <a:solidFill>
            <a:schemeClr val="accent5">
              <a:lumMod val="40000"/>
              <a:lumOff val="60000"/>
            </a:schemeClr>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BB5A4-BE90-E44E-9AF0-D5382E685368}"/>
              </a:ext>
            </a:extLst>
          </p:cNvPr>
          <p:cNvSpPr>
            <a:spLocks noGrp="1"/>
          </p:cNvSpPr>
          <p:nvPr>
            <p:ph type="ctrTitle"/>
          </p:nvPr>
        </p:nvSpPr>
        <p:spPr/>
        <p:txBody>
          <a:bodyPr/>
          <a:lstStyle/>
          <a:p>
            <a:r>
              <a:rPr lang="en-US" dirty="0"/>
              <a:t>Atomicity vs Critical Section</a:t>
            </a:r>
          </a:p>
        </p:txBody>
      </p:sp>
      <p:sp>
        <p:nvSpPr>
          <p:cNvPr id="3" name="Subtitle 2">
            <a:extLst>
              <a:ext uri="{FF2B5EF4-FFF2-40B4-BE49-F238E27FC236}">
                <a16:creationId xmlns:a16="http://schemas.microsoft.com/office/drawing/2014/main" id="{DA240833-E985-E147-8665-E003AB61BB3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20625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D39B6B-358C-DA05-FE03-57984BD9D49E}"/>
              </a:ext>
            </a:extLst>
          </p:cNvPr>
          <p:cNvSpPr>
            <a:spLocks noGrp="1"/>
          </p:cNvSpPr>
          <p:nvPr>
            <p:ph type="title"/>
          </p:nvPr>
        </p:nvSpPr>
        <p:spPr>
          <a:xfrm>
            <a:off x="839788" y="365126"/>
            <a:ext cx="10515600" cy="967564"/>
          </a:xfrm>
        </p:spPr>
        <p:txBody>
          <a:bodyPr/>
          <a:lstStyle/>
          <a:p>
            <a:r>
              <a:rPr lang="en-US" sz="2400" dirty="0"/>
              <a:t>Ensuring each thread completes before another can complete some code</a:t>
            </a:r>
          </a:p>
        </p:txBody>
      </p:sp>
      <p:sp>
        <p:nvSpPr>
          <p:cNvPr id="5" name="Text Placeholder 4">
            <a:extLst>
              <a:ext uri="{FF2B5EF4-FFF2-40B4-BE49-F238E27FC236}">
                <a16:creationId xmlns:a16="http://schemas.microsoft.com/office/drawing/2014/main" id="{C9EE3C2A-6D1E-084B-C0D7-BE2D9B62DB9C}"/>
              </a:ext>
            </a:extLst>
          </p:cNvPr>
          <p:cNvSpPr>
            <a:spLocks noGrp="1"/>
          </p:cNvSpPr>
          <p:nvPr>
            <p:ph type="body" idx="1"/>
          </p:nvPr>
        </p:nvSpPr>
        <p:spPr/>
        <p:txBody>
          <a:bodyPr/>
          <a:lstStyle/>
          <a:p>
            <a:r>
              <a:rPr lang="en-US" dirty="0"/>
              <a:t>Atomic example</a:t>
            </a:r>
          </a:p>
        </p:txBody>
      </p:sp>
      <p:sp>
        <p:nvSpPr>
          <p:cNvPr id="6" name="Content Placeholder 5">
            <a:extLst>
              <a:ext uri="{FF2B5EF4-FFF2-40B4-BE49-F238E27FC236}">
                <a16:creationId xmlns:a16="http://schemas.microsoft.com/office/drawing/2014/main" id="{497AD45A-71DC-A31F-0FD9-78FB80C615E6}"/>
              </a:ext>
            </a:extLst>
          </p:cNvPr>
          <p:cNvSpPr>
            <a:spLocks noGrp="1"/>
          </p:cNvSpPr>
          <p:nvPr>
            <p:ph sz="half" idx="2"/>
          </p:nvPr>
        </p:nvSpPr>
        <p:spPr/>
        <p:txBody>
          <a:bodyPr>
            <a:normAutofit/>
          </a:bodyPr>
          <a:lstStyle/>
          <a:p>
            <a:r>
              <a:rPr lang="en-US" sz="2000" b="0" dirty="0">
                <a:solidFill>
                  <a:srgbClr val="C586C0"/>
                </a:solidFill>
                <a:effectLst/>
                <a:latin typeface="Menlo" panose="020B0609030804020204" pitchFamily="49" charset="0"/>
              </a:rPr>
              <a:t>#pragma</a:t>
            </a:r>
            <a:r>
              <a:rPr lang="en-US" sz="2000" b="0" dirty="0">
                <a:solidFill>
                  <a:srgbClr val="569CD6"/>
                </a:solidFill>
                <a:effectLst/>
                <a:latin typeface="Menlo" panose="020B0609030804020204" pitchFamily="49" charset="0"/>
              </a:rPr>
              <a:t> </a:t>
            </a:r>
            <a:r>
              <a:rPr lang="en-US" sz="2000" b="0" dirty="0" err="1">
                <a:solidFill>
                  <a:srgbClr val="9CDCFE"/>
                </a:solidFill>
                <a:effectLst/>
                <a:latin typeface="Menlo" panose="020B0609030804020204" pitchFamily="49" charset="0"/>
              </a:rPr>
              <a:t>omp</a:t>
            </a:r>
            <a:r>
              <a:rPr lang="en-US" sz="2000" b="0" dirty="0">
                <a:solidFill>
                  <a:srgbClr val="569CD6"/>
                </a:solidFill>
                <a:effectLst/>
                <a:latin typeface="Menlo" panose="020B0609030804020204" pitchFamily="49" charset="0"/>
              </a:rPr>
              <a:t> </a:t>
            </a:r>
            <a:r>
              <a:rPr lang="en-US" sz="2000" b="0" dirty="0">
                <a:solidFill>
                  <a:srgbClr val="9CDCFE"/>
                </a:solidFill>
                <a:effectLst/>
                <a:latin typeface="Menlo" panose="020B0609030804020204" pitchFamily="49" charset="0"/>
              </a:rPr>
              <a:t>parallel</a:t>
            </a:r>
            <a:r>
              <a:rPr lang="en-US" sz="2000" b="0" dirty="0">
                <a:solidFill>
                  <a:srgbClr val="569CD6"/>
                </a:solidFill>
                <a:effectLst/>
                <a:latin typeface="Menlo" panose="020B0609030804020204" pitchFamily="49" charset="0"/>
              </a:rPr>
              <a:t> </a:t>
            </a:r>
            <a:r>
              <a:rPr lang="en-US" sz="2000" b="0" dirty="0">
                <a:solidFill>
                  <a:srgbClr val="9CDCFE"/>
                </a:solidFill>
                <a:effectLst/>
                <a:latin typeface="Menlo" panose="020B0609030804020204" pitchFamily="49" charset="0"/>
              </a:rPr>
              <a:t>for</a:t>
            </a:r>
            <a:r>
              <a:rPr lang="en-US" sz="2000" b="0" dirty="0">
                <a:solidFill>
                  <a:srgbClr val="569CD6"/>
                </a:solidFill>
                <a:effectLst/>
                <a:latin typeface="Menlo" panose="020B0609030804020204" pitchFamily="49" charset="0"/>
              </a:rPr>
              <a:t> </a:t>
            </a:r>
            <a:endParaRPr lang="en-US" sz="2000" b="0" dirty="0">
              <a:solidFill>
                <a:srgbClr val="D4D4D4"/>
              </a:solidFill>
              <a:effectLst/>
              <a:latin typeface="Menlo" panose="020B0609030804020204" pitchFamily="49" charset="0"/>
            </a:endParaRPr>
          </a:p>
          <a:p>
            <a:r>
              <a:rPr lang="en-US" sz="2000" b="0" dirty="0">
                <a:solidFill>
                  <a:srgbClr val="C586C0"/>
                </a:solidFill>
                <a:effectLst/>
                <a:latin typeface="Menlo" panose="020B0609030804020204" pitchFamily="49" charset="0"/>
              </a:rPr>
              <a:t>for</a:t>
            </a:r>
            <a:r>
              <a:rPr lang="en-US" sz="2000" b="0" dirty="0">
                <a:solidFill>
                  <a:srgbClr val="D4D4D4"/>
                </a:solidFill>
                <a:effectLst/>
                <a:latin typeface="Menlo" panose="020B0609030804020204" pitchFamily="49" charset="0"/>
              </a:rPr>
              <a:t> (</a:t>
            </a:r>
            <a:r>
              <a:rPr lang="en-US" sz="2000" b="0" dirty="0" err="1">
                <a:solidFill>
                  <a:srgbClr val="D4D4D4"/>
                </a:solidFill>
                <a:effectLst/>
                <a:latin typeface="Menlo" panose="020B0609030804020204" pitchFamily="49" charset="0"/>
              </a:rPr>
              <a:t>i</a:t>
            </a:r>
            <a:r>
              <a:rPr lang="en-US" sz="2000" b="0" dirty="0">
                <a:solidFill>
                  <a:srgbClr val="D4D4D4"/>
                </a:solidFill>
                <a:effectLst/>
                <a:latin typeface="Menlo" panose="020B0609030804020204" pitchFamily="49" charset="0"/>
              </a:rPr>
              <a:t> = </a:t>
            </a:r>
            <a:r>
              <a:rPr lang="en-US" sz="2000" b="0" dirty="0">
                <a:solidFill>
                  <a:srgbClr val="B5CEA8"/>
                </a:solidFill>
                <a:effectLst/>
                <a:latin typeface="Menlo" panose="020B0609030804020204" pitchFamily="49" charset="0"/>
              </a:rPr>
              <a:t>0</a:t>
            </a:r>
            <a:r>
              <a:rPr lang="en-US" sz="2000" b="0" dirty="0">
                <a:solidFill>
                  <a:srgbClr val="D4D4D4"/>
                </a:solidFill>
                <a:effectLst/>
                <a:latin typeface="Menlo" panose="020B0609030804020204" pitchFamily="49" charset="0"/>
              </a:rPr>
              <a:t>; </a:t>
            </a:r>
            <a:r>
              <a:rPr lang="en-US" sz="2000" b="0" dirty="0" err="1">
                <a:solidFill>
                  <a:srgbClr val="D4D4D4"/>
                </a:solidFill>
                <a:effectLst/>
                <a:latin typeface="Menlo" panose="020B0609030804020204" pitchFamily="49" charset="0"/>
              </a:rPr>
              <a:t>i</a:t>
            </a:r>
            <a:r>
              <a:rPr lang="en-US" sz="2000" b="0" dirty="0">
                <a:solidFill>
                  <a:srgbClr val="D4D4D4"/>
                </a:solidFill>
                <a:effectLst/>
                <a:latin typeface="Menlo" panose="020B0609030804020204" pitchFamily="49" charset="0"/>
              </a:rPr>
              <a:t> &lt; REPS; </a:t>
            </a:r>
            <a:r>
              <a:rPr lang="en-US" sz="2000" b="0" dirty="0" err="1">
                <a:solidFill>
                  <a:srgbClr val="D4D4D4"/>
                </a:solidFill>
                <a:effectLst/>
                <a:latin typeface="Menlo" panose="020B0609030804020204" pitchFamily="49" charset="0"/>
              </a:rPr>
              <a:t>i</a:t>
            </a:r>
            <a:r>
              <a:rPr lang="en-US" sz="2000" b="0" dirty="0">
                <a:solidFill>
                  <a:srgbClr val="D4D4D4"/>
                </a:solidFill>
                <a:effectLst/>
                <a:latin typeface="Menlo" panose="020B0609030804020204" pitchFamily="49" charset="0"/>
              </a:rPr>
              <a:t>++) {</a:t>
            </a:r>
          </a:p>
          <a:p>
            <a:r>
              <a:rPr lang="en-US" sz="2000" b="0" dirty="0">
                <a:solidFill>
                  <a:srgbClr val="C586C0"/>
                </a:solidFill>
                <a:effectLst/>
                <a:latin typeface="Menlo" panose="020B0609030804020204" pitchFamily="49" charset="0"/>
              </a:rPr>
              <a:t>  #pragma</a:t>
            </a:r>
            <a:r>
              <a:rPr lang="en-US" sz="2000" b="0" dirty="0">
                <a:solidFill>
                  <a:srgbClr val="569CD6"/>
                </a:solidFill>
                <a:effectLst/>
                <a:latin typeface="Menlo" panose="020B0609030804020204" pitchFamily="49" charset="0"/>
              </a:rPr>
              <a:t> </a:t>
            </a:r>
            <a:r>
              <a:rPr lang="en-US" sz="2000" b="0" dirty="0" err="1">
                <a:solidFill>
                  <a:srgbClr val="9CDCFE"/>
                </a:solidFill>
                <a:effectLst/>
                <a:latin typeface="Menlo" panose="020B0609030804020204" pitchFamily="49" charset="0"/>
              </a:rPr>
              <a:t>omp</a:t>
            </a:r>
            <a:r>
              <a:rPr lang="en-US" sz="2000" b="0" dirty="0">
                <a:solidFill>
                  <a:srgbClr val="569CD6"/>
                </a:solidFill>
                <a:effectLst/>
                <a:latin typeface="Menlo" panose="020B0609030804020204" pitchFamily="49" charset="0"/>
              </a:rPr>
              <a:t> </a:t>
            </a:r>
            <a:r>
              <a:rPr lang="en-US" sz="2000" b="0" dirty="0">
                <a:solidFill>
                  <a:srgbClr val="9CDCFE"/>
                </a:solidFill>
                <a:effectLst/>
                <a:latin typeface="Menlo" panose="020B0609030804020204" pitchFamily="49" charset="0"/>
              </a:rPr>
              <a:t>atomic</a:t>
            </a:r>
            <a:endParaRPr lang="en-US" sz="2000" b="0" dirty="0">
              <a:solidFill>
                <a:srgbClr val="D4D4D4"/>
              </a:solidFill>
              <a:effectLst/>
              <a:latin typeface="Menlo" panose="020B0609030804020204" pitchFamily="49" charset="0"/>
            </a:endParaRPr>
          </a:p>
          <a:p>
            <a:r>
              <a:rPr lang="en-US" sz="2000" b="0" dirty="0">
                <a:solidFill>
                  <a:srgbClr val="D4D4D4"/>
                </a:solidFill>
                <a:effectLst/>
                <a:latin typeface="Menlo" panose="020B0609030804020204" pitchFamily="49" charset="0"/>
              </a:rPr>
              <a:t>  balance += </a:t>
            </a:r>
            <a:r>
              <a:rPr lang="en-US" sz="2000" b="0" dirty="0">
                <a:solidFill>
                  <a:srgbClr val="B5CEA8"/>
                </a:solidFill>
                <a:effectLst/>
                <a:latin typeface="Menlo" panose="020B0609030804020204" pitchFamily="49" charset="0"/>
              </a:rPr>
              <a:t>1.0</a:t>
            </a:r>
            <a:r>
              <a:rPr lang="en-US" sz="2000" b="0" dirty="0">
                <a:solidFill>
                  <a:srgbClr val="D4D4D4"/>
                </a:solidFill>
                <a:effectLst/>
                <a:latin typeface="Menlo" panose="020B0609030804020204" pitchFamily="49" charset="0"/>
              </a:rPr>
              <a:t>;</a:t>
            </a:r>
          </a:p>
          <a:p>
            <a:r>
              <a:rPr lang="en-US" sz="2000" b="0" dirty="0">
                <a:solidFill>
                  <a:srgbClr val="D4D4D4"/>
                </a:solidFill>
                <a:effectLst/>
                <a:latin typeface="Menlo" panose="020B0609030804020204" pitchFamily="49" charset="0"/>
              </a:rPr>
              <a:t>}</a:t>
            </a:r>
          </a:p>
          <a:p>
            <a:endParaRPr lang="en-US" dirty="0"/>
          </a:p>
        </p:txBody>
      </p:sp>
      <p:sp>
        <p:nvSpPr>
          <p:cNvPr id="7" name="Text Placeholder 6">
            <a:extLst>
              <a:ext uri="{FF2B5EF4-FFF2-40B4-BE49-F238E27FC236}">
                <a16:creationId xmlns:a16="http://schemas.microsoft.com/office/drawing/2014/main" id="{8CC48EEC-61F1-9217-0902-6FFE13463479}"/>
              </a:ext>
            </a:extLst>
          </p:cNvPr>
          <p:cNvSpPr>
            <a:spLocks noGrp="1"/>
          </p:cNvSpPr>
          <p:nvPr>
            <p:ph type="body" sz="quarter" idx="3"/>
          </p:nvPr>
        </p:nvSpPr>
        <p:spPr/>
        <p:txBody>
          <a:bodyPr/>
          <a:lstStyle/>
          <a:p>
            <a:r>
              <a:rPr lang="en-US" dirty="0"/>
              <a:t>Critical section example</a:t>
            </a:r>
          </a:p>
        </p:txBody>
      </p:sp>
      <p:sp>
        <p:nvSpPr>
          <p:cNvPr id="8" name="Content Placeholder 7">
            <a:extLst>
              <a:ext uri="{FF2B5EF4-FFF2-40B4-BE49-F238E27FC236}">
                <a16:creationId xmlns:a16="http://schemas.microsoft.com/office/drawing/2014/main" id="{114A2EAA-3860-05C9-BC72-99E1B1796A15}"/>
              </a:ext>
            </a:extLst>
          </p:cNvPr>
          <p:cNvSpPr>
            <a:spLocks noGrp="1"/>
          </p:cNvSpPr>
          <p:nvPr>
            <p:ph sz="quarter" idx="4"/>
          </p:nvPr>
        </p:nvSpPr>
        <p:spPr/>
        <p:txBody>
          <a:bodyPr>
            <a:normAutofit/>
          </a:bodyPr>
          <a:lstStyle/>
          <a:p>
            <a:r>
              <a:rPr lang="en-US" sz="2000" b="0" dirty="0">
                <a:solidFill>
                  <a:srgbClr val="C586C0"/>
                </a:solidFill>
                <a:effectLst/>
                <a:latin typeface="Menlo" panose="020B0609030804020204" pitchFamily="49" charset="0"/>
              </a:rPr>
              <a:t>#pragma</a:t>
            </a:r>
            <a:r>
              <a:rPr lang="en-US" sz="2000" b="0" dirty="0">
                <a:solidFill>
                  <a:srgbClr val="569CD6"/>
                </a:solidFill>
                <a:effectLst/>
                <a:latin typeface="Menlo" panose="020B0609030804020204" pitchFamily="49" charset="0"/>
              </a:rPr>
              <a:t> </a:t>
            </a:r>
            <a:r>
              <a:rPr lang="en-US" sz="2000" b="0" dirty="0" err="1">
                <a:solidFill>
                  <a:srgbClr val="9CDCFE"/>
                </a:solidFill>
                <a:effectLst/>
                <a:latin typeface="Menlo" panose="020B0609030804020204" pitchFamily="49" charset="0"/>
              </a:rPr>
              <a:t>omp</a:t>
            </a:r>
            <a:r>
              <a:rPr lang="en-US" sz="2000" b="0" dirty="0">
                <a:solidFill>
                  <a:srgbClr val="569CD6"/>
                </a:solidFill>
                <a:effectLst/>
                <a:latin typeface="Menlo" panose="020B0609030804020204" pitchFamily="49" charset="0"/>
              </a:rPr>
              <a:t> </a:t>
            </a:r>
            <a:r>
              <a:rPr lang="en-US" sz="2000" b="0" dirty="0">
                <a:solidFill>
                  <a:srgbClr val="9CDCFE"/>
                </a:solidFill>
                <a:effectLst/>
                <a:latin typeface="Menlo" panose="020B0609030804020204" pitchFamily="49" charset="0"/>
              </a:rPr>
              <a:t>parallel</a:t>
            </a:r>
            <a:r>
              <a:rPr lang="en-US" sz="2000" b="0" dirty="0">
                <a:solidFill>
                  <a:srgbClr val="569CD6"/>
                </a:solidFill>
                <a:effectLst/>
                <a:latin typeface="Menlo" panose="020B0609030804020204" pitchFamily="49" charset="0"/>
              </a:rPr>
              <a:t> </a:t>
            </a:r>
            <a:r>
              <a:rPr lang="en-US" sz="2000" b="0" dirty="0">
                <a:solidFill>
                  <a:srgbClr val="9CDCFE"/>
                </a:solidFill>
                <a:effectLst/>
                <a:latin typeface="Menlo" panose="020B0609030804020204" pitchFamily="49" charset="0"/>
              </a:rPr>
              <a:t>for</a:t>
            </a:r>
            <a:r>
              <a:rPr lang="en-US" sz="2000" b="0" dirty="0">
                <a:solidFill>
                  <a:srgbClr val="569CD6"/>
                </a:solidFill>
                <a:effectLst/>
                <a:latin typeface="Menlo" panose="020B0609030804020204" pitchFamily="49" charset="0"/>
              </a:rPr>
              <a:t> </a:t>
            </a:r>
            <a:endParaRPr lang="en-US" sz="2000" b="0" dirty="0">
              <a:solidFill>
                <a:srgbClr val="D4D4D4"/>
              </a:solidFill>
              <a:effectLst/>
              <a:latin typeface="Menlo" panose="020B0609030804020204" pitchFamily="49" charset="0"/>
            </a:endParaRPr>
          </a:p>
          <a:p>
            <a:r>
              <a:rPr lang="en-US" sz="2000" b="0" dirty="0">
                <a:solidFill>
                  <a:srgbClr val="C586C0"/>
                </a:solidFill>
                <a:effectLst/>
                <a:latin typeface="Menlo" panose="020B0609030804020204" pitchFamily="49" charset="0"/>
              </a:rPr>
              <a:t>for</a:t>
            </a:r>
            <a:r>
              <a:rPr lang="en-US" sz="2000" b="0" dirty="0">
                <a:solidFill>
                  <a:srgbClr val="D4D4D4"/>
                </a:solidFill>
                <a:effectLst/>
                <a:latin typeface="Menlo" panose="020B0609030804020204" pitchFamily="49" charset="0"/>
              </a:rPr>
              <a:t> (</a:t>
            </a:r>
            <a:r>
              <a:rPr lang="en-US" sz="2000" b="0" dirty="0" err="1">
                <a:solidFill>
                  <a:srgbClr val="D4D4D4"/>
                </a:solidFill>
                <a:effectLst/>
                <a:latin typeface="Menlo" panose="020B0609030804020204" pitchFamily="49" charset="0"/>
              </a:rPr>
              <a:t>i</a:t>
            </a:r>
            <a:r>
              <a:rPr lang="en-US" sz="2000" b="0" dirty="0">
                <a:solidFill>
                  <a:srgbClr val="D4D4D4"/>
                </a:solidFill>
                <a:effectLst/>
                <a:latin typeface="Menlo" panose="020B0609030804020204" pitchFamily="49" charset="0"/>
              </a:rPr>
              <a:t> = </a:t>
            </a:r>
            <a:r>
              <a:rPr lang="en-US" sz="2000" b="0" dirty="0">
                <a:solidFill>
                  <a:srgbClr val="B5CEA8"/>
                </a:solidFill>
                <a:effectLst/>
                <a:latin typeface="Menlo" panose="020B0609030804020204" pitchFamily="49" charset="0"/>
              </a:rPr>
              <a:t>0</a:t>
            </a:r>
            <a:r>
              <a:rPr lang="en-US" sz="2000" b="0" dirty="0">
                <a:solidFill>
                  <a:srgbClr val="D4D4D4"/>
                </a:solidFill>
                <a:effectLst/>
                <a:latin typeface="Menlo" panose="020B0609030804020204" pitchFamily="49" charset="0"/>
              </a:rPr>
              <a:t>; </a:t>
            </a:r>
            <a:r>
              <a:rPr lang="en-US" sz="2000" b="0" dirty="0" err="1">
                <a:solidFill>
                  <a:srgbClr val="D4D4D4"/>
                </a:solidFill>
                <a:effectLst/>
                <a:latin typeface="Menlo" panose="020B0609030804020204" pitchFamily="49" charset="0"/>
              </a:rPr>
              <a:t>i</a:t>
            </a:r>
            <a:r>
              <a:rPr lang="en-US" sz="2000" b="0" dirty="0">
                <a:solidFill>
                  <a:srgbClr val="D4D4D4"/>
                </a:solidFill>
                <a:effectLst/>
                <a:latin typeface="Menlo" panose="020B0609030804020204" pitchFamily="49" charset="0"/>
              </a:rPr>
              <a:t> &lt; REPS; </a:t>
            </a:r>
            <a:r>
              <a:rPr lang="en-US" sz="2000" b="0" dirty="0" err="1">
                <a:solidFill>
                  <a:srgbClr val="D4D4D4"/>
                </a:solidFill>
                <a:effectLst/>
                <a:latin typeface="Menlo" panose="020B0609030804020204" pitchFamily="49" charset="0"/>
              </a:rPr>
              <a:t>i</a:t>
            </a:r>
            <a:r>
              <a:rPr lang="en-US" sz="2000" b="0" dirty="0">
                <a:solidFill>
                  <a:srgbClr val="D4D4D4"/>
                </a:solidFill>
                <a:effectLst/>
                <a:latin typeface="Menlo" panose="020B0609030804020204" pitchFamily="49" charset="0"/>
              </a:rPr>
              <a:t>++) {</a:t>
            </a:r>
          </a:p>
          <a:p>
            <a:r>
              <a:rPr lang="en-US" sz="2000" b="0" dirty="0">
                <a:solidFill>
                  <a:srgbClr val="C586C0"/>
                </a:solidFill>
                <a:effectLst/>
                <a:latin typeface="Menlo" panose="020B0609030804020204" pitchFamily="49" charset="0"/>
              </a:rPr>
              <a:t>  #pragma</a:t>
            </a:r>
            <a:r>
              <a:rPr lang="en-US" sz="2000" b="0" dirty="0">
                <a:solidFill>
                  <a:srgbClr val="569CD6"/>
                </a:solidFill>
                <a:effectLst/>
                <a:latin typeface="Menlo" panose="020B0609030804020204" pitchFamily="49" charset="0"/>
              </a:rPr>
              <a:t> </a:t>
            </a:r>
            <a:r>
              <a:rPr lang="en-US" sz="2000" b="0" dirty="0" err="1">
                <a:solidFill>
                  <a:srgbClr val="9CDCFE"/>
                </a:solidFill>
                <a:effectLst/>
                <a:latin typeface="Menlo" panose="020B0609030804020204" pitchFamily="49" charset="0"/>
              </a:rPr>
              <a:t>omp</a:t>
            </a:r>
            <a:r>
              <a:rPr lang="en-US" sz="2000" b="0" dirty="0">
                <a:solidFill>
                  <a:srgbClr val="569CD6"/>
                </a:solidFill>
                <a:effectLst/>
                <a:latin typeface="Menlo" panose="020B0609030804020204" pitchFamily="49" charset="0"/>
              </a:rPr>
              <a:t> </a:t>
            </a:r>
            <a:r>
              <a:rPr lang="en-US" sz="2000" b="0" dirty="0">
                <a:solidFill>
                  <a:srgbClr val="9CDCFE"/>
                </a:solidFill>
                <a:effectLst/>
                <a:latin typeface="Menlo" panose="020B0609030804020204" pitchFamily="49" charset="0"/>
              </a:rPr>
              <a:t>critical</a:t>
            </a:r>
            <a:endParaRPr lang="en-US" sz="2000" b="0" dirty="0">
              <a:solidFill>
                <a:srgbClr val="D4D4D4"/>
              </a:solidFill>
              <a:effectLst/>
              <a:latin typeface="Menlo" panose="020B0609030804020204" pitchFamily="49" charset="0"/>
            </a:endParaRPr>
          </a:p>
          <a:p>
            <a:r>
              <a:rPr lang="en-US" sz="2000" b="0" dirty="0">
                <a:solidFill>
                  <a:srgbClr val="D4D4D4"/>
                </a:solidFill>
                <a:effectLst/>
                <a:latin typeface="Menlo" panose="020B0609030804020204" pitchFamily="49" charset="0"/>
              </a:rPr>
              <a:t>  {</a:t>
            </a:r>
          </a:p>
          <a:p>
            <a:r>
              <a:rPr lang="en-US" sz="2000" b="0" dirty="0">
                <a:solidFill>
                  <a:srgbClr val="D4D4D4"/>
                </a:solidFill>
                <a:effectLst/>
                <a:latin typeface="Menlo" panose="020B0609030804020204" pitchFamily="49" charset="0"/>
              </a:rPr>
              <a:t>    balance += </a:t>
            </a:r>
            <a:r>
              <a:rPr lang="en-US" sz="2000" b="0" dirty="0">
                <a:solidFill>
                  <a:srgbClr val="B5CEA8"/>
                </a:solidFill>
                <a:effectLst/>
                <a:latin typeface="Menlo" panose="020B0609030804020204" pitchFamily="49" charset="0"/>
              </a:rPr>
              <a:t>1.0</a:t>
            </a:r>
            <a:r>
              <a:rPr lang="en-US" sz="2000" b="0" dirty="0">
                <a:solidFill>
                  <a:srgbClr val="D4D4D4"/>
                </a:solidFill>
                <a:effectLst/>
                <a:latin typeface="Menlo" panose="020B0609030804020204" pitchFamily="49" charset="0"/>
              </a:rPr>
              <a:t>;</a:t>
            </a:r>
          </a:p>
          <a:p>
            <a:r>
              <a:rPr lang="en-US" sz="2000" b="0" dirty="0">
                <a:solidFill>
                  <a:srgbClr val="D4D4D4"/>
                </a:solidFill>
                <a:effectLst/>
                <a:latin typeface="Menlo" panose="020B0609030804020204" pitchFamily="49" charset="0"/>
              </a:rPr>
              <a:t>  }</a:t>
            </a:r>
          </a:p>
          <a:p>
            <a:r>
              <a:rPr lang="en-US" sz="2000" b="0" dirty="0">
                <a:solidFill>
                  <a:srgbClr val="D4D4D4"/>
                </a:solidFill>
                <a:effectLst/>
                <a:latin typeface="Menlo" panose="020B0609030804020204" pitchFamily="49" charset="0"/>
              </a:rPr>
              <a:t>}</a:t>
            </a:r>
          </a:p>
          <a:p>
            <a:endParaRPr lang="en-US" dirty="0"/>
          </a:p>
        </p:txBody>
      </p:sp>
    </p:spTree>
    <p:extLst>
      <p:ext uri="{BB962C8B-B14F-4D97-AF65-F5344CB8AC3E}">
        <p14:creationId xmlns:p14="http://schemas.microsoft.com/office/powerpoint/2010/main" val="3033617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67650-A330-E64E-B337-C1D97E079972}"/>
              </a:ext>
            </a:extLst>
          </p:cNvPr>
          <p:cNvSpPr>
            <a:spLocks noGrp="1"/>
          </p:cNvSpPr>
          <p:nvPr>
            <p:ph type="title"/>
          </p:nvPr>
        </p:nvSpPr>
        <p:spPr/>
        <p:txBody>
          <a:bodyPr>
            <a:normAutofit fontScale="90000"/>
          </a:bodyPr>
          <a:lstStyle/>
          <a:p>
            <a:r>
              <a:rPr lang="en-US" dirty="0"/>
              <a:t>Race conditions</a:t>
            </a:r>
          </a:p>
        </p:txBody>
      </p:sp>
      <p:sp>
        <p:nvSpPr>
          <p:cNvPr id="3" name="Content Placeholder 2">
            <a:extLst>
              <a:ext uri="{FF2B5EF4-FFF2-40B4-BE49-F238E27FC236}">
                <a16:creationId xmlns:a16="http://schemas.microsoft.com/office/drawing/2014/main" id="{3D101F71-19BC-1B41-9D9E-4ED5A3D189F1}"/>
              </a:ext>
            </a:extLst>
          </p:cNvPr>
          <p:cNvSpPr>
            <a:spLocks noGrp="1"/>
          </p:cNvSpPr>
          <p:nvPr>
            <p:ph idx="1"/>
          </p:nvPr>
        </p:nvSpPr>
        <p:spPr>
          <a:xfrm>
            <a:off x="395438" y="891974"/>
            <a:ext cx="11308882" cy="5012715"/>
          </a:xfrm>
        </p:spPr>
        <p:txBody>
          <a:bodyPr>
            <a:normAutofit/>
          </a:bodyPr>
          <a:lstStyle/>
          <a:p>
            <a:pPr algn="l" fontAlgn="base"/>
            <a:r>
              <a:rPr lang="en-US" b="0" i="1" dirty="0">
                <a:solidFill>
                  <a:srgbClr val="FFFFFF"/>
                </a:solidFill>
                <a:effectLst/>
                <a:latin typeface="urw-din"/>
              </a:rPr>
              <a:t>balance++; // balance has permanent storage in RAM</a:t>
            </a:r>
            <a:endParaRPr lang="en-US" b="0" i="0" dirty="0">
              <a:solidFill>
                <a:srgbClr val="FFFFFF"/>
              </a:solidFill>
              <a:effectLst/>
              <a:latin typeface="urw-din"/>
            </a:endParaRPr>
          </a:p>
          <a:p>
            <a:pPr algn="l" fontAlgn="base"/>
            <a:endParaRPr lang="en-US" b="0" i="0" dirty="0">
              <a:solidFill>
                <a:srgbClr val="FFFFFF"/>
              </a:solidFill>
              <a:effectLst/>
              <a:latin typeface="urw-din"/>
            </a:endParaRPr>
          </a:p>
          <a:p>
            <a:pPr algn="l" fontAlgn="base"/>
            <a:r>
              <a:rPr lang="en-US" b="0" i="0" dirty="0">
                <a:solidFill>
                  <a:srgbClr val="FFFFFF"/>
                </a:solidFill>
                <a:effectLst/>
                <a:latin typeface="urw-din"/>
              </a:rPr>
              <a:t>The above statement can be compiled into, at least three instructions.</a:t>
            </a:r>
          </a:p>
          <a:p>
            <a:pPr lvl="1" fontAlgn="base">
              <a:buFont typeface="+mj-lt"/>
              <a:buAutoNum type="arabicPeriod"/>
            </a:pPr>
            <a:r>
              <a:rPr lang="en-US" b="0" i="0" dirty="0">
                <a:solidFill>
                  <a:srgbClr val="FFFFFF"/>
                </a:solidFill>
                <a:effectLst/>
                <a:latin typeface="urw-din"/>
              </a:rPr>
              <a:t>Fetching </a:t>
            </a:r>
            <a:r>
              <a:rPr lang="en-US" b="0" i="1" dirty="0">
                <a:solidFill>
                  <a:srgbClr val="FFFFFF"/>
                </a:solidFill>
                <a:effectLst/>
                <a:latin typeface="urw-din"/>
              </a:rPr>
              <a:t>balance</a:t>
            </a:r>
            <a:r>
              <a:rPr lang="en-US" b="0" i="0" dirty="0">
                <a:solidFill>
                  <a:srgbClr val="FFFFFF"/>
                </a:solidFill>
                <a:effectLst/>
                <a:latin typeface="urw-din"/>
              </a:rPr>
              <a:t> value (into a register)</a:t>
            </a:r>
          </a:p>
          <a:p>
            <a:pPr lvl="1" fontAlgn="base">
              <a:buFont typeface="+mj-lt"/>
              <a:buAutoNum type="arabicPeriod"/>
            </a:pPr>
            <a:r>
              <a:rPr lang="en-US" b="0" i="0" dirty="0">
                <a:solidFill>
                  <a:srgbClr val="FFFFFF"/>
                </a:solidFill>
                <a:effectLst/>
                <a:latin typeface="urw-din"/>
              </a:rPr>
              <a:t>Incrementing </a:t>
            </a:r>
            <a:r>
              <a:rPr lang="en-US" b="0" i="1" dirty="0">
                <a:solidFill>
                  <a:srgbClr val="FFFFFF"/>
                </a:solidFill>
                <a:effectLst/>
                <a:latin typeface="urw-din"/>
              </a:rPr>
              <a:t>balance</a:t>
            </a:r>
            <a:r>
              <a:rPr lang="en-US" b="0" i="0" dirty="0">
                <a:solidFill>
                  <a:srgbClr val="FFFFFF"/>
                </a:solidFill>
                <a:effectLst/>
                <a:latin typeface="urw-din"/>
              </a:rPr>
              <a:t> value</a:t>
            </a:r>
          </a:p>
          <a:p>
            <a:pPr lvl="1" fontAlgn="base">
              <a:buFont typeface="+mj-lt"/>
              <a:buAutoNum type="arabicPeriod"/>
            </a:pPr>
            <a:r>
              <a:rPr lang="en-US" b="0" i="0" dirty="0">
                <a:solidFill>
                  <a:srgbClr val="FFFFFF"/>
                </a:solidFill>
                <a:effectLst/>
                <a:latin typeface="urw-din"/>
              </a:rPr>
              <a:t>Storing the updated value  (back to memory)</a:t>
            </a:r>
          </a:p>
          <a:p>
            <a:pPr algn="l" fontAlgn="base"/>
            <a:endParaRPr lang="en-US" b="0" i="0" dirty="0">
              <a:solidFill>
                <a:srgbClr val="FFFFFF"/>
              </a:solidFill>
              <a:effectLst/>
              <a:latin typeface="urw-din"/>
            </a:endParaRPr>
          </a:p>
          <a:p>
            <a:r>
              <a:rPr lang="en-US" dirty="0"/>
              <a:t>LOAD </a:t>
            </a:r>
            <a:r>
              <a:rPr lang="en-US" dirty="0" err="1"/>
              <a:t>src</a:t>
            </a:r>
            <a:r>
              <a:rPr lang="en-US" dirty="0"/>
              <a:t> register</a:t>
            </a:r>
          </a:p>
          <a:p>
            <a:r>
              <a:rPr lang="en-US" dirty="0"/>
              <a:t>ADD  1 register</a:t>
            </a:r>
          </a:p>
          <a:p>
            <a:r>
              <a:rPr lang="en-US" dirty="0"/>
              <a:t>STORE register </a:t>
            </a:r>
            <a:r>
              <a:rPr lang="en-US" dirty="0" err="1"/>
              <a:t>dest_mem</a:t>
            </a:r>
            <a:r>
              <a:rPr lang="en-US" dirty="0"/>
              <a:t> </a:t>
            </a:r>
          </a:p>
        </p:txBody>
      </p:sp>
    </p:spTree>
    <p:extLst>
      <p:ext uri="{BB962C8B-B14F-4D97-AF65-F5344CB8AC3E}">
        <p14:creationId xmlns:p14="http://schemas.microsoft.com/office/powerpoint/2010/main" val="201877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DD96EE-53E8-B0E9-E27B-37C09A592788}"/>
              </a:ext>
            </a:extLst>
          </p:cNvPr>
          <p:cNvSpPr>
            <a:spLocks noGrp="1"/>
          </p:cNvSpPr>
          <p:nvPr>
            <p:ph type="title"/>
          </p:nvPr>
        </p:nvSpPr>
        <p:spPr/>
        <p:txBody>
          <a:bodyPr/>
          <a:lstStyle/>
          <a:p>
            <a:r>
              <a:rPr lang="en-US" dirty="0"/>
              <a:t>One of several scenarios</a:t>
            </a:r>
          </a:p>
        </p:txBody>
      </p:sp>
      <p:sp>
        <p:nvSpPr>
          <p:cNvPr id="5" name="Text Placeholder 4">
            <a:extLst>
              <a:ext uri="{FF2B5EF4-FFF2-40B4-BE49-F238E27FC236}">
                <a16:creationId xmlns:a16="http://schemas.microsoft.com/office/drawing/2014/main" id="{2732D629-F5F0-39C5-8A43-52E24DCEA98C}"/>
              </a:ext>
            </a:extLst>
          </p:cNvPr>
          <p:cNvSpPr>
            <a:spLocks noGrp="1"/>
          </p:cNvSpPr>
          <p:nvPr>
            <p:ph type="body" idx="1"/>
          </p:nvPr>
        </p:nvSpPr>
        <p:spPr/>
        <p:txBody>
          <a:bodyPr/>
          <a:lstStyle/>
          <a:p>
            <a:r>
              <a:rPr lang="en-US" dirty="0"/>
              <a:t>Thread 0</a:t>
            </a:r>
          </a:p>
        </p:txBody>
      </p:sp>
      <p:sp>
        <p:nvSpPr>
          <p:cNvPr id="6" name="Content Placeholder 5">
            <a:extLst>
              <a:ext uri="{FF2B5EF4-FFF2-40B4-BE49-F238E27FC236}">
                <a16:creationId xmlns:a16="http://schemas.microsoft.com/office/drawing/2014/main" id="{5925DB70-3307-FB5F-22E4-11D083D76E17}"/>
              </a:ext>
            </a:extLst>
          </p:cNvPr>
          <p:cNvSpPr>
            <a:spLocks noGrp="1"/>
          </p:cNvSpPr>
          <p:nvPr>
            <p:ph sz="half" idx="2"/>
          </p:nvPr>
        </p:nvSpPr>
        <p:spPr/>
        <p:txBody>
          <a:bodyPr/>
          <a:lstStyle/>
          <a:p>
            <a:pPr lvl="1" fontAlgn="base">
              <a:buFont typeface="+mj-lt"/>
              <a:buAutoNum type="arabicPeriod"/>
            </a:pPr>
            <a:r>
              <a:rPr lang="en-US" b="0" i="0" dirty="0">
                <a:solidFill>
                  <a:srgbClr val="FFFFFF"/>
                </a:solidFill>
                <a:effectLst/>
                <a:latin typeface="urw-din"/>
              </a:rPr>
              <a:t>Fetching </a:t>
            </a:r>
            <a:r>
              <a:rPr lang="en-US" b="0" i="1" dirty="0">
                <a:solidFill>
                  <a:srgbClr val="FFFFFF"/>
                </a:solidFill>
                <a:effectLst/>
                <a:latin typeface="urw-din"/>
              </a:rPr>
              <a:t>balance</a:t>
            </a:r>
            <a:r>
              <a:rPr lang="en-US" b="0" i="0" dirty="0">
                <a:solidFill>
                  <a:srgbClr val="FFFFFF"/>
                </a:solidFill>
                <a:effectLst/>
                <a:latin typeface="urw-din"/>
              </a:rPr>
              <a:t> value (into a register)</a:t>
            </a:r>
          </a:p>
          <a:p>
            <a:pPr lvl="1" fontAlgn="base">
              <a:buFont typeface="+mj-lt"/>
              <a:buAutoNum type="arabicPeriod"/>
            </a:pPr>
            <a:endParaRPr lang="en-US" dirty="0">
              <a:solidFill>
                <a:srgbClr val="FFFFFF"/>
              </a:solidFill>
              <a:latin typeface="urw-din"/>
            </a:endParaRPr>
          </a:p>
          <a:p>
            <a:pPr lvl="1" fontAlgn="base">
              <a:buFont typeface="+mj-lt"/>
              <a:buAutoNum type="arabicPeriod"/>
            </a:pPr>
            <a:endParaRPr lang="en-US" b="0" i="0" dirty="0">
              <a:solidFill>
                <a:srgbClr val="FFFFFF"/>
              </a:solidFill>
              <a:effectLst/>
              <a:latin typeface="urw-din"/>
            </a:endParaRPr>
          </a:p>
          <a:p>
            <a:pPr lvl="1" fontAlgn="base">
              <a:buFont typeface="+mj-lt"/>
              <a:buAutoNum type="arabicPeriod"/>
            </a:pPr>
            <a:endParaRPr lang="en-US" dirty="0">
              <a:solidFill>
                <a:srgbClr val="FFFFFF"/>
              </a:solidFill>
              <a:latin typeface="urw-din"/>
            </a:endParaRPr>
          </a:p>
          <a:p>
            <a:pPr lvl="1" fontAlgn="base">
              <a:buFont typeface="+mj-lt"/>
              <a:buAutoNum type="arabicPeriod"/>
            </a:pPr>
            <a:endParaRPr lang="en-US" b="0" i="0" dirty="0">
              <a:solidFill>
                <a:srgbClr val="FFFFFF"/>
              </a:solidFill>
              <a:effectLst/>
              <a:latin typeface="urw-din"/>
            </a:endParaRPr>
          </a:p>
          <a:p>
            <a:pPr lvl="1" fontAlgn="base">
              <a:buFont typeface="+mj-lt"/>
              <a:buAutoNum type="arabicPeriod"/>
            </a:pPr>
            <a:r>
              <a:rPr lang="en-US" b="0" i="0" dirty="0">
                <a:solidFill>
                  <a:srgbClr val="FFFFFF"/>
                </a:solidFill>
                <a:effectLst/>
                <a:latin typeface="urw-din"/>
              </a:rPr>
              <a:t>Incrementing </a:t>
            </a:r>
            <a:r>
              <a:rPr lang="en-US" b="0" i="1" dirty="0">
                <a:solidFill>
                  <a:srgbClr val="FFFFFF"/>
                </a:solidFill>
                <a:effectLst/>
                <a:latin typeface="urw-din"/>
              </a:rPr>
              <a:t>balance</a:t>
            </a:r>
            <a:r>
              <a:rPr lang="en-US" b="0" i="0" dirty="0">
                <a:solidFill>
                  <a:srgbClr val="FFFFFF"/>
                </a:solidFill>
                <a:effectLst/>
                <a:latin typeface="urw-din"/>
              </a:rPr>
              <a:t> value</a:t>
            </a:r>
          </a:p>
          <a:p>
            <a:pPr lvl="1" fontAlgn="base">
              <a:buFont typeface="+mj-lt"/>
              <a:buAutoNum type="arabicPeriod"/>
            </a:pPr>
            <a:r>
              <a:rPr lang="en-US" b="0" i="0" dirty="0">
                <a:solidFill>
                  <a:srgbClr val="FFFFFF"/>
                </a:solidFill>
                <a:effectLst/>
                <a:latin typeface="urw-din"/>
              </a:rPr>
              <a:t>Storing the updated value  (back to memory)</a:t>
            </a:r>
          </a:p>
          <a:p>
            <a:endParaRPr lang="en-US" dirty="0"/>
          </a:p>
        </p:txBody>
      </p:sp>
      <p:sp>
        <p:nvSpPr>
          <p:cNvPr id="7" name="Text Placeholder 6">
            <a:extLst>
              <a:ext uri="{FF2B5EF4-FFF2-40B4-BE49-F238E27FC236}">
                <a16:creationId xmlns:a16="http://schemas.microsoft.com/office/drawing/2014/main" id="{495A2345-4A35-7125-0C5D-90B4531909BF}"/>
              </a:ext>
            </a:extLst>
          </p:cNvPr>
          <p:cNvSpPr>
            <a:spLocks noGrp="1"/>
          </p:cNvSpPr>
          <p:nvPr>
            <p:ph type="body" sz="quarter" idx="3"/>
          </p:nvPr>
        </p:nvSpPr>
        <p:spPr/>
        <p:txBody>
          <a:bodyPr/>
          <a:lstStyle/>
          <a:p>
            <a:r>
              <a:rPr lang="en-US" dirty="0"/>
              <a:t>Thread 1</a:t>
            </a:r>
          </a:p>
        </p:txBody>
      </p:sp>
      <p:sp>
        <p:nvSpPr>
          <p:cNvPr id="8" name="Content Placeholder 7">
            <a:extLst>
              <a:ext uri="{FF2B5EF4-FFF2-40B4-BE49-F238E27FC236}">
                <a16:creationId xmlns:a16="http://schemas.microsoft.com/office/drawing/2014/main" id="{F96A7C12-997A-0197-5575-BDC70842E662}"/>
              </a:ext>
            </a:extLst>
          </p:cNvPr>
          <p:cNvSpPr>
            <a:spLocks noGrp="1"/>
          </p:cNvSpPr>
          <p:nvPr>
            <p:ph sz="quarter" idx="4"/>
          </p:nvPr>
        </p:nvSpPr>
        <p:spPr/>
        <p:txBody>
          <a:bodyPr/>
          <a:lstStyle/>
          <a:p>
            <a:pPr lvl="1" fontAlgn="base">
              <a:buFont typeface="+mj-lt"/>
              <a:buAutoNum type="arabicPeriod"/>
            </a:pPr>
            <a:endParaRPr lang="en-US" b="0" i="0" dirty="0">
              <a:solidFill>
                <a:srgbClr val="FFFFFF"/>
              </a:solidFill>
              <a:effectLst/>
              <a:latin typeface="urw-din"/>
            </a:endParaRPr>
          </a:p>
          <a:p>
            <a:pPr lvl="1" fontAlgn="base">
              <a:buFont typeface="+mj-lt"/>
              <a:buAutoNum type="arabicPeriod"/>
            </a:pPr>
            <a:r>
              <a:rPr lang="en-US" b="0" i="0" dirty="0">
                <a:solidFill>
                  <a:srgbClr val="FFFFFF"/>
                </a:solidFill>
                <a:effectLst/>
                <a:latin typeface="urw-din"/>
              </a:rPr>
              <a:t>Fetching </a:t>
            </a:r>
            <a:r>
              <a:rPr lang="en-US" b="0" i="1" dirty="0">
                <a:solidFill>
                  <a:srgbClr val="FFFFFF"/>
                </a:solidFill>
                <a:effectLst/>
                <a:latin typeface="urw-din"/>
              </a:rPr>
              <a:t>balance</a:t>
            </a:r>
            <a:r>
              <a:rPr lang="en-US" b="0" i="0" dirty="0">
                <a:solidFill>
                  <a:srgbClr val="FFFFFF"/>
                </a:solidFill>
                <a:effectLst/>
                <a:latin typeface="urw-din"/>
              </a:rPr>
              <a:t> value (into a register)</a:t>
            </a:r>
          </a:p>
          <a:p>
            <a:pPr lvl="1" fontAlgn="base">
              <a:buFont typeface="+mj-lt"/>
              <a:buAutoNum type="arabicPeriod"/>
            </a:pPr>
            <a:r>
              <a:rPr lang="en-US" b="0" i="0" dirty="0">
                <a:solidFill>
                  <a:srgbClr val="FFFFFF"/>
                </a:solidFill>
                <a:effectLst/>
                <a:latin typeface="urw-din"/>
              </a:rPr>
              <a:t>Incrementing </a:t>
            </a:r>
            <a:r>
              <a:rPr lang="en-US" b="0" i="1" dirty="0">
                <a:solidFill>
                  <a:srgbClr val="FFFFFF"/>
                </a:solidFill>
                <a:effectLst/>
                <a:latin typeface="urw-din"/>
              </a:rPr>
              <a:t>balance</a:t>
            </a:r>
            <a:r>
              <a:rPr lang="en-US" b="0" i="0" dirty="0">
                <a:solidFill>
                  <a:srgbClr val="FFFFFF"/>
                </a:solidFill>
                <a:effectLst/>
                <a:latin typeface="urw-din"/>
              </a:rPr>
              <a:t> value</a:t>
            </a:r>
          </a:p>
          <a:p>
            <a:pPr lvl="1" fontAlgn="base">
              <a:buFont typeface="+mj-lt"/>
              <a:buAutoNum type="arabicPeriod"/>
            </a:pPr>
            <a:r>
              <a:rPr lang="en-US" b="0" i="0" dirty="0">
                <a:solidFill>
                  <a:srgbClr val="FFFFFF"/>
                </a:solidFill>
                <a:effectLst/>
                <a:latin typeface="urw-din"/>
              </a:rPr>
              <a:t>Storing the updated value  (back to memory)</a:t>
            </a:r>
          </a:p>
          <a:p>
            <a:endParaRPr lang="en-US" dirty="0"/>
          </a:p>
        </p:txBody>
      </p:sp>
    </p:spTree>
    <p:extLst>
      <p:ext uri="{BB962C8B-B14F-4D97-AF65-F5344CB8AC3E}">
        <p14:creationId xmlns:p14="http://schemas.microsoft.com/office/powerpoint/2010/main" val="1694498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6A1BACC-CC56-00F4-4F98-E1226C928E81}"/>
              </a:ext>
            </a:extLst>
          </p:cNvPr>
          <p:cNvSpPr>
            <a:spLocks noGrp="1"/>
          </p:cNvSpPr>
          <p:nvPr>
            <p:ph type="title"/>
          </p:nvPr>
        </p:nvSpPr>
        <p:spPr/>
        <p:txBody>
          <a:bodyPr/>
          <a:lstStyle/>
          <a:p>
            <a:r>
              <a:rPr lang="en-US" dirty="0"/>
              <a:t>XADD combines these operations</a:t>
            </a:r>
          </a:p>
        </p:txBody>
      </p:sp>
      <p:graphicFrame>
        <p:nvGraphicFramePr>
          <p:cNvPr id="9" name="Content Placeholder 8">
            <a:extLst>
              <a:ext uri="{FF2B5EF4-FFF2-40B4-BE49-F238E27FC236}">
                <a16:creationId xmlns:a16="http://schemas.microsoft.com/office/drawing/2014/main" id="{0162D7BE-9685-0034-99AB-74BFB754DE2D}"/>
              </a:ext>
            </a:extLst>
          </p:cNvPr>
          <p:cNvGraphicFramePr>
            <a:graphicFrameLocks noGrp="1"/>
          </p:cNvGraphicFramePr>
          <p:nvPr>
            <p:ph idx="1"/>
            <p:extLst>
              <p:ext uri="{D42A27DB-BD31-4B8C-83A1-F6EECF244321}">
                <p14:modId xmlns:p14="http://schemas.microsoft.com/office/powerpoint/2010/main" val="2465901843"/>
              </p:ext>
            </p:extLst>
          </p:nvPr>
        </p:nvGraphicFramePr>
        <p:xfrm>
          <a:off x="237381" y="2110858"/>
          <a:ext cx="11309350" cy="1793055"/>
        </p:xfrm>
        <a:graphic>
          <a:graphicData uri="http://schemas.openxmlformats.org/drawingml/2006/table">
            <a:tbl>
              <a:tblPr/>
              <a:tblGrid>
                <a:gridCol w="11309350">
                  <a:extLst>
                    <a:ext uri="{9D8B030D-6E8A-4147-A177-3AD203B41FA5}">
                      <a16:colId xmlns:a16="http://schemas.microsoft.com/office/drawing/2014/main" val="405302401"/>
                    </a:ext>
                  </a:extLst>
                </a:gridCol>
              </a:tblGrid>
              <a:tr h="1793055">
                <a:tc>
                  <a:txBody>
                    <a:bodyPr/>
                    <a:lstStyle/>
                    <a:p>
                      <a:pPr rtl="0" fontAlgn="t"/>
                      <a:r>
                        <a:rPr lang="en-US" sz="1200" b="1" dirty="0">
                          <a:effectLst/>
                          <a:latin typeface="courier new,monospace"/>
                        </a:rPr>
                        <a:t>EXCHANGE AND ADD (486+ )</a:t>
                      </a:r>
                      <a:br>
                        <a:rPr lang="en-US" sz="1200" b="1" dirty="0">
                          <a:effectLst/>
                          <a:latin typeface="courier new,monospace"/>
                        </a:rPr>
                      </a:br>
                      <a:endParaRPr lang="en-US" sz="1200" dirty="0">
                        <a:effectLst/>
                      </a:endParaRPr>
                    </a:p>
                    <a:p>
                      <a:pPr rtl="0" fontAlgn="t"/>
                      <a:br>
                        <a:rPr lang="en-US" sz="1200" b="1" dirty="0">
                          <a:effectLst/>
                          <a:latin typeface="courier new,monospace"/>
                        </a:rPr>
                      </a:br>
                      <a:r>
                        <a:rPr lang="en-US" sz="1200" b="1" dirty="0">
                          <a:effectLst/>
                          <a:latin typeface="courier new,monospace"/>
                        </a:rPr>
                        <a:t>DESCRIPTION: </a:t>
                      </a:r>
                      <a:r>
                        <a:rPr lang="en-US" sz="1200" dirty="0">
                          <a:effectLst/>
                          <a:latin typeface="courier new,monospace"/>
                        </a:rPr>
                        <a:t>The XADD instruction adds the source to the destination and stores the sum in the destination, as with any addition. The difference is that after the addition takes place, the original value of the destination is copied into source operand.</a:t>
                      </a:r>
                      <a:br>
                        <a:rPr lang="en-US" sz="1200" dirty="0">
                          <a:effectLst/>
                          <a:latin typeface="courier new,monospace"/>
                        </a:rPr>
                      </a:br>
                      <a:br>
                        <a:rPr lang="en-US" sz="1200" dirty="0">
                          <a:effectLst/>
                          <a:latin typeface="courier new,monospace"/>
                        </a:rPr>
                      </a:br>
                      <a:endParaRPr lang="en-US" sz="1200" dirty="0">
                        <a:effectLst/>
                      </a:endParaRPr>
                    </a:p>
                    <a:p>
                      <a:pPr rtl="0" fontAlgn="t"/>
                      <a:r>
                        <a:rPr lang="en-US" sz="1200" b="1" dirty="0">
                          <a:effectLst/>
                          <a:latin typeface="courier new,monospace"/>
                        </a:rPr>
                        <a:t>USAGE: XADD </a:t>
                      </a:r>
                      <a:r>
                        <a:rPr lang="en-US" sz="1200" b="1" dirty="0" err="1">
                          <a:effectLst/>
                          <a:latin typeface="courier new,monospace"/>
                        </a:rPr>
                        <a:t>dest</a:t>
                      </a:r>
                      <a:r>
                        <a:rPr lang="en-US" sz="1200" b="1" dirty="0">
                          <a:effectLst/>
                          <a:latin typeface="courier new,monospace"/>
                        </a:rPr>
                        <a:t>, </a:t>
                      </a:r>
                      <a:r>
                        <a:rPr lang="en-US" sz="1200" b="1" dirty="0" err="1">
                          <a:effectLst/>
                          <a:latin typeface="courier new,monospace"/>
                        </a:rPr>
                        <a:t>src</a:t>
                      </a:r>
                      <a:endParaRPr lang="en-US" sz="1200" dirty="0">
                        <a:effectLst/>
                      </a:endParaRPr>
                    </a:p>
                  </a:txBody>
                  <a:tcPr marL="64221" marR="64221" marT="64221" marB="64221">
                    <a:lnL>
                      <a:noFill/>
                    </a:lnL>
                    <a:lnR>
                      <a:noFill/>
                    </a:lnR>
                    <a:lnT>
                      <a:noFill/>
                    </a:lnT>
                    <a:lnB>
                      <a:noFill/>
                    </a:lnB>
                  </a:tcPr>
                </a:tc>
                <a:extLst>
                  <a:ext uri="{0D108BD9-81ED-4DB2-BD59-A6C34878D82A}">
                    <a16:rowId xmlns:a16="http://schemas.microsoft.com/office/drawing/2014/main" val="672737097"/>
                  </a:ext>
                </a:extLst>
              </a:tr>
            </a:tbl>
          </a:graphicData>
        </a:graphic>
      </p:graphicFrame>
      <p:sp>
        <p:nvSpPr>
          <p:cNvPr id="11" name="TextBox 10">
            <a:extLst>
              <a:ext uri="{FF2B5EF4-FFF2-40B4-BE49-F238E27FC236}">
                <a16:creationId xmlns:a16="http://schemas.microsoft.com/office/drawing/2014/main" id="{3530C249-56D8-7CD4-CFC4-8EFEBBAA3842}"/>
              </a:ext>
            </a:extLst>
          </p:cNvPr>
          <p:cNvSpPr txBox="1"/>
          <p:nvPr/>
        </p:nvSpPr>
        <p:spPr>
          <a:xfrm>
            <a:off x="225718" y="4547258"/>
            <a:ext cx="2419124" cy="1477328"/>
          </a:xfrm>
          <a:prstGeom prst="rect">
            <a:avLst/>
          </a:prstGeom>
          <a:noFill/>
        </p:spPr>
        <p:txBody>
          <a:bodyPr wrap="none" rtlCol="0">
            <a:spAutoFit/>
          </a:bodyPr>
          <a:lstStyle/>
          <a:p>
            <a:r>
              <a:rPr lang="en-US" dirty="0"/>
              <a:t>LOAD </a:t>
            </a:r>
            <a:r>
              <a:rPr lang="en-US" dirty="0" err="1"/>
              <a:t>src</a:t>
            </a:r>
            <a:r>
              <a:rPr lang="en-US" dirty="0"/>
              <a:t> register1</a:t>
            </a:r>
          </a:p>
          <a:p>
            <a:r>
              <a:rPr lang="en-US" dirty="0"/>
              <a:t>LOAD </a:t>
            </a:r>
            <a:r>
              <a:rPr lang="en-US" dirty="0" err="1"/>
              <a:t>dest</a:t>
            </a:r>
            <a:r>
              <a:rPr lang="en-US" dirty="0"/>
              <a:t> register2</a:t>
            </a:r>
          </a:p>
          <a:p>
            <a:r>
              <a:rPr lang="en-US" dirty="0"/>
              <a:t>ADD  register1 register2</a:t>
            </a:r>
          </a:p>
          <a:p>
            <a:r>
              <a:rPr lang="en-US" dirty="0"/>
              <a:t>STORE register1 </a:t>
            </a:r>
            <a:r>
              <a:rPr lang="en-US" dirty="0" err="1"/>
              <a:t>dest</a:t>
            </a:r>
            <a:endParaRPr lang="en-US" dirty="0"/>
          </a:p>
          <a:p>
            <a:endParaRPr lang="en-US" dirty="0"/>
          </a:p>
        </p:txBody>
      </p:sp>
      <p:sp>
        <p:nvSpPr>
          <p:cNvPr id="12" name="TextBox 11">
            <a:extLst>
              <a:ext uri="{FF2B5EF4-FFF2-40B4-BE49-F238E27FC236}">
                <a16:creationId xmlns:a16="http://schemas.microsoft.com/office/drawing/2014/main" id="{3DBD5D85-10F1-6A0A-678D-7B63993E3040}"/>
              </a:ext>
            </a:extLst>
          </p:cNvPr>
          <p:cNvSpPr txBox="1"/>
          <p:nvPr/>
        </p:nvSpPr>
        <p:spPr>
          <a:xfrm>
            <a:off x="225718" y="4134255"/>
            <a:ext cx="2895793" cy="369332"/>
          </a:xfrm>
          <a:prstGeom prst="rect">
            <a:avLst/>
          </a:prstGeom>
          <a:noFill/>
        </p:spPr>
        <p:txBody>
          <a:bodyPr wrap="none" rtlCol="0">
            <a:spAutoFit/>
          </a:bodyPr>
          <a:lstStyle/>
          <a:p>
            <a:r>
              <a:rPr lang="en-US" dirty="0"/>
              <a:t>Replaces this assembly code:</a:t>
            </a:r>
          </a:p>
        </p:txBody>
      </p:sp>
      <p:sp>
        <p:nvSpPr>
          <p:cNvPr id="13" name="TextBox 12">
            <a:extLst>
              <a:ext uri="{FF2B5EF4-FFF2-40B4-BE49-F238E27FC236}">
                <a16:creationId xmlns:a16="http://schemas.microsoft.com/office/drawing/2014/main" id="{0F6A6D6B-B1E2-336F-4F0C-9364A4671A8D}"/>
              </a:ext>
            </a:extLst>
          </p:cNvPr>
          <p:cNvSpPr txBox="1"/>
          <p:nvPr/>
        </p:nvSpPr>
        <p:spPr>
          <a:xfrm>
            <a:off x="573932" y="1614791"/>
            <a:ext cx="9006120" cy="369332"/>
          </a:xfrm>
          <a:prstGeom prst="rect">
            <a:avLst/>
          </a:prstGeom>
          <a:noFill/>
        </p:spPr>
        <p:txBody>
          <a:bodyPr wrap="none" rtlCol="0">
            <a:spAutoFit/>
          </a:bodyPr>
          <a:lstStyle/>
          <a:p>
            <a:r>
              <a:rPr lang="en-US" dirty="0"/>
              <a:t>From this site: https://</a:t>
            </a:r>
            <a:r>
              <a:rPr lang="en-US" dirty="0" err="1"/>
              <a:t>sites.google.com</a:t>
            </a:r>
            <a:r>
              <a:rPr lang="en-US" dirty="0"/>
              <a:t>/site/</a:t>
            </a:r>
            <a:r>
              <a:rPr lang="en-US" dirty="0" err="1"/>
              <a:t>microprocessorsbits</a:t>
            </a:r>
            <a:r>
              <a:rPr lang="en-US" dirty="0"/>
              <a:t>/arithmetic-instructions/</a:t>
            </a:r>
            <a:r>
              <a:rPr lang="en-US" dirty="0" err="1"/>
              <a:t>xadd</a:t>
            </a:r>
            <a:endParaRPr lang="en-US" dirty="0"/>
          </a:p>
        </p:txBody>
      </p:sp>
      <p:sp>
        <p:nvSpPr>
          <p:cNvPr id="14" name="TextBox 13">
            <a:extLst>
              <a:ext uri="{FF2B5EF4-FFF2-40B4-BE49-F238E27FC236}">
                <a16:creationId xmlns:a16="http://schemas.microsoft.com/office/drawing/2014/main" id="{3445EF05-A32D-E4E2-E42B-77AEBECF7C88}"/>
              </a:ext>
            </a:extLst>
          </p:cNvPr>
          <p:cNvSpPr txBox="1"/>
          <p:nvPr/>
        </p:nvSpPr>
        <p:spPr>
          <a:xfrm>
            <a:off x="4577561" y="5056048"/>
            <a:ext cx="4489947" cy="1200329"/>
          </a:xfrm>
          <a:prstGeom prst="rect">
            <a:avLst/>
          </a:prstGeom>
          <a:noFill/>
        </p:spPr>
        <p:txBody>
          <a:bodyPr wrap="none" rtlCol="0">
            <a:spAutoFit/>
          </a:bodyPr>
          <a:lstStyle/>
          <a:p>
            <a:r>
              <a:rPr lang="en-US" dirty="0"/>
              <a:t>LOAD 1 R8   # each thread has its own register</a:t>
            </a:r>
          </a:p>
          <a:p>
            <a:endParaRPr lang="en-US" dirty="0"/>
          </a:p>
          <a:p>
            <a:r>
              <a:rPr lang="en-US" dirty="0"/>
              <a:t>#each thread does an atomic instruction:</a:t>
            </a:r>
          </a:p>
          <a:p>
            <a:r>
              <a:rPr lang="en-US" dirty="0"/>
              <a:t>LOCK XADD  R8 </a:t>
            </a:r>
            <a:r>
              <a:rPr lang="en-US" dirty="0" err="1"/>
              <a:t>src</a:t>
            </a:r>
            <a:endParaRPr lang="en-US" dirty="0"/>
          </a:p>
        </p:txBody>
      </p:sp>
      <p:sp>
        <p:nvSpPr>
          <p:cNvPr id="16" name="TextBox 15">
            <a:extLst>
              <a:ext uri="{FF2B5EF4-FFF2-40B4-BE49-F238E27FC236}">
                <a16:creationId xmlns:a16="http://schemas.microsoft.com/office/drawing/2014/main" id="{72986D85-2918-9656-BA4E-12ACA72D3107}"/>
              </a:ext>
            </a:extLst>
          </p:cNvPr>
          <p:cNvSpPr txBox="1"/>
          <p:nvPr/>
        </p:nvSpPr>
        <p:spPr>
          <a:xfrm>
            <a:off x="8982452" y="5908173"/>
            <a:ext cx="2983830" cy="369332"/>
          </a:xfrm>
          <a:prstGeom prst="rect">
            <a:avLst/>
          </a:prstGeom>
          <a:noFill/>
        </p:spPr>
        <p:txBody>
          <a:bodyPr wrap="none" rtlCol="0">
            <a:spAutoFit/>
          </a:bodyPr>
          <a:lstStyle/>
          <a:p>
            <a:r>
              <a:rPr lang="en-US" dirty="0" err="1">
                <a:solidFill>
                  <a:schemeClr val="accent4"/>
                </a:solidFill>
              </a:rPr>
              <a:t>src</a:t>
            </a:r>
            <a:r>
              <a:rPr lang="en-US" dirty="0">
                <a:solidFill>
                  <a:schemeClr val="accent4"/>
                </a:solidFill>
              </a:rPr>
              <a:t> is shared memory location</a:t>
            </a:r>
          </a:p>
        </p:txBody>
      </p:sp>
      <p:sp>
        <p:nvSpPr>
          <p:cNvPr id="17" name="TextBox 16">
            <a:extLst>
              <a:ext uri="{FF2B5EF4-FFF2-40B4-BE49-F238E27FC236}">
                <a16:creationId xmlns:a16="http://schemas.microsoft.com/office/drawing/2014/main" id="{C4F3F01E-B782-A62B-4C96-34C1CA0CB33D}"/>
              </a:ext>
            </a:extLst>
          </p:cNvPr>
          <p:cNvSpPr txBox="1"/>
          <p:nvPr/>
        </p:nvSpPr>
        <p:spPr>
          <a:xfrm>
            <a:off x="4863829" y="3903913"/>
            <a:ext cx="3307362" cy="1200329"/>
          </a:xfrm>
          <a:prstGeom prst="rect">
            <a:avLst/>
          </a:prstGeom>
          <a:noFill/>
        </p:spPr>
        <p:txBody>
          <a:bodyPr wrap="square" rtlCol="0">
            <a:spAutoFit/>
          </a:bodyPr>
          <a:lstStyle/>
          <a:p>
            <a:r>
              <a:rPr lang="en-US" b="0" i="1" dirty="0">
                <a:solidFill>
                  <a:schemeClr val="accent2">
                    <a:lumMod val="60000"/>
                    <a:lumOff val="40000"/>
                  </a:schemeClr>
                </a:solidFill>
                <a:effectLst/>
                <a:latin typeface="urw-din"/>
              </a:rPr>
              <a:t>#pragma </a:t>
            </a:r>
            <a:r>
              <a:rPr lang="en-US" b="0" i="1" dirty="0" err="1">
                <a:solidFill>
                  <a:schemeClr val="accent2">
                    <a:lumMod val="60000"/>
                    <a:lumOff val="40000"/>
                  </a:schemeClr>
                </a:solidFill>
                <a:effectLst/>
                <a:latin typeface="urw-din"/>
              </a:rPr>
              <a:t>omp</a:t>
            </a:r>
            <a:r>
              <a:rPr lang="en-US" b="0" i="1" dirty="0">
                <a:solidFill>
                  <a:schemeClr val="accent2">
                    <a:lumMod val="60000"/>
                    <a:lumOff val="40000"/>
                  </a:schemeClr>
                </a:solidFill>
                <a:effectLst/>
                <a:latin typeface="urw-din"/>
              </a:rPr>
              <a:t> atomic</a:t>
            </a:r>
          </a:p>
          <a:p>
            <a:r>
              <a:rPr lang="en-US" b="0" i="1" dirty="0">
                <a:solidFill>
                  <a:schemeClr val="accent2">
                    <a:lumMod val="60000"/>
                    <a:lumOff val="40000"/>
                  </a:schemeClr>
                </a:solidFill>
                <a:effectLst/>
                <a:latin typeface="urw-din"/>
              </a:rPr>
              <a:t>balance++;   </a:t>
            </a:r>
          </a:p>
          <a:p>
            <a:endParaRPr lang="en-US" b="0" i="1" dirty="0">
              <a:solidFill>
                <a:schemeClr val="accent2">
                  <a:lumMod val="60000"/>
                  <a:lumOff val="40000"/>
                </a:schemeClr>
              </a:solidFill>
              <a:effectLst/>
              <a:latin typeface="urw-din"/>
            </a:endParaRPr>
          </a:p>
          <a:p>
            <a:r>
              <a:rPr lang="en-US" b="0" i="1" dirty="0">
                <a:solidFill>
                  <a:schemeClr val="accent2">
                    <a:lumMod val="60000"/>
                    <a:lumOff val="40000"/>
                  </a:schemeClr>
                </a:solidFill>
                <a:effectLst/>
                <a:latin typeface="urw-din"/>
              </a:rPr>
              <a:t> can compile to this:</a:t>
            </a:r>
            <a:endParaRPr lang="en-US" dirty="0">
              <a:solidFill>
                <a:schemeClr val="accent2">
                  <a:lumMod val="60000"/>
                  <a:lumOff val="40000"/>
                </a:schemeClr>
              </a:solidFill>
            </a:endParaRPr>
          </a:p>
        </p:txBody>
      </p:sp>
    </p:spTree>
    <p:extLst>
      <p:ext uri="{BB962C8B-B14F-4D97-AF65-F5344CB8AC3E}">
        <p14:creationId xmlns:p14="http://schemas.microsoft.com/office/powerpoint/2010/main" val="1123088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B4EA2-A351-ED98-0248-E08D88323CCF}"/>
              </a:ext>
            </a:extLst>
          </p:cNvPr>
          <p:cNvSpPr>
            <a:spLocks noGrp="1"/>
          </p:cNvSpPr>
          <p:nvPr>
            <p:ph type="title"/>
          </p:nvPr>
        </p:nvSpPr>
        <p:spPr/>
        <p:txBody>
          <a:bodyPr/>
          <a:lstStyle/>
          <a:p>
            <a:r>
              <a:rPr lang="en-US" dirty="0"/>
              <a:t>Few Atomic instructions</a:t>
            </a:r>
          </a:p>
        </p:txBody>
      </p:sp>
      <p:sp>
        <p:nvSpPr>
          <p:cNvPr id="3" name="Content Placeholder 2">
            <a:extLst>
              <a:ext uri="{FF2B5EF4-FFF2-40B4-BE49-F238E27FC236}">
                <a16:creationId xmlns:a16="http://schemas.microsoft.com/office/drawing/2014/main" id="{F3DCAB5F-F921-3576-0005-B99A03D306DB}"/>
              </a:ext>
            </a:extLst>
          </p:cNvPr>
          <p:cNvSpPr>
            <a:spLocks noGrp="1"/>
          </p:cNvSpPr>
          <p:nvPr>
            <p:ph idx="1"/>
          </p:nvPr>
        </p:nvSpPr>
        <p:spPr/>
        <p:txBody>
          <a:bodyPr>
            <a:normAutofit fontScale="92500" lnSpcReduction="20000"/>
          </a:bodyPr>
          <a:lstStyle/>
          <a:p>
            <a:r>
              <a:rPr lang="en-US" dirty="0"/>
              <a:t>There are only a few operations that have atomic instructions</a:t>
            </a:r>
          </a:p>
          <a:p>
            <a:r>
              <a:rPr lang="en-US" dirty="0"/>
              <a:t>Depends on the CPU architecture/instruction set</a:t>
            </a:r>
          </a:p>
          <a:p>
            <a:endParaRPr lang="en-US" dirty="0"/>
          </a:p>
          <a:p>
            <a:r>
              <a:rPr lang="en-US" dirty="0"/>
              <a:t>Add</a:t>
            </a:r>
          </a:p>
          <a:p>
            <a:r>
              <a:rPr lang="en-US" dirty="0"/>
              <a:t>Subtract</a:t>
            </a:r>
          </a:p>
          <a:p>
            <a:r>
              <a:rPr lang="en-US" dirty="0"/>
              <a:t>Multiply</a:t>
            </a:r>
          </a:p>
          <a:p>
            <a:r>
              <a:rPr lang="en-US" dirty="0"/>
              <a:t>Divide</a:t>
            </a:r>
          </a:p>
          <a:p>
            <a:r>
              <a:rPr lang="en-US" dirty="0"/>
              <a:t>Bit-level operations (&amp;, |, ^, &gt;&gt;, &lt;&lt;)</a:t>
            </a:r>
          </a:p>
          <a:p>
            <a:endParaRPr lang="en-US" dirty="0"/>
          </a:p>
          <a:p>
            <a:r>
              <a:rPr lang="en-US" dirty="0">
                <a:solidFill>
                  <a:schemeClr val="accent2">
                    <a:lumMod val="60000"/>
                    <a:lumOff val="40000"/>
                  </a:schemeClr>
                </a:solidFill>
              </a:rPr>
              <a:t>Applies only to a single line of code following the </a:t>
            </a:r>
            <a:r>
              <a:rPr lang="en-US" dirty="0" err="1">
                <a:solidFill>
                  <a:schemeClr val="accent2">
                    <a:lumMod val="60000"/>
                    <a:lumOff val="40000"/>
                  </a:schemeClr>
                </a:solidFill>
              </a:rPr>
              <a:t>omp</a:t>
            </a:r>
            <a:r>
              <a:rPr lang="en-US" dirty="0">
                <a:solidFill>
                  <a:schemeClr val="accent2">
                    <a:lumMod val="60000"/>
                    <a:lumOff val="40000"/>
                  </a:schemeClr>
                </a:solidFill>
              </a:rPr>
              <a:t> atomic pragma</a:t>
            </a:r>
          </a:p>
        </p:txBody>
      </p:sp>
    </p:spTree>
    <p:extLst>
      <p:ext uri="{BB962C8B-B14F-4D97-AF65-F5344CB8AC3E}">
        <p14:creationId xmlns:p14="http://schemas.microsoft.com/office/powerpoint/2010/main" val="2603542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B4AA0-4456-BA39-4143-D3E55C360ECA}"/>
              </a:ext>
            </a:extLst>
          </p:cNvPr>
          <p:cNvSpPr>
            <a:spLocks noGrp="1"/>
          </p:cNvSpPr>
          <p:nvPr>
            <p:ph type="title"/>
          </p:nvPr>
        </p:nvSpPr>
        <p:spPr/>
        <p:txBody>
          <a:bodyPr/>
          <a:lstStyle/>
          <a:p>
            <a:r>
              <a:rPr lang="en-US" dirty="0"/>
              <a:t>Critical sections</a:t>
            </a:r>
          </a:p>
        </p:txBody>
      </p:sp>
      <p:sp>
        <p:nvSpPr>
          <p:cNvPr id="3" name="Content Placeholder 2">
            <a:extLst>
              <a:ext uri="{FF2B5EF4-FFF2-40B4-BE49-F238E27FC236}">
                <a16:creationId xmlns:a16="http://schemas.microsoft.com/office/drawing/2014/main" id="{E9C40A7C-8001-2CB0-EFE1-406E22FEBABA}"/>
              </a:ext>
            </a:extLst>
          </p:cNvPr>
          <p:cNvSpPr>
            <a:spLocks noGrp="1"/>
          </p:cNvSpPr>
          <p:nvPr>
            <p:ph idx="1"/>
          </p:nvPr>
        </p:nvSpPr>
        <p:spPr/>
        <p:txBody>
          <a:bodyPr/>
          <a:lstStyle/>
          <a:p>
            <a:r>
              <a:rPr lang="en-US" dirty="0"/>
              <a:t>Place around a block of lines of code</a:t>
            </a:r>
          </a:p>
          <a:p>
            <a:endParaRPr lang="en-US" dirty="0"/>
          </a:p>
          <a:p>
            <a:r>
              <a:rPr lang="en-US" dirty="0"/>
              <a:t>Signifies that the code must all be executed before that next thread gets to execute it.</a:t>
            </a:r>
          </a:p>
          <a:p>
            <a:endParaRPr lang="en-US" dirty="0"/>
          </a:p>
          <a:p>
            <a:r>
              <a:rPr lang="en-US" dirty="0"/>
              <a:t>Causes threads to wait until one inside its critical section completes</a:t>
            </a:r>
          </a:p>
          <a:p>
            <a:endParaRPr lang="en-US" dirty="0"/>
          </a:p>
          <a:p>
            <a:r>
              <a:rPr lang="en-US" dirty="0"/>
              <a:t>Does not compile into CPU atomic instructions</a:t>
            </a:r>
          </a:p>
        </p:txBody>
      </p:sp>
    </p:spTree>
    <p:extLst>
      <p:ext uri="{BB962C8B-B14F-4D97-AF65-F5344CB8AC3E}">
        <p14:creationId xmlns:p14="http://schemas.microsoft.com/office/powerpoint/2010/main" val="38534947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5" id="{005BB9AB-CB83-2F4A-B8D3-3923B16C45C5}" vid="{6DAF6F60-9D35-814E-917A-A7202DE1025C}"/>
    </a:ext>
  </a:extLst>
</a:theme>
</file>

<file path=docProps/app.xml><?xml version="1.0" encoding="utf-8"?>
<Properties xmlns="http://schemas.openxmlformats.org/officeDocument/2006/extended-properties" xmlns:vt="http://schemas.openxmlformats.org/officeDocument/2006/docPropsVTypes">
  <Template>Office Theme</Template>
  <TotalTime>142</TotalTime>
  <Words>416</Words>
  <Application>Microsoft Macintosh PowerPoint</Application>
  <PresentationFormat>Widescreen</PresentationFormat>
  <Paragraphs>79</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Calibri</vt:lpstr>
      <vt:lpstr>Calibri Light</vt:lpstr>
      <vt:lpstr>courier new,monospace</vt:lpstr>
      <vt:lpstr>Menlo</vt:lpstr>
      <vt:lpstr>urw-din</vt:lpstr>
      <vt:lpstr>Office Theme</vt:lpstr>
      <vt:lpstr>Atomicity vs Critical Section</vt:lpstr>
      <vt:lpstr>Ensuring each thread completes before another can complete some code</vt:lpstr>
      <vt:lpstr>Race conditions</vt:lpstr>
      <vt:lpstr>One of several scenarios</vt:lpstr>
      <vt:lpstr>XADD combines these operations</vt:lpstr>
      <vt:lpstr>Few Atomic instructions</vt:lpstr>
      <vt:lpstr>Critical sections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Atomicity vs Critical Section</dc:title>
  <dc:creator>Microsoft Office User</dc:creator>
  <cp:lastModifiedBy>Microsoft Office User</cp:lastModifiedBy>
  <cp:revision>6</cp:revision>
  <dcterms:created xsi:type="dcterms:W3CDTF">2022-09-22T17:19:30Z</dcterms:created>
  <dcterms:modified xsi:type="dcterms:W3CDTF">2022-09-22T19:41:37Z</dcterms:modified>
</cp:coreProperties>
</file>