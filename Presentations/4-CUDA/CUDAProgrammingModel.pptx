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61" r:id="rId4"/>
    <p:sldId id="260" r:id="rId5"/>
    <p:sldId id="262" r:id="rId6"/>
    <p:sldId id="263" r:id="rId7"/>
    <p:sldId id="272" r:id="rId8"/>
    <p:sldId id="257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B3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405"/>
  </p:normalViewPr>
  <p:slideViewPr>
    <p:cSldViewPr snapToGrid="0" snapToObjects="1">
      <p:cViewPr varScale="1">
        <p:scale>
          <a:sx n="122" d="100"/>
          <a:sy n="122" d="100"/>
        </p:scale>
        <p:origin x="74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F2CFB-B9D9-0347-8C82-1A463FED25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735EB2-C00A-0F45-B47A-115D1C0D60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BD23B3-3698-8348-B5F0-FBA4DB9AB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D9E5A-6977-4640-B621-2F6686AF40B9}" type="datetimeFigureOut">
              <a:rPr lang="en-US" smtClean="0"/>
              <a:t>10/31/24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1B99A-70EB-764A-8A71-D04AD7952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4EAB5B-DDFF-DC4E-8E08-74636B65F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33E12-7BD3-BD48-ACF8-D02633902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525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C138A-9BEC-E748-B32B-3480D57CD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198" y="179888"/>
            <a:ext cx="10515600" cy="501149"/>
          </a:xfrm>
        </p:spPr>
        <p:txBody>
          <a:bodyPr>
            <a:noAutofit/>
          </a:bodyPr>
          <a:lstStyle>
            <a:lvl1pPr algn="ctr">
              <a:defRPr sz="3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FA5FC-38B9-1849-9B97-67F8642B33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438" y="891974"/>
            <a:ext cx="11308882" cy="44115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5754FF-469B-5241-92A1-6B0FB51FA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D9E5A-6977-4640-B621-2F6686AF40B9}" type="datetimeFigureOut">
              <a:rPr lang="en-US" smtClean="0"/>
              <a:t>10/31/24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D488FF-C544-EE4F-94BE-BC977C8F0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D8A44-5402-F44C-8FAF-A46B0A2FE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33E12-7BD3-BD48-ACF8-D02633902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98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6C8A8-C4BF-6D4B-B2E2-62B5F1E30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FF2076-2626-6648-AC43-CF23755A6D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2CF57-C8D4-8B47-837F-F3FABDF64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D9E5A-6977-4640-B621-2F6686AF40B9}" type="datetimeFigureOut">
              <a:rPr lang="en-US" smtClean="0"/>
              <a:t>10/31/24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60A8FB-AC28-C249-91CE-B2B702638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74117C-62F0-6C48-874B-605E5F294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33E12-7BD3-BD48-ACF8-D02633902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778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53357-14B8-A74D-976F-CCC6ADD09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9514"/>
            <a:ext cx="10515600" cy="491523"/>
          </a:xfrm>
        </p:spPr>
        <p:txBody>
          <a:bodyPr>
            <a:noAutofit/>
          </a:bodyPr>
          <a:lstStyle>
            <a:lvl1pPr algn="ctr">
              <a:defRPr sz="40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F1537-708E-BA44-B740-00A80BD14B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9764" y="988226"/>
            <a:ext cx="5500036" cy="44500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74D18E-AB89-214A-80F6-AED6E054DB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5999" y="988227"/>
            <a:ext cx="5329187" cy="44500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66789A-F040-E241-9153-81B8368A1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D9E5A-6977-4640-B621-2F6686AF40B9}" type="datetimeFigureOut">
              <a:rPr lang="en-US" smtClean="0"/>
              <a:t>10/31/24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6BED59-0F05-CB42-971F-06F288F13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D06800-CDC3-B44E-9AC8-50E9DB143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33E12-7BD3-BD48-ACF8-D02633902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470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899CA-270D-C04D-9BAB-4160608C2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068B1E-725C-F746-A421-12E70C8A07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61F14B-39D0-3E47-977B-CB4D32538A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001A9-4D9B-D24E-AFCC-E62A5C78F4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7EAD10-CBCB-3645-9FDB-B4541176CE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B8E3AA-1007-974B-89AC-134FFAAE4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D9E5A-6977-4640-B621-2F6686AF40B9}" type="datetimeFigureOut">
              <a:rPr lang="en-US" smtClean="0"/>
              <a:t>10/31/24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4C07F-994D-E147-B9C4-4D2DA79FE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99B744-A6AB-B84D-814D-27AFAAA59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33E12-7BD3-BD48-ACF8-D02633902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387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9B2A6-D0A5-5842-9326-C3248661D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CBE5BB-7D4A-3443-8011-50BFA20FB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D9E5A-6977-4640-B621-2F6686AF40B9}" type="datetimeFigureOut">
              <a:rPr lang="en-US" smtClean="0"/>
              <a:t>10/31/24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01EC94-4F6E-A842-B2B4-745B72879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FEA374-F9D1-5047-8E00-EEBC558E5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33E12-7BD3-BD48-ACF8-D02633902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054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4E34A2-FF06-4646-9B11-3960AAD81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D9E5A-6977-4640-B621-2F6686AF40B9}" type="datetimeFigureOut">
              <a:rPr lang="en-US" smtClean="0"/>
              <a:t>10/31/24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602A72-9F03-3047-A58F-5478424B8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7045E1-1CAC-6540-AC9E-33B763897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33E12-7BD3-BD48-ACF8-D02633902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468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5D1BE-D122-7443-B909-666D7E00B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62548-6163-DF42-8D6F-E0DF3CD999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292E66-003D-CB49-91E5-89A87B22CB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86E865-8FAD-AB45-8489-9C2AA8200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D9E5A-6977-4640-B621-2F6686AF40B9}" type="datetimeFigureOut">
              <a:rPr lang="en-US" smtClean="0"/>
              <a:t>10/31/24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49390D-6CA7-334E-BFE4-ADD6E1237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10F00F-8DAC-6B45-A36C-CE3F91225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33E12-7BD3-BD48-ACF8-D02633902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878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0B418-47B0-DC4F-AD09-F59EBFBA6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876A39-FD73-2C42-9F0E-A75F94321F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3EE543-5E7F-2D4E-ACC3-81F5986703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ACE77D-1E65-A543-870E-17E38C699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D9E5A-6977-4640-B621-2F6686AF40B9}" type="datetimeFigureOut">
              <a:rPr lang="en-US" smtClean="0"/>
              <a:t>10/31/24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BC2DB8-1E2E-9744-9E99-8F5A7BB6E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3D143D-B79E-C44A-A040-D785D07EB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33E12-7BD3-BD48-ACF8-D02633902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268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D784D-E7A9-E848-B261-413FCAA98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47E922-260A-DB4E-9833-35B0C3BCFE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3677AC-6170-254E-A053-DE7A25AA6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D9E5A-6977-4640-B621-2F6686AF40B9}" type="datetimeFigureOut">
              <a:rPr lang="en-US" smtClean="0"/>
              <a:t>10/31/24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ADA906-7BEF-1B45-899D-93233ACC4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5448D-80D6-EC47-8869-6FC033A40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33E12-7BD3-BD48-ACF8-D02633902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980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2D4714-F165-6A49-83C2-6099569240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4160F5-13DB-3E4A-813A-01FB9ABFDD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47A2AB-D055-C647-830B-BCC123099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D9E5A-6977-4640-B621-2F6686AF40B9}" type="datetimeFigureOut">
              <a:rPr lang="en-US" smtClean="0"/>
              <a:t>10/31/24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6ECAB2-8B81-5843-AFAD-4CEA8ADCE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2BE4B-ED0D-664C-8695-58D23CDCC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33E12-7BD3-BD48-ACF8-D02633902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723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65F063-E93D-BB4B-A024-282AB21ED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5589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7D538-68DF-DA4B-AD57-2CBD80BC2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9" y="766845"/>
            <a:ext cx="10596613" cy="48158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38257B-4037-8B41-8672-5C16900FA3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DD9E5A-6977-4640-B621-2F6686AF40B9}" type="datetimeFigureOut">
              <a:rPr lang="en-US" smtClean="0"/>
              <a:t>10/31/24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65CD5B-6D1E-0245-BBB5-6DB2BF2FBC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99468-12B3-E843-93F2-1CFFE8CF74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A33E12-7BD3-BD48-ACF8-D02633902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1443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accent5">
              <a:lumMod val="40000"/>
              <a:lumOff val="60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-P28LKWTzrI?feature=oembed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distributed-knowledge/towards-microarchitectural-design-of-nvidia-gpus-part-1-abe2fd5d9e52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BB5A4-BE90-E44E-9AF0-D5382E6853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GPU Computing with CUDA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240833-E985-E147-8665-E003AB61BB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COMP 445</a:t>
            </a:r>
          </a:p>
        </p:txBody>
      </p:sp>
    </p:spTree>
    <p:extLst>
      <p:ext uri="{BB962C8B-B14F-4D97-AF65-F5344CB8AC3E}">
        <p14:creationId xmlns:p14="http://schemas.microsoft.com/office/powerpoint/2010/main" val="2320625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4308C-F587-BB49-7263-89C824917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GPU: Massive fine-grain data parallelism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6A5E46-8282-2611-91B4-7C4B27EFD1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CPU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581C608-A4ED-A69B-B966-F8F6436FF40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relatively small amount of very fast, complex cores</a:t>
            </a:r>
          </a:p>
          <a:p>
            <a:endParaRPr lang="en-US" dirty="0"/>
          </a:p>
          <a:p>
            <a:r>
              <a:rPr lang="en-US" dirty="0"/>
              <a:t>Individual and shared cache and large main memory</a:t>
            </a:r>
          </a:p>
          <a:p>
            <a:endParaRPr lang="en-US" dirty="0"/>
          </a:p>
          <a:p>
            <a:r>
              <a:rPr lang="en-US" dirty="0"/>
              <a:t>Programming model is to split out many data elements per core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0101119-7FE9-2CB3-A894-C5BA558796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29374" y="1681163"/>
            <a:ext cx="5183188" cy="823912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GP-GPU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00518E9-5E15-EBE0-24E9-306B33CF4B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29374" y="2505075"/>
            <a:ext cx="4926013" cy="368458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Thousands of simpler cores</a:t>
            </a:r>
          </a:p>
          <a:p>
            <a:endParaRPr lang="en-US" dirty="0"/>
          </a:p>
          <a:p>
            <a:r>
              <a:rPr lang="en-US" dirty="0"/>
              <a:t>Different memory layout</a:t>
            </a:r>
          </a:p>
          <a:p>
            <a:r>
              <a:rPr lang="en-US" dirty="0"/>
              <a:t>Different architecture</a:t>
            </a:r>
          </a:p>
          <a:p>
            <a:endParaRPr lang="en-US" dirty="0"/>
          </a:p>
          <a:p>
            <a:r>
              <a:rPr lang="en-US" dirty="0"/>
              <a:t>Programming model is one thread in one core works on one data element</a:t>
            </a:r>
          </a:p>
        </p:txBody>
      </p:sp>
    </p:spTree>
    <p:extLst>
      <p:ext uri="{BB962C8B-B14F-4D97-AF65-F5344CB8AC3E}">
        <p14:creationId xmlns:p14="http://schemas.microsoft.com/office/powerpoint/2010/main" val="1056710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D0052-C11C-F369-0993-FBF3A1883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Online Media 3">
            <a:hlinkClick r:id="" action="ppaction://media"/>
            <a:extLst>
              <a:ext uri="{FF2B5EF4-FFF2-40B4-BE49-F238E27FC236}">
                <a16:creationId xmlns:a16="http://schemas.microsoft.com/office/drawing/2014/main" id="{C20AF3FB-243C-8402-40D7-EA28507638C8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146300" y="892175"/>
            <a:ext cx="7808913" cy="4411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296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5BDC932-610C-9235-CF7C-BB20BA5D57E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36366" y="346982"/>
            <a:ext cx="4466181" cy="4449762"/>
          </a:xfr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1D33547-6261-8562-716B-F9C4E2354F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5999" y="346196"/>
            <a:ext cx="5329187" cy="4450046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CPU memory is larger, GPU memory has more bandwidth </a:t>
            </a:r>
          </a:p>
          <a:p>
            <a:endParaRPr lang="en-US" dirty="0"/>
          </a:p>
          <a:p>
            <a:r>
              <a:rPr lang="en-US" dirty="0"/>
              <a:t>CPU and GPU memory are separate, connected by an I/O bus (traditionally PCI-e) </a:t>
            </a:r>
          </a:p>
          <a:p>
            <a:endParaRPr lang="en-US" dirty="0"/>
          </a:p>
          <a:p>
            <a:r>
              <a:rPr lang="en-US" dirty="0"/>
              <a:t>Any data transferred between the CPU and GPU will be handled by the I/O Bus </a:t>
            </a:r>
          </a:p>
          <a:p>
            <a:endParaRPr lang="en-US" dirty="0"/>
          </a:p>
          <a:p>
            <a:r>
              <a:rPr lang="en-US" dirty="0"/>
              <a:t>The I/O Bus is relatively slow compared to memory bandwidth </a:t>
            </a:r>
          </a:p>
          <a:p>
            <a:endParaRPr lang="en-US" dirty="0"/>
          </a:p>
          <a:p>
            <a:r>
              <a:rPr lang="en-US" dirty="0"/>
              <a:t>The GPU cannot perform computation until the data is within its memory 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535125-A44B-63C5-00F6-C588E1C8F91A}"/>
              </a:ext>
            </a:extLst>
          </p:cNvPr>
          <p:cNvSpPr txBox="1"/>
          <p:nvPr/>
        </p:nvSpPr>
        <p:spPr>
          <a:xfrm>
            <a:off x="1566153" y="4990284"/>
            <a:ext cx="6149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Host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6DABDA-208C-DC49-7E44-985CB034A93D}"/>
              </a:ext>
            </a:extLst>
          </p:cNvPr>
          <p:cNvSpPr txBox="1"/>
          <p:nvPr/>
        </p:nvSpPr>
        <p:spPr>
          <a:xfrm>
            <a:off x="4007796" y="4990284"/>
            <a:ext cx="811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Device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F82540-1547-CACD-BCEB-049C9564C735}"/>
              </a:ext>
            </a:extLst>
          </p:cNvPr>
          <p:cNvSpPr txBox="1"/>
          <p:nvPr/>
        </p:nvSpPr>
        <p:spPr>
          <a:xfrm>
            <a:off x="4007796" y="5553156"/>
            <a:ext cx="2862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Kernel function runs on the device after data transfer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A6E22D-7749-819E-E6D2-AD3BFA13F273}"/>
              </a:ext>
            </a:extLst>
          </p:cNvPr>
          <p:cNvSpPr txBox="1"/>
          <p:nvPr/>
        </p:nvSpPr>
        <p:spPr>
          <a:xfrm>
            <a:off x="1011040" y="5475175"/>
            <a:ext cx="23400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must be transferred to/from the host memory</a:t>
            </a:r>
          </a:p>
        </p:txBody>
      </p:sp>
    </p:spTree>
    <p:extLst>
      <p:ext uri="{BB962C8B-B14F-4D97-AF65-F5344CB8AC3E}">
        <p14:creationId xmlns:p14="http://schemas.microsoft.com/office/powerpoint/2010/main" val="3530840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46A5B-359D-85F6-E6EF-22B213354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Architectures &amp; Nomenclature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F3CFAA7-A4EE-69C8-7FB4-0B32B6A63F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1516" y="681037"/>
            <a:ext cx="10834964" cy="6080125"/>
          </a:xfrm>
        </p:spPr>
      </p:pic>
      <p:sp>
        <p:nvSpPr>
          <p:cNvPr id="6" name="Frame 5">
            <a:extLst>
              <a:ext uri="{FF2B5EF4-FFF2-40B4-BE49-F238E27FC236}">
                <a16:creationId xmlns:a16="http://schemas.microsoft.com/office/drawing/2014/main" id="{7634C80A-54F8-B5EC-8CF1-CF2CC1D73131}"/>
              </a:ext>
            </a:extLst>
          </p:cNvPr>
          <p:cNvSpPr/>
          <p:nvPr/>
        </p:nvSpPr>
        <p:spPr>
          <a:xfrm>
            <a:off x="4471988" y="1585913"/>
            <a:ext cx="2171700" cy="357187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Frame 6">
            <a:extLst>
              <a:ext uri="{FF2B5EF4-FFF2-40B4-BE49-F238E27FC236}">
                <a16:creationId xmlns:a16="http://schemas.microsoft.com/office/drawing/2014/main" id="{52AC62C3-B9D9-07B3-0777-B229514D01CE}"/>
              </a:ext>
            </a:extLst>
          </p:cNvPr>
          <p:cNvSpPr/>
          <p:nvPr/>
        </p:nvSpPr>
        <p:spPr>
          <a:xfrm>
            <a:off x="4700588" y="3171825"/>
            <a:ext cx="485775" cy="385763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E85DDA-2BE2-DD58-3490-A7659F29F3B8}"/>
              </a:ext>
            </a:extLst>
          </p:cNvPr>
          <p:cNvSpPr txBox="1"/>
          <p:nvPr/>
        </p:nvSpPr>
        <p:spPr>
          <a:xfrm>
            <a:off x="3514733" y="2967335"/>
            <a:ext cx="11715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Streaming processor, or core</a:t>
            </a:r>
          </a:p>
        </p:txBody>
      </p:sp>
    </p:spTree>
    <p:extLst>
      <p:ext uri="{BB962C8B-B14F-4D97-AF65-F5344CB8AC3E}">
        <p14:creationId xmlns:p14="http://schemas.microsoft.com/office/powerpoint/2010/main" val="2065596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46A5B-359D-85F6-E6EF-22B213354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Architectures &amp; Nomenclature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F3CFAA7-A4EE-69C8-7FB4-0B32B6A63FE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19075" y="1178994"/>
            <a:ext cx="5500687" cy="3086753"/>
          </a:xfr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FC4B14F-EB9A-2716-0F97-8F5DA44CAA5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32 cores/SPs per SM</a:t>
            </a:r>
          </a:p>
          <a:p>
            <a:r>
              <a:rPr lang="en-US" sz="2400" dirty="0"/>
              <a:t>Each core running code gets registers</a:t>
            </a:r>
          </a:p>
          <a:p>
            <a:r>
              <a:rPr lang="en-US" sz="2400" dirty="0"/>
              <a:t>Some cores/SPs are for special calculations</a:t>
            </a:r>
          </a:p>
          <a:p>
            <a:endParaRPr lang="en-US" sz="2400" dirty="0"/>
          </a:p>
          <a:p>
            <a:r>
              <a:rPr lang="en-US" sz="2400" dirty="0"/>
              <a:t>SIMD (single instruction, multiple data):</a:t>
            </a:r>
          </a:p>
          <a:p>
            <a:r>
              <a:rPr lang="en-US" sz="2400" dirty="0"/>
              <a:t>When running instructions of a program, each SP in one SM is executing the same instruction</a:t>
            </a:r>
          </a:p>
          <a:p>
            <a:r>
              <a:rPr lang="en-US" sz="2400" dirty="0"/>
              <a:t>Warp scheduler: runs the code on an SM</a:t>
            </a:r>
          </a:p>
        </p:txBody>
      </p:sp>
    </p:spTree>
    <p:extLst>
      <p:ext uri="{BB962C8B-B14F-4D97-AF65-F5344CB8AC3E}">
        <p14:creationId xmlns:p14="http://schemas.microsoft.com/office/powerpoint/2010/main" val="22708992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FE52E-9267-0324-B109-85C4D4C8C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116FF-006D-9A6B-6FFC-1FF358F3B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CUDA </a:t>
            </a:r>
            <a:r>
              <a:rPr lang="en-US" dirty="0" err="1"/>
              <a:t>Programmming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B4C8B-7C95-B6AF-F619-8B04DDC6E8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438" y="891974"/>
            <a:ext cx="11308882" cy="5594551"/>
          </a:xfrm>
        </p:spPr>
        <p:txBody>
          <a:bodyPr/>
          <a:lstStyle/>
          <a:p>
            <a:r>
              <a:rPr lang="en-US" dirty="0"/>
              <a:t>Normally we will have large arrays of data</a:t>
            </a:r>
          </a:p>
          <a:p>
            <a:endParaRPr lang="en-US" dirty="0"/>
          </a:p>
          <a:p>
            <a:r>
              <a:rPr lang="en-US" dirty="0"/>
              <a:t>They can be managed in two ways:</a:t>
            </a:r>
          </a:p>
          <a:p>
            <a:pPr marL="514350" indent="-514350">
              <a:buAutoNum type="arabicPeriod"/>
            </a:pPr>
            <a:r>
              <a:rPr lang="en-US" dirty="0"/>
              <a:t>Programmer manages (not used </a:t>
            </a:r>
            <a:r>
              <a:rPr lang="en-US"/>
              <a:t>any more on newer cards):</a:t>
            </a:r>
            <a:endParaRPr lang="en-US" dirty="0"/>
          </a:p>
          <a:p>
            <a:pPr marL="971550" lvl="1" indent="-514350">
              <a:buAutoNum type="arabicPeriod"/>
            </a:pPr>
            <a:r>
              <a:rPr lang="en-US" dirty="0"/>
              <a:t> allocate memory on host and device, </a:t>
            </a:r>
          </a:p>
          <a:p>
            <a:pPr marL="971550" lvl="1" indent="-514350">
              <a:buAutoNum type="arabicPeriod"/>
            </a:pPr>
            <a:r>
              <a:rPr lang="en-US" dirty="0"/>
              <a:t>copy data to device, </a:t>
            </a:r>
          </a:p>
          <a:p>
            <a:pPr marL="971550" lvl="1" indent="-514350">
              <a:buAutoNum type="arabicPeriod"/>
            </a:pPr>
            <a:r>
              <a:rPr lang="en-US" dirty="0"/>
              <a:t>Compute on device, </a:t>
            </a:r>
          </a:p>
          <a:p>
            <a:pPr marL="971550" lvl="1" indent="-514350">
              <a:buAutoNum type="arabicPeriod"/>
            </a:pPr>
            <a:r>
              <a:rPr lang="en-US" dirty="0"/>
              <a:t>copy data back to host</a:t>
            </a:r>
          </a:p>
          <a:p>
            <a:pPr marL="514350" indent="-514350">
              <a:buAutoNum type="arabicPeriod"/>
            </a:pPr>
            <a:r>
              <a:rPr lang="en-US" dirty="0"/>
              <a:t>Programmer specifies “unified memory”</a:t>
            </a:r>
          </a:p>
          <a:p>
            <a:pPr marL="971550" lvl="1" indent="-514350">
              <a:buAutoNum type="arabicPeriod"/>
            </a:pPr>
            <a:r>
              <a:rPr lang="en-US" dirty="0"/>
              <a:t>Allocate once as memory that will reside on device and host</a:t>
            </a:r>
          </a:p>
          <a:p>
            <a:pPr marL="971550" lvl="1" indent="-514350">
              <a:buAutoNum type="arabicPeriod"/>
            </a:pPr>
            <a:r>
              <a:rPr lang="en-US" dirty="0"/>
              <a:t>Compute on device</a:t>
            </a:r>
          </a:p>
        </p:txBody>
      </p:sp>
    </p:spTree>
    <p:extLst>
      <p:ext uri="{BB962C8B-B14F-4D97-AF65-F5344CB8AC3E}">
        <p14:creationId xmlns:p14="http://schemas.microsoft.com/office/powerpoint/2010/main" val="25547984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67650-A330-E64E-B337-C1D97E079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Programming Model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42B25C2-00C7-4FBC-0E91-ED51F0E8B8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34782" y="892175"/>
            <a:ext cx="5409243" cy="564106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04672FE-C0AE-AB0E-51B6-ADEA61B412AB}"/>
              </a:ext>
            </a:extLst>
          </p:cNvPr>
          <p:cNvSpPr txBox="1"/>
          <p:nvPr/>
        </p:nvSpPr>
        <p:spPr>
          <a:xfrm>
            <a:off x="9568123" y="6131386"/>
            <a:ext cx="2543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Taken from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blog post</a:t>
            </a:r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0EE895-1741-B0DC-4636-147232928202}"/>
              </a:ext>
            </a:extLst>
          </p:cNvPr>
          <p:cNvSpPr txBox="1"/>
          <p:nvPr/>
        </p:nvSpPr>
        <p:spPr>
          <a:xfrm>
            <a:off x="1479114" y="3702222"/>
            <a:ext cx="209512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Simplest version:</a:t>
            </a:r>
          </a:p>
          <a:p>
            <a:r>
              <a:rPr lang="en-US" dirty="0"/>
              <a:t>1D blocks of threads</a:t>
            </a:r>
          </a:p>
          <a:p>
            <a:r>
              <a:rPr lang="en-US" dirty="0"/>
              <a:t>inside</a:t>
            </a:r>
          </a:p>
          <a:p>
            <a:r>
              <a:rPr lang="en-US" dirty="0"/>
              <a:t>1D grid of blocks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5086B8-262B-A94D-A54E-34DFCBD372C3}"/>
              </a:ext>
            </a:extLst>
          </p:cNvPr>
          <p:cNvSpPr txBox="1"/>
          <p:nvPr/>
        </p:nvSpPr>
        <p:spPr>
          <a:xfrm>
            <a:off x="761198" y="1897251"/>
            <a:ext cx="264880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CUDA:</a:t>
            </a:r>
          </a:p>
          <a:p>
            <a:r>
              <a:rPr lang="en-US" dirty="0"/>
              <a:t>Programmer defines sizes:</a:t>
            </a:r>
          </a:p>
          <a:p>
            <a:r>
              <a:rPr lang="en-US" dirty="0"/>
              <a:t>Blocks per grid</a:t>
            </a:r>
          </a:p>
          <a:p>
            <a:r>
              <a:rPr lang="en-US" dirty="0"/>
              <a:t>Threads per block</a:t>
            </a:r>
          </a:p>
          <a:p>
            <a:r>
              <a:rPr lang="en-US" dirty="0"/>
              <a:t>Dimensions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670E57-A2BC-57E1-2A05-3423B953A603}"/>
              </a:ext>
            </a:extLst>
          </p:cNvPr>
          <p:cNvSpPr/>
          <p:nvPr/>
        </p:nvSpPr>
        <p:spPr>
          <a:xfrm>
            <a:off x="3934782" y="3786189"/>
            <a:ext cx="3609018" cy="1300162"/>
          </a:xfrm>
          <a:prstGeom prst="rect">
            <a:avLst/>
          </a:prstGeom>
          <a:noFill/>
          <a:ln w="539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D1E33F-5DBB-3E97-9703-2B0FFAED8794}"/>
              </a:ext>
            </a:extLst>
          </p:cNvPr>
          <p:cNvSpPr txBox="1"/>
          <p:nvPr/>
        </p:nvSpPr>
        <p:spPr>
          <a:xfrm>
            <a:off x="1243013" y="842963"/>
            <a:ext cx="17969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NVIDIA compiler:</a:t>
            </a:r>
          </a:p>
          <a:p>
            <a:r>
              <a:rPr lang="en-US" dirty="0"/>
              <a:t>CUDA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336170-E0AA-06E3-4062-14105F59343D}"/>
              </a:ext>
            </a:extLst>
          </p:cNvPr>
          <p:cNvSpPr txBox="1"/>
          <p:nvPr/>
        </p:nvSpPr>
        <p:spPr>
          <a:xfrm>
            <a:off x="885825" y="5557838"/>
            <a:ext cx="2339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2D and 3D are possible</a:t>
            </a:r>
          </a:p>
        </p:txBody>
      </p:sp>
    </p:spTree>
    <p:extLst>
      <p:ext uri="{BB962C8B-B14F-4D97-AF65-F5344CB8AC3E}">
        <p14:creationId xmlns:p14="http://schemas.microsoft.com/office/powerpoint/2010/main" val="201877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9" grpId="0" animBg="1"/>
      <p:bldP spid="10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D5E06-744F-EBC0-048A-6E3B1C999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NVIDIA Architecture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E57BA3D-175D-513D-1120-34FE317011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74888" y="863600"/>
            <a:ext cx="7154838" cy="554474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38496B-1C27-D73E-EBA7-FB328D1C4060}"/>
              </a:ext>
            </a:extLst>
          </p:cNvPr>
          <p:cNvSpPr txBox="1"/>
          <p:nvPr/>
        </p:nvSpPr>
        <p:spPr>
          <a:xfrm>
            <a:off x="9615488" y="1501183"/>
            <a:ext cx="18859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Programming model of threads is somewhat related to this</a:t>
            </a:r>
          </a:p>
        </p:txBody>
      </p:sp>
    </p:spTree>
    <p:extLst>
      <p:ext uri="{BB962C8B-B14F-4D97-AF65-F5344CB8AC3E}">
        <p14:creationId xmlns:p14="http://schemas.microsoft.com/office/powerpoint/2010/main" val="939425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14293-BE8E-006A-6524-430928A90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CUDA Programming Model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FB9058-F605-71E1-D43D-D508C3AC95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5763" y="820737"/>
            <a:ext cx="7440442" cy="5435900"/>
          </a:xfr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CA875A0-52F7-88FF-4996-CADF1DF158AC}"/>
              </a:ext>
            </a:extLst>
          </p:cNvPr>
          <p:cNvCxnSpPr/>
          <p:nvPr/>
        </p:nvCxnSpPr>
        <p:spPr>
          <a:xfrm>
            <a:off x="8605176" y="1409221"/>
            <a:ext cx="0" cy="757237"/>
          </a:xfrm>
          <a:prstGeom prst="straightConnector1">
            <a:avLst/>
          </a:prstGeom>
          <a:ln w="4445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95272AB-6F5F-D9FD-C902-D7B9548B93B1}"/>
              </a:ext>
            </a:extLst>
          </p:cNvPr>
          <p:cNvCxnSpPr>
            <a:cxnSpLocks/>
          </p:cNvCxnSpPr>
          <p:nvPr/>
        </p:nvCxnSpPr>
        <p:spPr>
          <a:xfrm>
            <a:off x="8671848" y="1418741"/>
            <a:ext cx="690563" cy="0"/>
          </a:xfrm>
          <a:prstGeom prst="straightConnector1">
            <a:avLst/>
          </a:prstGeom>
          <a:ln w="4445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BF5FB6C-F360-5515-38F1-53E50D98EE0C}"/>
              </a:ext>
            </a:extLst>
          </p:cNvPr>
          <p:cNvCxnSpPr>
            <a:cxnSpLocks/>
          </p:cNvCxnSpPr>
          <p:nvPr/>
        </p:nvCxnSpPr>
        <p:spPr>
          <a:xfrm flipV="1">
            <a:off x="8614696" y="1023460"/>
            <a:ext cx="490541" cy="319082"/>
          </a:xfrm>
          <a:prstGeom prst="straightConnector1">
            <a:avLst/>
          </a:prstGeom>
          <a:ln w="4445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A1A2D0B-AE7B-36B2-2B27-972195A57499}"/>
              </a:ext>
            </a:extLst>
          </p:cNvPr>
          <p:cNvSpPr txBox="1"/>
          <p:nvPr/>
        </p:nvSpPr>
        <p:spPr>
          <a:xfrm>
            <a:off x="8776626" y="1837846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ECB807-20D4-4C08-18EC-B87857801925}"/>
              </a:ext>
            </a:extLst>
          </p:cNvPr>
          <p:cNvSpPr txBox="1"/>
          <p:nvPr/>
        </p:nvSpPr>
        <p:spPr>
          <a:xfrm>
            <a:off x="9287056" y="1366588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32A8EF-AA69-FD70-9E78-11D9F89F13C1}"/>
              </a:ext>
            </a:extLst>
          </p:cNvPr>
          <p:cNvSpPr txBox="1"/>
          <p:nvPr/>
        </p:nvSpPr>
        <p:spPr>
          <a:xfrm>
            <a:off x="9149037" y="767587"/>
            <a:ext cx="276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99EF49-C12E-13F4-ABBA-7E940E39BF47}"/>
              </a:ext>
            </a:extLst>
          </p:cNvPr>
          <p:cNvSpPr txBox="1"/>
          <p:nvPr/>
        </p:nvSpPr>
        <p:spPr>
          <a:xfrm>
            <a:off x="8489246" y="2864502"/>
            <a:ext cx="20339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Overall dimensions:</a:t>
            </a:r>
          </a:p>
          <a:p>
            <a:r>
              <a:rPr lang="en-US" dirty="0" err="1">
                <a:solidFill>
                  <a:srgbClr val="EDB3AB"/>
                </a:solidFill>
              </a:rPr>
              <a:t>gridDim</a:t>
            </a:r>
            <a:r>
              <a:rPr lang="en-US" dirty="0" err="1"/>
              <a:t>.x</a:t>
            </a:r>
            <a:r>
              <a:rPr lang="en-US" dirty="0"/>
              <a:t>  (y, z)</a:t>
            </a:r>
          </a:p>
          <a:p>
            <a:r>
              <a:rPr lang="en-US" dirty="0" err="1">
                <a:solidFill>
                  <a:srgbClr val="EDB3AB"/>
                </a:solidFill>
              </a:rPr>
              <a:t>blockDin</a:t>
            </a:r>
            <a:r>
              <a:rPr lang="en-US" dirty="0" err="1"/>
              <a:t>.x</a:t>
            </a:r>
            <a:r>
              <a:rPr lang="en-US" dirty="0"/>
              <a:t> (y, z)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A3E4F77-38E7-1B88-1B03-53DB62A3D531}"/>
              </a:ext>
            </a:extLst>
          </p:cNvPr>
          <p:cNvSpPr txBox="1"/>
          <p:nvPr/>
        </p:nvSpPr>
        <p:spPr>
          <a:xfrm>
            <a:off x="8069525" y="2351174"/>
            <a:ext cx="4122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Programmer accessible per-thread values: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0405FB4-AFAE-E49A-4B4F-B21F54B54523}"/>
              </a:ext>
            </a:extLst>
          </p:cNvPr>
          <p:cNvSpPr txBox="1"/>
          <p:nvPr/>
        </p:nvSpPr>
        <p:spPr>
          <a:xfrm>
            <a:off x="8437703" y="4070698"/>
            <a:ext cx="33861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Indexes of the block a thread is in:</a:t>
            </a:r>
          </a:p>
          <a:p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blockIdx</a:t>
            </a:r>
            <a:r>
              <a:rPr lang="en-US" dirty="0" err="1"/>
              <a:t>.x</a:t>
            </a:r>
            <a:r>
              <a:rPr lang="en-US" dirty="0"/>
              <a:t>.     (</a:t>
            </a:r>
            <a:r>
              <a:rPr lang="en-US" dirty="0" err="1"/>
              <a:t>y,z</a:t>
            </a:r>
            <a:r>
              <a:rPr lang="en-US" dirty="0"/>
              <a:t>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CD53C8-6FC9-1940-8283-71D6A1B748CA}"/>
              </a:ext>
            </a:extLst>
          </p:cNvPr>
          <p:cNvSpPr txBox="1"/>
          <p:nvPr/>
        </p:nvSpPr>
        <p:spPr>
          <a:xfrm>
            <a:off x="8433743" y="4904677"/>
            <a:ext cx="36494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Indexes of the position of the thread in a block:</a:t>
            </a:r>
          </a:p>
          <a:p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threadIdx</a:t>
            </a:r>
            <a:r>
              <a:rPr lang="en-US" dirty="0" err="1"/>
              <a:t>.x</a:t>
            </a:r>
            <a:r>
              <a:rPr lang="en-US" dirty="0"/>
              <a:t>     (y, z)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5966772-0B90-498B-F6AE-E6E242B47818}"/>
              </a:ext>
            </a:extLst>
          </p:cNvPr>
          <p:cNvSpPr txBox="1"/>
          <p:nvPr/>
        </p:nvSpPr>
        <p:spPr>
          <a:xfrm>
            <a:off x="8089331" y="5967036"/>
            <a:ext cx="36494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From these, a unique overall thread id can be calculated</a:t>
            </a:r>
          </a:p>
        </p:txBody>
      </p:sp>
    </p:spTree>
    <p:extLst>
      <p:ext uri="{BB962C8B-B14F-4D97-AF65-F5344CB8AC3E}">
        <p14:creationId xmlns:p14="http://schemas.microsoft.com/office/powerpoint/2010/main" val="4192013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14293-BE8E-006A-6524-430928A90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CUDA Programming Model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FB9058-F605-71E1-D43D-D508C3AC95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6088" y="665531"/>
            <a:ext cx="5922391" cy="4326830"/>
          </a:xfr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38FD68F5-5624-DB82-6FC2-0B169A596625}"/>
              </a:ext>
            </a:extLst>
          </p:cNvPr>
          <p:cNvGrpSpPr/>
          <p:nvPr/>
        </p:nvGrpSpPr>
        <p:grpSpPr>
          <a:xfrm>
            <a:off x="7177201" y="665531"/>
            <a:ext cx="627133" cy="1061213"/>
            <a:chOff x="8605176" y="767587"/>
            <a:chExt cx="965932" cy="1439591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3CA875A0-52F7-88FF-4996-CADF1DF158AC}"/>
                </a:ext>
              </a:extLst>
            </p:cNvPr>
            <p:cNvCxnSpPr/>
            <p:nvPr/>
          </p:nvCxnSpPr>
          <p:spPr>
            <a:xfrm>
              <a:off x="8605176" y="1409221"/>
              <a:ext cx="0" cy="757237"/>
            </a:xfrm>
            <a:prstGeom prst="straightConnector1">
              <a:avLst/>
            </a:prstGeom>
            <a:ln w="44450">
              <a:solidFill>
                <a:schemeClr val="accent4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795272AB-6F5F-D9FD-C902-D7B9548B93B1}"/>
                </a:ext>
              </a:extLst>
            </p:cNvPr>
            <p:cNvCxnSpPr>
              <a:cxnSpLocks/>
            </p:cNvCxnSpPr>
            <p:nvPr/>
          </p:nvCxnSpPr>
          <p:spPr>
            <a:xfrm>
              <a:off x="8671848" y="1418741"/>
              <a:ext cx="690563" cy="0"/>
            </a:xfrm>
            <a:prstGeom prst="straightConnector1">
              <a:avLst/>
            </a:prstGeom>
            <a:ln w="44450">
              <a:solidFill>
                <a:schemeClr val="accent4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5BF5FB6C-F360-5515-38F1-53E50D98EE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14696" y="1023460"/>
              <a:ext cx="490541" cy="319082"/>
            </a:xfrm>
            <a:prstGeom prst="straightConnector1">
              <a:avLst/>
            </a:prstGeom>
            <a:ln w="44450">
              <a:solidFill>
                <a:schemeClr val="accent4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A1A2D0B-AE7B-36B2-2B27-972195A57499}"/>
                </a:ext>
              </a:extLst>
            </p:cNvPr>
            <p:cNvSpPr txBox="1"/>
            <p:nvPr/>
          </p:nvSpPr>
          <p:spPr>
            <a:xfrm>
              <a:off x="8776626" y="1837846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0ECB807-20D4-4C08-18EC-B87857801925}"/>
                </a:ext>
              </a:extLst>
            </p:cNvPr>
            <p:cNvSpPr txBox="1"/>
            <p:nvPr/>
          </p:nvSpPr>
          <p:spPr>
            <a:xfrm>
              <a:off x="9287056" y="1366588"/>
              <a:ext cx="284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032A8EF-AA69-FD70-9E78-11D9F89F13C1}"/>
                </a:ext>
              </a:extLst>
            </p:cNvPr>
            <p:cNvSpPr txBox="1"/>
            <p:nvPr/>
          </p:nvSpPr>
          <p:spPr>
            <a:xfrm>
              <a:off x="9149037" y="767587"/>
              <a:ext cx="2760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z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E999EF49-C12E-13F4-ABBA-7E940E39BF47}"/>
              </a:ext>
            </a:extLst>
          </p:cNvPr>
          <p:cNvSpPr txBox="1"/>
          <p:nvPr/>
        </p:nvSpPr>
        <p:spPr>
          <a:xfrm>
            <a:off x="7275991" y="2063855"/>
            <a:ext cx="182473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Overall dimensions:</a:t>
            </a:r>
          </a:p>
          <a:p>
            <a:r>
              <a:rPr lang="en-U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gridDim</a:t>
            </a:r>
            <a:r>
              <a:rPr lang="en-US" sz="1600" dirty="0" err="1"/>
              <a:t>.x</a:t>
            </a:r>
            <a:r>
              <a:rPr lang="en-US" sz="1600" dirty="0"/>
              <a:t>  (y, z)</a:t>
            </a:r>
          </a:p>
          <a:p>
            <a:r>
              <a:rPr lang="en-U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blockDin</a:t>
            </a:r>
            <a:r>
              <a:rPr lang="en-US" sz="1600" dirty="0" err="1"/>
              <a:t>.x</a:t>
            </a:r>
            <a:r>
              <a:rPr lang="en-US" sz="1600" dirty="0"/>
              <a:t> (y, z)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A3E4F77-38E7-1B88-1B03-53DB62A3D531}"/>
              </a:ext>
            </a:extLst>
          </p:cNvPr>
          <p:cNvSpPr txBox="1"/>
          <p:nvPr/>
        </p:nvSpPr>
        <p:spPr>
          <a:xfrm>
            <a:off x="6883230" y="1721266"/>
            <a:ext cx="4122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Programmer accessible per-thread values: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0405FB4-AFAE-E49A-4B4F-B21F54B54523}"/>
              </a:ext>
            </a:extLst>
          </p:cNvPr>
          <p:cNvSpPr txBox="1"/>
          <p:nvPr/>
        </p:nvSpPr>
        <p:spPr>
          <a:xfrm>
            <a:off x="7220488" y="3007388"/>
            <a:ext cx="30204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Indexes of the block a thread is in:</a:t>
            </a:r>
          </a:p>
          <a:p>
            <a:r>
              <a:rPr lang="en-U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blockIdx</a:t>
            </a:r>
            <a:r>
              <a:rPr lang="en-US" sz="1600" dirty="0" err="1"/>
              <a:t>.x</a:t>
            </a:r>
            <a:r>
              <a:rPr lang="en-US" sz="1600" dirty="0"/>
              <a:t>.     (</a:t>
            </a:r>
            <a:r>
              <a:rPr lang="en-US" sz="1600" dirty="0" err="1"/>
              <a:t>y,z</a:t>
            </a:r>
            <a:r>
              <a:rPr lang="en-US" sz="1600" dirty="0"/>
              <a:t>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CD53C8-6FC9-1940-8283-71D6A1B748CA}"/>
              </a:ext>
            </a:extLst>
          </p:cNvPr>
          <p:cNvSpPr txBox="1"/>
          <p:nvPr/>
        </p:nvSpPr>
        <p:spPr>
          <a:xfrm>
            <a:off x="7177201" y="3704699"/>
            <a:ext cx="364942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Indexes of the position of the thread in a block:</a:t>
            </a:r>
          </a:p>
          <a:p>
            <a:r>
              <a:rPr lang="en-U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threadIdx</a:t>
            </a:r>
            <a:r>
              <a:rPr lang="en-US" sz="1600" dirty="0" err="1"/>
              <a:t>.x</a:t>
            </a:r>
            <a:r>
              <a:rPr lang="en-US" sz="1600" dirty="0"/>
              <a:t>     (y, z)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5966772-0B90-498B-F6AE-E6E242B47818}"/>
              </a:ext>
            </a:extLst>
          </p:cNvPr>
          <p:cNvSpPr txBox="1"/>
          <p:nvPr/>
        </p:nvSpPr>
        <p:spPr>
          <a:xfrm>
            <a:off x="556179" y="5081058"/>
            <a:ext cx="1069637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Programmer determines unique thread id from 0 to (N x L)-1 like this:</a:t>
            </a:r>
            <a:b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</a:br>
            <a:b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</a:b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((my block index in the x direction) * (number of threads in a block))  + my thread index in the block I'm in  </a:t>
            </a:r>
            <a:b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</a:br>
            <a:b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</a:br>
            <a:r>
              <a:rPr lang="en-US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threadNumber</a:t>
            </a: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= (</a:t>
            </a:r>
            <a:r>
              <a:rPr lang="en-US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blockIdx.x</a:t>
            </a: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* </a:t>
            </a:r>
            <a:r>
              <a:rPr lang="en-US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blockDim.x</a:t>
            </a: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) + </a:t>
            </a:r>
            <a:r>
              <a:rPr lang="en-US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threadIdx.x</a:t>
            </a:r>
            <a:endParaRPr lang="en-US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F979B0-E794-201E-C84C-4164A155069B}"/>
              </a:ext>
            </a:extLst>
          </p:cNvPr>
          <p:cNvSpPr txBox="1"/>
          <p:nvPr/>
        </p:nvSpPr>
        <p:spPr>
          <a:xfrm>
            <a:off x="9272646" y="2297410"/>
            <a:ext cx="1561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Blocks per grid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B1B6458-2BB7-531E-F4AA-1D3D1C53B85E}"/>
              </a:ext>
            </a:extLst>
          </p:cNvPr>
          <p:cNvCxnSpPr>
            <a:stCxn id="4" idx="1"/>
          </p:cNvCxnSpPr>
          <p:nvPr/>
        </p:nvCxnSpPr>
        <p:spPr>
          <a:xfrm flipH="1">
            <a:off x="8730709" y="2482076"/>
            <a:ext cx="541937" cy="10727"/>
          </a:xfrm>
          <a:prstGeom prst="straightConnector1">
            <a:avLst/>
          </a:prstGeom>
          <a:ln w="1905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8CDFB28-5D12-545D-D72A-6E165226F045}"/>
              </a:ext>
            </a:extLst>
          </p:cNvPr>
          <p:cNvSpPr txBox="1"/>
          <p:nvPr/>
        </p:nvSpPr>
        <p:spPr>
          <a:xfrm>
            <a:off x="9265497" y="2509161"/>
            <a:ext cx="1855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Threads per block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7BFE792-6322-DAE6-037E-D2F22E4562ED}"/>
              </a:ext>
            </a:extLst>
          </p:cNvPr>
          <p:cNvCxnSpPr>
            <a:stCxn id="11" idx="1"/>
          </p:cNvCxnSpPr>
          <p:nvPr/>
        </p:nvCxnSpPr>
        <p:spPr>
          <a:xfrm flipH="1">
            <a:off x="8723560" y="2693827"/>
            <a:ext cx="541937" cy="10727"/>
          </a:xfrm>
          <a:prstGeom prst="straightConnector1">
            <a:avLst/>
          </a:prstGeom>
          <a:ln w="1905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1151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4" grpId="0"/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BA0B9B3-C892-2C0E-76B8-17FE3FC705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1600" y="219269"/>
            <a:ext cx="7972425" cy="6296226"/>
          </a:xfr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4350EEBB-1993-E708-DD5A-9290E0B9AC3E}"/>
              </a:ext>
            </a:extLst>
          </p:cNvPr>
          <p:cNvGrpSpPr/>
          <p:nvPr/>
        </p:nvGrpSpPr>
        <p:grpSpPr>
          <a:xfrm>
            <a:off x="9920401" y="1151306"/>
            <a:ext cx="627133" cy="1061213"/>
            <a:chOff x="8605176" y="767587"/>
            <a:chExt cx="965932" cy="1439591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AE0A3C35-B8D5-3387-4845-FDA692C985D9}"/>
                </a:ext>
              </a:extLst>
            </p:cNvPr>
            <p:cNvCxnSpPr/>
            <p:nvPr/>
          </p:nvCxnSpPr>
          <p:spPr>
            <a:xfrm>
              <a:off x="8605176" y="1409221"/>
              <a:ext cx="0" cy="757237"/>
            </a:xfrm>
            <a:prstGeom prst="straightConnector1">
              <a:avLst/>
            </a:prstGeom>
            <a:ln w="44450">
              <a:solidFill>
                <a:schemeClr val="accent4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7FABB42E-82CE-5C1F-85A3-D496B36569C7}"/>
                </a:ext>
              </a:extLst>
            </p:cNvPr>
            <p:cNvCxnSpPr>
              <a:cxnSpLocks/>
            </p:cNvCxnSpPr>
            <p:nvPr/>
          </p:nvCxnSpPr>
          <p:spPr>
            <a:xfrm>
              <a:off x="8671848" y="1418741"/>
              <a:ext cx="690563" cy="0"/>
            </a:xfrm>
            <a:prstGeom prst="straightConnector1">
              <a:avLst/>
            </a:prstGeom>
            <a:ln w="44450">
              <a:solidFill>
                <a:schemeClr val="accent4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C9183A02-FAF9-7D8F-62B2-70AFA1FBD2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14696" y="1023460"/>
              <a:ext cx="490541" cy="319082"/>
            </a:xfrm>
            <a:prstGeom prst="straightConnector1">
              <a:avLst/>
            </a:prstGeom>
            <a:ln w="44450">
              <a:solidFill>
                <a:schemeClr val="accent4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6A82992-C636-FA13-BACF-8ED5EA94BFA8}"/>
                </a:ext>
              </a:extLst>
            </p:cNvPr>
            <p:cNvSpPr txBox="1"/>
            <p:nvPr/>
          </p:nvSpPr>
          <p:spPr>
            <a:xfrm>
              <a:off x="8776626" y="1837846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B70EF9E-0F64-6E8E-FA76-9D82E3C3310B}"/>
                </a:ext>
              </a:extLst>
            </p:cNvPr>
            <p:cNvSpPr txBox="1"/>
            <p:nvPr/>
          </p:nvSpPr>
          <p:spPr>
            <a:xfrm>
              <a:off x="9287056" y="1366588"/>
              <a:ext cx="284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A224A3E-0B77-0972-40DA-AF87EE852E94}"/>
                </a:ext>
              </a:extLst>
            </p:cNvPr>
            <p:cNvSpPr txBox="1"/>
            <p:nvPr/>
          </p:nvSpPr>
          <p:spPr>
            <a:xfrm>
              <a:off x="9149037" y="767587"/>
              <a:ext cx="2760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z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849294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BBBAFD4-C63D-C5E7-885E-CCD260B8B8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61067" y="86604"/>
            <a:ext cx="5939896" cy="6684792"/>
          </a:xfr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C8FADBF-8193-DB1B-8D81-066AF526EA59}"/>
              </a:ext>
            </a:extLst>
          </p:cNvPr>
          <p:cNvGrpSpPr/>
          <p:nvPr/>
        </p:nvGrpSpPr>
        <p:grpSpPr>
          <a:xfrm>
            <a:off x="8391638" y="522656"/>
            <a:ext cx="627133" cy="1061213"/>
            <a:chOff x="8605176" y="767587"/>
            <a:chExt cx="965932" cy="1439591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8CF3901F-541C-4EC2-98AF-5FB13B6AAC05}"/>
                </a:ext>
              </a:extLst>
            </p:cNvPr>
            <p:cNvCxnSpPr/>
            <p:nvPr/>
          </p:nvCxnSpPr>
          <p:spPr>
            <a:xfrm>
              <a:off x="8605176" y="1409221"/>
              <a:ext cx="0" cy="757237"/>
            </a:xfrm>
            <a:prstGeom prst="straightConnector1">
              <a:avLst/>
            </a:prstGeom>
            <a:ln w="44450">
              <a:solidFill>
                <a:schemeClr val="accent4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59A1A4DB-2684-7CFF-CB2C-51DF2ED1C60F}"/>
                </a:ext>
              </a:extLst>
            </p:cNvPr>
            <p:cNvCxnSpPr>
              <a:cxnSpLocks/>
            </p:cNvCxnSpPr>
            <p:nvPr/>
          </p:nvCxnSpPr>
          <p:spPr>
            <a:xfrm>
              <a:off x="8671848" y="1418741"/>
              <a:ext cx="690563" cy="0"/>
            </a:xfrm>
            <a:prstGeom prst="straightConnector1">
              <a:avLst/>
            </a:prstGeom>
            <a:ln w="44450">
              <a:solidFill>
                <a:schemeClr val="accent4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AB699D71-4209-89DE-19A0-C9FA8042BD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14696" y="1023460"/>
              <a:ext cx="490541" cy="319082"/>
            </a:xfrm>
            <a:prstGeom prst="straightConnector1">
              <a:avLst/>
            </a:prstGeom>
            <a:ln w="44450">
              <a:solidFill>
                <a:schemeClr val="accent4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8FA7126-E047-CB7B-71EF-AF53D01614B9}"/>
                </a:ext>
              </a:extLst>
            </p:cNvPr>
            <p:cNvSpPr txBox="1"/>
            <p:nvPr/>
          </p:nvSpPr>
          <p:spPr>
            <a:xfrm>
              <a:off x="8776626" y="1837846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FBB5E33-FADA-DC44-B437-46C9AC910DAA}"/>
                </a:ext>
              </a:extLst>
            </p:cNvPr>
            <p:cNvSpPr txBox="1"/>
            <p:nvPr/>
          </p:nvSpPr>
          <p:spPr>
            <a:xfrm>
              <a:off x="9287056" y="1366588"/>
              <a:ext cx="284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FD9F9ED-0135-9A2F-FC4E-AAC047DDEE09}"/>
                </a:ext>
              </a:extLst>
            </p:cNvPr>
            <p:cNvSpPr txBox="1"/>
            <p:nvPr/>
          </p:nvSpPr>
          <p:spPr>
            <a:xfrm>
              <a:off x="9149037" y="767587"/>
              <a:ext cx="2760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z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69977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D5E06-744F-EBC0-048A-6E3B1C999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NVIDIA Architecture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E57BA3D-175D-513D-1120-34FE317011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74888" y="863600"/>
            <a:ext cx="7154838" cy="554474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38496B-1C27-D73E-EBA7-FB328D1C4060}"/>
              </a:ext>
            </a:extLst>
          </p:cNvPr>
          <p:cNvSpPr txBox="1"/>
          <p:nvPr/>
        </p:nvSpPr>
        <p:spPr>
          <a:xfrm>
            <a:off x="9615488" y="1501183"/>
            <a:ext cx="188595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Programming model of threads is somewhat related to this:</a:t>
            </a:r>
          </a:p>
          <a:p>
            <a:endParaRPr lang="en-US" dirty="0"/>
          </a:p>
          <a:p>
            <a:r>
              <a:rPr lang="en-US" dirty="0"/>
              <a:t>It’s best to have block sizes that are a multiple of 32</a:t>
            </a:r>
          </a:p>
          <a:p>
            <a:endParaRPr lang="en-US" dirty="0"/>
          </a:p>
          <a:p>
            <a:r>
              <a:rPr lang="en-US" dirty="0"/>
              <a:t>Each block specified maps to an SM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89ADF0-6CD1-3E75-58F2-459A34B0590B}"/>
              </a:ext>
            </a:extLst>
          </p:cNvPr>
          <p:cNvSpPr txBox="1"/>
          <p:nvPr/>
        </p:nvSpPr>
        <p:spPr>
          <a:xfrm>
            <a:off x="485775" y="1314286"/>
            <a:ext cx="108905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hasn’t changed:</a:t>
            </a:r>
          </a:p>
          <a:p>
            <a:endParaRPr lang="en-US" dirty="0"/>
          </a:p>
          <a:p>
            <a:r>
              <a:rPr lang="en-US" dirty="0"/>
              <a:t>32 SPs/cores per SM</a:t>
            </a:r>
          </a:p>
        </p:txBody>
      </p:sp>
    </p:spTree>
    <p:extLst>
      <p:ext uri="{BB962C8B-B14F-4D97-AF65-F5344CB8AC3E}">
        <p14:creationId xmlns:p14="http://schemas.microsoft.com/office/powerpoint/2010/main" val="241742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41AD8-1E40-1651-7165-9AA311804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CUDA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23B10B-6743-CE16-8E4C-3DD61F7AA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438" y="891974"/>
            <a:ext cx="11308882" cy="492303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Define a </a:t>
            </a:r>
            <a:r>
              <a:rPr lang="en-US" i="1" dirty="0"/>
              <a:t>kernel function </a:t>
            </a:r>
            <a:r>
              <a:rPr lang="en-US" dirty="0"/>
              <a:t>that will run on the device</a:t>
            </a:r>
          </a:p>
          <a:p>
            <a:endParaRPr lang="en-US" dirty="0"/>
          </a:p>
          <a:p>
            <a:r>
              <a:rPr lang="en-US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__global__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test1DGridKernel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dirty="0"/>
              <a:t>…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Call it by specifying how many blocks and how many threads per block (simplest case 1D grid of 1D blocks)</a:t>
            </a:r>
          </a:p>
          <a:p>
            <a:endParaRPr lang="en-US" dirty="0"/>
          </a:p>
          <a:p>
            <a:r>
              <a:rPr lang="en-US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// 1 block of 32 threads goes to 1 SM </a:t>
            </a:r>
            <a:endParaRPr lang="en-US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test1DGridKernel&lt;&lt;&lt;</a:t>
            </a:r>
            <a:r>
              <a:rPr lang="en-US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32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&gt;&gt;&gt;(</a:t>
            </a:r>
            <a:r>
              <a:rPr lang="en-US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10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33174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290A3-E774-4F2B-C92F-86C5272AF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CUDA </a:t>
            </a:r>
            <a:r>
              <a:rPr lang="en-US" dirty="0" err="1"/>
              <a:t>Programmming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4A105-997B-B939-E84A-047E3B0BE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438" y="891974"/>
            <a:ext cx="11308882" cy="5594551"/>
          </a:xfrm>
        </p:spPr>
        <p:txBody>
          <a:bodyPr/>
          <a:lstStyle/>
          <a:p>
            <a:r>
              <a:rPr lang="en-US" dirty="0"/>
              <a:t>Normally we will have large arrays of data</a:t>
            </a:r>
          </a:p>
          <a:p>
            <a:endParaRPr lang="en-US" dirty="0"/>
          </a:p>
          <a:p>
            <a:r>
              <a:rPr lang="en-US" dirty="0"/>
              <a:t>They must be managed in two ways:</a:t>
            </a:r>
          </a:p>
          <a:p>
            <a:pPr marL="514350" indent="-514350">
              <a:buAutoNum type="arabicPeriod"/>
            </a:pPr>
            <a:r>
              <a:rPr lang="en-US" dirty="0"/>
              <a:t>Programmer manages:</a:t>
            </a:r>
          </a:p>
          <a:p>
            <a:pPr marL="971550" lvl="1" indent="-514350">
              <a:buAutoNum type="arabicPeriod"/>
            </a:pPr>
            <a:r>
              <a:rPr lang="en-US" dirty="0"/>
              <a:t> allocate memory on host and device, </a:t>
            </a:r>
          </a:p>
          <a:p>
            <a:pPr marL="971550" lvl="1" indent="-514350">
              <a:buAutoNum type="arabicPeriod"/>
            </a:pPr>
            <a:r>
              <a:rPr lang="en-US" dirty="0"/>
              <a:t>copy data to device, </a:t>
            </a:r>
          </a:p>
          <a:p>
            <a:pPr marL="971550" lvl="1" indent="-514350">
              <a:buAutoNum type="arabicPeriod"/>
            </a:pPr>
            <a:r>
              <a:rPr lang="en-US" dirty="0"/>
              <a:t>Compute on device, </a:t>
            </a:r>
          </a:p>
          <a:p>
            <a:pPr marL="971550" lvl="1" indent="-514350">
              <a:buAutoNum type="arabicPeriod"/>
            </a:pPr>
            <a:r>
              <a:rPr lang="en-US" dirty="0"/>
              <a:t>copy data back to host</a:t>
            </a:r>
          </a:p>
          <a:p>
            <a:pPr marL="514350" indent="-514350">
              <a:buAutoNum type="arabicPeriod"/>
            </a:pPr>
            <a:r>
              <a:rPr lang="en-US" dirty="0"/>
              <a:t>Programmer specifies “unified memory”</a:t>
            </a:r>
          </a:p>
          <a:p>
            <a:pPr marL="971550" lvl="1" indent="-514350">
              <a:buAutoNum type="arabicPeriod"/>
            </a:pPr>
            <a:r>
              <a:rPr lang="en-US" dirty="0"/>
              <a:t>Allocate once as memory that will reside on device and host</a:t>
            </a:r>
          </a:p>
          <a:p>
            <a:pPr marL="971550" lvl="1" indent="-514350">
              <a:buAutoNum type="arabicPeriod"/>
            </a:pPr>
            <a:r>
              <a:rPr lang="en-US" dirty="0"/>
              <a:t>Compute on device</a:t>
            </a:r>
          </a:p>
        </p:txBody>
      </p:sp>
    </p:spTree>
    <p:extLst>
      <p:ext uri="{BB962C8B-B14F-4D97-AF65-F5344CB8AC3E}">
        <p14:creationId xmlns:p14="http://schemas.microsoft.com/office/powerpoint/2010/main" val="12371414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5" id="{005BB9AB-CB83-2F4A-B8D3-3923B16C45C5}" vid="{6DAF6F60-9D35-814E-917A-A7202DE1025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1643</TotalTime>
  <Words>733</Words>
  <Application>Microsoft Macintosh PowerPoint</Application>
  <PresentationFormat>Widescreen</PresentationFormat>
  <Paragraphs>133</Paragraphs>
  <Slides>16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Menlo</vt:lpstr>
      <vt:lpstr>Office Theme</vt:lpstr>
      <vt:lpstr>GPU Computing with CUDA</vt:lpstr>
      <vt:lpstr>GPU: Massive fine-grain data parallelism</vt:lpstr>
      <vt:lpstr>PowerPoint Presentation</vt:lpstr>
      <vt:lpstr>PowerPoint Presentation</vt:lpstr>
      <vt:lpstr>Different Architectures &amp; Nomenclature</vt:lpstr>
      <vt:lpstr>Different Architectures &amp; Nomenclature</vt:lpstr>
      <vt:lpstr>CUDA Programmming</vt:lpstr>
      <vt:lpstr>Programming Model</vt:lpstr>
      <vt:lpstr>NVIDIA Architecture</vt:lpstr>
      <vt:lpstr>CUDA Programming Model</vt:lpstr>
      <vt:lpstr>CUDA Programming Model</vt:lpstr>
      <vt:lpstr>PowerPoint Presentation</vt:lpstr>
      <vt:lpstr>PowerPoint Presentation</vt:lpstr>
      <vt:lpstr>NVIDIA Architecture</vt:lpstr>
      <vt:lpstr>CUDA Programming</vt:lpstr>
      <vt:lpstr>CUDA Programmming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Libby Shoop</cp:lastModifiedBy>
  <cp:revision>11</cp:revision>
  <dcterms:created xsi:type="dcterms:W3CDTF">2022-09-16T20:55:43Z</dcterms:created>
  <dcterms:modified xsi:type="dcterms:W3CDTF">2024-10-31T18:52:56Z</dcterms:modified>
</cp:coreProperties>
</file>