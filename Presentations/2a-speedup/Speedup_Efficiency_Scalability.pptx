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542" r:id="rId2"/>
    <p:sldId id="614" r:id="rId3"/>
    <p:sldId id="630" r:id="rId4"/>
    <p:sldId id="391" r:id="rId5"/>
    <p:sldId id="639" r:id="rId6"/>
    <p:sldId id="615" r:id="rId7"/>
    <p:sldId id="632" r:id="rId8"/>
    <p:sldId id="633" r:id="rId9"/>
    <p:sldId id="634" r:id="rId10"/>
    <p:sldId id="403" r:id="rId11"/>
    <p:sldId id="636" r:id="rId12"/>
    <p:sldId id="638" r:id="rId13"/>
    <p:sldId id="637" r:id="rId14"/>
    <p:sldId id="629" r:id="rId15"/>
    <p:sldId id="635" r:id="rId16"/>
    <p:sldId id="64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405"/>
  </p:normalViewPr>
  <p:slideViewPr>
    <p:cSldViewPr snapToGrid="0" snapToObjects="1">
      <p:cViewPr varScale="1">
        <p:scale>
          <a:sx n="104" d="100"/>
          <a:sy n="104" d="100"/>
        </p:scale>
        <p:origin x="23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5595A-C5E0-994B-90E9-37D6291B24DF}" type="datetimeFigureOut">
              <a:rPr lang="en-US" smtClean="0"/>
              <a:t>9/19/23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48443-3CF3-224D-B5C3-A4AF40979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4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75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2CFB-B9D9-0347-8C82-1A463FED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35EB2-C00A-0F45-B47A-115D1C0D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23B3-3698-8348-B5F0-FBA4DB9A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B99A-70EB-764A-8A71-D04AD795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EAB5B-DDFF-DC4E-8E08-74636B6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2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38A-9BEC-E748-B32B-3480D57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10515600" cy="501149"/>
          </a:xfrm>
        </p:spPr>
        <p:txBody>
          <a:bodyPr>
            <a:noAutofit/>
          </a:bodyPr>
          <a:lstStyle>
            <a:lvl1pPr algn="ctr">
              <a:defRPr sz="3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A5FC-38B9-1849-9B97-67F8642B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411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54FF-469B-5241-92A1-6B0FB51F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88FF-C544-EE4F-94BE-BC977C8F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8A44-5402-F44C-8FAF-A46B0A2F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C8A8-C4BF-6D4B-B2E2-62B5F1E3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2076-2626-6648-AC43-CF23755A6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CF57-C8D4-8B47-837F-F3FABDF6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A8FB-AC28-C249-91CE-B2B70263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117C-62F0-6C48-874B-605E5F29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7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3357-14B8-A74D-976F-CCC6ADD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10515600" cy="491523"/>
          </a:xfrm>
        </p:spPr>
        <p:txBody>
          <a:bodyPr>
            <a:noAutofit/>
          </a:bodyPr>
          <a:lstStyle>
            <a:lvl1pPr algn="ctr">
              <a:defRPr sz="4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1537-708E-BA44-B740-00A80BD14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64" y="988226"/>
            <a:ext cx="5500036" cy="4450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D18E-AB89-214A-80F6-AED6E05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988227"/>
            <a:ext cx="5329187" cy="4450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6789A-F040-E241-9153-81B8368A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ED59-0F05-CB42-971F-06F288F1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6800-CDC3-B44E-9AC8-50E9DB14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99CA-270D-C04D-9BAB-4160608C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68B1E-725C-F746-A421-12E70C8A0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F14B-39D0-3E47-977B-CB4D325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001A9-4D9B-D24E-AFCC-E62A5C78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AD10-CBCB-3645-9FDB-B4541176C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8E3AA-1007-974B-89AC-134FFAAE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4C07F-994D-E147-B9C4-4D2DA79F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9B744-A6AB-B84D-814D-27AFAAA5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B2A6-D0A5-5842-9326-C3248661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BE5BB-7D4A-3443-8011-50BFA20F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1EC94-4F6E-A842-B2B4-745B7287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EA374-F9D1-5047-8E00-EEBC558E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E34A2-FF06-4646-9B11-3960AAD8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02A72-9F03-3047-A58F-5478424B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45E1-1CAC-6540-AC9E-33B7638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D1BE-D122-7443-B909-666D7E00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2548-6163-DF42-8D6F-E0DF3CD99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92E66-003D-CB49-91E5-89A87B22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E865-8FAD-AB45-8489-9C2AA8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9390D-6CA7-334E-BFE4-ADD6E123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0F00F-8DAC-6B45-A36C-CE3F9122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7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B418-47B0-DC4F-AD09-F59EBFBA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76A39-FD73-2C42-9F0E-A75F94321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EE543-5E7F-2D4E-ACC3-81F59867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E77D-1E65-A543-870E-17E38C6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C2DB8-1E2E-9744-9E99-8F5A7BB6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D143D-B79E-C44A-A040-D785D0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6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784D-E7A9-E848-B261-413FCAA9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7E922-260A-DB4E-9833-35B0C3BCF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77AC-6170-254E-A053-DE7A25AA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DA906-7BEF-1B45-899D-93233A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448D-80D6-EC47-8869-6FC033A4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D4714-F165-6A49-83C2-609956924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160F5-13DB-3E4A-813A-01FB9ABF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7A2AB-D055-C647-830B-BCC12309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CAB2-8B81-5843-AFAD-4CEA8ADC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BE4B-ED0D-664C-8695-58D23CD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5F063-E93D-BB4B-A024-282AB21E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58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D538-68DF-DA4B-AD57-2CBD80BC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66845"/>
            <a:ext cx="10596613" cy="4815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257B-4037-8B41-8672-5C16900F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D9E5A-6977-4640-B621-2F6686AF40B9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CD5B-6D1E-0245-BBB5-6DB2BF2FB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9468-12B3-E843-93F2-1CFFE8CF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4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5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07699"/>
          </a:xfrm>
        </p:spPr>
        <p:txBody>
          <a:bodyPr/>
          <a:lstStyle/>
          <a:p>
            <a:r>
              <a:rPr lang="en-US" dirty="0"/>
              <a:t>Measuring Effectiveness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to answer this:</a:t>
            </a:r>
          </a:p>
          <a:p>
            <a:r>
              <a:rPr lang="en-US" dirty="0"/>
              <a:t>How Scalable is a Parallel Program?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66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Speedup and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383" y="997857"/>
            <a:ext cx="11608068" cy="2221997"/>
          </a:xfrm>
        </p:spPr>
        <p:txBody>
          <a:bodyPr>
            <a:normAutofit/>
          </a:bodyPr>
          <a:lstStyle/>
          <a:p>
            <a:r>
              <a:rPr lang="en-US" dirty="0"/>
              <a:t>See section 0.3 in PDC For Beginners</a:t>
            </a:r>
          </a:p>
          <a:p>
            <a:endParaRPr lang="en-US" dirty="0"/>
          </a:p>
          <a:p>
            <a:r>
              <a:rPr lang="en-US" dirty="0"/>
              <a:t>Speedup:</a:t>
            </a:r>
          </a:p>
          <a:p>
            <a:pPr marL="457200" lvl="1" indent="0">
              <a:buNone/>
            </a:pPr>
            <a:r>
              <a:rPr lang="en-US" dirty="0"/>
              <a:t>S</a:t>
            </a:r>
            <a:r>
              <a:rPr lang="en-US" baseline="-25000" dirty="0"/>
              <a:t>p</a:t>
            </a:r>
            <a:r>
              <a:rPr lang="en-US" dirty="0"/>
              <a:t>  =  T</a:t>
            </a:r>
            <a:r>
              <a:rPr lang="en-US" baseline="-25000" dirty="0"/>
              <a:t>s</a:t>
            </a:r>
            <a:r>
              <a:rPr lang="en-US" dirty="0"/>
              <a:t> / </a:t>
            </a:r>
            <a:r>
              <a:rPr lang="en-US" dirty="0" err="1"/>
              <a:t>T</a:t>
            </a:r>
            <a:r>
              <a:rPr lang="en-US" baseline="-25000" dirty="0" err="1"/>
              <a:t>p</a:t>
            </a:r>
            <a:endParaRPr lang="en-US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0C66B-B3CA-FE43-8FE2-B084DC695EBA}"/>
              </a:ext>
            </a:extLst>
          </p:cNvPr>
          <p:cNvSpPr txBox="1"/>
          <p:nvPr/>
        </p:nvSpPr>
        <p:spPr>
          <a:xfrm>
            <a:off x="3732718" y="2592776"/>
            <a:ext cx="78488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2400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time for sequential program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Time of sequential version gives us true speedup</a:t>
            </a:r>
          </a:p>
          <a:p>
            <a:pPr lvl="1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We could use time of parallel version running on one core</a:t>
            </a:r>
          </a:p>
          <a:p>
            <a:pPr lvl="2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Gives us relative speedup</a:t>
            </a:r>
          </a:p>
          <a:p>
            <a:pPr lvl="2"/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2400" baseline="-25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=  time for parallel program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61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76802D-9597-C74C-93BB-56EE604A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for parallel loop, reduction patterns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EEE6DE-92E6-4640-AE0F-B1E7BCA34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63" y="988226"/>
            <a:ext cx="5576235" cy="524720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#define SIZE </a:t>
            </a:r>
            <a:r>
              <a:rPr lang="en-US" sz="2900" dirty="0"/>
              <a:t>67000000</a:t>
            </a:r>
            <a:endParaRPr lang="en-US" dirty="0">
              <a:latin typeface="Andale Mono" panose="020B050900000000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int main(int </a:t>
            </a:r>
            <a:r>
              <a:rPr lang="en-US" dirty="0" err="1">
                <a:latin typeface="Andale Mono" panose="020B0509000000000004" pitchFamily="49" charset="0"/>
              </a:rPr>
              <a:t>argc</a:t>
            </a:r>
            <a:r>
              <a:rPr lang="en-US" dirty="0">
                <a:latin typeface="Andale Mono" panose="020B0509000000000004" pitchFamily="49" charset="0"/>
              </a:rPr>
              <a:t>, char** </a:t>
            </a:r>
            <a:r>
              <a:rPr lang="en-US" dirty="0" err="1">
                <a:latin typeface="Andale Mono" panose="020B0509000000000004" pitchFamily="49" charset="0"/>
              </a:rPr>
              <a:t>argv</a:t>
            </a:r>
            <a:r>
              <a:rPr lang="en-US" dirty="0">
                <a:latin typeface="Andale Mono" panose="020B05090000000000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int array[SIZE];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  if (</a:t>
            </a:r>
            <a:r>
              <a:rPr lang="en-US" dirty="0" err="1">
                <a:latin typeface="Andale Mono" panose="020B0509000000000004" pitchFamily="49" charset="0"/>
              </a:rPr>
              <a:t>argc</a:t>
            </a:r>
            <a:r>
              <a:rPr lang="en-US" dirty="0">
                <a:latin typeface="Andale Mono" panose="020B0509000000000004" pitchFamily="49" charset="0"/>
              </a:rPr>
              <a:t> &gt; 1)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  </a:t>
            </a:r>
            <a:r>
              <a:rPr lang="en-US" dirty="0" err="1">
                <a:latin typeface="Andale Mono" panose="020B0509000000000004" pitchFamily="49" charset="0"/>
              </a:rPr>
              <a:t>omp_set_num_threads</a:t>
            </a:r>
            <a:r>
              <a:rPr lang="en-US" dirty="0">
                <a:latin typeface="Andale Mono" panose="020B0509000000000004" pitchFamily="49" charset="0"/>
              </a:rPr>
              <a:t>( </a:t>
            </a:r>
            <a:r>
              <a:rPr lang="en-US" dirty="0" err="1">
                <a:latin typeface="Andale Mono" panose="020B0509000000000004" pitchFamily="49" charset="0"/>
              </a:rPr>
              <a:t>atoi</a:t>
            </a:r>
            <a:r>
              <a:rPr lang="en-US" dirty="0">
                <a:latin typeface="Andale Mono" panose="020B0509000000000004" pitchFamily="49" charset="0"/>
              </a:rPr>
              <a:t>(</a:t>
            </a:r>
            <a:r>
              <a:rPr lang="en-US" dirty="0" err="1">
                <a:latin typeface="Andale Mono" panose="020B0509000000000004" pitchFamily="49" charset="0"/>
              </a:rPr>
              <a:t>argv</a:t>
            </a:r>
            <a:r>
              <a:rPr lang="en-US" dirty="0">
                <a:latin typeface="Andale Mono" panose="020B0509000000000004" pitchFamily="49" charset="0"/>
              </a:rPr>
              <a:t>[1]) 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double start = </a:t>
            </a:r>
            <a:r>
              <a:rPr lang="en-US" dirty="0" err="1">
                <a:latin typeface="Andale Mono" panose="020B0509000000000004" pitchFamily="49" charset="0"/>
              </a:rPr>
              <a:t>omp_get_wtime</a:t>
            </a:r>
            <a:r>
              <a:rPr lang="en-US" dirty="0">
                <a:latin typeface="Andale Mono" panose="020B0509000000000004" pitchFamily="49" charset="0"/>
              </a:rPr>
              <a:t>();  // wall clock time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ndale Mono" panose="020B050900000000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</a:t>
            </a:r>
            <a:r>
              <a:rPr lang="en-US" dirty="0">
                <a:solidFill>
                  <a:schemeClr val="accent2"/>
                </a:solidFill>
                <a:latin typeface="Andale Mono" panose="020B0509000000000004" pitchFamily="49" charset="0"/>
              </a:rPr>
              <a:t>initialize</a:t>
            </a:r>
            <a:r>
              <a:rPr lang="en-US" dirty="0">
                <a:latin typeface="Andale Mono" panose="020B0509000000000004" pitchFamily="49" charset="0"/>
              </a:rPr>
              <a:t>(array, SIZE);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double total = </a:t>
            </a:r>
            <a:r>
              <a:rPr lang="en-US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parallelSumSqrt</a:t>
            </a:r>
            <a:r>
              <a:rPr lang="en-US" dirty="0">
                <a:latin typeface="Andale Mono" panose="020B0509000000000004" pitchFamily="49" charset="0"/>
              </a:rPr>
              <a:t>(array, SIZE);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// Measuring the elapsed time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double end = </a:t>
            </a:r>
            <a:r>
              <a:rPr lang="en-US" dirty="0" err="1">
                <a:latin typeface="Andale Mono" panose="020B0509000000000004" pitchFamily="49" charset="0"/>
              </a:rPr>
              <a:t>omp_get_wtime</a:t>
            </a:r>
            <a:r>
              <a:rPr lang="en-US" dirty="0">
                <a:latin typeface="Andale Mono" panose="020B0509000000000004" pitchFamily="49" charset="0"/>
              </a:rPr>
              <a:t>();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// Time calculation (in seconds)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double </a:t>
            </a:r>
            <a:r>
              <a:rPr lang="en-US" dirty="0" err="1">
                <a:latin typeface="Andale Mono" panose="020B0509000000000004" pitchFamily="49" charset="0"/>
              </a:rPr>
              <a:t>elapsed_time</a:t>
            </a:r>
            <a:r>
              <a:rPr lang="en-US" dirty="0">
                <a:latin typeface="Andale Mono" panose="020B0509000000000004" pitchFamily="49" charset="0"/>
              </a:rPr>
              <a:t> = end - start;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</a:t>
            </a:r>
            <a:r>
              <a:rPr lang="en-US" dirty="0" err="1">
                <a:latin typeface="Andale Mono" panose="020B0509000000000004" pitchFamily="49" charset="0"/>
              </a:rPr>
              <a:t>printf</a:t>
            </a:r>
            <a:r>
              <a:rPr lang="en-US" dirty="0">
                <a:latin typeface="Andale Mono" panose="020B0509000000000004" pitchFamily="49" charset="0"/>
              </a:rPr>
              <a:t>("Parallel time: %</a:t>
            </a:r>
            <a:r>
              <a:rPr lang="en-US" dirty="0" err="1">
                <a:latin typeface="Andale Mono" panose="020B0509000000000004" pitchFamily="49" charset="0"/>
              </a:rPr>
              <a:t>lf</a:t>
            </a:r>
            <a:r>
              <a:rPr lang="en-US" dirty="0">
                <a:latin typeface="Andale Mono" panose="020B0509000000000004" pitchFamily="49" charset="0"/>
              </a:rPr>
              <a:t> seconds\n",</a:t>
            </a:r>
            <a:r>
              <a:rPr lang="en-US" dirty="0" err="1">
                <a:latin typeface="Andale Mono" panose="020B0509000000000004" pitchFamily="49" charset="0"/>
              </a:rPr>
              <a:t>elapsed_time</a:t>
            </a:r>
            <a:r>
              <a:rPr lang="en-US" dirty="0">
                <a:latin typeface="Andale Mono" panose="020B05090000000000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  return 0;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}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75F62-3869-D84E-B46E-DAC1C8B57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5378" y="988226"/>
            <a:ext cx="5329187" cy="4450046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/* fill array with random values */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void </a:t>
            </a:r>
            <a:r>
              <a:rPr lang="en-US" dirty="0">
                <a:solidFill>
                  <a:schemeClr val="accent2"/>
                </a:solidFill>
                <a:latin typeface="Andale Mono" panose="020B0509000000000004" pitchFamily="49" charset="0"/>
              </a:rPr>
              <a:t>initialize</a:t>
            </a:r>
            <a:r>
              <a:rPr lang="en-US" dirty="0">
                <a:latin typeface="Andale Mono" panose="020B0509000000000004" pitchFamily="49" charset="0"/>
              </a:rPr>
              <a:t>(double* a, int n)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int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for (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= 0;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&lt; n;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++)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  a[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] = (double) (rand() % 100000);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/* sum the array using multiple threads */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double </a:t>
            </a:r>
            <a:r>
              <a:rPr lang="en-US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parallelSumSqrt</a:t>
            </a:r>
            <a:r>
              <a:rPr lang="en-US" dirty="0">
                <a:latin typeface="Andale Mono" panose="020B0509000000000004" pitchFamily="49" charset="0"/>
              </a:rPr>
              <a:t>(double* a, int n)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double sum = 0.0;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int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 #pragma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reduction(+:sum)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for (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= 0;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&lt; n;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++)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  sum += sqrt(a[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]);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return sum;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ndale Mono" panose="020B0509000000000004" pitchFamily="49" charset="0"/>
            </a:endParaRPr>
          </a:p>
        </p:txBody>
      </p:sp>
      <p:sp>
        <p:nvSpPr>
          <p:cNvPr id="7" name="Cloud Callout 6">
            <a:extLst>
              <a:ext uri="{FF2B5EF4-FFF2-40B4-BE49-F238E27FC236}">
                <a16:creationId xmlns:a16="http://schemas.microsoft.com/office/drawing/2014/main" id="{47981A6F-D045-B44C-B0D3-F5640BC7213B}"/>
              </a:ext>
            </a:extLst>
          </p:cNvPr>
          <p:cNvSpPr/>
          <p:nvPr/>
        </p:nvSpPr>
        <p:spPr>
          <a:xfrm>
            <a:off x="10359957" y="387159"/>
            <a:ext cx="1444608" cy="1140084"/>
          </a:xfrm>
          <a:prstGeom prst="cloudCallout">
            <a:avLst>
              <a:gd name="adj1" fmla="val -82651"/>
              <a:gd name="adj2" fmla="val 646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parallel</a:t>
            </a:r>
          </a:p>
        </p:txBody>
      </p:sp>
      <p:sp>
        <p:nvSpPr>
          <p:cNvPr id="8" name="Cloud Callout 7">
            <a:extLst>
              <a:ext uri="{FF2B5EF4-FFF2-40B4-BE49-F238E27FC236}">
                <a16:creationId xmlns:a16="http://schemas.microsoft.com/office/drawing/2014/main" id="{FE6EDF15-4975-BE4F-BE52-A55302F35867}"/>
              </a:ext>
            </a:extLst>
          </p:cNvPr>
          <p:cNvSpPr/>
          <p:nvPr/>
        </p:nvSpPr>
        <p:spPr>
          <a:xfrm>
            <a:off x="10631496" y="2066509"/>
            <a:ext cx="1444608" cy="1140084"/>
          </a:xfrm>
          <a:prstGeom prst="cloudCallout">
            <a:avLst>
              <a:gd name="adj1" fmla="val -82651"/>
              <a:gd name="adj2" fmla="val 646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parallel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414C9-719F-0441-9668-9B538E5FE591}"/>
              </a:ext>
            </a:extLst>
          </p:cNvPr>
          <p:cNvSpPr txBox="1"/>
          <p:nvPr/>
        </p:nvSpPr>
        <p:spPr>
          <a:xfrm>
            <a:off x="2762456" y="5068940"/>
            <a:ext cx="6377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Suppose executing this program with one thread takes 2 seconds.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9F0DFD-F419-D349-9EDA-749BE84BDFBB}"/>
              </a:ext>
            </a:extLst>
          </p:cNvPr>
          <p:cNvSpPr txBox="1"/>
          <p:nvPr/>
        </p:nvSpPr>
        <p:spPr>
          <a:xfrm>
            <a:off x="2762456" y="5500442"/>
            <a:ext cx="5334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Using 2 threads should take about 1 seconds (ideally)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60321-F815-B444-AB35-2DB0D4EE897B}"/>
              </a:ext>
            </a:extLst>
          </p:cNvPr>
          <p:cNvSpPr txBox="1"/>
          <p:nvPr/>
        </p:nvSpPr>
        <p:spPr>
          <a:xfrm>
            <a:off x="2762456" y="5887851"/>
            <a:ext cx="550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Using 4 threads should take about 0.5 seconds (ideally)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7AD991-E1B5-5341-B435-14465F89F485}"/>
              </a:ext>
            </a:extLst>
          </p:cNvPr>
          <p:cNvSpPr txBox="1"/>
          <p:nvPr/>
        </p:nvSpPr>
        <p:spPr>
          <a:xfrm>
            <a:off x="2762456" y="6236751"/>
            <a:ext cx="673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and so on- doubling the threads  each time should cut the time in half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305A53-F5DF-814E-A45F-44F2D83C0AA4}"/>
              </a:ext>
            </a:extLst>
          </p:cNvPr>
          <p:cNvSpPr txBox="1"/>
          <p:nvPr/>
        </p:nvSpPr>
        <p:spPr>
          <a:xfrm>
            <a:off x="10019415" y="5068940"/>
            <a:ext cx="195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s</a:t>
            </a:r>
            <a:r>
              <a:rPr lang="en-US" dirty="0"/>
              <a:t>   sequential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6B60F-2539-434E-AB08-72A69053CEED}"/>
              </a:ext>
            </a:extLst>
          </p:cNvPr>
          <p:cNvSpPr txBox="1"/>
          <p:nvPr/>
        </p:nvSpPr>
        <p:spPr>
          <a:xfrm>
            <a:off x="8699714" y="5468179"/>
            <a:ext cx="2914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p</a:t>
            </a:r>
            <a:r>
              <a:rPr lang="en-US" dirty="0"/>
              <a:t>   parallel time, where p =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D80A16-58E1-294A-9328-4A22EB7B4E18}"/>
              </a:ext>
            </a:extLst>
          </p:cNvPr>
          <p:cNvSpPr txBox="1"/>
          <p:nvPr/>
        </p:nvSpPr>
        <p:spPr>
          <a:xfrm>
            <a:off x="8710255" y="5862935"/>
            <a:ext cx="2914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p</a:t>
            </a:r>
            <a:r>
              <a:rPr lang="en-US" dirty="0"/>
              <a:t>   parallel time, where p = 4</a:t>
            </a:r>
          </a:p>
        </p:txBody>
      </p:sp>
    </p:spTree>
    <p:extLst>
      <p:ext uri="{BB962C8B-B14F-4D97-AF65-F5344CB8AC3E}">
        <p14:creationId xmlns:p14="http://schemas.microsoft.com/office/powerpoint/2010/main" val="407366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Title 1">
            <a:extLst>
              <a:ext uri="{FF2B5EF4-FFF2-40B4-BE49-F238E27FC236}">
                <a16:creationId xmlns:a16="http://schemas.microsoft.com/office/drawing/2014/main" id="{6E9E568D-E898-F841-B224-BABCF206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Speedup for multicore with OpenMP </a:t>
            </a:r>
          </a:p>
        </p:txBody>
      </p:sp>
      <p:sp>
        <p:nvSpPr>
          <p:cNvPr id="135170" name="Content Placeholder 2">
            <a:extLst>
              <a:ext uri="{FF2B5EF4-FFF2-40B4-BE49-F238E27FC236}">
                <a16:creationId xmlns:a16="http://schemas.microsoft.com/office/drawing/2014/main" id="{E3D76C35-AF84-6049-B316-0D926E8DC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214" y="1125538"/>
            <a:ext cx="8270875" cy="1943100"/>
          </a:xfrm>
        </p:spPr>
        <p:txBody>
          <a:bodyPr/>
          <a:lstStyle/>
          <a:p>
            <a:r>
              <a:rPr lang="en-US" altLang="en-US" dirty="0"/>
              <a:t>Number of cores = p</a:t>
            </a:r>
          </a:p>
          <a:p>
            <a:r>
              <a:rPr lang="en-US" altLang="en-US" dirty="0"/>
              <a:t>Serial run-time =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serial</a:t>
            </a:r>
            <a:r>
              <a:rPr lang="en-US" altLang="en-US" baseline="-25000" dirty="0"/>
              <a:t>  </a:t>
            </a:r>
            <a:r>
              <a:rPr lang="en-US" altLang="en-US" dirty="0"/>
              <a:t>= T</a:t>
            </a:r>
            <a:r>
              <a:rPr lang="en-US" altLang="en-US" baseline="-25000" dirty="0"/>
              <a:t>s</a:t>
            </a:r>
          </a:p>
          <a:p>
            <a:r>
              <a:rPr lang="en-US" altLang="en-US" dirty="0"/>
              <a:t>Parallel run-time =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parallel</a:t>
            </a:r>
            <a:r>
              <a:rPr lang="en-US" altLang="en-US" baseline="-25000" dirty="0"/>
              <a:t>  </a:t>
            </a:r>
            <a:r>
              <a:rPr lang="en-US" altLang="en-US" dirty="0"/>
              <a:t>=</a:t>
            </a:r>
            <a:r>
              <a:rPr lang="en-US" altLang="en-US" baseline="-25000" dirty="0"/>
              <a:t>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p</a:t>
            </a:r>
            <a:endParaRPr lang="en-US" altLang="en-US" baseline="-25000" dirty="0"/>
          </a:p>
          <a:p>
            <a:endParaRPr lang="en-US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D00379-F10A-724D-9621-38D997A13B47}"/>
              </a:ext>
            </a:extLst>
          </p:cNvPr>
          <p:cNvSpPr/>
          <p:nvPr/>
        </p:nvSpPr>
        <p:spPr>
          <a:xfrm>
            <a:off x="4367213" y="3933825"/>
            <a:ext cx="4075112" cy="706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4000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</a:rPr>
              <a:t>T</a:t>
            </a:r>
            <a:r>
              <a:rPr lang="en-US" sz="4000" kern="0" baseline="-25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</a:rPr>
              <a:t>parallel </a:t>
            </a:r>
            <a:r>
              <a:rPr lang="en-US" sz="4000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</a:rPr>
              <a:t>= T</a:t>
            </a:r>
            <a:r>
              <a:rPr lang="en-US" sz="4000" kern="0" baseline="-25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</a:rPr>
              <a:t>serial </a:t>
            </a:r>
            <a:r>
              <a:rPr lang="en-US" sz="4000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</a:rPr>
              <a:t> / p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76BA1-394E-F343-8F6F-E270DBEE299C}"/>
              </a:ext>
            </a:extLst>
          </p:cNvPr>
          <p:cNvSpPr txBox="1"/>
          <p:nvPr/>
        </p:nvSpPr>
        <p:spPr>
          <a:xfrm rot="19903937">
            <a:off x="1341313" y="3836429"/>
            <a:ext cx="296106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3600" dirty="0">
                <a:solidFill>
                  <a:srgbClr val="FF0000"/>
                </a:solidFill>
              </a:rPr>
              <a:t>linear speedup</a:t>
            </a:r>
          </a:p>
        </p:txBody>
      </p:sp>
      <p:pic>
        <p:nvPicPr>
          <p:cNvPr id="135174" name="Picture 2" descr="View Details">
            <a:extLst>
              <a:ext uri="{FF2B5EF4-FFF2-40B4-BE49-F238E27FC236}">
                <a16:creationId xmlns:a16="http://schemas.microsoft.com/office/drawing/2014/main" id="{F701F905-B451-DC41-863B-541134B26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88" y="765175"/>
            <a:ext cx="13462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BE671-BD45-754E-5D7E-662C3B70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However, there is overhead in parallel programs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131218-870B-822F-71B5-C4F29004A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586" y="681037"/>
            <a:ext cx="5194601" cy="406083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3C6B2A-6A4B-693B-CED8-80E7C65FA5C8}"/>
              </a:ext>
            </a:extLst>
          </p:cNvPr>
          <p:cNvSpPr txBox="1"/>
          <p:nvPr/>
        </p:nvSpPr>
        <p:spPr>
          <a:xfrm>
            <a:off x="1896894" y="5058383"/>
            <a:ext cx="95696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Fork, reduction, and Join take time.</a:t>
            </a:r>
          </a:p>
          <a:p>
            <a:r>
              <a:rPr lang="en-US" dirty="0"/>
              <a:t>If there is enough work going on in the loops on each thread, this time will be dwarfed by that work.</a:t>
            </a:r>
          </a:p>
          <a:p>
            <a:r>
              <a:rPr lang="en-US" dirty="0"/>
              <a:t>If not, we will be far from ideal speedup.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96F91-0DFF-4D2D-2C02-53E98A31FDB0}"/>
              </a:ext>
            </a:extLst>
          </p:cNvPr>
          <p:cNvSpPr txBox="1"/>
          <p:nvPr/>
        </p:nvSpPr>
        <p:spPr>
          <a:xfrm>
            <a:off x="6534575" y="1254868"/>
            <a:ext cx="5245347" cy="1520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reduction(+:sum)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latin typeface="Andale Mono" panose="020B0509000000000004" pitchFamily="49" charset="0"/>
              </a:rPr>
              <a:t>  for (</a:t>
            </a:r>
            <a:r>
              <a:rPr lang="en-US" sz="1600" dirty="0" err="1">
                <a:latin typeface="Andale Mono" panose="020B0509000000000004" pitchFamily="49" charset="0"/>
              </a:rPr>
              <a:t>i</a:t>
            </a:r>
            <a:r>
              <a:rPr lang="en-US" sz="1600" dirty="0">
                <a:latin typeface="Andale Mono" panose="020B0509000000000004" pitchFamily="49" charset="0"/>
              </a:rPr>
              <a:t> = 0; </a:t>
            </a:r>
            <a:r>
              <a:rPr lang="en-US" sz="1600" dirty="0" err="1">
                <a:latin typeface="Andale Mono" panose="020B0509000000000004" pitchFamily="49" charset="0"/>
              </a:rPr>
              <a:t>i</a:t>
            </a:r>
            <a:r>
              <a:rPr lang="en-US" sz="1600" dirty="0">
                <a:latin typeface="Andale Mono" panose="020B0509000000000004" pitchFamily="49" charset="0"/>
              </a:rPr>
              <a:t> &lt; n; </a:t>
            </a:r>
            <a:r>
              <a:rPr lang="en-US" sz="1600" dirty="0" err="1">
                <a:latin typeface="Andale Mono" panose="020B0509000000000004" pitchFamily="49" charset="0"/>
              </a:rPr>
              <a:t>i</a:t>
            </a:r>
            <a:r>
              <a:rPr lang="en-US" sz="1600" dirty="0">
                <a:latin typeface="Andale Mono" panose="020B0509000000000004" pitchFamily="49" charset="0"/>
              </a:rPr>
              <a:t>++)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latin typeface="Andale Mono" panose="020B0509000000000004" pitchFamily="49" charset="0"/>
              </a:rPr>
              <a:t>    sum += sqrt(a[</a:t>
            </a:r>
            <a:r>
              <a:rPr lang="en-US" sz="1600" dirty="0" err="1">
                <a:latin typeface="Andale Mono" panose="020B0509000000000004" pitchFamily="49" charset="0"/>
              </a:rPr>
              <a:t>i</a:t>
            </a:r>
            <a:r>
              <a:rPr lang="en-US" sz="1600" dirty="0">
                <a:latin typeface="Andale Mono" panose="020B0509000000000004" pitchFamily="49" charset="0"/>
              </a:rPr>
              <a:t>]);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latin typeface="Andale Mono" panose="020B0509000000000004" pitchFamily="49" charset="0"/>
              </a:rPr>
              <a:t>  }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6469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Speedup and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383" y="997857"/>
            <a:ext cx="11608068" cy="5094024"/>
          </a:xfrm>
        </p:spPr>
        <p:txBody>
          <a:bodyPr>
            <a:normAutofit fontScale="92500" lnSpcReduction="20000"/>
          </a:bodyPr>
          <a:lstStyle/>
          <a:p>
            <a:pPr marL="0" lvl="1" indent="0">
              <a:buSzPct val="60000"/>
              <a:buNone/>
            </a:pPr>
            <a:r>
              <a:rPr lang="en-US" dirty="0"/>
              <a:t>Speedup,   S</a:t>
            </a:r>
            <a:r>
              <a:rPr lang="en-US" baseline="-25000" dirty="0"/>
              <a:t>p</a:t>
            </a:r>
            <a:r>
              <a:rPr lang="en-US" dirty="0"/>
              <a:t>  =  T</a:t>
            </a:r>
            <a:r>
              <a:rPr lang="en-US" baseline="-25000" dirty="0"/>
              <a:t>s</a:t>
            </a:r>
            <a:r>
              <a:rPr lang="en-US" dirty="0"/>
              <a:t> / </a:t>
            </a:r>
            <a:r>
              <a:rPr lang="en-US" dirty="0" err="1"/>
              <a:t>T</a:t>
            </a:r>
            <a:r>
              <a:rPr lang="en-US" baseline="-25000" dirty="0" err="1"/>
              <a:t>p</a:t>
            </a:r>
            <a:endParaRPr lang="en-US" baseline="-25000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Efficiency helps us measure the overhead 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3900" dirty="0"/>
              <a:t>E</a:t>
            </a:r>
            <a:r>
              <a:rPr lang="en-US" sz="3900" baseline="-25000" dirty="0"/>
              <a:t>p</a:t>
            </a:r>
            <a:r>
              <a:rPr lang="en-US" sz="3900" dirty="0"/>
              <a:t>  =  S</a:t>
            </a:r>
            <a:r>
              <a:rPr lang="en-US" sz="3900" baseline="-25000" dirty="0"/>
              <a:t>p</a:t>
            </a:r>
            <a:r>
              <a:rPr lang="en-US" sz="3900" dirty="0"/>
              <a:t> / p   = T</a:t>
            </a:r>
            <a:r>
              <a:rPr lang="en-US" sz="3900" baseline="-25000" dirty="0"/>
              <a:t>s</a:t>
            </a:r>
            <a:r>
              <a:rPr lang="en-US" sz="3900" dirty="0"/>
              <a:t> / (p * </a:t>
            </a:r>
            <a:r>
              <a:rPr lang="en-US" sz="3900" dirty="0" err="1"/>
              <a:t>T</a:t>
            </a:r>
            <a:r>
              <a:rPr lang="en-US" sz="3900" baseline="-25000" dirty="0" err="1"/>
              <a:t>p</a:t>
            </a:r>
            <a:r>
              <a:rPr lang="en-US" sz="3900" dirty="0"/>
              <a:t>)</a:t>
            </a:r>
          </a:p>
          <a:p>
            <a:pPr lvl="1"/>
            <a:endParaRPr lang="en-US" sz="3900" baseline="-25000" dirty="0"/>
          </a:p>
          <a:p>
            <a:pPr marL="0" indent="0">
              <a:buNone/>
            </a:pPr>
            <a:r>
              <a:rPr lang="en-US" dirty="0"/>
              <a:t>Efficiency near 1, or 100% is ideal; usually above 75% is fairly good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 is number of threads used in a parallel OpenMP program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can also think of the p subscript as saying Efficiency of the parallel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1A7C9-E13C-4743-8239-C4566DB0D941}"/>
              </a:ext>
            </a:extLst>
          </p:cNvPr>
          <p:cNvSpPr txBox="1"/>
          <p:nvPr/>
        </p:nvSpPr>
        <p:spPr>
          <a:xfrm>
            <a:off x="6400800" y="1138137"/>
            <a:ext cx="556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</a:t>
            </a:r>
            <a:r>
              <a:rPr lang="en-US" baseline="-25000" dirty="0">
                <a:solidFill>
                  <a:schemeClr val="accent4"/>
                </a:solidFill>
              </a:rPr>
              <a:t>2 </a:t>
            </a:r>
            <a:r>
              <a:rPr lang="en-US" dirty="0">
                <a:solidFill>
                  <a:schemeClr val="accent4"/>
                </a:solidFill>
              </a:rPr>
              <a:t>= 2 / 1 in the ideal ‘linear’ situation from previous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B1928-03EB-5442-90A5-B8B43C51C3E9}"/>
              </a:ext>
            </a:extLst>
          </p:cNvPr>
          <p:cNvSpPr txBox="1"/>
          <p:nvPr/>
        </p:nvSpPr>
        <p:spPr>
          <a:xfrm>
            <a:off x="6654779" y="2189143"/>
            <a:ext cx="4622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E</a:t>
            </a:r>
            <a:r>
              <a:rPr lang="en-US" baseline="-25000" dirty="0">
                <a:solidFill>
                  <a:schemeClr val="accent4"/>
                </a:solidFill>
              </a:rPr>
              <a:t>2</a:t>
            </a:r>
            <a:r>
              <a:rPr lang="en-US" dirty="0">
                <a:solidFill>
                  <a:schemeClr val="accent4"/>
                </a:solidFill>
              </a:rPr>
              <a:t> = S</a:t>
            </a:r>
            <a:r>
              <a:rPr lang="en-US" baseline="-25000" dirty="0">
                <a:solidFill>
                  <a:schemeClr val="accent4"/>
                </a:solidFill>
              </a:rPr>
              <a:t>2 </a:t>
            </a:r>
            <a:r>
              <a:rPr lang="en-US" dirty="0">
                <a:solidFill>
                  <a:schemeClr val="accent4"/>
                </a:solidFill>
              </a:rPr>
              <a:t>/ 2   = 1,  or 100%  in the ideal situation from previous code </a:t>
            </a:r>
          </a:p>
        </p:txBody>
      </p:sp>
    </p:spTree>
    <p:extLst>
      <p:ext uri="{BB962C8B-B14F-4D97-AF65-F5344CB8AC3E}">
        <p14:creationId xmlns:p14="http://schemas.microsoft.com/office/powerpoint/2010/main" val="406230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8DFAA-12AC-A14D-A84A-DEC30BA6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experiment and report speedup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C16634-2E7F-CC4C-A561-03194AD4F9E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95606" y="852245"/>
          <a:ext cx="7297416" cy="2179320"/>
        </p:xfrm>
        <a:graphic>
          <a:graphicData uri="http://schemas.openxmlformats.org/drawingml/2006/table">
            <a:tbl>
              <a:tblPr/>
              <a:tblGrid>
                <a:gridCol w="916071">
                  <a:extLst>
                    <a:ext uri="{9D8B030D-6E8A-4147-A177-3AD203B41FA5}">
                      <a16:colId xmlns:a16="http://schemas.microsoft.com/office/drawing/2014/main" val="2790442847"/>
                    </a:ext>
                  </a:extLst>
                </a:gridCol>
                <a:gridCol w="1492506">
                  <a:extLst>
                    <a:ext uri="{9D8B030D-6E8A-4147-A177-3AD203B41FA5}">
                      <a16:colId xmlns:a16="http://schemas.microsoft.com/office/drawing/2014/main" val="1682343519"/>
                    </a:ext>
                  </a:extLst>
                </a:gridCol>
                <a:gridCol w="1204289">
                  <a:extLst>
                    <a:ext uri="{9D8B030D-6E8A-4147-A177-3AD203B41FA5}">
                      <a16:colId xmlns:a16="http://schemas.microsoft.com/office/drawing/2014/main" val="3157591062"/>
                    </a:ext>
                  </a:extLst>
                </a:gridCol>
                <a:gridCol w="1275972">
                  <a:extLst>
                    <a:ext uri="{9D8B030D-6E8A-4147-A177-3AD203B41FA5}">
                      <a16:colId xmlns:a16="http://schemas.microsoft.com/office/drawing/2014/main" val="2747617227"/>
                    </a:ext>
                  </a:extLst>
                </a:gridCol>
                <a:gridCol w="1204289">
                  <a:extLst>
                    <a:ext uri="{9D8B030D-6E8A-4147-A177-3AD203B41FA5}">
                      <a16:colId xmlns:a16="http://schemas.microsoft.com/office/drawing/2014/main" val="2507645113"/>
                    </a:ext>
                  </a:extLst>
                </a:gridCol>
                <a:gridCol w="1204289">
                  <a:extLst>
                    <a:ext uri="{9D8B030D-6E8A-4147-A177-3AD203B41FA5}">
                      <a16:colId xmlns:a16="http://schemas.microsoft.com/office/drawing/2014/main" val="1693002308"/>
                    </a:ext>
                  </a:extLst>
                </a:gridCol>
              </a:tblGrid>
              <a:tr h="225214">
                <a:tc>
                  <a:txBody>
                    <a:bodyPr/>
                    <a:lstStyle/>
                    <a:p>
                      <a:pPr algn="r" rtl="0" fontAlgn="b"/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Array size</a:t>
                      </a:r>
                    </a:p>
                    <a:p>
                      <a:pPr algn="r" rtl="0" fontAlgn="b"/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3364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Time for threads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Roboto"/>
                        </a:rPr>
                        <a:t>4,194,304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>
                          <a:effectLst/>
                        </a:rPr>
                        <a:t>8,388,608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>
                          <a:effectLst/>
                        </a:rPr>
                        <a:t>16,777,216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dirty="0">
                          <a:effectLst/>
                        </a:rPr>
                        <a:t>33,554,432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67108864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687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0.140389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0.278735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0.554305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1.10265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2.190898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67264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0.086532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0.162967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0.318345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0.623389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1.233185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5177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0.092176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0.180323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0.281316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0.467516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0.859808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8837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0.050442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0.073141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0.190127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0.240296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0.484111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588088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D4FD39-89C6-784E-95F0-A253011777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82750" y="3358009"/>
            <a:ext cx="5329238" cy="3286158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B8A42F-D9B5-634E-81D4-FFA333E090F6}"/>
              </a:ext>
            </a:extLst>
          </p:cNvPr>
          <p:cNvGraphicFramePr>
            <a:graphicFrameLocks noGrp="1"/>
          </p:cNvGraphicFramePr>
          <p:nvPr/>
        </p:nvGraphicFramePr>
        <p:xfrm>
          <a:off x="180012" y="3358009"/>
          <a:ext cx="6259701" cy="2923590"/>
        </p:xfrm>
        <a:graphic>
          <a:graphicData uri="http://schemas.openxmlformats.org/drawingml/2006/table">
            <a:tbl>
              <a:tblPr/>
              <a:tblGrid>
                <a:gridCol w="656567">
                  <a:extLst>
                    <a:ext uri="{9D8B030D-6E8A-4147-A177-3AD203B41FA5}">
                      <a16:colId xmlns:a16="http://schemas.microsoft.com/office/drawing/2014/main" val="1865340153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644149641"/>
                    </a:ext>
                  </a:extLst>
                </a:gridCol>
                <a:gridCol w="982138">
                  <a:extLst>
                    <a:ext uri="{9D8B030D-6E8A-4147-A177-3AD203B41FA5}">
                      <a16:colId xmlns:a16="http://schemas.microsoft.com/office/drawing/2014/main" val="478632023"/>
                    </a:ext>
                  </a:extLst>
                </a:gridCol>
                <a:gridCol w="939483">
                  <a:extLst>
                    <a:ext uri="{9D8B030D-6E8A-4147-A177-3AD203B41FA5}">
                      <a16:colId xmlns:a16="http://schemas.microsoft.com/office/drawing/2014/main" val="1382251920"/>
                    </a:ext>
                  </a:extLst>
                </a:gridCol>
                <a:gridCol w="886703">
                  <a:extLst>
                    <a:ext uri="{9D8B030D-6E8A-4147-A177-3AD203B41FA5}">
                      <a16:colId xmlns:a16="http://schemas.microsoft.com/office/drawing/2014/main" val="4116388227"/>
                    </a:ext>
                  </a:extLst>
                </a:gridCol>
                <a:gridCol w="886703">
                  <a:extLst>
                    <a:ext uri="{9D8B030D-6E8A-4147-A177-3AD203B41FA5}">
                      <a16:colId xmlns:a16="http://schemas.microsoft.com/office/drawing/2014/main" val="2788201700"/>
                    </a:ext>
                  </a:extLst>
                </a:gridCol>
                <a:gridCol w="886703">
                  <a:extLst>
                    <a:ext uri="{9D8B030D-6E8A-4147-A177-3AD203B41FA5}">
                      <a16:colId xmlns:a16="http://schemas.microsoft.com/office/drawing/2014/main" val="1378968601"/>
                    </a:ext>
                  </a:extLst>
                </a:gridCol>
              </a:tblGrid>
              <a:tr h="341376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Speedup     </a:t>
                      </a:r>
                      <a:r>
                        <a:rPr lang="en-US" sz="1800" dirty="0"/>
                        <a:t>  </a:t>
                      </a:r>
                      <a:r>
                        <a:rPr lang="en-US" sz="1800" dirty="0" err="1"/>
                        <a:t>S</a:t>
                      </a:r>
                      <a:r>
                        <a:rPr lang="en-US" sz="1800" baseline="-25000" dirty="0" err="1"/>
                        <a:t>p</a:t>
                      </a:r>
                      <a:r>
                        <a:rPr lang="en-US" sz="1800" dirty="0"/>
                        <a:t>  =  T</a:t>
                      </a:r>
                      <a:r>
                        <a:rPr lang="en-US" sz="1800" baseline="-25000" dirty="0"/>
                        <a:t>s</a:t>
                      </a:r>
                      <a:r>
                        <a:rPr lang="en-US" sz="1800" dirty="0"/>
                        <a:t> / </a:t>
                      </a:r>
                      <a:r>
                        <a:rPr lang="en-US" sz="1800" dirty="0" err="1"/>
                        <a:t>T</a:t>
                      </a:r>
                      <a:r>
                        <a:rPr lang="en-US" sz="1800" baseline="-25000" dirty="0" err="1"/>
                        <a:t>p</a:t>
                      </a:r>
                      <a:endParaRPr lang="en-US" sz="1600" baseline="-25000" dirty="0"/>
                    </a:p>
                    <a:p>
                      <a:pPr rtl="0" fontAlgn="b"/>
                      <a:endParaRPr lang="en-US" sz="14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824120"/>
                  </a:ext>
                </a:extLst>
              </a:tr>
              <a:tr h="94086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For threads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4,194,304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8,388,608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16,777,216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33,554,432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67108864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Ideal Speedup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955656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10826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1.622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1.710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1.741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1.769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1.777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583242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1.523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1.546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1.970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2.359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2.548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101449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2.783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3.811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2.915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4.589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4.526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006140"/>
                  </a:ext>
                </a:extLst>
              </a:tr>
            </a:tbl>
          </a:graphicData>
        </a:graphic>
      </p:graphicFrame>
      <p:sp>
        <p:nvSpPr>
          <p:cNvPr id="10" name="Down Arrow 9">
            <a:extLst>
              <a:ext uri="{FF2B5EF4-FFF2-40B4-BE49-F238E27FC236}">
                <a16:creationId xmlns:a16="http://schemas.microsoft.com/office/drawing/2014/main" id="{40ED19D3-98D7-FF45-A9E4-39C77A7F0C83}"/>
              </a:ext>
            </a:extLst>
          </p:cNvPr>
          <p:cNvSpPr/>
          <p:nvPr/>
        </p:nvSpPr>
        <p:spPr>
          <a:xfrm>
            <a:off x="1028504" y="4935393"/>
            <a:ext cx="350195" cy="13462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8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8DFAA-12AC-A14D-A84A-DEC30BA60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5257800" cy="724886"/>
          </a:xfrm>
        </p:spPr>
        <p:txBody>
          <a:bodyPr/>
          <a:lstStyle/>
          <a:p>
            <a:r>
              <a:rPr lang="en-US" dirty="0"/>
              <a:t>How we experiment and report speedup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D4FD39-89C6-784E-95F0-A253011777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62762" y="281176"/>
            <a:ext cx="5329238" cy="3286158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B8A42F-D9B5-634E-81D4-FFA333E090F6}"/>
              </a:ext>
            </a:extLst>
          </p:cNvPr>
          <p:cNvGraphicFramePr>
            <a:graphicFrameLocks noGrp="1"/>
          </p:cNvGraphicFramePr>
          <p:nvPr/>
        </p:nvGraphicFramePr>
        <p:xfrm>
          <a:off x="423049" y="1034938"/>
          <a:ext cx="6259701" cy="2647746"/>
        </p:xfrm>
        <a:graphic>
          <a:graphicData uri="http://schemas.openxmlformats.org/drawingml/2006/table">
            <a:tbl>
              <a:tblPr/>
              <a:tblGrid>
                <a:gridCol w="656567">
                  <a:extLst>
                    <a:ext uri="{9D8B030D-6E8A-4147-A177-3AD203B41FA5}">
                      <a16:colId xmlns:a16="http://schemas.microsoft.com/office/drawing/2014/main" val="1865340153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644149641"/>
                    </a:ext>
                  </a:extLst>
                </a:gridCol>
                <a:gridCol w="982138">
                  <a:extLst>
                    <a:ext uri="{9D8B030D-6E8A-4147-A177-3AD203B41FA5}">
                      <a16:colId xmlns:a16="http://schemas.microsoft.com/office/drawing/2014/main" val="478632023"/>
                    </a:ext>
                  </a:extLst>
                </a:gridCol>
                <a:gridCol w="939483">
                  <a:extLst>
                    <a:ext uri="{9D8B030D-6E8A-4147-A177-3AD203B41FA5}">
                      <a16:colId xmlns:a16="http://schemas.microsoft.com/office/drawing/2014/main" val="1382251920"/>
                    </a:ext>
                  </a:extLst>
                </a:gridCol>
                <a:gridCol w="886703">
                  <a:extLst>
                    <a:ext uri="{9D8B030D-6E8A-4147-A177-3AD203B41FA5}">
                      <a16:colId xmlns:a16="http://schemas.microsoft.com/office/drawing/2014/main" val="4116388227"/>
                    </a:ext>
                  </a:extLst>
                </a:gridCol>
                <a:gridCol w="886703">
                  <a:extLst>
                    <a:ext uri="{9D8B030D-6E8A-4147-A177-3AD203B41FA5}">
                      <a16:colId xmlns:a16="http://schemas.microsoft.com/office/drawing/2014/main" val="2788201700"/>
                    </a:ext>
                  </a:extLst>
                </a:gridCol>
                <a:gridCol w="886703">
                  <a:extLst>
                    <a:ext uri="{9D8B030D-6E8A-4147-A177-3AD203B41FA5}">
                      <a16:colId xmlns:a16="http://schemas.microsoft.com/office/drawing/2014/main" val="1378968601"/>
                    </a:ext>
                  </a:extLst>
                </a:gridCol>
              </a:tblGrid>
              <a:tr h="341376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Speedup     </a:t>
                      </a:r>
                      <a:r>
                        <a:rPr lang="en-US" sz="1800" dirty="0"/>
                        <a:t>  </a:t>
                      </a:r>
                      <a:r>
                        <a:rPr lang="en-US" sz="1800" dirty="0" err="1"/>
                        <a:t>S</a:t>
                      </a:r>
                      <a:r>
                        <a:rPr lang="en-US" sz="1800" baseline="-25000" dirty="0" err="1"/>
                        <a:t>p</a:t>
                      </a:r>
                      <a:r>
                        <a:rPr lang="en-US" sz="1800" dirty="0"/>
                        <a:t>  =  T</a:t>
                      </a:r>
                      <a:r>
                        <a:rPr lang="en-US" sz="1800" baseline="-25000" dirty="0"/>
                        <a:t>s</a:t>
                      </a:r>
                      <a:r>
                        <a:rPr lang="en-US" sz="1800" dirty="0"/>
                        <a:t> / </a:t>
                      </a:r>
                      <a:r>
                        <a:rPr lang="en-US" sz="1800" dirty="0" err="1"/>
                        <a:t>T</a:t>
                      </a:r>
                      <a:r>
                        <a:rPr lang="en-US" sz="1800" baseline="-25000" dirty="0" err="1"/>
                        <a:t>p</a:t>
                      </a:r>
                      <a:endParaRPr lang="en-US" sz="1800" baseline="-250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4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824120"/>
                  </a:ext>
                </a:extLst>
              </a:tr>
              <a:tr h="94086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For threads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4,194,304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8,388,608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16,777,216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33,554,432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67108864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Ideal Speedup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955656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10826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1.622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1.710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1.741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1.769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1.777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583242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1.523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1.546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1.970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2.359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2.548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101449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2.783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3.811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2.915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4.589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4.526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00614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CD18B69-B8C0-444E-BB3E-1CD0B9895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762" y="3429000"/>
            <a:ext cx="5329239" cy="328904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1FEAAE8-4BEC-2348-B245-806EEF66056C}"/>
              </a:ext>
            </a:extLst>
          </p:cNvPr>
          <p:cNvGraphicFramePr>
            <a:graphicFrameLocks noGrp="1"/>
          </p:cNvGraphicFramePr>
          <p:nvPr/>
        </p:nvGraphicFramePr>
        <p:xfrm>
          <a:off x="210773" y="3906520"/>
          <a:ext cx="6634870" cy="2057400"/>
        </p:xfrm>
        <a:graphic>
          <a:graphicData uri="http://schemas.openxmlformats.org/drawingml/2006/table">
            <a:tbl>
              <a:tblPr/>
              <a:tblGrid>
                <a:gridCol w="740697">
                  <a:extLst>
                    <a:ext uri="{9D8B030D-6E8A-4147-A177-3AD203B41FA5}">
                      <a16:colId xmlns:a16="http://schemas.microsoft.com/office/drawing/2014/main" val="1649455892"/>
                    </a:ext>
                  </a:extLst>
                </a:gridCol>
                <a:gridCol w="1092847">
                  <a:extLst>
                    <a:ext uri="{9D8B030D-6E8A-4147-A177-3AD203B41FA5}">
                      <a16:colId xmlns:a16="http://schemas.microsoft.com/office/drawing/2014/main" val="1987060693"/>
                    </a:ext>
                  </a:extLst>
                </a:gridCol>
                <a:gridCol w="916772">
                  <a:extLst>
                    <a:ext uri="{9D8B030D-6E8A-4147-A177-3AD203B41FA5}">
                      <a16:colId xmlns:a16="http://schemas.microsoft.com/office/drawing/2014/main" val="956059340"/>
                    </a:ext>
                  </a:extLst>
                </a:gridCol>
                <a:gridCol w="1067214">
                  <a:extLst>
                    <a:ext uri="{9D8B030D-6E8A-4147-A177-3AD203B41FA5}">
                      <a16:colId xmlns:a16="http://schemas.microsoft.com/office/drawing/2014/main" val="570198487"/>
                    </a:ext>
                  </a:extLst>
                </a:gridCol>
                <a:gridCol w="988540">
                  <a:extLst>
                    <a:ext uri="{9D8B030D-6E8A-4147-A177-3AD203B41FA5}">
                      <a16:colId xmlns:a16="http://schemas.microsoft.com/office/drawing/2014/main" val="4032062296"/>
                    </a:ext>
                  </a:extLst>
                </a:gridCol>
                <a:gridCol w="889687">
                  <a:extLst>
                    <a:ext uri="{9D8B030D-6E8A-4147-A177-3AD203B41FA5}">
                      <a16:colId xmlns:a16="http://schemas.microsoft.com/office/drawing/2014/main" val="2449994694"/>
                    </a:ext>
                  </a:extLst>
                </a:gridCol>
                <a:gridCol w="939113">
                  <a:extLst>
                    <a:ext uri="{9D8B030D-6E8A-4147-A177-3AD203B41FA5}">
                      <a16:colId xmlns:a16="http://schemas.microsoft.com/office/drawing/2014/main" val="531193572"/>
                    </a:ext>
                  </a:extLst>
                </a:gridCol>
              </a:tblGrid>
              <a:tr h="200025">
                <a:tc gridSpan="7">
                  <a:txBody>
                    <a:bodyPr/>
                    <a:lstStyle/>
                    <a:p>
                      <a:pPr rtl="0" fontAlgn="b"/>
                      <a:r>
                        <a:rPr lang="en-US" sz="2000" dirty="0">
                          <a:effectLst/>
                        </a:rPr>
                        <a:t>Efficiency 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1600" dirty="0"/>
                        <a:t>=  </a:t>
                      </a:r>
                      <a:r>
                        <a:rPr lang="en-US" sz="2000" dirty="0" err="1"/>
                        <a:t>S</a:t>
                      </a:r>
                      <a:r>
                        <a:rPr lang="en-US" sz="2000" baseline="-25000" dirty="0" err="1"/>
                        <a:t>p</a:t>
                      </a:r>
                      <a:r>
                        <a:rPr lang="en-US" sz="2000" dirty="0"/>
                        <a:t> / p</a:t>
                      </a:r>
                      <a:r>
                        <a:rPr lang="en-US" sz="1600" dirty="0"/>
                        <a:t> </a:t>
                      </a:r>
                      <a:endParaRPr lang="en-US" sz="14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sz="16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33545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4,194,304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8,388,608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16,777,216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33,554,432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67108864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>
                          <a:effectLst/>
                        </a:rPr>
                        <a:t>Ideal Efficiency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7890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3233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0.811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0.855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0.871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0.884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0.888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66782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0.381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0.386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0.493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0.590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0.637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45025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0.348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0.476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0.364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0.574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>
                          <a:effectLst/>
                        </a:rPr>
                        <a:t>0.566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426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27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CE04E-1341-EF4C-A6C8-3F7543909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74A7-FC26-3F46-83F0-60EBBB434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5595323"/>
          </a:xfrm>
        </p:spPr>
        <p:txBody>
          <a:bodyPr>
            <a:normAutofit/>
          </a:bodyPr>
          <a:lstStyle/>
          <a:p>
            <a:r>
              <a:rPr lang="en-US" dirty="0"/>
              <a:t>Speedup near ideal, or efficiency above 75%, for a particular problems size and number of threads, demonstrates </a:t>
            </a:r>
            <a:r>
              <a:rPr lang="en-US" i="1" dirty="0">
                <a:solidFill>
                  <a:schemeClr val="accent4"/>
                </a:solidFill>
              </a:rPr>
              <a:t>strong scalability</a:t>
            </a:r>
          </a:p>
          <a:p>
            <a:endParaRPr lang="en-US" i="1" dirty="0"/>
          </a:p>
          <a:p>
            <a:r>
              <a:rPr lang="en-US" dirty="0"/>
              <a:t>Another form of scalability that is poorly named is </a:t>
            </a:r>
            <a:r>
              <a:rPr lang="en-US" i="1" dirty="0">
                <a:solidFill>
                  <a:schemeClr val="accent4"/>
                </a:solidFill>
              </a:rPr>
              <a:t>weak scalability</a:t>
            </a:r>
          </a:p>
          <a:p>
            <a:r>
              <a:rPr lang="en-US" dirty="0">
                <a:solidFill>
                  <a:schemeClr val="accent4"/>
                </a:solidFill>
              </a:rPr>
              <a:t>	if we increase the size of a problem by some factor</a:t>
            </a:r>
          </a:p>
          <a:p>
            <a:r>
              <a:rPr lang="en-US" dirty="0">
                <a:solidFill>
                  <a:schemeClr val="accent4"/>
                </a:solidFill>
              </a:rPr>
              <a:t>	and we increase the number of threads by that factor</a:t>
            </a:r>
          </a:p>
          <a:p>
            <a:r>
              <a:rPr lang="en-US" dirty="0">
                <a:solidFill>
                  <a:schemeClr val="accent4"/>
                </a:solidFill>
              </a:rPr>
              <a:t>	if the time remains the same or close to it, we have weak scalability</a:t>
            </a:r>
          </a:p>
          <a:p>
            <a:endParaRPr lang="en-US" dirty="0">
              <a:solidFill>
                <a:schemeClr val="accent4"/>
              </a:solidFill>
            </a:endParaRPr>
          </a:p>
          <a:p>
            <a:r>
              <a:rPr lang="en-US" dirty="0">
                <a:solidFill>
                  <a:schemeClr val="accent4"/>
                </a:solidFill>
              </a:rPr>
              <a:t>	</a:t>
            </a:r>
            <a:r>
              <a:rPr lang="en-US" dirty="0"/>
              <a:t>This kind of scalability can be very useful:</a:t>
            </a:r>
          </a:p>
          <a:p>
            <a:r>
              <a:rPr lang="en-US" dirty="0">
                <a:solidFill>
                  <a:schemeClr val="accent4"/>
                </a:solidFill>
              </a:rPr>
              <a:t>	we can solve a larger problem by using a larger machine </a:t>
            </a:r>
          </a:p>
          <a:p>
            <a:r>
              <a:rPr lang="en-US" dirty="0">
                <a:solidFill>
                  <a:schemeClr val="accent4"/>
                </a:solidFill>
              </a:rPr>
              <a:t>	with more cores</a:t>
            </a:r>
          </a:p>
        </p:txBody>
      </p:sp>
    </p:spTree>
    <p:extLst>
      <p:ext uri="{BB962C8B-B14F-4D97-AF65-F5344CB8AC3E}">
        <p14:creationId xmlns:p14="http://schemas.microsoft.com/office/powerpoint/2010/main" val="392608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Title 1">
            <a:extLst>
              <a:ext uri="{FF2B5EF4-FFF2-40B4-BE49-F238E27FC236}">
                <a16:creationId xmlns:a16="http://schemas.microsoft.com/office/drawing/2014/main" id="{99CE1653-29D5-F646-BFD5-E2464DC0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Scalability</a:t>
            </a:r>
          </a:p>
        </p:txBody>
      </p:sp>
      <p:sp>
        <p:nvSpPr>
          <p:cNvPr id="147458" name="Content Placeholder 2">
            <a:extLst>
              <a:ext uri="{FF2B5EF4-FFF2-40B4-BE49-F238E27FC236}">
                <a16:creationId xmlns:a16="http://schemas.microsoft.com/office/drawing/2014/main" id="{0960948B-EDCA-4C44-9FA7-8D42FB96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95" y="771006"/>
            <a:ext cx="10646603" cy="4542395"/>
          </a:xfrm>
        </p:spPr>
        <p:txBody>
          <a:bodyPr/>
          <a:lstStyle/>
          <a:p>
            <a:r>
              <a:rPr lang="en-US" altLang="en-US" dirty="0"/>
              <a:t>In general, a problem is </a:t>
            </a:r>
            <a:r>
              <a:rPr lang="en-US" alt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scalable</a:t>
            </a:r>
            <a:r>
              <a:rPr lang="en-US" altLang="en-US" dirty="0"/>
              <a:t> if it can handle ever increasing problem sizes.</a:t>
            </a:r>
          </a:p>
          <a:p>
            <a:endParaRPr lang="en-US" altLang="en-US" dirty="0"/>
          </a:p>
          <a:p>
            <a:r>
              <a:rPr lang="en-US" altLang="en-US" dirty="0"/>
              <a:t>If we increase the number of processes/threads and keep the efficiency </a:t>
            </a:r>
            <a:r>
              <a:rPr lang="en-US" altLang="en-US" i="1" dirty="0"/>
              <a:t>roughly</a:t>
            </a:r>
            <a:r>
              <a:rPr lang="en-US" altLang="en-US" dirty="0"/>
              <a:t> fixed without increasing problem size, the problem is</a:t>
            </a:r>
            <a:r>
              <a:rPr lang="en-US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strongly scalable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If we can keep the efficiency </a:t>
            </a:r>
            <a:r>
              <a:rPr lang="en-US" altLang="en-US" i="1" dirty="0"/>
              <a:t>roughly</a:t>
            </a:r>
            <a:r>
              <a:rPr lang="en-US" altLang="en-US" dirty="0"/>
              <a:t> fixed by increasing the problem size at the same rate as we increase the number of processes/threads, the problem is </a:t>
            </a:r>
            <a:r>
              <a:rPr lang="en-US" alt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weakly scalable</a:t>
            </a:r>
            <a:r>
              <a:rPr lang="en-US" alt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505DC-D5D0-6946-A4DB-F6DC6BD42F1F}"/>
              </a:ext>
            </a:extLst>
          </p:cNvPr>
          <p:cNvSpPr txBox="1"/>
          <p:nvPr/>
        </p:nvSpPr>
        <p:spPr>
          <a:xfrm>
            <a:off x="1216999" y="5403370"/>
            <a:ext cx="8209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emphasize the words roughly in the two definitions above, because ideal speedup is rarely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8429C7-6203-C649-82B4-47628E63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5181600" cy="491523"/>
          </a:xfrm>
        </p:spPr>
        <p:txBody>
          <a:bodyPr/>
          <a:lstStyle/>
          <a:p>
            <a:r>
              <a:rPr lang="en-US" dirty="0"/>
              <a:t>This example?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7AD369-3671-FB4B-AC79-FB8185B097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Strongly scalable?</a:t>
            </a:r>
          </a:p>
          <a:p>
            <a:pPr lvl="1"/>
            <a:r>
              <a:rPr lang="en-US" dirty="0"/>
              <a:t>Is speedup near ideal?</a:t>
            </a:r>
          </a:p>
          <a:p>
            <a:pPr lvl="1"/>
            <a:r>
              <a:rPr lang="en-US" dirty="0"/>
              <a:t>When is efficiency above 75%?</a:t>
            </a:r>
          </a:p>
          <a:p>
            <a:endParaRPr lang="en-US" dirty="0"/>
          </a:p>
          <a:p>
            <a:r>
              <a:rPr lang="en-US" dirty="0"/>
              <a:t>Would not characterize as strongly scalable </a:t>
            </a:r>
            <a:r>
              <a:rPr lang="en-US" i="1" dirty="0">
                <a:solidFill>
                  <a:srgbClr val="FFC000"/>
                </a:solidFill>
              </a:rPr>
              <a:t>at these problem sizes</a:t>
            </a:r>
            <a:r>
              <a:rPr lang="en-US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DC68C4-28AA-D545-BE07-8F7A84248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762" y="281176"/>
            <a:ext cx="5329238" cy="3286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4F11B0-477F-5249-B3E5-8EA6C0617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762" y="3429000"/>
            <a:ext cx="5329239" cy="328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0B30-3E12-0F4F-84C1-79A37A58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this in terms of strong scalability?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D36C6-E0FC-FA41-852D-EC25CBA75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99037" y="697281"/>
            <a:ext cx="5329187" cy="1088695"/>
          </a:xfrm>
        </p:spPr>
        <p:txBody>
          <a:bodyPr/>
          <a:lstStyle/>
          <a:p>
            <a:pPr lvl="1"/>
            <a:r>
              <a:rPr lang="en-US" dirty="0"/>
              <a:t>Is speedup near ideal?</a:t>
            </a:r>
          </a:p>
          <a:p>
            <a:pPr lvl="1"/>
            <a:r>
              <a:rPr lang="en-US" dirty="0"/>
              <a:t>When is efficiency above 75%?</a:t>
            </a:r>
          </a:p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1015104-B965-4449-9485-0255B291A99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16" y="1785976"/>
            <a:ext cx="5500687" cy="339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5E5194C-6B15-6C4D-A16D-609605D82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402" y="1690353"/>
            <a:ext cx="6304598" cy="389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482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78D7-8DCA-5346-8B4F-82662BDC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weak scalability?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5FA4F74-CAE6-4D45-8E9F-73EEB111456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19" y="1462410"/>
            <a:ext cx="7574563" cy="468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C3460A-A494-304E-9B8C-809F47E81C0E}"/>
              </a:ext>
            </a:extLst>
          </p:cNvPr>
          <p:cNvSpPr txBox="1"/>
          <p:nvPr/>
        </p:nvSpPr>
        <p:spPr>
          <a:xfrm>
            <a:off x="8229600" y="1155690"/>
            <a:ext cx="36083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If we can keep the efficiency </a:t>
            </a:r>
            <a:r>
              <a:rPr lang="en-US" altLang="en-US" sz="2400" i="1" dirty="0"/>
              <a:t>roughly</a:t>
            </a:r>
            <a:r>
              <a:rPr lang="en-US" altLang="en-US" sz="2400" dirty="0"/>
              <a:t> fixed (i.e. has same time) by increasing the problem size at the same rate as we increase the number of processes/threads, the problem is </a:t>
            </a:r>
            <a:r>
              <a:rPr lang="en-US" alt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weakly scalable</a:t>
            </a:r>
            <a:r>
              <a:rPr lang="en-US" alt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1839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0ABE-7E22-714A-A31A-54FAE2EB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process for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C1C50-AD11-6E45-B6F1-65128C297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383" y="997856"/>
            <a:ext cx="11608068" cy="4748035"/>
          </a:xfrm>
        </p:spPr>
        <p:txBody>
          <a:bodyPr>
            <a:normAutofit/>
          </a:bodyPr>
          <a:lstStyle/>
          <a:p>
            <a:r>
              <a:rPr lang="en-US" dirty="0"/>
              <a:t>Use ‘shell scripts’ to execute code several times</a:t>
            </a:r>
          </a:p>
          <a:p>
            <a:pPr lvl="1"/>
            <a:r>
              <a:rPr lang="en-US" dirty="0"/>
              <a:t>duplicate experiments</a:t>
            </a:r>
          </a:p>
          <a:p>
            <a:pPr lvl="1"/>
            <a:r>
              <a:rPr lang="en-US" dirty="0"/>
              <a:t>run several different conditions</a:t>
            </a:r>
          </a:p>
          <a:p>
            <a:endParaRPr lang="en-US" dirty="0"/>
          </a:p>
          <a:p>
            <a:r>
              <a:rPr lang="en-US" dirty="0"/>
              <a:t>Transfer data to spreadsheet</a:t>
            </a:r>
          </a:p>
          <a:p>
            <a:pPr lvl="1"/>
            <a:r>
              <a:rPr lang="en-US" dirty="0"/>
              <a:t>analyze using different measurements</a:t>
            </a:r>
          </a:p>
          <a:p>
            <a:pPr lvl="2"/>
            <a:r>
              <a:rPr lang="en-US" dirty="0"/>
              <a:t>speedup and efficiency </a:t>
            </a:r>
          </a:p>
          <a:p>
            <a:pPr lvl="3"/>
            <a:r>
              <a:rPr lang="en-US" dirty="0"/>
              <a:t>for strong scalability</a:t>
            </a:r>
          </a:p>
          <a:p>
            <a:pPr lvl="2"/>
            <a:r>
              <a:rPr lang="en-US" dirty="0"/>
              <a:t>run times as problem size and number of threads are increased proportionally</a:t>
            </a:r>
          </a:p>
          <a:p>
            <a:pPr lvl="3"/>
            <a:r>
              <a:rPr lang="en-US" dirty="0"/>
              <a:t> for weak scalability</a:t>
            </a:r>
          </a:p>
        </p:txBody>
      </p:sp>
    </p:spTree>
    <p:extLst>
      <p:ext uri="{BB962C8B-B14F-4D97-AF65-F5344CB8AC3E}">
        <p14:creationId xmlns:p14="http://schemas.microsoft.com/office/powerpoint/2010/main" val="1000486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2EFB-8B6C-0743-8908-939BEF57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3897299" cy="501149"/>
          </a:xfrm>
        </p:spPr>
        <p:txBody>
          <a:bodyPr/>
          <a:lstStyle/>
          <a:p>
            <a:r>
              <a:rPr lang="en-US" dirty="0"/>
              <a:t>Sequential timing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03DD38F-AF27-B44A-A758-480F81F773B8}"/>
              </a:ext>
            </a:extLst>
          </p:cNvPr>
          <p:cNvSpPr txBox="1">
            <a:spLocks/>
          </p:cNvSpPr>
          <p:nvPr/>
        </p:nvSpPr>
        <p:spPr>
          <a:xfrm>
            <a:off x="519764" y="988226"/>
            <a:ext cx="5312626" cy="524720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#include &lt;</a:t>
            </a:r>
            <a:r>
              <a:rPr lang="en-US" sz="2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omp.h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&gt;</a:t>
            </a:r>
          </a:p>
          <a:p>
            <a:r>
              <a:rPr lang="en-US" dirty="0">
                <a:latin typeface="Andale Mono" panose="020B0509000000000004" pitchFamily="49" charset="0"/>
              </a:rPr>
              <a:t> . . . </a:t>
            </a:r>
          </a:p>
          <a:p>
            <a:endParaRPr lang="en-US" dirty="0">
              <a:latin typeface="Andale Mono" panose="020B0509000000000004" pitchFamily="49" charset="0"/>
            </a:endParaRPr>
          </a:p>
          <a:p>
            <a:r>
              <a:rPr lang="en-US" dirty="0">
                <a:latin typeface="Andale Mono" panose="020B0509000000000004" pitchFamily="49" charset="0"/>
              </a:rPr>
              <a:t>double start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omp_get_wtime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()</a:t>
            </a:r>
            <a:r>
              <a:rPr lang="en-US" dirty="0">
                <a:latin typeface="Andale Mono" panose="020B0509000000000004" pitchFamily="49" charset="0"/>
              </a:rPr>
              <a:t>;</a:t>
            </a:r>
          </a:p>
          <a:p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// compute each rectangle, adding area to the accumulator</a:t>
            </a:r>
          </a:p>
          <a:p>
            <a:r>
              <a:rPr lang="en-US" dirty="0">
                <a:latin typeface="Andale Mono" panose="020B0509000000000004" pitchFamily="49" charset="0"/>
              </a:rPr>
              <a:t>for(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= 1;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&lt; n;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dirty="0">
                <a:latin typeface="Andale Mono" panose="020B0509000000000004" pitchFamily="49" charset="0"/>
              </a:rPr>
              <a:t>integral += f(</a:t>
            </a:r>
            <a:r>
              <a:rPr lang="en-US" dirty="0" err="1">
                <a:latin typeface="Andale Mono" panose="020B0509000000000004" pitchFamily="49" charset="0"/>
              </a:rPr>
              <a:t>a+i</a:t>
            </a:r>
            <a:r>
              <a:rPr lang="en-US" dirty="0">
                <a:latin typeface="Andale Mono" panose="020B0509000000000004" pitchFamily="49" charset="0"/>
              </a:rPr>
              <a:t>*h);</a:t>
            </a:r>
          </a:p>
          <a:p>
            <a:r>
              <a:rPr lang="en-US" dirty="0">
                <a:latin typeface="Andale Mono" panose="020B0509000000000004" pitchFamily="49" charset="0"/>
              </a:rPr>
              <a:t>}</a:t>
            </a:r>
          </a:p>
          <a:p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integral = integral * h;</a:t>
            </a:r>
          </a:p>
          <a:p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// Measuring the elapsed time</a:t>
            </a:r>
          </a:p>
          <a:p>
            <a:r>
              <a:rPr lang="en-US" dirty="0">
                <a:latin typeface="Andale Mono" panose="020B0509000000000004" pitchFamily="49" charset="0"/>
              </a:rPr>
              <a:t>double end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omp_get_wtime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()</a:t>
            </a:r>
            <a:r>
              <a:rPr lang="en-US" dirty="0">
                <a:latin typeface="Andale Mono" panose="020B05090000000000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ndale Mono" panose="020B050900000000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.  .  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601D5D-C676-8643-B1C7-34EFE9A522C2}"/>
              </a:ext>
            </a:extLst>
          </p:cNvPr>
          <p:cNvSpPr txBox="1">
            <a:spLocks/>
          </p:cNvSpPr>
          <p:nvPr/>
        </p:nvSpPr>
        <p:spPr>
          <a:xfrm>
            <a:off x="6220348" y="1037338"/>
            <a:ext cx="5312626" cy="5554393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9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#include &lt;</a:t>
            </a:r>
            <a:r>
              <a:rPr lang="en-US" sz="49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omp.h</a:t>
            </a:r>
            <a:r>
              <a:rPr lang="en-US" sz="49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&gt;</a:t>
            </a:r>
          </a:p>
          <a:p>
            <a:endParaRPr lang="en-US" dirty="0">
              <a:latin typeface="Andale Mono" panose="020B0509000000000004" pitchFamily="49" charset="0"/>
            </a:endParaRPr>
          </a:p>
          <a:p>
            <a:r>
              <a:rPr lang="en-US" dirty="0">
                <a:latin typeface="Andale Mono" panose="020B0509000000000004" pitchFamily="49" charset="0"/>
              </a:rPr>
              <a:t> .  .  .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// for </a:t>
            </a:r>
            <a:r>
              <a:rPr lang="en-US" sz="4800" dirty="0" err="1">
                <a:latin typeface="Andale Mono" panose="020B0509000000000004" pitchFamily="49" charset="0"/>
              </a:rPr>
              <a:t>timimg</a:t>
            </a:r>
            <a:endParaRPr lang="en-US" sz="4800" dirty="0">
              <a:latin typeface="Andale Mono" panose="020B0509000000000004" pitchFamily="49" charset="0"/>
            </a:endParaRPr>
          </a:p>
          <a:p>
            <a:r>
              <a:rPr lang="en-US" sz="4800" dirty="0">
                <a:latin typeface="Andale Mono" panose="020B0509000000000004" pitchFamily="49" charset="0"/>
              </a:rPr>
              <a:t>double start = </a:t>
            </a:r>
            <a:r>
              <a:rPr lang="en-US" sz="4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omp_get_wtime</a:t>
            </a:r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()</a:t>
            </a:r>
            <a:r>
              <a:rPr lang="en-US" sz="4800" dirty="0">
                <a:latin typeface="Andale Mono" panose="020B0509000000000004" pitchFamily="49" charset="0"/>
              </a:rPr>
              <a:t>;</a:t>
            </a:r>
          </a:p>
          <a:p>
            <a:br>
              <a:rPr lang="en-US" sz="4800" dirty="0">
                <a:latin typeface="Andale Mono" panose="020B0509000000000004" pitchFamily="49" charset="0"/>
              </a:rPr>
            </a:br>
            <a:r>
              <a:rPr lang="en-US" sz="4800" dirty="0">
                <a:latin typeface="Andale Mono" panose="020B0509000000000004" pitchFamily="49" charset="0"/>
              </a:rPr>
              <a:t>// compute each rectangle, adding area to the accumulator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#pragma </a:t>
            </a:r>
            <a:r>
              <a:rPr lang="en-US" sz="4800" dirty="0" err="1">
                <a:latin typeface="Andale Mono" panose="020B0509000000000004" pitchFamily="49" charset="0"/>
              </a:rPr>
              <a:t>omp</a:t>
            </a:r>
            <a:r>
              <a:rPr lang="en-US" sz="4800" dirty="0">
                <a:latin typeface="Andale Mono" panose="020B0509000000000004" pitchFamily="49" charset="0"/>
              </a:rPr>
              <a:t> parallel for default(none) \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private(</a:t>
            </a:r>
            <a:r>
              <a:rPr lang="en-US" sz="4800" dirty="0" err="1">
                <a:latin typeface="Andale Mono" panose="020B0509000000000004" pitchFamily="49" charset="0"/>
              </a:rPr>
              <a:t>i</a:t>
            </a:r>
            <a:r>
              <a:rPr lang="en-US" sz="4800" dirty="0">
                <a:latin typeface="Andale Mono" panose="020B0509000000000004" pitchFamily="49" charset="0"/>
              </a:rPr>
              <a:t>) shared(n, a, h) reduction(+:integral)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for(</a:t>
            </a:r>
            <a:r>
              <a:rPr lang="en-US" sz="4800" dirty="0" err="1">
                <a:latin typeface="Andale Mono" panose="020B0509000000000004" pitchFamily="49" charset="0"/>
              </a:rPr>
              <a:t>i</a:t>
            </a:r>
            <a:r>
              <a:rPr lang="en-US" sz="4800" dirty="0">
                <a:latin typeface="Andale Mono" panose="020B0509000000000004" pitchFamily="49" charset="0"/>
              </a:rPr>
              <a:t> = 1; </a:t>
            </a:r>
            <a:r>
              <a:rPr lang="en-US" sz="4800" dirty="0" err="1">
                <a:latin typeface="Andale Mono" panose="020B0509000000000004" pitchFamily="49" charset="0"/>
              </a:rPr>
              <a:t>i</a:t>
            </a:r>
            <a:r>
              <a:rPr lang="en-US" sz="4800" dirty="0">
                <a:latin typeface="Andale Mono" panose="020B0509000000000004" pitchFamily="49" charset="0"/>
              </a:rPr>
              <a:t> &lt; n; </a:t>
            </a:r>
            <a:r>
              <a:rPr lang="en-US" sz="4800" dirty="0" err="1">
                <a:latin typeface="Andale Mono" panose="020B0509000000000004" pitchFamily="49" charset="0"/>
              </a:rPr>
              <a:t>i</a:t>
            </a:r>
            <a:r>
              <a:rPr lang="en-US" sz="48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   integral += f(</a:t>
            </a:r>
            <a:r>
              <a:rPr lang="en-US" sz="4800" dirty="0" err="1">
                <a:latin typeface="Andale Mono" panose="020B0509000000000004" pitchFamily="49" charset="0"/>
              </a:rPr>
              <a:t>a+i</a:t>
            </a:r>
            <a:r>
              <a:rPr lang="en-US" sz="48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}</a:t>
            </a:r>
          </a:p>
          <a:p>
            <a:br>
              <a:rPr lang="en-US" sz="4800" dirty="0">
                <a:latin typeface="Andale Mono" panose="020B0509000000000004" pitchFamily="49" charset="0"/>
              </a:rPr>
            </a:br>
            <a:r>
              <a:rPr lang="en-US" sz="4800" dirty="0">
                <a:latin typeface="Andale Mono" panose="020B0509000000000004" pitchFamily="49" charset="0"/>
              </a:rPr>
              <a:t>integral = integral * h;</a:t>
            </a:r>
          </a:p>
          <a:p>
            <a:br>
              <a:rPr lang="en-US" sz="4800" dirty="0">
                <a:latin typeface="Andale Mono" panose="020B0509000000000004" pitchFamily="49" charset="0"/>
              </a:rPr>
            </a:br>
            <a:r>
              <a:rPr lang="en-US" sz="4800" dirty="0">
                <a:latin typeface="Andale Mono" panose="020B0509000000000004" pitchFamily="49" charset="0"/>
              </a:rPr>
              <a:t>// Measuring the elapsed time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double end = </a:t>
            </a:r>
            <a:r>
              <a:rPr lang="en-US" sz="4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omp_get_wtime</a:t>
            </a:r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()</a:t>
            </a:r>
            <a:r>
              <a:rPr lang="en-US" sz="4800" dirty="0">
                <a:latin typeface="Andale Mono" panose="020B05090000000000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ndale Mono" panose="020B050900000000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ndale Mono" panose="020B050900000000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.  .  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8B3DA2-5B5C-C64B-ACCD-44FFFBFFFA4A}"/>
              </a:ext>
            </a:extLst>
          </p:cNvPr>
          <p:cNvSpPr txBox="1">
            <a:spLocks/>
          </p:cNvSpPr>
          <p:nvPr/>
        </p:nvSpPr>
        <p:spPr>
          <a:xfrm>
            <a:off x="6220348" y="266269"/>
            <a:ext cx="3897299" cy="5011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Parallel timing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FC5506-E6AE-9B47-A506-A78F0D9629E3}"/>
              </a:ext>
            </a:extLst>
          </p:cNvPr>
          <p:cNvCxnSpPr>
            <a:cxnSpLocks/>
          </p:cNvCxnSpPr>
          <p:nvPr/>
        </p:nvCxnSpPr>
        <p:spPr>
          <a:xfrm flipH="1" flipV="1">
            <a:off x="2873336" y="1322173"/>
            <a:ext cx="605481" cy="506627"/>
          </a:xfrm>
          <a:prstGeom prst="straightConnector1">
            <a:avLst/>
          </a:prstGeom>
          <a:ln w="666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5A8DFA-C05F-4548-8CCA-CC477DB29AB6}"/>
              </a:ext>
            </a:extLst>
          </p:cNvPr>
          <p:cNvCxnSpPr>
            <a:cxnSpLocks/>
          </p:cNvCxnSpPr>
          <p:nvPr/>
        </p:nvCxnSpPr>
        <p:spPr>
          <a:xfrm flipH="1" flipV="1">
            <a:off x="8042579" y="1359243"/>
            <a:ext cx="594794" cy="630195"/>
          </a:xfrm>
          <a:prstGeom prst="straightConnector1">
            <a:avLst/>
          </a:prstGeom>
          <a:ln w="666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04FF02-EDFE-2143-9FC9-5CA3623B7EB5}"/>
              </a:ext>
            </a:extLst>
          </p:cNvPr>
          <p:cNvSpPr txBox="1"/>
          <p:nvPr/>
        </p:nvSpPr>
        <p:spPr>
          <a:xfrm>
            <a:off x="1581277" y="5668401"/>
            <a:ext cx="4327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We use this for sequential timing too: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Easy to use,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Can compare times properly</a:t>
            </a:r>
          </a:p>
        </p:txBody>
      </p:sp>
    </p:spTree>
    <p:extLst>
      <p:ext uri="{BB962C8B-B14F-4D97-AF65-F5344CB8AC3E}">
        <p14:creationId xmlns:p14="http://schemas.microsoft.com/office/powerpoint/2010/main" val="410208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2EFB-8B6C-0743-8908-939BEF57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3897299" cy="501149"/>
          </a:xfrm>
        </p:spPr>
        <p:txBody>
          <a:bodyPr/>
          <a:lstStyle/>
          <a:p>
            <a:r>
              <a:rPr lang="en-US" dirty="0"/>
              <a:t>Sequential timing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03DD38F-AF27-B44A-A758-480F81F773B8}"/>
              </a:ext>
            </a:extLst>
          </p:cNvPr>
          <p:cNvSpPr txBox="1">
            <a:spLocks/>
          </p:cNvSpPr>
          <p:nvPr/>
        </p:nvSpPr>
        <p:spPr>
          <a:xfrm>
            <a:off x="519764" y="988226"/>
            <a:ext cx="5312626" cy="524720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#include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seq_time.h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"</a:t>
            </a:r>
          </a:p>
          <a:p>
            <a:r>
              <a:rPr lang="en-US" dirty="0">
                <a:latin typeface="Andale Mono" panose="020B0509000000000004" pitchFamily="49" charset="0"/>
              </a:rPr>
              <a:t> . . . </a:t>
            </a:r>
          </a:p>
          <a:p>
            <a:endParaRPr lang="en-US" dirty="0">
              <a:latin typeface="Andale Mono" panose="020B0509000000000004" pitchFamily="49" charset="0"/>
            </a:endParaRPr>
          </a:p>
          <a:p>
            <a:r>
              <a:rPr lang="en-US" dirty="0">
                <a:latin typeface="Andale Mono" panose="020B0509000000000004" pitchFamily="49" charset="0"/>
              </a:rPr>
              <a:t>double start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c_get_wtime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()</a:t>
            </a:r>
            <a:r>
              <a:rPr lang="en-US" dirty="0">
                <a:latin typeface="Andale Mono" panose="020B0509000000000004" pitchFamily="49" charset="0"/>
              </a:rPr>
              <a:t>;</a:t>
            </a:r>
          </a:p>
          <a:p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// compute each rectangle, adding area to the accumulator</a:t>
            </a:r>
          </a:p>
          <a:p>
            <a:r>
              <a:rPr lang="en-US" dirty="0">
                <a:latin typeface="Andale Mono" panose="020B0509000000000004" pitchFamily="49" charset="0"/>
              </a:rPr>
              <a:t>for(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= 1;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&lt; n;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dirty="0">
                <a:latin typeface="Andale Mono" panose="020B0509000000000004" pitchFamily="49" charset="0"/>
              </a:rPr>
              <a:t>integral += f(</a:t>
            </a:r>
            <a:r>
              <a:rPr lang="en-US" dirty="0" err="1">
                <a:latin typeface="Andale Mono" panose="020B0509000000000004" pitchFamily="49" charset="0"/>
              </a:rPr>
              <a:t>a+i</a:t>
            </a:r>
            <a:r>
              <a:rPr lang="en-US" dirty="0">
                <a:latin typeface="Andale Mono" panose="020B0509000000000004" pitchFamily="49" charset="0"/>
              </a:rPr>
              <a:t>*h);</a:t>
            </a:r>
          </a:p>
          <a:p>
            <a:r>
              <a:rPr lang="en-US" dirty="0">
                <a:latin typeface="Andale Mono" panose="020B0509000000000004" pitchFamily="49" charset="0"/>
              </a:rPr>
              <a:t>}</a:t>
            </a:r>
          </a:p>
          <a:p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integral = integral * h;</a:t>
            </a:r>
          </a:p>
          <a:p>
            <a:br>
              <a:rPr lang="en-US" dirty="0">
                <a:latin typeface="Andale Mono" panose="020B0509000000000004" pitchFamily="49" charset="0"/>
              </a:rPr>
            </a:br>
            <a:r>
              <a:rPr lang="en-US" dirty="0">
                <a:latin typeface="Andale Mono" panose="020B0509000000000004" pitchFamily="49" charset="0"/>
              </a:rPr>
              <a:t>// Measuring the elapsed time</a:t>
            </a:r>
          </a:p>
          <a:p>
            <a:r>
              <a:rPr lang="en-US" dirty="0">
                <a:latin typeface="Andale Mono" panose="020B0509000000000004" pitchFamily="49" charset="0"/>
              </a:rPr>
              <a:t>// double end = </a:t>
            </a:r>
            <a:r>
              <a:rPr lang="en-US" dirty="0" err="1">
                <a:latin typeface="Andale Mono" panose="020B0509000000000004" pitchFamily="49" charset="0"/>
              </a:rPr>
              <a:t>omp_get_wtime</a:t>
            </a:r>
            <a:r>
              <a:rPr lang="en-US" dirty="0">
                <a:latin typeface="Andale Mono" panose="020B0509000000000004" pitchFamily="49" charset="0"/>
              </a:rPr>
              <a:t>();</a:t>
            </a:r>
          </a:p>
          <a:p>
            <a:r>
              <a:rPr lang="en-US" dirty="0">
                <a:latin typeface="Andale Mono" panose="020B0509000000000004" pitchFamily="49" charset="0"/>
              </a:rPr>
              <a:t>double end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c_get_wtime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()</a:t>
            </a:r>
            <a:r>
              <a:rPr lang="en-US" dirty="0">
                <a:latin typeface="Andale Mono" panose="020B05090000000000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ndale Mono" panose="020B050900000000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 .  .  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601D5D-C676-8643-B1C7-34EFE9A522C2}"/>
              </a:ext>
            </a:extLst>
          </p:cNvPr>
          <p:cNvSpPr txBox="1">
            <a:spLocks/>
          </p:cNvSpPr>
          <p:nvPr/>
        </p:nvSpPr>
        <p:spPr>
          <a:xfrm>
            <a:off x="6220348" y="1037338"/>
            <a:ext cx="5312626" cy="5554393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9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#include &lt;</a:t>
            </a:r>
            <a:r>
              <a:rPr lang="en-US" sz="49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omp.h</a:t>
            </a:r>
            <a:r>
              <a:rPr lang="en-US" sz="49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&gt;</a:t>
            </a:r>
          </a:p>
          <a:p>
            <a:endParaRPr lang="en-US" dirty="0">
              <a:latin typeface="Andale Mono" panose="020B0509000000000004" pitchFamily="49" charset="0"/>
            </a:endParaRPr>
          </a:p>
          <a:p>
            <a:r>
              <a:rPr lang="en-US" dirty="0">
                <a:latin typeface="Andale Mono" panose="020B0509000000000004" pitchFamily="49" charset="0"/>
              </a:rPr>
              <a:t> .  .  .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// for </a:t>
            </a:r>
            <a:r>
              <a:rPr lang="en-US" sz="4800" dirty="0" err="1">
                <a:latin typeface="Andale Mono" panose="020B0509000000000004" pitchFamily="49" charset="0"/>
              </a:rPr>
              <a:t>timimg</a:t>
            </a:r>
            <a:endParaRPr lang="en-US" sz="4800" dirty="0">
              <a:latin typeface="Andale Mono" panose="020B0509000000000004" pitchFamily="49" charset="0"/>
            </a:endParaRPr>
          </a:p>
          <a:p>
            <a:r>
              <a:rPr lang="en-US" sz="4800" dirty="0">
                <a:latin typeface="Andale Mono" panose="020B0509000000000004" pitchFamily="49" charset="0"/>
              </a:rPr>
              <a:t>double start = </a:t>
            </a:r>
            <a:r>
              <a:rPr lang="en-US" sz="4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omp_get_wtime</a:t>
            </a:r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()</a:t>
            </a:r>
            <a:r>
              <a:rPr lang="en-US" sz="4800" dirty="0">
                <a:latin typeface="Andale Mono" panose="020B0509000000000004" pitchFamily="49" charset="0"/>
              </a:rPr>
              <a:t>;</a:t>
            </a:r>
          </a:p>
          <a:p>
            <a:br>
              <a:rPr lang="en-US" sz="4800" dirty="0">
                <a:latin typeface="Andale Mono" panose="020B0509000000000004" pitchFamily="49" charset="0"/>
              </a:rPr>
            </a:br>
            <a:r>
              <a:rPr lang="en-US" sz="4800" dirty="0">
                <a:latin typeface="Andale Mono" panose="020B0509000000000004" pitchFamily="49" charset="0"/>
              </a:rPr>
              <a:t>// compute each rectangle, adding area to the accumulator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#pragma </a:t>
            </a:r>
            <a:r>
              <a:rPr lang="en-US" sz="4800" dirty="0" err="1">
                <a:latin typeface="Andale Mono" panose="020B0509000000000004" pitchFamily="49" charset="0"/>
              </a:rPr>
              <a:t>omp</a:t>
            </a:r>
            <a:r>
              <a:rPr lang="en-US" sz="4800" dirty="0">
                <a:latin typeface="Andale Mono" panose="020B0509000000000004" pitchFamily="49" charset="0"/>
              </a:rPr>
              <a:t> parallel for default(none) \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private(</a:t>
            </a:r>
            <a:r>
              <a:rPr lang="en-US" sz="4800" dirty="0" err="1">
                <a:latin typeface="Andale Mono" panose="020B0509000000000004" pitchFamily="49" charset="0"/>
              </a:rPr>
              <a:t>i</a:t>
            </a:r>
            <a:r>
              <a:rPr lang="en-US" sz="4800" dirty="0">
                <a:latin typeface="Andale Mono" panose="020B0509000000000004" pitchFamily="49" charset="0"/>
              </a:rPr>
              <a:t>) shared(n, a, h) reduction(+:integral)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for(</a:t>
            </a:r>
            <a:r>
              <a:rPr lang="en-US" sz="4800" dirty="0" err="1">
                <a:latin typeface="Andale Mono" panose="020B0509000000000004" pitchFamily="49" charset="0"/>
              </a:rPr>
              <a:t>i</a:t>
            </a:r>
            <a:r>
              <a:rPr lang="en-US" sz="4800" dirty="0">
                <a:latin typeface="Andale Mono" panose="020B0509000000000004" pitchFamily="49" charset="0"/>
              </a:rPr>
              <a:t> = 1; </a:t>
            </a:r>
            <a:r>
              <a:rPr lang="en-US" sz="4800" dirty="0" err="1">
                <a:latin typeface="Andale Mono" panose="020B0509000000000004" pitchFamily="49" charset="0"/>
              </a:rPr>
              <a:t>i</a:t>
            </a:r>
            <a:r>
              <a:rPr lang="en-US" sz="4800" dirty="0">
                <a:latin typeface="Andale Mono" panose="020B0509000000000004" pitchFamily="49" charset="0"/>
              </a:rPr>
              <a:t> &lt; n; </a:t>
            </a:r>
            <a:r>
              <a:rPr lang="en-US" sz="4800" dirty="0" err="1">
                <a:latin typeface="Andale Mono" panose="020B0509000000000004" pitchFamily="49" charset="0"/>
              </a:rPr>
              <a:t>i</a:t>
            </a:r>
            <a:r>
              <a:rPr lang="en-US" sz="48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   integral += f(</a:t>
            </a:r>
            <a:r>
              <a:rPr lang="en-US" sz="4800" dirty="0" err="1">
                <a:latin typeface="Andale Mono" panose="020B0509000000000004" pitchFamily="49" charset="0"/>
              </a:rPr>
              <a:t>a+i</a:t>
            </a:r>
            <a:r>
              <a:rPr lang="en-US" sz="48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}</a:t>
            </a:r>
          </a:p>
          <a:p>
            <a:br>
              <a:rPr lang="en-US" sz="4800" dirty="0">
                <a:latin typeface="Andale Mono" panose="020B0509000000000004" pitchFamily="49" charset="0"/>
              </a:rPr>
            </a:br>
            <a:r>
              <a:rPr lang="en-US" sz="4800" dirty="0">
                <a:latin typeface="Andale Mono" panose="020B0509000000000004" pitchFamily="49" charset="0"/>
              </a:rPr>
              <a:t>integral = integral * h;</a:t>
            </a:r>
          </a:p>
          <a:p>
            <a:br>
              <a:rPr lang="en-US" sz="4800" dirty="0">
                <a:latin typeface="Andale Mono" panose="020B0509000000000004" pitchFamily="49" charset="0"/>
              </a:rPr>
            </a:br>
            <a:r>
              <a:rPr lang="en-US" sz="4800" dirty="0">
                <a:latin typeface="Andale Mono" panose="020B0509000000000004" pitchFamily="49" charset="0"/>
              </a:rPr>
              <a:t>// Measuring the elapsed time</a:t>
            </a:r>
          </a:p>
          <a:p>
            <a:r>
              <a:rPr lang="en-US" sz="4800" dirty="0">
                <a:latin typeface="Andale Mono" panose="020B0509000000000004" pitchFamily="49" charset="0"/>
              </a:rPr>
              <a:t>double end = </a:t>
            </a:r>
            <a:r>
              <a:rPr lang="en-US" sz="4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omp_get_wtime</a:t>
            </a:r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()</a:t>
            </a:r>
            <a:r>
              <a:rPr lang="en-US" sz="4800" dirty="0">
                <a:latin typeface="Andale Mono" panose="020B05090000000000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ndale Mono" panose="020B050900000000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ndale Mono" panose="020B050900000000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latin typeface="Andale Mono" panose="020B0509000000000004" pitchFamily="49" charset="0"/>
              </a:rPr>
              <a:t> .  .  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8B3DA2-5B5C-C64B-ACCD-44FFFBFFFA4A}"/>
              </a:ext>
            </a:extLst>
          </p:cNvPr>
          <p:cNvSpPr txBox="1">
            <a:spLocks/>
          </p:cNvSpPr>
          <p:nvPr/>
        </p:nvSpPr>
        <p:spPr>
          <a:xfrm>
            <a:off x="6220348" y="266269"/>
            <a:ext cx="3897299" cy="5011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Parallel timing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FC5506-E6AE-9B47-A506-A78F0D9629E3}"/>
              </a:ext>
            </a:extLst>
          </p:cNvPr>
          <p:cNvCxnSpPr>
            <a:cxnSpLocks/>
          </p:cNvCxnSpPr>
          <p:nvPr/>
        </p:nvCxnSpPr>
        <p:spPr>
          <a:xfrm flipH="1" flipV="1">
            <a:off x="2873336" y="1322173"/>
            <a:ext cx="605481" cy="506627"/>
          </a:xfrm>
          <a:prstGeom prst="straightConnector1">
            <a:avLst/>
          </a:prstGeom>
          <a:ln w="666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5A8DFA-C05F-4548-8CCA-CC477DB29AB6}"/>
              </a:ext>
            </a:extLst>
          </p:cNvPr>
          <p:cNvCxnSpPr>
            <a:cxnSpLocks/>
          </p:cNvCxnSpPr>
          <p:nvPr/>
        </p:nvCxnSpPr>
        <p:spPr>
          <a:xfrm flipH="1" flipV="1">
            <a:off x="8042579" y="1359243"/>
            <a:ext cx="594794" cy="630195"/>
          </a:xfrm>
          <a:prstGeom prst="straightConnector1">
            <a:avLst/>
          </a:prstGeom>
          <a:ln w="666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04FF02-EDFE-2143-9FC9-5CA3623B7EB5}"/>
              </a:ext>
            </a:extLst>
          </p:cNvPr>
          <p:cNvSpPr txBox="1"/>
          <p:nvPr/>
        </p:nvSpPr>
        <p:spPr>
          <a:xfrm>
            <a:off x="9527060" y="722008"/>
            <a:ext cx="1688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You could use this for sequential timing too</a:t>
            </a:r>
          </a:p>
        </p:txBody>
      </p:sp>
    </p:spTree>
    <p:extLst>
      <p:ext uri="{BB962C8B-B14F-4D97-AF65-F5344CB8AC3E}">
        <p14:creationId xmlns:p14="http://schemas.microsoft.com/office/powerpoint/2010/main" val="5940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05BB9AB-CB83-2F4A-B8D3-3923B16C45C5}" vid="{6DAF6F60-9D35-814E-917A-A7202DE102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506</TotalTime>
  <Words>1561</Words>
  <Application>Microsoft Macintosh PowerPoint</Application>
  <PresentationFormat>Widescreen</PresentationFormat>
  <Paragraphs>340</Paragraphs>
  <Slides>16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Andale Mono</vt:lpstr>
      <vt:lpstr>Arial</vt:lpstr>
      <vt:lpstr>Calibri</vt:lpstr>
      <vt:lpstr>Calibri Light</vt:lpstr>
      <vt:lpstr>Roboto</vt:lpstr>
      <vt:lpstr>Wingdings</vt:lpstr>
      <vt:lpstr>Office Theme</vt:lpstr>
      <vt:lpstr>Measuring Effectiveness</vt:lpstr>
      <vt:lpstr>Speedup and Efficiency</vt:lpstr>
      <vt:lpstr>Code for parallel loop, reduction patterns</vt:lpstr>
      <vt:lpstr>Speedup for multicore with OpenMP </vt:lpstr>
      <vt:lpstr>However, there is overhead in parallel programs</vt:lpstr>
      <vt:lpstr>Speedup and Efficiency</vt:lpstr>
      <vt:lpstr>How we experiment and report speedup</vt:lpstr>
      <vt:lpstr>How we experiment and report speedup</vt:lpstr>
      <vt:lpstr>Scalability</vt:lpstr>
      <vt:lpstr>Scalability</vt:lpstr>
      <vt:lpstr>This example?</vt:lpstr>
      <vt:lpstr>How about this in terms of strong scalability?</vt:lpstr>
      <vt:lpstr>Is this weak scalability?</vt:lpstr>
      <vt:lpstr>Experimental process for this course</vt:lpstr>
      <vt:lpstr>Sequential timing</vt:lpstr>
      <vt:lpstr>Sequential timing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16</cp:revision>
  <dcterms:created xsi:type="dcterms:W3CDTF">2022-02-01T16:34:32Z</dcterms:created>
  <dcterms:modified xsi:type="dcterms:W3CDTF">2023-09-19T19:18:51Z</dcterms:modified>
</cp:coreProperties>
</file>