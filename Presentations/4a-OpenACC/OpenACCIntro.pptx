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acc.org/sites/default/files/inline-files/OpenACC.2.6.final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B5A4-BE90-E44E-9AF0-D5382E685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OpenACC</a:t>
            </a:r>
            <a:r>
              <a:rPr lang="en-US" dirty="0"/>
              <a:t> and the </a:t>
            </a:r>
            <a:r>
              <a:rPr lang="en-US" dirty="0" err="1"/>
              <a:t>pgcc</a:t>
            </a:r>
            <a:r>
              <a:rPr lang="en-US" dirty="0"/>
              <a:t>/</a:t>
            </a:r>
            <a:r>
              <a:rPr lang="en-US" dirty="0" err="1"/>
              <a:t>nvc</a:t>
            </a:r>
            <a:r>
              <a:rPr lang="en-US" dirty="0"/>
              <a:t> compiler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40833-E985-E147-8665-E003AB61B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 445</a:t>
            </a:r>
          </a:p>
        </p:txBody>
      </p:sp>
    </p:spTree>
    <p:extLst>
      <p:ext uri="{BB962C8B-B14F-4D97-AF65-F5344CB8AC3E}">
        <p14:creationId xmlns:p14="http://schemas.microsoft.com/office/powerpoint/2010/main" val="232062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7650-A330-E64E-B337-C1D97E07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1F71-19BC-1B41-9D9E-4ED5A3D1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87652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We have seen two </a:t>
            </a:r>
            <a:r>
              <a:rPr lang="en-US" i="1" dirty="0"/>
              <a:t>standards</a:t>
            </a:r>
            <a:r>
              <a:rPr lang="en-US" dirty="0"/>
              <a:t> so far:</a:t>
            </a:r>
          </a:p>
          <a:p>
            <a:r>
              <a:rPr lang="en-US" dirty="0"/>
              <a:t>	OpenMP</a:t>
            </a:r>
          </a:p>
          <a:p>
            <a:r>
              <a:rPr lang="en-US" dirty="0"/>
              <a:t>	MPI</a:t>
            </a:r>
          </a:p>
          <a:p>
            <a:r>
              <a:rPr lang="en-US" dirty="0"/>
              <a:t>These standards are developed to guide compiler writers</a:t>
            </a:r>
          </a:p>
          <a:p>
            <a:r>
              <a:rPr lang="en-US" dirty="0"/>
              <a:t>They define the syntax for the pragmas (in the case of OpenMP)</a:t>
            </a:r>
          </a:p>
          <a:p>
            <a:r>
              <a:rPr lang="en-US" dirty="0"/>
              <a:t>They define the functions that should be present in the library, e.g.</a:t>
            </a:r>
          </a:p>
          <a:p>
            <a:r>
              <a:rPr lang="en-US" dirty="0"/>
              <a:t>	</a:t>
            </a:r>
            <a:r>
              <a:rPr lang="en-US" dirty="0" err="1"/>
              <a:t>omp_get_num_threads</a:t>
            </a:r>
            <a:r>
              <a:rPr lang="en-US" dirty="0"/>
              <a:t>()</a:t>
            </a:r>
          </a:p>
          <a:p>
            <a:r>
              <a:rPr lang="en-US" dirty="0"/>
              <a:t>	</a:t>
            </a:r>
            <a:r>
              <a:rPr lang="en-US" dirty="0" err="1"/>
              <a:t>MPI_Send</a:t>
            </a:r>
            <a:r>
              <a:rPr lang="en-US" dirty="0"/>
              <a:t>(…)</a:t>
            </a:r>
          </a:p>
          <a:p>
            <a:endParaRPr lang="en-US" dirty="0"/>
          </a:p>
          <a:p>
            <a:r>
              <a:rPr lang="en-US" dirty="0"/>
              <a:t>More than one compiler can implement the standard  (including </a:t>
            </a:r>
            <a:r>
              <a:rPr lang="en-US" dirty="0" err="1"/>
              <a:t>fortran</a:t>
            </a:r>
            <a:r>
              <a:rPr lang="en-US" dirty="0"/>
              <a:t> language!)</a:t>
            </a:r>
          </a:p>
          <a:p>
            <a:r>
              <a:rPr lang="en-US" dirty="0"/>
              <a:t>	</a:t>
            </a:r>
            <a:r>
              <a:rPr lang="en-US" dirty="0" err="1"/>
              <a:t>gcc</a:t>
            </a:r>
            <a:endParaRPr lang="en-US" dirty="0"/>
          </a:p>
          <a:p>
            <a:r>
              <a:rPr lang="en-US" dirty="0"/>
              <a:t>	clang</a:t>
            </a:r>
          </a:p>
          <a:p>
            <a:r>
              <a:rPr lang="en-US" dirty="0"/>
              <a:t>	(there are others also)</a:t>
            </a:r>
          </a:p>
          <a:p>
            <a:r>
              <a:rPr lang="en-US" dirty="0"/>
              <a:t>	</a:t>
            </a:r>
            <a:r>
              <a:rPr lang="en-US" dirty="0" err="1"/>
              <a:t>mpich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openMPI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7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185B-663A-4A76-B600-94EAFB57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standard for GPU and multicore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02F2-8AA6-0FB9-78C1-9FFC99E3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652792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OpenACC</a:t>
            </a:r>
            <a:r>
              <a:rPr lang="en-US" dirty="0"/>
              <a:t>   (</a:t>
            </a:r>
            <a:r>
              <a:rPr lang="en-US" dirty="0" err="1"/>
              <a:t>openacc.org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	The ACC is for accelerator (a common term for a separate card)</a:t>
            </a:r>
          </a:p>
          <a:p>
            <a:endParaRPr lang="en-US" dirty="0"/>
          </a:p>
          <a:p>
            <a:r>
              <a:rPr lang="en-US" dirty="0"/>
              <a:t>	Defines pragmas and a handful of functions</a:t>
            </a:r>
          </a:p>
          <a:p>
            <a:endParaRPr lang="en-US" dirty="0"/>
          </a:p>
          <a:p>
            <a:r>
              <a:rPr lang="en-US" dirty="0"/>
              <a:t>	Some pragmas are the same as OpenMP:</a:t>
            </a:r>
          </a:p>
          <a:p>
            <a:r>
              <a:rPr lang="en-US" dirty="0"/>
              <a:t>		private</a:t>
            </a:r>
          </a:p>
          <a:p>
            <a:r>
              <a:rPr lang="en-US" dirty="0"/>
              <a:t>		reduction</a:t>
            </a:r>
          </a:p>
          <a:p>
            <a:r>
              <a:rPr lang="en-US" dirty="0"/>
              <a:t>	Many others are related to the accelerator device needs</a:t>
            </a:r>
          </a:p>
          <a:p>
            <a:r>
              <a:rPr lang="en-US" dirty="0"/>
              <a:t>		for specifying blocks (called gangs)</a:t>
            </a:r>
          </a:p>
          <a:p>
            <a:r>
              <a:rPr lang="en-US" dirty="0"/>
              <a:t>		for moving data</a:t>
            </a:r>
          </a:p>
          <a:p>
            <a:r>
              <a:rPr lang="en-US" dirty="0"/>
              <a:t>		advising the compiler that a loop is ‘independent’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42D77-6F25-2A50-0809-6FB62E07F993}"/>
              </a:ext>
            </a:extLst>
          </p:cNvPr>
          <p:cNvSpPr txBox="1"/>
          <p:nvPr/>
        </p:nvSpPr>
        <p:spPr>
          <a:xfrm>
            <a:off x="651753" y="5544766"/>
            <a:ext cx="9572017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https://www.openacc.org/sites/default/files/inline-files/OpenACC.2.6.final.pdf</a:t>
            </a:r>
            <a:r>
              <a:rPr lang="en-US" dirty="0"/>
              <a:t>  for an example version of the </a:t>
            </a:r>
            <a:r>
              <a:rPr lang="en-US" dirty="0" err="1"/>
              <a:t>OpenACC</a:t>
            </a:r>
            <a:r>
              <a:rPr lang="en-US" dirty="0"/>
              <a:t>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42870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D8F4-9B64-D0AA-519B-3199A238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pgcc</a:t>
            </a:r>
            <a:r>
              <a:rPr lang="en-US" dirty="0"/>
              <a:t>/</a:t>
            </a:r>
            <a:r>
              <a:rPr lang="en-US" dirty="0" err="1"/>
              <a:t>nvc</a:t>
            </a:r>
            <a:r>
              <a:rPr lang="en-US" dirty="0"/>
              <a:t>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490A7-33CE-7B33-EB86-6498A2F25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6527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Implements the </a:t>
            </a:r>
            <a:r>
              <a:rPr lang="en-US" dirty="0" err="1"/>
              <a:t>OpenACC</a:t>
            </a:r>
            <a:r>
              <a:rPr lang="en-US" dirty="0"/>
              <a:t> standard</a:t>
            </a:r>
          </a:p>
          <a:p>
            <a:endParaRPr lang="en-US" dirty="0"/>
          </a:p>
          <a:p>
            <a:r>
              <a:rPr lang="en-US" dirty="0"/>
              <a:t>Is being maintained by NVIDIA</a:t>
            </a:r>
          </a:p>
          <a:p>
            <a:endParaRPr lang="en-US" dirty="0"/>
          </a:p>
          <a:p>
            <a:r>
              <a:rPr lang="en-US" dirty="0"/>
              <a:t>Designed to work on both NVIDIA cards and AMD GPU cards</a:t>
            </a:r>
          </a:p>
          <a:p>
            <a:endParaRPr lang="en-US" dirty="0"/>
          </a:p>
          <a:p>
            <a:r>
              <a:rPr lang="en-US" dirty="0"/>
              <a:t>Philosophy: same code, build to different architectures, </a:t>
            </a:r>
          </a:p>
          <a:p>
            <a:r>
              <a:rPr lang="en-US" dirty="0"/>
              <a:t>	both CPU multicore (including OpenMP) and GPU</a:t>
            </a:r>
          </a:p>
          <a:p>
            <a:endParaRPr lang="en-US" dirty="0"/>
          </a:p>
          <a:p>
            <a:r>
              <a:rPr lang="en-US" dirty="0"/>
              <a:t>Takes a lot of experiments and code writing off your hands for:</a:t>
            </a:r>
          </a:p>
          <a:p>
            <a:r>
              <a:rPr lang="en-US" dirty="0"/>
              <a:t>	choosing CUDA block sizes</a:t>
            </a:r>
          </a:p>
          <a:p>
            <a:r>
              <a:rPr lang="en-US" dirty="0"/>
              <a:t>	defining the data movement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1905C-DB74-DDC5-4D9B-2D926EDE7A27}"/>
              </a:ext>
            </a:extLst>
          </p:cNvPr>
          <p:cNvSpPr txBox="1"/>
          <p:nvPr/>
        </p:nvSpPr>
        <p:spPr>
          <a:xfrm>
            <a:off x="7573269" y="943902"/>
            <a:ext cx="341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nvc</a:t>
            </a:r>
            <a:r>
              <a:rPr lang="en-US" dirty="0">
                <a:solidFill>
                  <a:srgbClr val="FFC000"/>
                </a:solidFill>
              </a:rPr>
              <a:t> is NVIDIA’s new name for </a:t>
            </a:r>
            <a:r>
              <a:rPr lang="en-US" dirty="0" err="1">
                <a:solidFill>
                  <a:srgbClr val="FFC000"/>
                </a:solidFill>
              </a:rPr>
              <a:t>pgcc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F769-ECEF-A63E-35CE-F16242DD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F02FF-02D0-8F2A-9F14-EA44AF875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99" y="1174076"/>
            <a:ext cx="11308882" cy="347574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Designed to take you on an incremental journey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gcc</a:t>
            </a:r>
            <a:r>
              <a:rPr lang="en-US" dirty="0"/>
              <a:t> and its compiler optimization levels</a:t>
            </a:r>
          </a:p>
          <a:p>
            <a:r>
              <a:rPr lang="en-US" dirty="0"/>
              <a:t>2. </a:t>
            </a:r>
            <a:r>
              <a:rPr lang="en-US" dirty="0" err="1"/>
              <a:t>openMP</a:t>
            </a:r>
            <a:r>
              <a:rPr lang="en-US" dirty="0"/>
              <a:t> with both </a:t>
            </a:r>
            <a:r>
              <a:rPr lang="en-US" dirty="0" err="1"/>
              <a:t>gcc</a:t>
            </a:r>
            <a:r>
              <a:rPr lang="en-US" dirty="0"/>
              <a:t> and </a:t>
            </a:r>
            <a:r>
              <a:rPr lang="en-US" dirty="0" err="1"/>
              <a:t>pgcc</a:t>
            </a:r>
            <a:endParaRPr lang="en-US" dirty="0"/>
          </a:p>
          <a:p>
            <a:r>
              <a:rPr lang="en-US" dirty="0"/>
              <a:t>3. Fast multicore version with </a:t>
            </a:r>
            <a:r>
              <a:rPr lang="en-US" dirty="0" err="1"/>
              <a:t>pgcc</a:t>
            </a:r>
            <a:endParaRPr lang="en-US" dirty="0"/>
          </a:p>
          <a:p>
            <a:r>
              <a:rPr lang="en-US" dirty="0"/>
              <a:t>4. GPU version with </a:t>
            </a:r>
            <a:r>
              <a:rPr lang="en-US" dirty="0" err="1"/>
              <a:t>pgcc</a:t>
            </a:r>
            <a:endParaRPr lang="en-US" dirty="0"/>
          </a:p>
          <a:p>
            <a:endParaRPr lang="en-US" dirty="0"/>
          </a:p>
          <a:p>
            <a:r>
              <a:rPr lang="en-US" dirty="0"/>
              <a:t>Two examples in separate repos</a:t>
            </a:r>
          </a:p>
          <a:p>
            <a:r>
              <a:rPr lang="en-US" dirty="0"/>
              <a:t>	Basics, then Vector addition (very simple)</a:t>
            </a:r>
          </a:p>
          <a:p>
            <a:r>
              <a:rPr lang="en-US" dirty="0"/>
              <a:t>	Matrix Multiply</a:t>
            </a:r>
          </a:p>
        </p:txBody>
      </p:sp>
    </p:spTree>
    <p:extLst>
      <p:ext uri="{BB962C8B-B14F-4D97-AF65-F5344CB8AC3E}">
        <p14:creationId xmlns:p14="http://schemas.microsoft.com/office/powerpoint/2010/main" val="414244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354</Words>
  <Application>Microsoft Macintosh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OpenACC and the pgcc/nvc compiler</vt:lpstr>
      <vt:lpstr>Standards</vt:lpstr>
      <vt:lpstr>Another standard for GPU and multicore CPU</vt:lpstr>
      <vt:lpstr>The pgcc/nvc compiler</vt:lpstr>
      <vt:lpstr>The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OpenACC and the pgcc compiler</dc:title>
  <dc:creator>Microsoft Office User</dc:creator>
  <cp:lastModifiedBy>Libby Shoop</cp:lastModifiedBy>
  <cp:revision>7</cp:revision>
  <dcterms:created xsi:type="dcterms:W3CDTF">2022-10-27T17:17:22Z</dcterms:created>
  <dcterms:modified xsi:type="dcterms:W3CDTF">2024-10-31T18:50:20Z</dcterms:modified>
</cp:coreProperties>
</file>