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2"/>
  </p:notesMasterIdLst>
  <p:sldIdLst>
    <p:sldId id="256" r:id="rId2"/>
    <p:sldId id="382" r:id="rId3"/>
    <p:sldId id="419" r:id="rId4"/>
    <p:sldId id="284" r:id="rId5"/>
    <p:sldId id="420" r:id="rId6"/>
    <p:sldId id="408" r:id="rId7"/>
    <p:sldId id="383" r:id="rId8"/>
    <p:sldId id="404" r:id="rId9"/>
    <p:sldId id="407" r:id="rId10"/>
    <p:sldId id="385" r:id="rId11"/>
    <p:sldId id="387" r:id="rId12"/>
    <p:sldId id="384" r:id="rId13"/>
    <p:sldId id="386" r:id="rId14"/>
    <p:sldId id="406" r:id="rId15"/>
    <p:sldId id="388" r:id="rId16"/>
    <p:sldId id="389" r:id="rId17"/>
    <p:sldId id="414" r:id="rId18"/>
    <p:sldId id="390" r:id="rId19"/>
    <p:sldId id="391" r:id="rId20"/>
    <p:sldId id="413" r:id="rId21"/>
    <p:sldId id="412" r:id="rId22"/>
    <p:sldId id="392" r:id="rId23"/>
    <p:sldId id="393" r:id="rId24"/>
    <p:sldId id="394" r:id="rId25"/>
    <p:sldId id="417" r:id="rId26"/>
    <p:sldId id="395" r:id="rId27"/>
    <p:sldId id="396" r:id="rId28"/>
    <p:sldId id="397" r:id="rId29"/>
    <p:sldId id="416" r:id="rId30"/>
    <p:sldId id="418" r:id="rId31"/>
    <p:sldId id="415" r:id="rId32"/>
    <p:sldId id="409" r:id="rId33"/>
    <p:sldId id="410" r:id="rId34"/>
    <p:sldId id="398" r:id="rId35"/>
    <p:sldId id="399" r:id="rId36"/>
    <p:sldId id="400" r:id="rId37"/>
    <p:sldId id="314" r:id="rId38"/>
    <p:sldId id="401" r:id="rId39"/>
    <p:sldId id="402" r:id="rId40"/>
    <p:sldId id="403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74"/>
  </p:normalViewPr>
  <p:slideViewPr>
    <p:cSldViewPr snapToGrid="0" snapToObjects="1">
      <p:cViewPr varScale="1">
        <p:scale>
          <a:sx n="131" d="100"/>
          <a:sy n="131" d="100"/>
        </p:scale>
        <p:origin x="3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7B2D7C-AE57-FF48-BA36-ABC1BFC75634}" type="datetimeFigureOut">
              <a:rPr lang="en-US" smtClean="0"/>
              <a:t>2/13/20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C21B52-BC1D-7543-9FB2-3D3440D581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526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Slide Image Placeholder 1">
            <a:extLst>
              <a:ext uri="{FF2B5EF4-FFF2-40B4-BE49-F238E27FC236}">
                <a16:creationId xmlns:a16="http://schemas.microsoft.com/office/drawing/2014/main" id="{1D523BF0-C73F-174F-A67B-E61F557187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107522" name="Notes Placeholder 2">
            <a:extLst>
              <a:ext uri="{FF2B5EF4-FFF2-40B4-BE49-F238E27FC236}">
                <a16:creationId xmlns:a16="http://schemas.microsoft.com/office/drawing/2014/main" id="{F5D9E03F-E19B-C447-8461-913F57770E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/>
              <a:t>Please refer to the detailed slides on cache coherence and thread-safety in Chapter 4.</a:t>
            </a:r>
          </a:p>
        </p:txBody>
      </p:sp>
      <p:sp>
        <p:nvSpPr>
          <p:cNvPr id="107523" name="Header Placeholder 3">
            <a:extLst>
              <a:ext uri="{FF2B5EF4-FFF2-40B4-BE49-F238E27FC236}">
                <a16:creationId xmlns:a16="http://schemas.microsoft.com/office/drawing/2014/main" id="{3A58E060-056F-ED47-BA90-E9858633CD9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1pPr>
            <a:lvl2pPr marL="742950" indent="-285750" defTabSz="966788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2pPr>
            <a:lvl3pPr marL="1143000" indent="-228600" defTabSz="966788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3pPr>
            <a:lvl4pPr marL="1600200" indent="-228600" defTabSz="966788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4pPr>
            <a:lvl5pPr marL="2057400" indent="-228600" defTabSz="966788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5pPr>
            <a:lvl6pPr marL="2514600" indent="-228600" defTabSz="966788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6pPr>
            <a:lvl7pPr marL="2971800" indent="-228600" defTabSz="966788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7pPr>
            <a:lvl8pPr marL="3429000" indent="-228600" defTabSz="966788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8pPr>
            <a:lvl9pPr marL="3886200" indent="-228600" defTabSz="966788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00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107524" name="Date Placeholder 4">
            <a:extLst>
              <a:ext uri="{FF2B5EF4-FFF2-40B4-BE49-F238E27FC236}">
                <a16:creationId xmlns:a16="http://schemas.microsoft.com/office/drawing/2014/main" id="{3A74D587-D3C1-634E-BD32-D6597ED3678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1pPr>
            <a:lvl2pPr marL="742950" indent="-285750" defTabSz="966788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2pPr>
            <a:lvl3pPr marL="1143000" indent="-228600" defTabSz="966788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3pPr>
            <a:lvl4pPr marL="1600200" indent="-228600" defTabSz="966788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4pPr>
            <a:lvl5pPr marL="2057400" indent="-228600" defTabSz="966788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5pPr>
            <a:lvl6pPr marL="2514600" indent="-228600" defTabSz="966788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6pPr>
            <a:lvl7pPr marL="2971800" indent="-228600" defTabSz="966788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7pPr>
            <a:lvl8pPr marL="3429000" indent="-228600" defTabSz="966788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8pPr>
            <a:lvl9pPr marL="3886200" indent="-228600" defTabSz="966788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40446D2-088E-7244-B8B4-A228DE14DEF5}" type="datetime3">
              <a:rPr lang="en-US" altLang="en-US" sz="13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13 February 2020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07525" name="Footer Placeholder 5">
            <a:extLst>
              <a:ext uri="{FF2B5EF4-FFF2-40B4-BE49-F238E27FC236}">
                <a16:creationId xmlns:a16="http://schemas.microsoft.com/office/drawing/2014/main" id="{51584384-5DE6-1D4B-8C61-B0A42B57249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1pPr>
            <a:lvl2pPr marL="742950" indent="-285750" defTabSz="966788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2pPr>
            <a:lvl3pPr marL="1143000" indent="-228600" defTabSz="966788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3pPr>
            <a:lvl4pPr marL="1600200" indent="-228600" defTabSz="966788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4pPr>
            <a:lvl5pPr marL="2057400" indent="-228600" defTabSz="966788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5pPr>
            <a:lvl6pPr marL="2514600" indent="-228600" defTabSz="966788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6pPr>
            <a:lvl7pPr marL="2971800" indent="-228600" defTabSz="966788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7pPr>
            <a:lvl8pPr marL="3429000" indent="-228600" defTabSz="966788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8pPr>
            <a:lvl9pPr marL="3886200" indent="-228600" defTabSz="966788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00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107526" name="Slide Number Placeholder 6">
            <a:extLst>
              <a:ext uri="{FF2B5EF4-FFF2-40B4-BE49-F238E27FC236}">
                <a16:creationId xmlns:a16="http://schemas.microsoft.com/office/drawing/2014/main" id="{15329172-ABD0-9542-8BB2-8080271D1C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1pPr>
            <a:lvl2pPr marL="742950" indent="-285750" defTabSz="966788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2pPr>
            <a:lvl3pPr marL="1143000" indent="-228600" defTabSz="966788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3pPr>
            <a:lvl4pPr marL="1600200" indent="-228600" defTabSz="966788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4pPr>
            <a:lvl5pPr marL="2057400" indent="-228600" defTabSz="966788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5pPr>
            <a:lvl6pPr marL="2514600" indent="-228600" defTabSz="966788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6pPr>
            <a:lvl7pPr marL="2971800" indent="-228600" defTabSz="966788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7pPr>
            <a:lvl8pPr marL="3429000" indent="-228600" defTabSz="966788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8pPr>
            <a:lvl9pPr marL="3886200" indent="-228600" defTabSz="966788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14C7392-7B57-3B41-AD61-5C70442E73DC}" type="slidenum">
              <a:rPr lang="en-US" altLang="en-US" sz="130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34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27524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69" name="Slide Image Placeholder 1">
            <a:extLst>
              <a:ext uri="{FF2B5EF4-FFF2-40B4-BE49-F238E27FC236}">
                <a16:creationId xmlns:a16="http://schemas.microsoft.com/office/drawing/2014/main" id="{450DDAE2-64C9-6C40-83D6-0BF6B9E8DF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109570" name="Notes Placeholder 2">
            <a:extLst>
              <a:ext uri="{FF2B5EF4-FFF2-40B4-BE49-F238E27FC236}">
                <a16:creationId xmlns:a16="http://schemas.microsoft.com/office/drawing/2014/main" id="{DB9E25AE-A7C0-574E-AFA4-A15ECDC8D2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/>
              <a:t>Please refer to the detailed slides on cache coherence and thread-safety in Chapter 4.</a:t>
            </a:r>
          </a:p>
          <a:p>
            <a:endParaRPr lang="en-US" altLang="en-US"/>
          </a:p>
        </p:txBody>
      </p:sp>
      <p:sp>
        <p:nvSpPr>
          <p:cNvPr id="109571" name="Header Placeholder 3">
            <a:extLst>
              <a:ext uri="{FF2B5EF4-FFF2-40B4-BE49-F238E27FC236}">
                <a16:creationId xmlns:a16="http://schemas.microsoft.com/office/drawing/2014/main" id="{3D524345-EAA0-B94E-B3A7-991E4E99C1B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1pPr>
            <a:lvl2pPr marL="742950" indent="-285750" defTabSz="966788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2pPr>
            <a:lvl3pPr marL="1143000" indent="-228600" defTabSz="966788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3pPr>
            <a:lvl4pPr marL="1600200" indent="-228600" defTabSz="966788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4pPr>
            <a:lvl5pPr marL="2057400" indent="-228600" defTabSz="966788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5pPr>
            <a:lvl6pPr marL="2514600" indent="-228600" defTabSz="966788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6pPr>
            <a:lvl7pPr marL="2971800" indent="-228600" defTabSz="966788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7pPr>
            <a:lvl8pPr marL="3429000" indent="-228600" defTabSz="966788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8pPr>
            <a:lvl9pPr marL="3886200" indent="-228600" defTabSz="966788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00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109572" name="Date Placeholder 4">
            <a:extLst>
              <a:ext uri="{FF2B5EF4-FFF2-40B4-BE49-F238E27FC236}">
                <a16:creationId xmlns:a16="http://schemas.microsoft.com/office/drawing/2014/main" id="{FA4A3193-835F-0844-B0A6-9D72B59FB5E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1pPr>
            <a:lvl2pPr marL="742950" indent="-285750" defTabSz="966788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2pPr>
            <a:lvl3pPr marL="1143000" indent="-228600" defTabSz="966788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3pPr>
            <a:lvl4pPr marL="1600200" indent="-228600" defTabSz="966788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4pPr>
            <a:lvl5pPr marL="2057400" indent="-228600" defTabSz="966788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5pPr>
            <a:lvl6pPr marL="2514600" indent="-228600" defTabSz="966788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6pPr>
            <a:lvl7pPr marL="2971800" indent="-228600" defTabSz="966788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7pPr>
            <a:lvl8pPr marL="3429000" indent="-228600" defTabSz="966788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8pPr>
            <a:lvl9pPr marL="3886200" indent="-228600" defTabSz="966788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1B57DF2-5697-D843-922E-1DA292E4DBAF}" type="datetime3">
              <a:rPr lang="en-US" altLang="en-US" sz="13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13 February 2020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09573" name="Footer Placeholder 5">
            <a:extLst>
              <a:ext uri="{FF2B5EF4-FFF2-40B4-BE49-F238E27FC236}">
                <a16:creationId xmlns:a16="http://schemas.microsoft.com/office/drawing/2014/main" id="{775D6B31-865A-E948-A8E2-DA1D602DA9E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1pPr>
            <a:lvl2pPr marL="742950" indent="-285750" defTabSz="966788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2pPr>
            <a:lvl3pPr marL="1143000" indent="-228600" defTabSz="966788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3pPr>
            <a:lvl4pPr marL="1600200" indent="-228600" defTabSz="966788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4pPr>
            <a:lvl5pPr marL="2057400" indent="-228600" defTabSz="966788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5pPr>
            <a:lvl6pPr marL="2514600" indent="-228600" defTabSz="966788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6pPr>
            <a:lvl7pPr marL="2971800" indent="-228600" defTabSz="966788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7pPr>
            <a:lvl8pPr marL="3429000" indent="-228600" defTabSz="966788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8pPr>
            <a:lvl9pPr marL="3886200" indent="-228600" defTabSz="966788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00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109574" name="Slide Number Placeholder 6">
            <a:extLst>
              <a:ext uri="{FF2B5EF4-FFF2-40B4-BE49-F238E27FC236}">
                <a16:creationId xmlns:a16="http://schemas.microsoft.com/office/drawing/2014/main" id="{4CF9A245-FCC7-FA40-B500-57BF2A1E37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1pPr>
            <a:lvl2pPr marL="742950" indent="-285750" defTabSz="966788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2pPr>
            <a:lvl3pPr marL="1143000" indent="-228600" defTabSz="966788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3pPr>
            <a:lvl4pPr marL="1600200" indent="-228600" defTabSz="966788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4pPr>
            <a:lvl5pPr marL="2057400" indent="-228600" defTabSz="966788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5pPr>
            <a:lvl6pPr marL="2514600" indent="-228600" defTabSz="966788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6pPr>
            <a:lvl7pPr marL="2971800" indent="-228600" defTabSz="966788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7pPr>
            <a:lvl8pPr marL="3429000" indent="-228600" defTabSz="966788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8pPr>
            <a:lvl9pPr marL="3886200" indent="-228600" defTabSz="966788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B4EFD47-5B84-A74E-8435-E24DBE9C33B2}" type="slidenum">
              <a:rPr lang="en-US" altLang="en-US" sz="130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35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38300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Slide Image Placeholder 1">
            <a:extLst>
              <a:ext uri="{FF2B5EF4-FFF2-40B4-BE49-F238E27FC236}">
                <a16:creationId xmlns:a16="http://schemas.microsoft.com/office/drawing/2014/main" id="{D604AA80-C216-0144-9942-1FA017797D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111618" name="Notes Placeholder 2">
            <a:extLst>
              <a:ext uri="{FF2B5EF4-FFF2-40B4-BE49-F238E27FC236}">
                <a16:creationId xmlns:a16="http://schemas.microsoft.com/office/drawing/2014/main" id="{169A0F0F-5560-164F-B3A0-7C7B592D9D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/>
              <a:t>Please refer to the detailed slides on cache coherence and thread-safety in Chapter 4.</a:t>
            </a:r>
          </a:p>
          <a:p>
            <a:endParaRPr lang="en-US" altLang="en-US"/>
          </a:p>
        </p:txBody>
      </p:sp>
      <p:sp>
        <p:nvSpPr>
          <p:cNvPr id="111619" name="Header Placeholder 3">
            <a:extLst>
              <a:ext uri="{FF2B5EF4-FFF2-40B4-BE49-F238E27FC236}">
                <a16:creationId xmlns:a16="http://schemas.microsoft.com/office/drawing/2014/main" id="{A9E4B077-5422-0F4A-BDF4-6F6D36982B8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1pPr>
            <a:lvl2pPr marL="742950" indent="-285750" defTabSz="966788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2pPr>
            <a:lvl3pPr marL="1143000" indent="-228600" defTabSz="966788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3pPr>
            <a:lvl4pPr marL="1600200" indent="-228600" defTabSz="966788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4pPr>
            <a:lvl5pPr marL="2057400" indent="-228600" defTabSz="966788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5pPr>
            <a:lvl6pPr marL="2514600" indent="-228600" defTabSz="966788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6pPr>
            <a:lvl7pPr marL="2971800" indent="-228600" defTabSz="966788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7pPr>
            <a:lvl8pPr marL="3429000" indent="-228600" defTabSz="966788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8pPr>
            <a:lvl9pPr marL="3886200" indent="-228600" defTabSz="966788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00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111620" name="Date Placeholder 4">
            <a:extLst>
              <a:ext uri="{FF2B5EF4-FFF2-40B4-BE49-F238E27FC236}">
                <a16:creationId xmlns:a16="http://schemas.microsoft.com/office/drawing/2014/main" id="{A3C71047-87D0-E449-9206-618D3DD444F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1pPr>
            <a:lvl2pPr marL="742950" indent="-285750" defTabSz="966788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2pPr>
            <a:lvl3pPr marL="1143000" indent="-228600" defTabSz="966788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3pPr>
            <a:lvl4pPr marL="1600200" indent="-228600" defTabSz="966788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4pPr>
            <a:lvl5pPr marL="2057400" indent="-228600" defTabSz="966788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5pPr>
            <a:lvl6pPr marL="2514600" indent="-228600" defTabSz="966788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6pPr>
            <a:lvl7pPr marL="2971800" indent="-228600" defTabSz="966788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7pPr>
            <a:lvl8pPr marL="3429000" indent="-228600" defTabSz="966788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8pPr>
            <a:lvl9pPr marL="3886200" indent="-228600" defTabSz="966788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D947673-0311-EE4D-9455-8055441B112F}" type="datetime3">
              <a:rPr lang="en-US" altLang="en-US" sz="13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13 February 2020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11621" name="Footer Placeholder 5">
            <a:extLst>
              <a:ext uri="{FF2B5EF4-FFF2-40B4-BE49-F238E27FC236}">
                <a16:creationId xmlns:a16="http://schemas.microsoft.com/office/drawing/2014/main" id="{87463BB5-50A0-4544-AA12-5E9FABB4E3B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1pPr>
            <a:lvl2pPr marL="742950" indent="-285750" defTabSz="966788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2pPr>
            <a:lvl3pPr marL="1143000" indent="-228600" defTabSz="966788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3pPr>
            <a:lvl4pPr marL="1600200" indent="-228600" defTabSz="966788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4pPr>
            <a:lvl5pPr marL="2057400" indent="-228600" defTabSz="966788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5pPr>
            <a:lvl6pPr marL="2514600" indent="-228600" defTabSz="966788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6pPr>
            <a:lvl7pPr marL="2971800" indent="-228600" defTabSz="966788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7pPr>
            <a:lvl8pPr marL="3429000" indent="-228600" defTabSz="966788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8pPr>
            <a:lvl9pPr marL="3886200" indent="-228600" defTabSz="966788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00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111622" name="Slide Number Placeholder 6">
            <a:extLst>
              <a:ext uri="{FF2B5EF4-FFF2-40B4-BE49-F238E27FC236}">
                <a16:creationId xmlns:a16="http://schemas.microsoft.com/office/drawing/2014/main" id="{268B680F-1729-5C43-AD5A-CB26802E46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1pPr>
            <a:lvl2pPr marL="742950" indent="-285750" defTabSz="966788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2pPr>
            <a:lvl3pPr marL="1143000" indent="-228600" defTabSz="966788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3pPr>
            <a:lvl4pPr marL="1600200" indent="-228600" defTabSz="966788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4pPr>
            <a:lvl5pPr marL="2057400" indent="-228600" defTabSz="966788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5pPr>
            <a:lvl6pPr marL="2514600" indent="-228600" defTabSz="966788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6pPr>
            <a:lvl7pPr marL="2971800" indent="-228600" defTabSz="966788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7pPr>
            <a:lvl8pPr marL="3429000" indent="-228600" defTabSz="966788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8pPr>
            <a:lvl9pPr marL="3886200" indent="-228600" defTabSz="966788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A529A5E-AD15-9442-81C0-B45A0DFF5D22}" type="slidenum">
              <a:rPr lang="en-US" altLang="en-US" sz="130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36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66885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accent3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11C771D4-2B72-9C42-95AD-169C75A7D5A0}" type="datetimeFigureOut">
              <a:rPr lang="en-US" smtClean="0"/>
              <a:t>2/13/20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B37EA82F-E0C1-054A-B8D0-A4D848402C6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  <a:solidFill>
            <a:schemeClr val="accent3">
              <a:lumMod val="75000"/>
            </a:schemeClr>
          </a:solidFill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4774639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accent3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771D4-2B72-9C42-95AD-169C75A7D5A0}" type="datetimeFigureOut">
              <a:rPr lang="en-US" smtClean="0"/>
              <a:t>2/13/20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EA82F-E0C1-054A-B8D0-A4D848402C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39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1C771D4-2B72-9C42-95AD-169C75A7D5A0}" type="datetimeFigureOut">
              <a:rPr lang="en-US" smtClean="0"/>
              <a:t>2/13/20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37EA82F-E0C1-054A-B8D0-A4D848402C6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42758808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771D4-2B72-9C42-95AD-169C75A7D5A0}" type="datetimeFigureOut">
              <a:rPr lang="en-US" smtClean="0"/>
              <a:t>2/13/20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EA82F-E0C1-054A-B8D0-A4D848402C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371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771D4-2B72-9C42-95AD-169C75A7D5A0}" type="datetimeFigureOut">
              <a:rPr lang="en-US" smtClean="0"/>
              <a:t>2/13/20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EA82F-E0C1-054A-B8D0-A4D848402C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374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771D4-2B72-9C42-95AD-169C75A7D5A0}" type="datetimeFigureOut">
              <a:rPr lang="en-US" smtClean="0"/>
              <a:t>2/13/20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EA82F-E0C1-054A-B8D0-A4D848402C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558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771D4-2B72-9C42-95AD-169C75A7D5A0}" type="datetimeFigureOut">
              <a:rPr lang="en-US" smtClean="0"/>
              <a:t>2/13/20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EA82F-E0C1-054A-B8D0-A4D848402C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429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1C771D4-2B72-9C42-95AD-169C75A7D5A0}" type="datetimeFigureOut">
              <a:rPr lang="en-US" smtClean="0"/>
              <a:t>2/13/20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37EA82F-E0C1-054A-B8D0-A4D848402C6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37353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1C771D4-2B72-9C42-95AD-169C75A7D5A0}" type="datetimeFigureOut">
              <a:rPr lang="en-US" smtClean="0"/>
              <a:t>2/13/20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37EA82F-E0C1-054A-B8D0-A4D848402C6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381135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771D4-2B72-9C42-95AD-169C75A7D5A0}" type="datetimeFigureOut">
              <a:rPr lang="en-US" smtClean="0"/>
              <a:t>2/13/20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EA82F-E0C1-054A-B8D0-A4D848402C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735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771D4-2B72-9C42-95AD-169C75A7D5A0}" type="datetimeFigureOut">
              <a:rPr lang="en-US" smtClean="0"/>
              <a:t>2/13/20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EA82F-E0C1-054A-B8D0-A4D848402C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12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3379" y="117909"/>
            <a:ext cx="9601200" cy="90236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3379" y="1179094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11C771D4-2B72-9C42-95AD-169C75A7D5A0}" type="datetimeFigureOut">
              <a:rPr lang="en-US" smtClean="0"/>
              <a:t>2/13/20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B37EA82F-E0C1-054A-B8D0-A4D848402C6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247096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accent3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2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F40E2-4BF0-3A4E-9428-1926050A96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7268" y="1278005"/>
            <a:ext cx="9144000" cy="2387600"/>
          </a:xfrm>
        </p:spPr>
        <p:txBody>
          <a:bodyPr/>
          <a:lstStyle/>
          <a:p>
            <a:r>
              <a:rPr lang="en-US" sz="6000" dirty="0"/>
              <a:t>Shared Queues and Message Passing in OpenMP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82965F-5A03-0F47-A352-DE9BDAF51B5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Slides originally by Peter Pacheco</a:t>
            </a:r>
          </a:p>
          <a:p>
            <a:r>
              <a:rPr lang="en-US" dirty="0"/>
              <a:t>Edited substantially by Libby Shoop</a:t>
            </a:r>
          </a:p>
          <a:p>
            <a:r>
              <a:rPr lang="en-US" dirty="0"/>
              <a:t>for COMP 445, Macalester College</a:t>
            </a:r>
          </a:p>
        </p:txBody>
      </p:sp>
    </p:spTree>
    <p:extLst>
      <p:ext uri="{BB962C8B-B14F-4D97-AF65-F5344CB8AC3E}">
        <p14:creationId xmlns:p14="http://schemas.microsoft.com/office/powerpoint/2010/main" val="2317783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Title 1">
            <a:extLst>
              <a:ext uri="{FF2B5EF4-FFF2-40B4-BE49-F238E27FC236}">
                <a16:creationId xmlns:a16="http://schemas.microsoft.com/office/drawing/2014/main" id="{CB5DE5A5-8A18-7747-851C-7F153811F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5189" y="109539"/>
            <a:ext cx="8281987" cy="708025"/>
          </a:xfrm>
        </p:spPr>
        <p:txBody>
          <a:bodyPr/>
          <a:lstStyle/>
          <a:p>
            <a:r>
              <a:rPr lang="en-US" altLang="en-US"/>
              <a:t>Queues</a:t>
            </a:r>
          </a:p>
        </p:txBody>
      </p:sp>
      <p:sp>
        <p:nvSpPr>
          <p:cNvPr id="90114" name="Content Placeholder 2">
            <a:extLst>
              <a:ext uri="{FF2B5EF4-FFF2-40B4-BE49-F238E27FC236}">
                <a16:creationId xmlns:a16="http://schemas.microsoft.com/office/drawing/2014/main" id="{B585E405-5D8E-004C-B195-A207FF0C8E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3379" y="1179093"/>
            <a:ext cx="6529293" cy="4346218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sz="2400" dirty="0"/>
              <a:t>Can be viewed as an abstraction of a line of customers waiting to pay for their groceries in a supermarket.</a:t>
            </a:r>
          </a:p>
          <a:p>
            <a:r>
              <a:rPr lang="en-US" altLang="en-US" sz="2400" dirty="0"/>
              <a:t>A natural data structure to use in many multithreaded applications. </a:t>
            </a:r>
          </a:p>
          <a:p>
            <a:r>
              <a:rPr lang="en-US" altLang="en-US" sz="2400" dirty="0"/>
              <a:t>For example, suppose we have several “producer” threads and several “consumer” threads.</a:t>
            </a:r>
          </a:p>
          <a:p>
            <a:pPr lvl="1"/>
            <a:r>
              <a:rPr lang="en-US" altLang="en-US" sz="2400" dirty="0"/>
              <a:t>Producer threads might “produce” requests for data.</a:t>
            </a:r>
          </a:p>
          <a:p>
            <a:pPr lvl="1"/>
            <a:r>
              <a:rPr lang="en-US" altLang="en-US" sz="2400" dirty="0"/>
              <a:t>Consumer threads might “consume” the request by finding or generating the requested data.</a:t>
            </a:r>
          </a:p>
          <a:p>
            <a:pPr lvl="1"/>
            <a:endParaRPr lang="en-US" altLang="en-US" sz="2400" dirty="0"/>
          </a:p>
          <a:p>
            <a:endParaRPr lang="en-US" altLang="en-US" sz="2400" dirty="0"/>
          </a:p>
          <a:p>
            <a:endParaRPr lang="en-US" altLang="en-US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2940F2-A26F-1242-8159-C1618B585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 dirty="0"/>
              <a:t>Copyright © 2010, Elsevier Inc. All rights Reserved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699F0FA-8C11-B944-A6B6-14C8EAF8D9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4571159"/>
              </p:ext>
            </p:extLst>
          </p:nvPr>
        </p:nvGraphicFramePr>
        <p:xfrm>
          <a:off x="9742219" y="1661777"/>
          <a:ext cx="399915" cy="2811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9915">
                  <a:extLst>
                    <a:ext uri="{9D8B030D-6E8A-4147-A177-3AD203B41FA5}">
                      <a16:colId xmlns:a16="http://schemas.microsoft.com/office/drawing/2014/main" val="559118870"/>
                    </a:ext>
                  </a:extLst>
                </a:gridCol>
              </a:tblGrid>
              <a:tr h="281148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1459365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9366405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442355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0034821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60766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6631329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6626852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3123904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8851857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5780955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C1A8C1C5-6588-8948-887D-6CD65AE827F4}"/>
              </a:ext>
            </a:extLst>
          </p:cNvPr>
          <p:cNvSpPr/>
          <p:nvPr/>
        </p:nvSpPr>
        <p:spPr>
          <a:xfrm>
            <a:off x="9806459" y="1661777"/>
            <a:ext cx="285098" cy="2545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109112-17FC-F64E-8A74-19638C75E254}"/>
              </a:ext>
            </a:extLst>
          </p:cNvPr>
          <p:cNvSpPr/>
          <p:nvPr/>
        </p:nvSpPr>
        <p:spPr>
          <a:xfrm>
            <a:off x="9785238" y="1972085"/>
            <a:ext cx="285098" cy="2545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ent Arrow 1">
            <a:extLst>
              <a:ext uri="{FF2B5EF4-FFF2-40B4-BE49-F238E27FC236}">
                <a16:creationId xmlns:a16="http://schemas.microsoft.com/office/drawing/2014/main" id="{4DB519B8-523C-3445-B0AF-B90B09B48351}"/>
              </a:ext>
            </a:extLst>
          </p:cNvPr>
          <p:cNvSpPr/>
          <p:nvPr/>
        </p:nvSpPr>
        <p:spPr>
          <a:xfrm>
            <a:off x="9941668" y="972766"/>
            <a:ext cx="475508" cy="689011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E3A6BD-B5EE-FF49-95F1-046152621F78}"/>
              </a:ext>
            </a:extLst>
          </p:cNvPr>
          <p:cNvSpPr txBox="1"/>
          <p:nvPr/>
        </p:nvSpPr>
        <p:spPr>
          <a:xfrm>
            <a:off x="10552385" y="928484"/>
            <a:ext cx="10416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dequeue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A72BF6A-09D3-9F42-A46A-1D694B22DE5B}"/>
              </a:ext>
            </a:extLst>
          </p:cNvPr>
          <p:cNvSpPr/>
          <p:nvPr/>
        </p:nvSpPr>
        <p:spPr>
          <a:xfrm>
            <a:off x="11073201" y="2226657"/>
            <a:ext cx="285098" cy="2545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Left Arrow 8">
            <a:extLst>
              <a:ext uri="{FF2B5EF4-FFF2-40B4-BE49-F238E27FC236}">
                <a16:creationId xmlns:a16="http://schemas.microsoft.com/office/drawing/2014/main" id="{56A01345-7A93-8944-8E75-6EDCD28073B0}"/>
              </a:ext>
            </a:extLst>
          </p:cNvPr>
          <p:cNvSpPr/>
          <p:nvPr/>
        </p:nvSpPr>
        <p:spPr>
          <a:xfrm>
            <a:off x="10070336" y="2309972"/>
            <a:ext cx="1002865" cy="171257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F7F2C3-FC43-3E4C-92C8-9F7BBE2A8C53}"/>
              </a:ext>
            </a:extLst>
          </p:cNvPr>
          <p:cNvSpPr txBox="1"/>
          <p:nvPr/>
        </p:nvSpPr>
        <p:spPr>
          <a:xfrm>
            <a:off x="10680970" y="2690186"/>
            <a:ext cx="10416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enqueue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383AB4-9DC6-7740-9F8D-D4A70C76FA39}"/>
              </a:ext>
            </a:extLst>
          </p:cNvPr>
          <p:cNvSpPr txBox="1"/>
          <p:nvPr/>
        </p:nvSpPr>
        <p:spPr>
          <a:xfrm>
            <a:off x="7707390" y="3608962"/>
            <a:ext cx="10416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enqueue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5F0EEF-93F8-254C-A1E2-2C01D50BCBE0}"/>
              </a:ext>
            </a:extLst>
          </p:cNvPr>
          <p:cNvSpPr txBox="1"/>
          <p:nvPr/>
        </p:nvSpPr>
        <p:spPr>
          <a:xfrm>
            <a:off x="7644674" y="4288591"/>
            <a:ext cx="10416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dequeue</a:t>
            </a:r>
          </a:p>
        </p:txBody>
      </p:sp>
    </p:spTree>
    <p:extLst>
      <p:ext uri="{BB962C8B-B14F-4D97-AF65-F5344CB8AC3E}">
        <p14:creationId xmlns:p14="http://schemas.microsoft.com/office/powerpoint/2010/main" val="3691804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 animBg="1"/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26034-C11B-D346-A81A-C800CD91C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Message Passing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EA235-30E9-7D42-ABED-B77EAFAB82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Messages</a:t>
            </a:r>
            <a:r>
              <a:rPr lang="en-US" dirty="0"/>
              <a:t> are a general term for data objects of some type that one thread would like another thread to work on. </a:t>
            </a:r>
          </a:p>
          <a:p>
            <a:r>
              <a:rPr lang="en-US" b="1" dirty="0"/>
              <a:t>Passing</a:t>
            </a:r>
            <a:r>
              <a:rPr lang="en-US" dirty="0"/>
              <a:t> is the act of ‘sending’ that data object</a:t>
            </a:r>
          </a:p>
          <a:p>
            <a:pPr lvl="1"/>
            <a:r>
              <a:rPr lang="en-US" b="1" dirty="0"/>
              <a:t>implementation </a:t>
            </a:r>
            <a:r>
              <a:rPr lang="en-US" i="0" dirty="0"/>
              <a:t>of this can have many forms</a:t>
            </a:r>
          </a:p>
          <a:p>
            <a:pPr lvl="1"/>
            <a:r>
              <a:rPr lang="en-US" b="1" dirty="0"/>
              <a:t>we’ll examine in parallel shared memory with OpenMP</a:t>
            </a:r>
          </a:p>
          <a:p>
            <a:endParaRPr lang="en-US" dirty="0"/>
          </a:p>
          <a:p>
            <a:r>
              <a:rPr lang="en-US" dirty="0"/>
              <a:t>The pattern of message passing can be used as a way to implement various applications</a:t>
            </a:r>
          </a:p>
          <a:p>
            <a:pPr lvl="1"/>
            <a:r>
              <a:rPr lang="en-US" dirty="0"/>
              <a:t>including producer-consumer</a:t>
            </a:r>
          </a:p>
          <a:p>
            <a:pPr lvl="1"/>
            <a:r>
              <a:rPr lang="en-US" dirty="0"/>
              <a:t>or the pipeline strategy as a special case of that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7086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/>
              <a:t>Algorithmic Strategy: Pipeline</a:t>
            </a:r>
          </a:p>
        </p:txBody>
      </p:sp>
      <p:sp>
        <p:nvSpPr>
          <p:cNvPr id="28" name="Content Placeholder 2"/>
          <p:cNvSpPr txBox="1">
            <a:spLocks/>
          </p:cNvSpPr>
          <p:nvPr/>
        </p:nvSpPr>
        <p:spPr>
          <a:xfrm>
            <a:off x="2181675" y="1695065"/>
            <a:ext cx="3918802" cy="328636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urier"/>
                <a:cs typeface="Courier"/>
              </a:rPr>
              <a:t>	</a:t>
            </a:r>
            <a:r>
              <a:rPr lang="en-US" sz="2400" b="1" dirty="0" err="1">
                <a:latin typeface="Courier"/>
                <a:cs typeface="Courier"/>
              </a:rPr>
              <a:t>int</a:t>
            </a:r>
            <a:r>
              <a:rPr lang="en-US" sz="2400" b="1" dirty="0">
                <a:latin typeface="Courier"/>
                <a:cs typeface="Courier"/>
              </a:rPr>
              <a:t> main() {</a:t>
            </a:r>
          </a:p>
          <a:p>
            <a:pPr marL="0" indent="0">
              <a:buNone/>
            </a:pPr>
            <a:r>
              <a:rPr lang="en-US" sz="2400" b="1" dirty="0">
                <a:latin typeface="Courier"/>
                <a:cs typeface="Courier"/>
              </a:rPr>
              <a:t>		...</a:t>
            </a:r>
          </a:p>
          <a:p>
            <a:pPr marL="0" indent="0">
              <a:buNone/>
            </a:pPr>
            <a:r>
              <a:rPr lang="en-US" sz="2400" b="1" dirty="0">
                <a:latin typeface="Courier"/>
                <a:cs typeface="Courier"/>
              </a:rPr>
              <a:t>		while (fin) {</a:t>
            </a:r>
          </a:p>
          <a:p>
            <a:pPr marL="0" indent="0">
              <a:buNone/>
            </a:pPr>
            <a:r>
              <a:rPr lang="en-US" sz="2400" b="1" dirty="0">
                <a:latin typeface="Courier"/>
                <a:cs typeface="Courier"/>
              </a:rPr>
              <a:t>			fin &gt;&gt; </a:t>
            </a:r>
            <a:r>
              <a:rPr lang="en-US" sz="2400" b="1" dirty="0">
                <a:solidFill>
                  <a:srgbClr val="FF0000"/>
                </a:solidFill>
                <a:latin typeface="Courier"/>
                <a:cs typeface="Courier"/>
              </a:rPr>
              <a:t>a</a:t>
            </a:r>
            <a:r>
              <a:rPr lang="en-US" sz="2400" b="1" dirty="0">
                <a:latin typeface="Courier"/>
                <a:cs typeface="Courier"/>
              </a:rPr>
              <a:t>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400" b="1" dirty="0">
                <a:latin typeface="Courier"/>
                <a:cs typeface="Courier"/>
              </a:rPr>
              <a:t>			</a:t>
            </a:r>
            <a:r>
              <a:rPr lang="en-US" sz="2400" b="1" dirty="0">
                <a:solidFill>
                  <a:srgbClr val="FF0000"/>
                </a:solidFill>
                <a:latin typeface="Courier"/>
                <a:cs typeface="Courier"/>
              </a:rPr>
              <a:t>b</a:t>
            </a:r>
            <a:r>
              <a:rPr lang="en-US" sz="2400" b="1" dirty="0">
                <a:latin typeface="Courier"/>
                <a:cs typeface="Courier"/>
              </a:rPr>
              <a:t> = f(</a:t>
            </a:r>
            <a:r>
              <a:rPr lang="en-US" sz="2400" b="1" dirty="0">
                <a:solidFill>
                  <a:srgbClr val="FF0000"/>
                </a:solidFill>
                <a:latin typeface="Courier"/>
                <a:cs typeface="Courier"/>
              </a:rPr>
              <a:t>a</a:t>
            </a:r>
            <a:r>
              <a:rPr lang="en-US" sz="2400" b="1" dirty="0">
                <a:latin typeface="Courier"/>
                <a:cs typeface="Courier"/>
              </a:rPr>
              <a:t>);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400" b="1" dirty="0">
                <a:latin typeface="Courier"/>
                <a:cs typeface="Courier"/>
              </a:rPr>
              <a:t>			</a:t>
            </a:r>
            <a:r>
              <a:rPr lang="en-US" sz="2400" b="1" dirty="0">
                <a:solidFill>
                  <a:srgbClr val="FF0000"/>
                </a:solidFill>
                <a:latin typeface="Courier"/>
                <a:cs typeface="Courier"/>
              </a:rPr>
              <a:t>c</a:t>
            </a:r>
            <a:r>
              <a:rPr lang="en-US" sz="2400" b="1" dirty="0">
                <a:latin typeface="Courier"/>
                <a:cs typeface="Courier"/>
              </a:rPr>
              <a:t> = g(</a:t>
            </a:r>
            <a:r>
              <a:rPr lang="en-US" sz="2400" b="1" dirty="0">
                <a:solidFill>
                  <a:srgbClr val="FF0000"/>
                </a:solidFill>
                <a:latin typeface="Courier"/>
                <a:cs typeface="Courier"/>
              </a:rPr>
              <a:t>b</a:t>
            </a:r>
            <a:r>
              <a:rPr lang="en-US" sz="2400" b="1" dirty="0">
                <a:latin typeface="Courier"/>
                <a:cs typeface="Courier"/>
              </a:rPr>
              <a:t>);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400" b="1" dirty="0">
                <a:latin typeface="Courier"/>
                <a:cs typeface="Courier"/>
              </a:rPr>
              <a:t>			</a:t>
            </a:r>
            <a:r>
              <a:rPr lang="en-US" sz="2400" b="1" dirty="0">
                <a:solidFill>
                  <a:srgbClr val="FF0000"/>
                </a:solidFill>
                <a:latin typeface="Courier"/>
                <a:cs typeface="Courier"/>
              </a:rPr>
              <a:t>d</a:t>
            </a:r>
            <a:r>
              <a:rPr lang="en-US" sz="2400" b="1" dirty="0">
                <a:latin typeface="Courier"/>
                <a:cs typeface="Courier"/>
              </a:rPr>
              <a:t> = h(</a:t>
            </a:r>
            <a:r>
              <a:rPr lang="en-US" sz="2400" b="1" dirty="0">
                <a:solidFill>
                  <a:srgbClr val="FF0000"/>
                </a:solidFill>
                <a:latin typeface="Courier"/>
                <a:cs typeface="Courier"/>
              </a:rPr>
              <a:t>c</a:t>
            </a:r>
            <a:r>
              <a:rPr lang="en-US" sz="2400" b="1" dirty="0">
                <a:latin typeface="Courier"/>
                <a:cs typeface="Courier"/>
              </a:rPr>
              <a:t>);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400" b="1" dirty="0">
                <a:latin typeface="Courier"/>
                <a:cs typeface="Courier"/>
              </a:rPr>
              <a:t>			</a:t>
            </a:r>
            <a:r>
              <a:rPr lang="en-US" sz="2400" b="1" dirty="0" err="1">
                <a:latin typeface="Courier"/>
                <a:cs typeface="Courier"/>
              </a:rPr>
              <a:t>fout</a:t>
            </a:r>
            <a:r>
              <a:rPr lang="en-US" sz="2400" b="1" dirty="0">
                <a:latin typeface="Courier"/>
                <a:cs typeface="Courier"/>
              </a:rPr>
              <a:t> &lt;&lt; d;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400" b="1" dirty="0">
                <a:latin typeface="Courier"/>
                <a:cs typeface="Courier"/>
              </a:rPr>
              <a:t>		}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400" b="1" dirty="0">
                <a:latin typeface="Courier"/>
                <a:cs typeface="Courier"/>
              </a:rPr>
              <a:t>		...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400" b="1" dirty="0">
                <a:latin typeface="Courier"/>
                <a:cs typeface="Courier"/>
              </a:rPr>
              <a:t>}</a:t>
            </a:r>
          </a:p>
        </p:txBody>
      </p:sp>
      <p:grpSp>
        <p:nvGrpSpPr>
          <p:cNvPr id="85" name="Group 84"/>
          <p:cNvGrpSpPr/>
          <p:nvPr/>
        </p:nvGrpSpPr>
        <p:grpSpPr>
          <a:xfrm>
            <a:off x="6790322" y="1194489"/>
            <a:ext cx="1550497" cy="1334242"/>
            <a:chOff x="5266322" y="1526434"/>
            <a:chExt cx="1550497" cy="1334242"/>
          </a:xfrm>
        </p:grpSpPr>
        <p:sp>
          <p:nvSpPr>
            <p:cNvPr id="41" name="TextBox 40"/>
            <p:cNvSpPr txBox="1"/>
            <p:nvPr/>
          </p:nvSpPr>
          <p:spPr>
            <a:xfrm>
              <a:off x="6313644" y="2491344"/>
              <a:ext cx="5031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Courier"/>
                  <a:cs typeface="Courier"/>
                </a:rPr>
                <a:t>a</a:t>
              </a:r>
              <a:r>
                <a:rPr lang="en-US" b="1" baseline="-25000" dirty="0">
                  <a:latin typeface="Courier"/>
                  <a:cs typeface="Courier"/>
                </a:rPr>
                <a:t>0</a:t>
              </a:r>
              <a:endParaRPr lang="en-US" baseline="-25000" dirty="0"/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5266322" y="1526434"/>
              <a:ext cx="118605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rgbClr val="FF0000"/>
                  </a:solidFill>
                </a:rPr>
                <a:t>Time Step: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289678" y="1757281"/>
              <a:ext cx="4312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0</a:t>
              </a:r>
            </a:p>
          </p:txBody>
        </p:sp>
      </p:grpSp>
      <p:grpSp>
        <p:nvGrpSpPr>
          <p:cNvPr id="86" name="Group 85"/>
          <p:cNvGrpSpPr/>
          <p:nvPr/>
        </p:nvGrpSpPr>
        <p:grpSpPr>
          <a:xfrm>
            <a:off x="8205684" y="1425335"/>
            <a:ext cx="530490" cy="3911930"/>
            <a:chOff x="6681684" y="1757281"/>
            <a:chExt cx="530490" cy="3911930"/>
          </a:xfrm>
        </p:grpSpPr>
        <p:sp>
          <p:nvSpPr>
            <p:cNvPr id="42" name="TextBox 41"/>
            <p:cNvSpPr txBox="1"/>
            <p:nvPr/>
          </p:nvSpPr>
          <p:spPr>
            <a:xfrm>
              <a:off x="6708999" y="2477077"/>
              <a:ext cx="5031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Courier"/>
                  <a:cs typeface="Courier"/>
                </a:rPr>
                <a:t>a</a:t>
              </a:r>
              <a:r>
                <a:rPr lang="en-US" b="1" baseline="-25000" dirty="0">
                  <a:latin typeface="Courier"/>
                  <a:cs typeface="Courier"/>
                </a:rPr>
                <a:t>1</a:t>
              </a:r>
              <a:endParaRPr lang="en-US" baseline="-25000" dirty="0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6708999" y="3307212"/>
              <a:ext cx="5031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Courier"/>
                  <a:cs typeface="Courier"/>
                </a:rPr>
                <a:t>b</a:t>
              </a:r>
              <a:r>
                <a:rPr lang="en-US" b="1" baseline="-25000" dirty="0">
                  <a:latin typeface="Courier"/>
                  <a:cs typeface="Courier"/>
                </a:rPr>
                <a:t>0</a:t>
              </a:r>
              <a:endParaRPr lang="en-US" baseline="-25000" dirty="0"/>
            </a:p>
          </p:txBody>
        </p:sp>
        <p:cxnSp>
          <p:nvCxnSpPr>
            <p:cNvPr id="76" name="Straight Connector 75"/>
            <p:cNvCxnSpPr/>
            <p:nvPr/>
          </p:nvCxnSpPr>
          <p:spPr>
            <a:xfrm>
              <a:off x="6717629" y="2062727"/>
              <a:ext cx="0" cy="3606484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TextBox 78"/>
            <p:cNvSpPr txBox="1"/>
            <p:nvPr/>
          </p:nvSpPr>
          <p:spPr>
            <a:xfrm>
              <a:off x="6681684" y="1757281"/>
              <a:ext cx="4312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1</a:t>
              </a:r>
            </a:p>
          </p:txBody>
        </p:sp>
      </p:grpSp>
      <p:grpSp>
        <p:nvGrpSpPr>
          <p:cNvPr id="87" name="Group 86"/>
          <p:cNvGrpSpPr/>
          <p:nvPr/>
        </p:nvGrpSpPr>
        <p:grpSpPr>
          <a:xfrm>
            <a:off x="8589048" y="1425335"/>
            <a:ext cx="542466" cy="3911930"/>
            <a:chOff x="7065048" y="1757281"/>
            <a:chExt cx="542466" cy="3911930"/>
          </a:xfrm>
        </p:grpSpPr>
        <p:sp>
          <p:nvSpPr>
            <p:cNvPr id="44" name="TextBox 43"/>
            <p:cNvSpPr txBox="1"/>
            <p:nvPr/>
          </p:nvSpPr>
          <p:spPr>
            <a:xfrm>
              <a:off x="7100999" y="2473711"/>
              <a:ext cx="5031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Courier"/>
                  <a:cs typeface="Courier"/>
                </a:rPr>
                <a:t>a</a:t>
              </a:r>
              <a:r>
                <a:rPr lang="en-US" b="1" baseline="-25000" dirty="0">
                  <a:latin typeface="Courier"/>
                  <a:cs typeface="Courier"/>
                </a:rPr>
                <a:t>2</a:t>
              </a:r>
              <a:endParaRPr lang="en-US" baseline="-25000" dirty="0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7100999" y="3303846"/>
              <a:ext cx="5031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Courier"/>
                  <a:cs typeface="Courier"/>
                </a:rPr>
                <a:t>b</a:t>
              </a:r>
              <a:r>
                <a:rPr lang="en-US" b="1" baseline="-25000" dirty="0">
                  <a:latin typeface="Courier"/>
                  <a:cs typeface="Courier"/>
                </a:rPr>
                <a:t>1</a:t>
              </a:r>
              <a:endParaRPr lang="en-US" baseline="-25000" dirty="0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7104339" y="4101136"/>
              <a:ext cx="5031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Courier"/>
                  <a:cs typeface="Courier"/>
                </a:rPr>
                <a:t>c</a:t>
              </a:r>
              <a:r>
                <a:rPr lang="en-US" b="1" baseline="-25000" dirty="0">
                  <a:latin typeface="Courier"/>
                  <a:cs typeface="Courier"/>
                </a:rPr>
                <a:t>0</a:t>
              </a:r>
              <a:endParaRPr lang="en-US" baseline="-25000" dirty="0"/>
            </a:p>
          </p:txBody>
        </p:sp>
        <p:cxnSp>
          <p:nvCxnSpPr>
            <p:cNvPr id="75" name="Straight Connector 74"/>
            <p:cNvCxnSpPr/>
            <p:nvPr/>
          </p:nvCxnSpPr>
          <p:spPr>
            <a:xfrm>
              <a:off x="7104339" y="2062727"/>
              <a:ext cx="0" cy="3606484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Box 79"/>
            <p:cNvSpPr txBox="1"/>
            <p:nvPr/>
          </p:nvSpPr>
          <p:spPr>
            <a:xfrm>
              <a:off x="7065048" y="1757281"/>
              <a:ext cx="4312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2</a:t>
              </a:r>
            </a:p>
          </p:txBody>
        </p:sp>
      </p:grpSp>
      <p:grpSp>
        <p:nvGrpSpPr>
          <p:cNvPr id="88" name="Group 87"/>
          <p:cNvGrpSpPr/>
          <p:nvPr/>
        </p:nvGrpSpPr>
        <p:grpSpPr>
          <a:xfrm>
            <a:off x="8957094" y="1425335"/>
            <a:ext cx="554446" cy="3911930"/>
            <a:chOff x="7433094" y="1757281"/>
            <a:chExt cx="554446" cy="3911930"/>
          </a:xfrm>
        </p:grpSpPr>
        <p:sp>
          <p:nvSpPr>
            <p:cNvPr id="47" name="TextBox 46"/>
            <p:cNvSpPr txBox="1"/>
            <p:nvPr/>
          </p:nvSpPr>
          <p:spPr>
            <a:xfrm>
              <a:off x="7484365" y="2474844"/>
              <a:ext cx="5031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Courier"/>
                  <a:cs typeface="Courier"/>
                </a:rPr>
                <a:t>a</a:t>
              </a:r>
              <a:r>
                <a:rPr lang="en-US" b="1" baseline="-25000" dirty="0">
                  <a:latin typeface="Courier"/>
                  <a:cs typeface="Courier"/>
                </a:rPr>
                <a:t>3</a:t>
              </a:r>
              <a:endParaRPr lang="en-US" baseline="-25000" dirty="0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7484365" y="3304979"/>
              <a:ext cx="5031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Courier"/>
                  <a:cs typeface="Courier"/>
                </a:rPr>
                <a:t>b</a:t>
              </a:r>
              <a:r>
                <a:rPr lang="en-US" b="1" baseline="-25000" dirty="0">
                  <a:latin typeface="Courier"/>
                  <a:cs typeface="Courier"/>
                </a:rPr>
                <a:t>2</a:t>
              </a:r>
              <a:endParaRPr lang="en-US" baseline="-25000" dirty="0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7484365" y="4102269"/>
              <a:ext cx="5031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Courier"/>
                  <a:cs typeface="Courier"/>
                </a:rPr>
                <a:t>c</a:t>
              </a:r>
              <a:r>
                <a:rPr lang="en-US" b="1" baseline="-25000" dirty="0">
                  <a:latin typeface="Courier"/>
                  <a:cs typeface="Courier"/>
                </a:rPr>
                <a:t>1</a:t>
              </a:r>
              <a:endParaRPr lang="en-US" baseline="-25000" dirty="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7484365" y="4966938"/>
              <a:ext cx="5031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Courier"/>
                  <a:cs typeface="Courier"/>
                </a:rPr>
                <a:t>d</a:t>
              </a:r>
              <a:r>
                <a:rPr lang="en-US" b="1" baseline="-25000" dirty="0">
                  <a:latin typeface="Courier"/>
                  <a:cs typeface="Courier"/>
                </a:rPr>
                <a:t>0</a:t>
              </a:r>
              <a:endParaRPr lang="en-US" baseline="-25000" dirty="0"/>
            </a:p>
          </p:txBody>
        </p:sp>
        <p:cxnSp>
          <p:nvCxnSpPr>
            <p:cNvPr id="74" name="Straight Connector 73"/>
            <p:cNvCxnSpPr/>
            <p:nvPr/>
          </p:nvCxnSpPr>
          <p:spPr>
            <a:xfrm>
              <a:off x="7489665" y="2062727"/>
              <a:ext cx="0" cy="3606484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TextBox 80"/>
            <p:cNvSpPr txBox="1"/>
            <p:nvPr/>
          </p:nvSpPr>
          <p:spPr>
            <a:xfrm>
              <a:off x="7433094" y="1757281"/>
              <a:ext cx="4312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3</a:t>
              </a:r>
            </a:p>
          </p:txBody>
        </p:sp>
      </p:grpSp>
      <p:grpSp>
        <p:nvGrpSpPr>
          <p:cNvPr id="89" name="Group 88"/>
          <p:cNvGrpSpPr/>
          <p:nvPr/>
        </p:nvGrpSpPr>
        <p:grpSpPr>
          <a:xfrm>
            <a:off x="9354380" y="1425335"/>
            <a:ext cx="537181" cy="3903314"/>
            <a:chOff x="7830379" y="1757281"/>
            <a:chExt cx="537181" cy="3903314"/>
          </a:xfrm>
        </p:grpSpPr>
        <p:sp>
          <p:nvSpPr>
            <p:cNvPr id="51" name="TextBox 50"/>
            <p:cNvSpPr txBox="1"/>
            <p:nvPr/>
          </p:nvSpPr>
          <p:spPr>
            <a:xfrm>
              <a:off x="7864385" y="2471478"/>
              <a:ext cx="5031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Courier"/>
                  <a:cs typeface="Courier"/>
                </a:rPr>
                <a:t>a</a:t>
              </a:r>
              <a:r>
                <a:rPr lang="en-US" b="1" baseline="-25000" dirty="0">
                  <a:latin typeface="Courier"/>
                  <a:cs typeface="Courier"/>
                </a:rPr>
                <a:t>4</a:t>
              </a:r>
              <a:endParaRPr lang="en-US" baseline="-25000" dirty="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7864385" y="3301613"/>
              <a:ext cx="5031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Courier"/>
                  <a:cs typeface="Courier"/>
                </a:rPr>
                <a:t>b</a:t>
              </a:r>
              <a:r>
                <a:rPr lang="en-US" baseline="-25000" dirty="0"/>
                <a:t>3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7864385" y="4098903"/>
              <a:ext cx="5031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Courier"/>
                  <a:cs typeface="Courier"/>
                </a:rPr>
                <a:t>c</a:t>
              </a:r>
              <a:r>
                <a:rPr lang="en-US" b="1" baseline="-25000" dirty="0">
                  <a:latin typeface="Courier"/>
                  <a:cs typeface="Courier"/>
                </a:rPr>
                <a:t>2</a:t>
              </a:r>
              <a:endParaRPr lang="en-US" baseline="-25000" dirty="0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7864385" y="4963572"/>
              <a:ext cx="5031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Courier"/>
                  <a:cs typeface="Courier"/>
                </a:rPr>
                <a:t>d</a:t>
              </a:r>
              <a:r>
                <a:rPr lang="en-US" b="1" baseline="-25000" dirty="0">
                  <a:latin typeface="Courier"/>
                  <a:cs typeface="Courier"/>
                </a:rPr>
                <a:t>1</a:t>
              </a:r>
              <a:endParaRPr lang="en-US" baseline="-25000" dirty="0"/>
            </a:p>
          </p:txBody>
        </p:sp>
        <p:cxnSp>
          <p:nvCxnSpPr>
            <p:cNvPr id="73" name="Straight Connector 72"/>
            <p:cNvCxnSpPr/>
            <p:nvPr/>
          </p:nvCxnSpPr>
          <p:spPr>
            <a:xfrm>
              <a:off x="7864385" y="2054111"/>
              <a:ext cx="0" cy="3606484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Box 81"/>
            <p:cNvSpPr txBox="1"/>
            <p:nvPr/>
          </p:nvSpPr>
          <p:spPr>
            <a:xfrm>
              <a:off x="7830379" y="1757281"/>
              <a:ext cx="4312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4</a:t>
              </a:r>
            </a:p>
          </p:txBody>
        </p:sp>
      </p:grpSp>
      <p:grpSp>
        <p:nvGrpSpPr>
          <p:cNvPr id="90" name="Group 89"/>
          <p:cNvGrpSpPr/>
          <p:nvPr/>
        </p:nvGrpSpPr>
        <p:grpSpPr>
          <a:xfrm>
            <a:off x="9771753" y="1425335"/>
            <a:ext cx="503175" cy="3903314"/>
            <a:chOff x="8247752" y="1757281"/>
            <a:chExt cx="503175" cy="3903314"/>
          </a:xfrm>
        </p:grpSpPr>
        <p:sp>
          <p:nvSpPr>
            <p:cNvPr id="55" name="TextBox 54"/>
            <p:cNvSpPr txBox="1"/>
            <p:nvPr/>
          </p:nvSpPr>
          <p:spPr>
            <a:xfrm>
              <a:off x="8247752" y="2479362"/>
              <a:ext cx="5031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Courier"/>
                  <a:cs typeface="Courier"/>
                </a:rPr>
                <a:t>a</a:t>
              </a:r>
              <a:r>
                <a:rPr lang="en-US" b="1" baseline="-25000" dirty="0">
                  <a:latin typeface="Courier"/>
                  <a:cs typeface="Courier"/>
                </a:rPr>
                <a:t>5</a:t>
              </a:r>
              <a:endParaRPr lang="en-US" baseline="-25000" dirty="0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8247752" y="3309497"/>
              <a:ext cx="5031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Courier"/>
                  <a:cs typeface="Courier"/>
                </a:rPr>
                <a:t>b</a:t>
              </a:r>
              <a:r>
                <a:rPr lang="en-US" baseline="-25000" dirty="0"/>
                <a:t>4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8247752" y="4106787"/>
              <a:ext cx="5031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Courier"/>
                  <a:cs typeface="Courier"/>
                </a:rPr>
                <a:t>c</a:t>
              </a:r>
              <a:r>
                <a:rPr lang="en-US" b="1" baseline="-25000" dirty="0">
                  <a:latin typeface="Courier"/>
                  <a:cs typeface="Courier"/>
                </a:rPr>
                <a:t>3</a:t>
              </a:r>
              <a:endParaRPr lang="en-US" baseline="-25000" dirty="0"/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8247752" y="4971456"/>
              <a:ext cx="5031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Courier"/>
                  <a:cs typeface="Courier"/>
                </a:rPr>
                <a:t>d</a:t>
              </a:r>
              <a:r>
                <a:rPr lang="en-US" b="1" baseline="-25000" dirty="0">
                  <a:latin typeface="Courier"/>
                  <a:cs typeface="Courier"/>
                </a:rPr>
                <a:t>2</a:t>
              </a:r>
              <a:endParaRPr lang="en-US" baseline="-25000" dirty="0"/>
            </a:p>
          </p:txBody>
        </p:sp>
        <p:cxnSp>
          <p:nvCxnSpPr>
            <p:cNvPr id="72" name="Straight Connector 71"/>
            <p:cNvCxnSpPr/>
            <p:nvPr/>
          </p:nvCxnSpPr>
          <p:spPr>
            <a:xfrm>
              <a:off x="8261672" y="2054111"/>
              <a:ext cx="0" cy="3606484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Box 82"/>
            <p:cNvSpPr txBox="1"/>
            <p:nvPr/>
          </p:nvSpPr>
          <p:spPr>
            <a:xfrm>
              <a:off x="8247752" y="1757281"/>
              <a:ext cx="4312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5</a:t>
              </a:r>
            </a:p>
          </p:txBody>
        </p:sp>
      </p:grpSp>
      <p:grpSp>
        <p:nvGrpSpPr>
          <p:cNvPr id="91" name="Group 90"/>
          <p:cNvGrpSpPr/>
          <p:nvPr/>
        </p:nvGrpSpPr>
        <p:grpSpPr>
          <a:xfrm>
            <a:off x="10191067" y="1425336"/>
            <a:ext cx="511800" cy="3886079"/>
            <a:chOff x="8667067" y="1757281"/>
            <a:chExt cx="511800" cy="3886079"/>
          </a:xfrm>
        </p:grpSpPr>
        <p:sp>
          <p:nvSpPr>
            <p:cNvPr id="66" name="TextBox 65"/>
            <p:cNvSpPr txBox="1"/>
            <p:nvPr/>
          </p:nvSpPr>
          <p:spPr>
            <a:xfrm>
              <a:off x="8675692" y="2475996"/>
              <a:ext cx="5031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Courier"/>
                  <a:cs typeface="Courier"/>
                </a:rPr>
                <a:t>a</a:t>
              </a:r>
              <a:r>
                <a:rPr lang="en-US" b="1" baseline="-25000" dirty="0">
                  <a:latin typeface="Courier"/>
                  <a:cs typeface="Courier"/>
                </a:rPr>
                <a:t>6</a:t>
              </a:r>
              <a:endParaRPr lang="en-US" baseline="-25000" dirty="0"/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8675692" y="3306131"/>
              <a:ext cx="5031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Courier"/>
                  <a:cs typeface="Courier"/>
                </a:rPr>
                <a:t>b</a:t>
              </a:r>
              <a:r>
                <a:rPr lang="en-US" baseline="-25000" dirty="0"/>
                <a:t>5</a:t>
              </a: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8675692" y="4103421"/>
              <a:ext cx="5031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Courier"/>
                  <a:cs typeface="Courier"/>
                </a:rPr>
                <a:t>c</a:t>
              </a:r>
              <a:r>
                <a:rPr lang="en-US" b="1" baseline="-25000" dirty="0">
                  <a:latin typeface="Courier"/>
                  <a:cs typeface="Courier"/>
                </a:rPr>
                <a:t>4</a:t>
              </a:r>
              <a:endParaRPr lang="en-US" baseline="-25000" dirty="0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8675692" y="4968090"/>
              <a:ext cx="5031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Courier"/>
                  <a:cs typeface="Courier"/>
                </a:rPr>
                <a:t>d</a:t>
              </a:r>
              <a:r>
                <a:rPr lang="en-US" b="1" baseline="-25000" dirty="0">
                  <a:latin typeface="Courier"/>
                  <a:cs typeface="Courier"/>
                </a:rPr>
                <a:t>3</a:t>
              </a:r>
              <a:endParaRPr lang="en-US" baseline="-25000" dirty="0"/>
            </a:p>
          </p:txBody>
        </p:sp>
        <p:cxnSp>
          <p:nvCxnSpPr>
            <p:cNvPr id="71" name="Straight Connector 70"/>
            <p:cNvCxnSpPr/>
            <p:nvPr/>
          </p:nvCxnSpPr>
          <p:spPr>
            <a:xfrm>
              <a:off x="8667067" y="2036876"/>
              <a:ext cx="0" cy="3606484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TextBox 83"/>
            <p:cNvSpPr txBox="1"/>
            <p:nvPr/>
          </p:nvSpPr>
          <p:spPr>
            <a:xfrm>
              <a:off x="8667067" y="1757281"/>
              <a:ext cx="4312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6</a:t>
              </a: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6064541" y="1801920"/>
            <a:ext cx="2348159" cy="3299097"/>
            <a:chOff x="4540540" y="2133865"/>
            <a:chExt cx="2348159" cy="3299097"/>
          </a:xfrm>
        </p:grpSpPr>
        <p:sp>
          <p:nvSpPr>
            <p:cNvPr id="30" name="Oval 29"/>
            <p:cNvSpPr/>
            <p:nvPr/>
          </p:nvSpPr>
          <p:spPr>
            <a:xfrm>
              <a:off x="5612083" y="2892104"/>
              <a:ext cx="1276616" cy="43134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rgbClr val="01247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0000FF"/>
                  </a:solidFill>
                  <a:latin typeface="Courier"/>
                  <a:cs typeface="Courier"/>
                </a:rPr>
                <a:t>f(a)</a:t>
              </a:r>
            </a:p>
          </p:txBody>
        </p:sp>
        <p:sp>
          <p:nvSpPr>
            <p:cNvPr id="31" name="Oval 30"/>
            <p:cNvSpPr/>
            <p:nvPr/>
          </p:nvSpPr>
          <p:spPr>
            <a:xfrm>
              <a:off x="5612082" y="2133865"/>
              <a:ext cx="1276617" cy="37145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rgbClr val="01247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rtlCol="0" anchor="ctr"/>
            <a:lstStyle/>
            <a:p>
              <a:pPr algn="ctr"/>
              <a:r>
                <a:rPr lang="en-US" b="1" dirty="0">
                  <a:solidFill>
                    <a:srgbClr val="0000FF"/>
                  </a:solidFill>
                  <a:latin typeface="Courier"/>
                  <a:cs typeface="Courier"/>
                </a:rPr>
                <a:t>main()</a:t>
              </a:r>
            </a:p>
          </p:txBody>
        </p:sp>
        <p:sp>
          <p:nvSpPr>
            <p:cNvPr id="32" name="Oval 31"/>
            <p:cNvSpPr/>
            <p:nvPr/>
          </p:nvSpPr>
          <p:spPr>
            <a:xfrm>
              <a:off x="5612082" y="3714322"/>
              <a:ext cx="1276617" cy="43134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rgbClr val="01247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0000FF"/>
                  </a:solidFill>
                  <a:latin typeface="Courier"/>
                  <a:cs typeface="Courier"/>
                </a:rPr>
                <a:t>g(b)</a:t>
              </a:r>
            </a:p>
          </p:txBody>
        </p:sp>
        <p:sp>
          <p:nvSpPr>
            <p:cNvPr id="33" name="Oval 32"/>
            <p:cNvSpPr/>
            <p:nvPr/>
          </p:nvSpPr>
          <p:spPr>
            <a:xfrm>
              <a:off x="5612082" y="4573642"/>
              <a:ext cx="1276617" cy="43134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rgbClr val="01247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0000FF"/>
                  </a:solidFill>
                  <a:latin typeface="Courier"/>
                  <a:cs typeface="Courier"/>
                </a:rPr>
                <a:t>h(c)</a:t>
              </a:r>
            </a:p>
          </p:txBody>
        </p:sp>
        <p:cxnSp>
          <p:nvCxnSpPr>
            <p:cNvPr id="34" name="Straight Arrow Connector 33"/>
            <p:cNvCxnSpPr>
              <a:stCxn id="31" idx="4"/>
              <a:endCxn id="30" idx="0"/>
            </p:cNvCxnSpPr>
            <p:nvPr/>
          </p:nvCxnSpPr>
          <p:spPr>
            <a:xfrm>
              <a:off x="6250391" y="2505315"/>
              <a:ext cx="0" cy="386789"/>
            </a:xfrm>
            <a:prstGeom prst="straightConnector1">
              <a:avLst/>
            </a:prstGeom>
            <a:ln>
              <a:solidFill>
                <a:srgbClr val="012479"/>
              </a:solidFill>
              <a:tailEnd type="triangle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>
              <a:stCxn id="30" idx="4"/>
              <a:endCxn id="32" idx="0"/>
            </p:cNvCxnSpPr>
            <p:nvPr/>
          </p:nvCxnSpPr>
          <p:spPr>
            <a:xfrm>
              <a:off x="6250391" y="3323444"/>
              <a:ext cx="0" cy="390878"/>
            </a:xfrm>
            <a:prstGeom prst="straightConnector1">
              <a:avLst/>
            </a:prstGeom>
            <a:ln>
              <a:solidFill>
                <a:srgbClr val="012479"/>
              </a:solidFill>
              <a:tailEnd type="triangle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>
              <a:stCxn id="32" idx="4"/>
              <a:endCxn id="33" idx="0"/>
            </p:cNvCxnSpPr>
            <p:nvPr/>
          </p:nvCxnSpPr>
          <p:spPr>
            <a:xfrm>
              <a:off x="6250391" y="4145662"/>
              <a:ext cx="0" cy="427980"/>
            </a:xfrm>
            <a:prstGeom prst="straightConnector1">
              <a:avLst/>
            </a:prstGeom>
            <a:ln>
              <a:solidFill>
                <a:srgbClr val="012479"/>
              </a:solidFill>
              <a:tailEnd type="triangle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/>
            <p:nvPr/>
          </p:nvCxnSpPr>
          <p:spPr>
            <a:xfrm>
              <a:off x="6250391" y="5004982"/>
              <a:ext cx="0" cy="427980"/>
            </a:xfrm>
            <a:prstGeom prst="straightConnector1">
              <a:avLst/>
            </a:prstGeom>
            <a:ln>
              <a:solidFill>
                <a:srgbClr val="012479"/>
              </a:solidFill>
              <a:tailEnd type="triangle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/>
            <p:cNvSpPr txBox="1"/>
            <p:nvPr/>
          </p:nvSpPr>
          <p:spPr>
            <a:xfrm>
              <a:off x="4540540" y="2922510"/>
              <a:ext cx="1102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Thread 1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4540540" y="3731804"/>
              <a:ext cx="1102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Thread 2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4540540" y="4597606"/>
              <a:ext cx="1102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Thread 3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4540540" y="2148138"/>
              <a:ext cx="1102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Thread 0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C60D606-686F-B843-A0D7-CCBAD87D2AF7}"/>
              </a:ext>
            </a:extLst>
          </p:cNvPr>
          <p:cNvSpPr txBox="1"/>
          <p:nvPr/>
        </p:nvSpPr>
        <p:spPr>
          <a:xfrm>
            <a:off x="3929979" y="1306219"/>
            <a:ext cx="2779672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fin is a stream of elements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F90D64C-F208-3B4C-A046-6E2C4BF33956}"/>
              </a:ext>
            </a:extLst>
          </p:cNvPr>
          <p:cNvCxnSpPr/>
          <p:nvPr/>
        </p:nvCxnSpPr>
        <p:spPr>
          <a:xfrm flipH="1">
            <a:off x="4729537" y="1663463"/>
            <a:ext cx="883578" cy="7336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3735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13D88-4716-2E47-8A6A-75A4B790B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Generic Producer-Consumer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1AE3D-007C-894C-8C94-860D39A86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any thread produces for any other thread</a:t>
            </a:r>
          </a:p>
          <a:p>
            <a:endParaRPr lang="en-US" dirty="0"/>
          </a:p>
          <a:p>
            <a:r>
              <a:rPr lang="en-US" dirty="0"/>
              <a:t>The code example will have the </a:t>
            </a:r>
            <a:r>
              <a:rPr lang="en-US"/>
              <a:t>following patterns</a:t>
            </a:r>
          </a:p>
        </p:txBody>
      </p:sp>
    </p:spTree>
    <p:extLst>
      <p:ext uri="{BB962C8B-B14F-4D97-AF65-F5344CB8AC3E}">
        <p14:creationId xmlns:p14="http://schemas.microsoft.com/office/powerpoint/2010/main" val="344649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27681-20A6-004C-A49B-938D0907E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125" y="130265"/>
            <a:ext cx="9601200" cy="902369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036CA-85BC-B74C-94DF-9961568D00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125" y="1191450"/>
            <a:ext cx="9601200" cy="3581400"/>
          </a:xfrm>
        </p:spPr>
        <p:txBody>
          <a:bodyPr/>
          <a:lstStyle/>
          <a:p>
            <a:endParaRPr lang="en-US"/>
          </a:p>
        </p:txBody>
      </p:sp>
      <p:pic>
        <p:nvPicPr>
          <p:cNvPr id="31746" name="Picture 2" descr="https://lh3.googleusercontent.com/-KJ4QM4M_MXWWARpJ0mG61f5SNceHsR3YvEwrYnahQlpB0lIfBypPUVhwB7VZ1a2ECSv41V4zDOcaFaMfSZGRjtdRYdVrfQhZ_mXqwCCC-cPTmFaXwCAF6NHN8O6l40qDQ9yStFY">
            <a:extLst>
              <a:ext uri="{FF2B5EF4-FFF2-40B4-BE49-F238E27FC236}">
                <a16:creationId xmlns:a16="http://schemas.microsoft.com/office/drawing/2014/main" id="{04E5678C-70C2-CF49-A069-9344462880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124" y="130264"/>
            <a:ext cx="10060697" cy="6521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Left Arrow 3">
            <a:extLst>
              <a:ext uri="{FF2B5EF4-FFF2-40B4-BE49-F238E27FC236}">
                <a16:creationId xmlns:a16="http://schemas.microsoft.com/office/drawing/2014/main" id="{4DB6F41F-43F8-7540-A8BA-CF3975A3A8B5}"/>
              </a:ext>
            </a:extLst>
          </p:cNvPr>
          <p:cNvSpPr/>
          <p:nvPr/>
        </p:nvSpPr>
        <p:spPr>
          <a:xfrm>
            <a:off x="7352270" y="4448429"/>
            <a:ext cx="1248033" cy="370703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Left Arrow 5">
            <a:extLst>
              <a:ext uri="{FF2B5EF4-FFF2-40B4-BE49-F238E27FC236}">
                <a16:creationId xmlns:a16="http://schemas.microsoft.com/office/drawing/2014/main" id="{5A4381E4-C62D-4649-85FA-067D09F47FC9}"/>
              </a:ext>
            </a:extLst>
          </p:cNvPr>
          <p:cNvSpPr/>
          <p:nvPr/>
        </p:nvSpPr>
        <p:spPr>
          <a:xfrm>
            <a:off x="5188687" y="5712937"/>
            <a:ext cx="1248033" cy="370703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Left Arrow 6">
            <a:extLst>
              <a:ext uri="{FF2B5EF4-FFF2-40B4-BE49-F238E27FC236}">
                <a16:creationId xmlns:a16="http://schemas.microsoft.com/office/drawing/2014/main" id="{36632B7C-82AA-6A44-BC6B-4CB58F1C8A76}"/>
              </a:ext>
            </a:extLst>
          </p:cNvPr>
          <p:cNvSpPr/>
          <p:nvPr/>
        </p:nvSpPr>
        <p:spPr>
          <a:xfrm>
            <a:off x="5874488" y="2660875"/>
            <a:ext cx="1248033" cy="370703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58866705-9D74-AF48-8C56-250BC33FD66B}"/>
              </a:ext>
            </a:extLst>
          </p:cNvPr>
          <p:cNvSpPr/>
          <p:nvPr/>
        </p:nvSpPr>
        <p:spPr>
          <a:xfrm>
            <a:off x="7611762" y="5894171"/>
            <a:ext cx="1161535" cy="38305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38FB69E8-53F4-5044-8530-8255322B33CD}"/>
              </a:ext>
            </a:extLst>
          </p:cNvPr>
          <p:cNvSpPr/>
          <p:nvPr/>
        </p:nvSpPr>
        <p:spPr>
          <a:xfrm>
            <a:off x="7611762" y="6100432"/>
            <a:ext cx="1161535" cy="38305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B56209C9-40A8-DC44-905E-FB3C769212C6}"/>
              </a:ext>
            </a:extLst>
          </p:cNvPr>
          <p:cNvSpPr/>
          <p:nvPr/>
        </p:nvSpPr>
        <p:spPr>
          <a:xfrm>
            <a:off x="3205430" y="4373629"/>
            <a:ext cx="1161535" cy="383059"/>
          </a:xfrm>
          <a:prstGeom prst="right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479E2E6F-5F06-524F-8289-06AC58209B1C}"/>
              </a:ext>
            </a:extLst>
          </p:cNvPr>
          <p:cNvSpPr/>
          <p:nvPr/>
        </p:nvSpPr>
        <p:spPr>
          <a:xfrm>
            <a:off x="7719765" y="2960579"/>
            <a:ext cx="1161535" cy="383059"/>
          </a:xfrm>
          <a:prstGeom prst="right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7542ED72-8D00-464A-948A-2C057FF12FE6}"/>
              </a:ext>
            </a:extLst>
          </p:cNvPr>
          <p:cNvSpPr/>
          <p:nvPr/>
        </p:nvSpPr>
        <p:spPr>
          <a:xfrm>
            <a:off x="3198103" y="5329305"/>
            <a:ext cx="1161535" cy="383059"/>
          </a:xfrm>
          <a:prstGeom prst="right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260E7667-3235-C841-94FC-F783AE5C19B3}"/>
              </a:ext>
            </a:extLst>
          </p:cNvPr>
          <p:cNvSpPr/>
          <p:nvPr/>
        </p:nvSpPr>
        <p:spPr>
          <a:xfrm>
            <a:off x="9119286" y="147420"/>
            <a:ext cx="1161535" cy="383059"/>
          </a:xfrm>
          <a:prstGeom prst="right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97BFD5-4857-A640-94A5-68D27393C6F5}"/>
              </a:ext>
            </a:extLst>
          </p:cNvPr>
          <p:cNvSpPr txBox="1"/>
          <p:nvPr/>
        </p:nvSpPr>
        <p:spPr>
          <a:xfrm>
            <a:off x="10280821" y="154283"/>
            <a:ext cx="17200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part of OpenMP</a:t>
            </a:r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C45370E5-32BC-3A48-9D7E-75DB9C2F0C5F}"/>
              </a:ext>
            </a:extLst>
          </p:cNvPr>
          <p:cNvSpPr/>
          <p:nvPr/>
        </p:nvSpPr>
        <p:spPr>
          <a:xfrm>
            <a:off x="9119285" y="554498"/>
            <a:ext cx="1161535" cy="38305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9F6E15-974F-4A47-A490-CC6D9F0D87A6}"/>
              </a:ext>
            </a:extLst>
          </p:cNvPr>
          <p:cNvSpPr txBox="1"/>
          <p:nvPr/>
        </p:nvSpPr>
        <p:spPr>
          <a:xfrm>
            <a:off x="10323590" y="530478"/>
            <a:ext cx="16772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different than</a:t>
            </a:r>
          </a:p>
          <a:p>
            <a:r>
              <a:rPr lang="en-US" dirty="0"/>
              <a:t>other examples</a:t>
            </a:r>
          </a:p>
        </p:txBody>
      </p:sp>
      <p:sp>
        <p:nvSpPr>
          <p:cNvPr id="17" name="Left Arrow 16">
            <a:extLst>
              <a:ext uri="{FF2B5EF4-FFF2-40B4-BE49-F238E27FC236}">
                <a16:creationId xmlns:a16="http://schemas.microsoft.com/office/drawing/2014/main" id="{A3387000-FCDE-1F4C-8ECF-E385CA1A48DF}"/>
              </a:ext>
            </a:extLst>
          </p:cNvPr>
          <p:cNvSpPr/>
          <p:nvPr/>
        </p:nvSpPr>
        <p:spPr>
          <a:xfrm>
            <a:off x="9960694" y="4357466"/>
            <a:ext cx="1248033" cy="370703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329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5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5" grpId="0" animBg="1"/>
      <p:bldP spid="1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Title 1">
            <a:extLst>
              <a:ext uri="{FF2B5EF4-FFF2-40B4-BE49-F238E27FC236}">
                <a16:creationId xmlns:a16="http://schemas.microsoft.com/office/drawing/2014/main" id="{8D76B490-7D5E-BB45-849E-0DE28F46D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5189" y="109539"/>
            <a:ext cx="8281987" cy="708025"/>
          </a:xfrm>
        </p:spPr>
        <p:txBody>
          <a:bodyPr/>
          <a:lstStyle/>
          <a:p>
            <a:r>
              <a:rPr lang="en-US" altLang="en-US"/>
              <a:t>Message-Passing</a:t>
            </a:r>
          </a:p>
        </p:txBody>
      </p:sp>
      <p:sp>
        <p:nvSpPr>
          <p:cNvPr id="91138" name="Content Placeholder 2">
            <a:extLst>
              <a:ext uri="{FF2B5EF4-FFF2-40B4-BE49-F238E27FC236}">
                <a16:creationId xmlns:a16="http://schemas.microsoft.com/office/drawing/2014/main" id="{585A8AEC-32FF-8742-90DD-D6EA46BB79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3379" y="885244"/>
            <a:ext cx="9601200" cy="2050489"/>
          </a:xfrm>
        </p:spPr>
        <p:txBody>
          <a:bodyPr/>
          <a:lstStyle/>
          <a:p>
            <a:r>
              <a:rPr lang="en-US" altLang="en-US" dirty="0"/>
              <a:t>Each thread could have a shared message “queue”   (set of queues) </a:t>
            </a:r>
          </a:p>
          <a:p>
            <a:pPr lvl="1"/>
            <a:r>
              <a:rPr lang="en-US" altLang="en-US" dirty="0"/>
              <a:t>when one thread wants to “send a message” to another thread, it could enqueue the message in the destination thread’s queue. </a:t>
            </a:r>
          </a:p>
          <a:p>
            <a:pPr lvl="1"/>
            <a:r>
              <a:rPr lang="en-US" altLang="en-US" dirty="0"/>
              <a:t>A thread could receive a message by dequeuing the message at the head of its message queue.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36DE49-BCEC-A646-898F-B0E313063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754DE0F-B57B-C84C-A7AF-CF31745C95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1153906"/>
              </p:ext>
            </p:extLst>
          </p:nvPr>
        </p:nvGraphicFramePr>
        <p:xfrm>
          <a:off x="1824064" y="3003413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321625217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47717226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52616089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07615775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58242967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066318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5565573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309000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702452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60EC55C-C703-FB4C-9572-EC9139ED96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173486"/>
              </p:ext>
            </p:extLst>
          </p:nvPr>
        </p:nvGraphicFramePr>
        <p:xfrm>
          <a:off x="2164372" y="3607309"/>
          <a:ext cx="399915" cy="2811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9915">
                  <a:extLst>
                    <a:ext uri="{9D8B030D-6E8A-4147-A177-3AD203B41FA5}">
                      <a16:colId xmlns:a16="http://schemas.microsoft.com/office/drawing/2014/main" val="559118870"/>
                    </a:ext>
                  </a:extLst>
                </a:gridCol>
              </a:tblGrid>
              <a:tr h="281148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1459365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9366405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442355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0034821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60766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6631329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6626852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3123904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8851857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5780955"/>
                  </a:ext>
                </a:extLst>
              </a:tr>
            </a:tbl>
          </a:graphicData>
        </a:graphic>
      </p:graphicFrame>
      <p:sp>
        <p:nvSpPr>
          <p:cNvPr id="5" name="Down Arrow 4">
            <a:extLst>
              <a:ext uri="{FF2B5EF4-FFF2-40B4-BE49-F238E27FC236}">
                <a16:creationId xmlns:a16="http://schemas.microsoft.com/office/drawing/2014/main" id="{408FA434-F1A8-4046-A30B-16AA75F878B4}"/>
              </a:ext>
            </a:extLst>
          </p:cNvPr>
          <p:cNvSpPr/>
          <p:nvPr/>
        </p:nvSpPr>
        <p:spPr>
          <a:xfrm>
            <a:off x="2244641" y="3133883"/>
            <a:ext cx="239376" cy="476655"/>
          </a:xfrm>
          <a:prstGeom prst="down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2C2A2AD-1BDE-9F4E-9645-66D0156536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230816"/>
              </p:ext>
            </p:extLst>
          </p:nvPr>
        </p:nvGraphicFramePr>
        <p:xfrm>
          <a:off x="3172806" y="3607309"/>
          <a:ext cx="399915" cy="2811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9915">
                  <a:extLst>
                    <a:ext uri="{9D8B030D-6E8A-4147-A177-3AD203B41FA5}">
                      <a16:colId xmlns:a16="http://schemas.microsoft.com/office/drawing/2014/main" val="559118870"/>
                    </a:ext>
                  </a:extLst>
                </a:gridCol>
              </a:tblGrid>
              <a:tr h="281148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1459365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9366405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442355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0034821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60766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6631329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6626852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3123904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8851857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5780955"/>
                  </a:ext>
                </a:extLst>
              </a:tr>
            </a:tbl>
          </a:graphicData>
        </a:graphic>
      </p:graphicFrame>
      <p:sp>
        <p:nvSpPr>
          <p:cNvPr id="9" name="Down Arrow 8">
            <a:extLst>
              <a:ext uri="{FF2B5EF4-FFF2-40B4-BE49-F238E27FC236}">
                <a16:creationId xmlns:a16="http://schemas.microsoft.com/office/drawing/2014/main" id="{CA8E6703-7AAF-814D-AAE7-F6D30A091151}"/>
              </a:ext>
            </a:extLst>
          </p:cNvPr>
          <p:cNvSpPr/>
          <p:nvPr/>
        </p:nvSpPr>
        <p:spPr>
          <a:xfrm>
            <a:off x="3253075" y="3133883"/>
            <a:ext cx="239376" cy="476655"/>
          </a:xfrm>
          <a:prstGeom prst="down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A0117C2-41D1-3244-85CD-B7D52C72E2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2076768"/>
              </p:ext>
            </p:extLst>
          </p:nvPr>
        </p:nvGraphicFramePr>
        <p:xfrm>
          <a:off x="4181239" y="3607309"/>
          <a:ext cx="399915" cy="2811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9915">
                  <a:extLst>
                    <a:ext uri="{9D8B030D-6E8A-4147-A177-3AD203B41FA5}">
                      <a16:colId xmlns:a16="http://schemas.microsoft.com/office/drawing/2014/main" val="559118870"/>
                    </a:ext>
                  </a:extLst>
                </a:gridCol>
              </a:tblGrid>
              <a:tr h="281148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1459365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9366405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442355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0034821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60766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6631329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6626852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3123904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8851857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5780955"/>
                  </a:ext>
                </a:extLst>
              </a:tr>
            </a:tbl>
          </a:graphicData>
        </a:graphic>
      </p:graphicFrame>
      <p:sp>
        <p:nvSpPr>
          <p:cNvPr id="11" name="Down Arrow 10">
            <a:extLst>
              <a:ext uri="{FF2B5EF4-FFF2-40B4-BE49-F238E27FC236}">
                <a16:creationId xmlns:a16="http://schemas.microsoft.com/office/drawing/2014/main" id="{1C62AA5C-2EA9-D340-B2F5-4CF39DBF7E8E}"/>
              </a:ext>
            </a:extLst>
          </p:cNvPr>
          <p:cNvSpPr/>
          <p:nvPr/>
        </p:nvSpPr>
        <p:spPr>
          <a:xfrm>
            <a:off x="4261508" y="3133883"/>
            <a:ext cx="239376" cy="476655"/>
          </a:xfrm>
          <a:prstGeom prst="down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7A8F598-1A5A-D24D-A4A4-0D80CBEAE0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5712615"/>
              </p:ext>
            </p:extLst>
          </p:nvPr>
        </p:nvGraphicFramePr>
        <p:xfrm>
          <a:off x="5150253" y="3607309"/>
          <a:ext cx="399915" cy="2811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9915">
                  <a:extLst>
                    <a:ext uri="{9D8B030D-6E8A-4147-A177-3AD203B41FA5}">
                      <a16:colId xmlns:a16="http://schemas.microsoft.com/office/drawing/2014/main" val="559118870"/>
                    </a:ext>
                  </a:extLst>
                </a:gridCol>
              </a:tblGrid>
              <a:tr h="281148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1459365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9366405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442355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0034821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60766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6631329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6626852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3123904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8851857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5780955"/>
                  </a:ext>
                </a:extLst>
              </a:tr>
            </a:tbl>
          </a:graphicData>
        </a:graphic>
      </p:graphicFrame>
      <p:sp>
        <p:nvSpPr>
          <p:cNvPr id="13" name="Down Arrow 12">
            <a:extLst>
              <a:ext uri="{FF2B5EF4-FFF2-40B4-BE49-F238E27FC236}">
                <a16:creationId xmlns:a16="http://schemas.microsoft.com/office/drawing/2014/main" id="{DDF98F87-1819-7E44-B374-4A95C4299154}"/>
              </a:ext>
            </a:extLst>
          </p:cNvPr>
          <p:cNvSpPr/>
          <p:nvPr/>
        </p:nvSpPr>
        <p:spPr>
          <a:xfrm>
            <a:off x="5230522" y="3133883"/>
            <a:ext cx="239376" cy="476655"/>
          </a:xfrm>
          <a:prstGeom prst="down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0074EFB6-E9B6-6645-81D1-F9BE253311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1409833"/>
              </p:ext>
            </p:extLst>
          </p:nvPr>
        </p:nvGraphicFramePr>
        <p:xfrm>
          <a:off x="6199536" y="3607309"/>
          <a:ext cx="399915" cy="2811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9915">
                  <a:extLst>
                    <a:ext uri="{9D8B030D-6E8A-4147-A177-3AD203B41FA5}">
                      <a16:colId xmlns:a16="http://schemas.microsoft.com/office/drawing/2014/main" val="559118870"/>
                    </a:ext>
                  </a:extLst>
                </a:gridCol>
              </a:tblGrid>
              <a:tr h="281148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1459365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9366405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442355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0034821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60766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6631329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6626852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3123904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8851857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5780955"/>
                  </a:ext>
                </a:extLst>
              </a:tr>
            </a:tbl>
          </a:graphicData>
        </a:graphic>
      </p:graphicFrame>
      <p:sp>
        <p:nvSpPr>
          <p:cNvPr id="15" name="Down Arrow 14">
            <a:extLst>
              <a:ext uri="{FF2B5EF4-FFF2-40B4-BE49-F238E27FC236}">
                <a16:creationId xmlns:a16="http://schemas.microsoft.com/office/drawing/2014/main" id="{4EB0DB94-AC7E-DE4F-B5EB-83DB5771819C}"/>
              </a:ext>
            </a:extLst>
          </p:cNvPr>
          <p:cNvSpPr/>
          <p:nvPr/>
        </p:nvSpPr>
        <p:spPr>
          <a:xfrm>
            <a:off x="6279805" y="3133883"/>
            <a:ext cx="239376" cy="476655"/>
          </a:xfrm>
          <a:prstGeom prst="down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B6E3DEA-3D55-B84A-B829-3A95E22452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6290694"/>
              </p:ext>
            </p:extLst>
          </p:nvPr>
        </p:nvGraphicFramePr>
        <p:xfrm>
          <a:off x="7207970" y="3607309"/>
          <a:ext cx="399915" cy="2811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9915">
                  <a:extLst>
                    <a:ext uri="{9D8B030D-6E8A-4147-A177-3AD203B41FA5}">
                      <a16:colId xmlns:a16="http://schemas.microsoft.com/office/drawing/2014/main" val="559118870"/>
                    </a:ext>
                  </a:extLst>
                </a:gridCol>
              </a:tblGrid>
              <a:tr h="281148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1459365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9366405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442355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0034821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60766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6631329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6626852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3123904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8851857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5780955"/>
                  </a:ext>
                </a:extLst>
              </a:tr>
            </a:tbl>
          </a:graphicData>
        </a:graphic>
      </p:graphicFrame>
      <p:sp>
        <p:nvSpPr>
          <p:cNvPr id="17" name="Down Arrow 16">
            <a:extLst>
              <a:ext uri="{FF2B5EF4-FFF2-40B4-BE49-F238E27FC236}">
                <a16:creationId xmlns:a16="http://schemas.microsoft.com/office/drawing/2014/main" id="{BA71D3D4-C8E1-4A4B-A133-1CBDFE9C1D07}"/>
              </a:ext>
            </a:extLst>
          </p:cNvPr>
          <p:cNvSpPr/>
          <p:nvPr/>
        </p:nvSpPr>
        <p:spPr>
          <a:xfrm>
            <a:off x="7288239" y="3133883"/>
            <a:ext cx="239376" cy="476655"/>
          </a:xfrm>
          <a:prstGeom prst="down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E3149BE7-C1A3-B04F-9D3D-65B5BB7303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1149584"/>
              </p:ext>
            </p:extLst>
          </p:nvPr>
        </p:nvGraphicFramePr>
        <p:xfrm>
          <a:off x="8216403" y="3607309"/>
          <a:ext cx="399915" cy="2811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9915">
                  <a:extLst>
                    <a:ext uri="{9D8B030D-6E8A-4147-A177-3AD203B41FA5}">
                      <a16:colId xmlns:a16="http://schemas.microsoft.com/office/drawing/2014/main" val="559118870"/>
                    </a:ext>
                  </a:extLst>
                </a:gridCol>
              </a:tblGrid>
              <a:tr h="281148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1459365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9366405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442355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0034821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60766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6631329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6626852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3123904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8851857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5780955"/>
                  </a:ext>
                </a:extLst>
              </a:tr>
            </a:tbl>
          </a:graphicData>
        </a:graphic>
      </p:graphicFrame>
      <p:sp>
        <p:nvSpPr>
          <p:cNvPr id="19" name="Down Arrow 18">
            <a:extLst>
              <a:ext uri="{FF2B5EF4-FFF2-40B4-BE49-F238E27FC236}">
                <a16:creationId xmlns:a16="http://schemas.microsoft.com/office/drawing/2014/main" id="{455A066A-D714-E44F-8758-D7628129C055}"/>
              </a:ext>
            </a:extLst>
          </p:cNvPr>
          <p:cNvSpPr/>
          <p:nvPr/>
        </p:nvSpPr>
        <p:spPr>
          <a:xfrm>
            <a:off x="8296672" y="3133883"/>
            <a:ext cx="239376" cy="476655"/>
          </a:xfrm>
          <a:prstGeom prst="down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791A33C5-D544-9342-9310-B31FA5D62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5262886"/>
              </p:ext>
            </p:extLst>
          </p:nvPr>
        </p:nvGraphicFramePr>
        <p:xfrm>
          <a:off x="9185417" y="3607309"/>
          <a:ext cx="399915" cy="2811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9915">
                  <a:extLst>
                    <a:ext uri="{9D8B030D-6E8A-4147-A177-3AD203B41FA5}">
                      <a16:colId xmlns:a16="http://schemas.microsoft.com/office/drawing/2014/main" val="559118870"/>
                    </a:ext>
                  </a:extLst>
                </a:gridCol>
              </a:tblGrid>
              <a:tr h="281148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1459365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9366405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442355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0034821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60766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6631329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6626852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3123904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8851857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5780955"/>
                  </a:ext>
                </a:extLst>
              </a:tr>
            </a:tbl>
          </a:graphicData>
        </a:graphic>
      </p:graphicFrame>
      <p:sp>
        <p:nvSpPr>
          <p:cNvPr id="21" name="Down Arrow 20">
            <a:extLst>
              <a:ext uri="{FF2B5EF4-FFF2-40B4-BE49-F238E27FC236}">
                <a16:creationId xmlns:a16="http://schemas.microsoft.com/office/drawing/2014/main" id="{A4F1998A-F583-6E4D-BBDC-309F70C52447}"/>
              </a:ext>
            </a:extLst>
          </p:cNvPr>
          <p:cNvSpPr/>
          <p:nvPr/>
        </p:nvSpPr>
        <p:spPr>
          <a:xfrm>
            <a:off x="9265686" y="3133883"/>
            <a:ext cx="239376" cy="476655"/>
          </a:xfrm>
          <a:prstGeom prst="down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4FF4DC-1B26-6945-9797-34DDF7F8395F}"/>
              </a:ext>
            </a:extLst>
          </p:cNvPr>
          <p:cNvSpPr txBox="1"/>
          <p:nvPr/>
        </p:nvSpPr>
        <p:spPr>
          <a:xfrm>
            <a:off x="10253292" y="2811265"/>
            <a:ext cx="176715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shared</a:t>
            </a:r>
            <a:br>
              <a:rPr lang="en-US" dirty="0">
                <a:solidFill>
                  <a:srgbClr val="0070C0"/>
                </a:solidFill>
              </a:rPr>
            </a:br>
            <a:r>
              <a:rPr lang="en-US" dirty="0">
                <a:solidFill>
                  <a:srgbClr val="0070C0"/>
                </a:solidFill>
              </a:rPr>
              <a:t>array of pointers</a:t>
            </a:r>
            <a:br>
              <a:rPr lang="en-US" dirty="0">
                <a:solidFill>
                  <a:srgbClr val="0070C0"/>
                </a:solidFill>
              </a:rPr>
            </a:br>
            <a:r>
              <a:rPr lang="en-US" dirty="0">
                <a:solidFill>
                  <a:srgbClr val="0070C0"/>
                </a:solidFill>
              </a:rPr>
              <a:t>to queues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8DBC62-6B5E-1248-A190-30EB7636EFBC}"/>
              </a:ext>
            </a:extLst>
          </p:cNvPr>
          <p:cNvSpPr txBox="1"/>
          <p:nvPr/>
        </p:nvSpPr>
        <p:spPr>
          <a:xfrm>
            <a:off x="10330775" y="3929974"/>
            <a:ext cx="13132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one queue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per  each thread’s messages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AB6C8CE-4561-7948-B551-B3D6B187BB33}"/>
              </a:ext>
            </a:extLst>
          </p:cNvPr>
          <p:cNvSpPr/>
          <p:nvPr/>
        </p:nvSpPr>
        <p:spPr>
          <a:xfrm>
            <a:off x="2228612" y="3607309"/>
            <a:ext cx="285098" cy="2545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2127B16-792A-794B-91D3-27617CB81DB2}"/>
              </a:ext>
            </a:extLst>
          </p:cNvPr>
          <p:cNvSpPr/>
          <p:nvPr/>
        </p:nvSpPr>
        <p:spPr>
          <a:xfrm>
            <a:off x="5189672" y="3617036"/>
            <a:ext cx="285098" cy="2545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3341672-57BD-F547-8902-A208DA4B643D}"/>
              </a:ext>
            </a:extLst>
          </p:cNvPr>
          <p:cNvSpPr/>
          <p:nvPr/>
        </p:nvSpPr>
        <p:spPr>
          <a:xfrm>
            <a:off x="2207391" y="3917617"/>
            <a:ext cx="285098" cy="2545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010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2" grpId="1" animBg="1"/>
      <p:bldP spid="25" grpId="0" animBg="1"/>
      <p:bldP spid="2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Title 1">
            <a:extLst>
              <a:ext uri="{FF2B5EF4-FFF2-40B4-BE49-F238E27FC236}">
                <a16:creationId xmlns:a16="http://schemas.microsoft.com/office/drawing/2014/main" id="{8D76B490-7D5E-BB45-849E-0DE28F46D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5189" y="109539"/>
            <a:ext cx="8281987" cy="708025"/>
          </a:xfrm>
        </p:spPr>
        <p:txBody>
          <a:bodyPr/>
          <a:lstStyle/>
          <a:p>
            <a:r>
              <a:rPr lang="en-US" altLang="en-US"/>
              <a:t>Message-Passing</a:t>
            </a:r>
          </a:p>
        </p:txBody>
      </p:sp>
      <p:sp>
        <p:nvSpPr>
          <p:cNvPr id="91138" name="Content Placeholder 2">
            <a:extLst>
              <a:ext uri="{FF2B5EF4-FFF2-40B4-BE49-F238E27FC236}">
                <a16:creationId xmlns:a16="http://schemas.microsoft.com/office/drawing/2014/main" id="{585A8AEC-32FF-8742-90DD-D6EA46BB79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3379" y="885244"/>
            <a:ext cx="9601200" cy="2050489"/>
          </a:xfrm>
        </p:spPr>
        <p:txBody>
          <a:bodyPr>
            <a:normAutofit lnSpcReduction="10000"/>
          </a:bodyPr>
          <a:lstStyle/>
          <a:p>
            <a:r>
              <a:rPr lang="en-US" altLang="en-US" dirty="0"/>
              <a:t>Each thread could have a shared message “queue”   (set of queues) </a:t>
            </a:r>
          </a:p>
          <a:p>
            <a:pPr lvl="1"/>
            <a:r>
              <a:rPr lang="en-US" altLang="en-US" dirty="0"/>
              <a:t>any thread can be ‘sending’ a message to any other thread at any time</a:t>
            </a:r>
          </a:p>
          <a:p>
            <a:pPr lvl="1"/>
            <a:r>
              <a:rPr lang="en-US" altLang="en-US" dirty="0"/>
              <a:t>any thread can be ‘receiving’ a message at any time </a:t>
            </a:r>
          </a:p>
          <a:p>
            <a:pPr lvl="1"/>
            <a:r>
              <a:rPr lang="en-US" altLang="en-US" dirty="0"/>
              <a:t>we need to worry about race conditions on the queues</a:t>
            </a:r>
          </a:p>
          <a:p>
            <a:pPr lvl="2"/>
            <a:r>
              <a:rPr lang="en-US" altLang="en-US" dirty="0"/>
              <a:t>will have to </a:t>
            </a:r>
            <a:r>
              <a:rPr lang="en-US" altLang="en-US" dirty="0">
                <a:solidFill>
                  <a:srgbClr val="FF0000"/>
                </a:solidFill>
              </a:rPr>
              <a:t>‘lock’</a:t>
            </a:r>
            <a:r>
              <a:rPr lang="en-US" altLang="en-US" dirty="0"/>
              <a:t> a queue when enqueue and dequeue a message  </a:t>
            </a:r>
          </a:p>
          <a:p>
            <a:pPr lvl="3"/>
            <a:r>
              <a:rPr lang="en-US" altLang="en-US" b="1" dirty="0">
                <a:solidFill>
                  <a:srgbClr val="FF0000"/>
                </a:solidFill>
              </a:rPr>
              <a:t>provide mutual exclusion </a:t>
            </a:r>
            <a:r>
              <a:rPr lang="en-US" altLang="en-US" b="1" dirty="0">
                <a:solidFill>
                  <a:srgbClr val="0070C0"/>
                </a:solidFill>
              </a:rPr>
              <a:t>(lower level coordination pattern)</a:t>
            </a:r>
            <a:endParaRPr lang="en-US" altLang="en-US" b="1" dirty="0">
              <a:solidFill>
                <a:srgbClr val="FF000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36DE49-BCEC-A646-898F-B0E313063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754DE0F-B57B-C84C-A7AF-CF31745C9570}"/>
              </a:ext>
            </a:extLst>
          </p:cNvPr>
          <p:cNvGraphicFramePr>
            <a:graphicFrameLocks noGrp="1"/>
          </p:cNvGraphicFramePr>
          <p:nvPr/>
        </p:nvGraphicFramePr>
        <p:xfrm>
          <a:off x="1824064" y="3003413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321625217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47717226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52616089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07615775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58242967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066318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5565573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309000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702452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60EC55C-C703-FB4C-9572-EC9139ED9660}"/>
              </a:ext>
            </a:extLst>
          </p:cNvPr>
          <p:cNvGraphicFramePr>
            <a:graphicFrameLocks noGrp="1"/>
          </p:cNvGraphicFramePr>
          <p:nvPr/>
        </p:nvGraphicFramePr>
        <p:xfrm>
          <a:off x="2164372" y="3607309"/>
          <a:ext cx="399915" cy="2811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9915">
                  <a:extLst>
                    <a:ext uri="{9D8B030D-6E8A-4147-A177-3AD203B41FA5}">
                      <a16:colId xmlns:a16="http://schemas.microsoft.com/office/drawing/2014/main" val="559118870"/>
                    </a:ext>
                  </a:extLst>
                </a:gridCol>
              </a:tblGrid>
              <a:tr h="281148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1459365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9366405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442355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0034821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60766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6631329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6626852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3123904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8851857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5780955"/>
                  </a:ext>
                </a:extLst>
              </a:tr>
            </a:tbl>
          </a:graphicData>
        </a:graphic>
      </p:graphicFrame>
      <p:sp>
        <p:nvSpPr>
          <p:cNvPr id="5" name="Down Arrow 4">
            <a:extLst>
              <a:ext uri="{FF2B5EF4-FFF2-40B4-BE49-F238E27FC236}">
                <a16:creationId xmlns:a16="http://schemas.microsoft.com/office/drawing/2014/main" id="{408FA434-F1A8-4046-A30B-16AA75F878B4}"/>
              </a:ext>
            </a:extLst>
          </p:cNvPr>
          <p:cNvSpPr/>
          <p:nvPr/>
        </p:nvSpPr>
        <p:spPr>
          <a:xfrm>
            <a:off x="2244641" y="3133883"/>
            <a:ext cx="239376" cy="47665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2C2A2AD-1BDE-9F4E-9645-66D0156536EB}"/>
              </a:ext>
            </a:extLst>
          </p:cNvPr>
          <p:cNvGraphicFramePr>
            <a:graphicFrameLocks noGrp="1"/>
          </p:cNvGraphicFramePr>
          <p:nvPr/>
        </p:nvGraphicFramePr>
        <p:xfrm>
          <a:off x="3172806" y="3607309"/>
          <a:ext cx="399915" cy="2811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9915">
                  <a:extLst>
                    <a:ext uri="{9D8B030D-6E8A-4147-A177-3AD203B41FA5}">
                      <a16:colId xmlns:a16="http://schemas.microsoft.com/office/drawing/2014/main" val="559118870"/>
                    </a:ext>
                  </a:extLst>
                </a:gridCol>
              </a:tblGrid>
              <a:tr h="281148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1459365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9366405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442355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0034821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60766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6631329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6626852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3123904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8851857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5780955"/>
                  </a:ext>
                </a:extLst>
              </a:tr>
            </a:tbl>
          </a:graphicData>
        </a:graphic>
      </p:graphicFrame>
      <p:sp>
        <p:nvSpPr>
          <p:cNvPr id="9" name="Down Arrow 8">
            <a:extLst>
              <a:ext uri="{FF2B5EF4-FFF2-40B4-BE49-F238E27FC236}">
                <a16:creationId xmlns:a16="http://schemas.microsoft.com/office/drawing/2014/main" id="{CA8E6703-7AAF-814D-AAE7-F6D30A091151}"/>
              </a:ext>
            </a:extLst>
          </p:cNvPr>
          <p:cNvSpPr/>
          <p:nvPr/>
        </p:nvSpPr>
        <p:spPr>
          <a:xfrm>
            <a:off x="3253075" y="3133883"/>
            <a:ext cx="239376" cy="47665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A0117C2-41D1-3244-85CD-B7D52C72E290}"/>
              </a:ext>
            </a:extLst>
          </p:cNvPr>
          <p:cNvGraphicFramePr>
            <a:graphicFrameLocks noGrp="1"/>
          </p:cNvGraphicFramePr>
          <p:nvPr/>
        </p:nvGraphicFramePr>
        <p:xfrm>
          <a:off x="4181239" y="3607309"/>
          <a:ext cx="399915" cy="2811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9915">
                  <a:extLst>
                    <a:ext uri="{9D8B030D-6E8A-4147-A177-3AD203B41FA5}">
                      <a16:colId xmlns:a16="http://schemas.microsoft.com/office/drawing/2014/main" val="559118870"/>
                    </a:ext>
                  </a:extLst>
                </a:gridCol>
              </a:tblGrid>
              <a:tr h="281148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1459365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9366405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442355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0034821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60766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6631329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6626852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3123904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8851857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5780955"/>
                  </a:ext>
                </a:extLst>
              </a:tr>
            </a:tbl>
          </a:graphicData>
        </a:graphic>
      </p:graphicFrame>
      <p:sp>
        <p:nvSpPr>
          <p:cNvPr id="11" name="Down Arrow 10">
            <a:extLst>
              <a:ext uri="{FF2B5EF4-FFF2-40B4-BE49-F238E27FC236}">
                <a16:creationId xmlns:a16="http://schemas.microsoft.com/office/drawing/2014/main" id="{1C62AA5C-2EA9-D340-B2F5-4CF39DBF7E8E}"/>
              </a:ext>
            </a:extLst>
          </p:cNvPr>
          <p:cNvSpPr/>
          <p:nvPr/>
        </p:nvSpPr>
        <p:spPr>
          <a:xfrm>
            <a:off x="4261508" y="3133883"/>
            <a:ext cx="239376" cy="47665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7A8F598-1A5A-D24D-A4A4-0D80CBEAE0F1}"/>
              </a:ext>
            </a:extLst>
          </p:cNvPr>
          <p:cNvGraphicFramePr>
            <a:graphicFrameLocks noGrp="1"/>
          </p:cNvGraphicFramePr>
          <p:nvPr/>
        </p:nvGraphicFramePr>
        <p:xfrm>
          <a:off x="5150253" y="3607309"/>
          <a:ext cx="399915" cy="2811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9915">
                  <a:extLst>
                    <a:ext uri="{9D8B030D-6E8A-4147-A177-3AD203B41FA5}">
                      <a16:colId xmlns:a16="http://schemas.microsoft.com/office/drawing/2014/main" val="559118870"/>
                    </a:ext>
                  </a:extLst>
                </a:gridCol>
              </a:tblGrid>
              <a:tr h="281148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1459365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9366405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442355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0034821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60766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6631329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6626852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3123904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8851857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5780955"/>
                  </a:ext>
                </a:extLst>
              </a:tr>
            </a:tbl>
          </a:graphicData>
        </a:graphic>
      </p:graphicFrame>
      <p:sp>
        <p:nvSpPr>
          <p:cNvPr id="13" name="Down Arrow 12">
            <a:extLst>
              <a:ext uri="{FF2B5EF4-FFF2-40B4-BE49-F238E27FC236}">
                <a16:creationId xmlns:a16="http://schemas.microsoft.com/office/drawing/2014/main" id="{DDF98F87-1819-7E44-B374-4A95C4299154}"/>
              </a:ext>
            </a:extLst>
          </p:cNvPr>
          <p:cNvSpPr/>
          <p:nvPr/>
        </p:nvSpPr>
        <p:spPr>
          <a:xfrm>
            <a:off x="5230522" y="3133883"/>
            <a:ext cx="239376" cy="47665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0074EFB6-E9B6-6645-81D1-F9BE25331181}"/>
              </a:ext>
            </a:extLst>
          </p:cNvPr>
          <p:cNvGraphicFramePr>
            <a:graphicFrameLocks noGrp="1"/>
          </p:cNvGraphicFramePr>
          <p:nvPr/>
        </p:nvGraphicFramePr>
        <p:xfrm>
          <a:off x="6199536" y="3607309"/>
          <a:ext cx="399915" cy="2811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9915">
                  <a:extLst>
                    <a:ext uri="{9D8B030D-6E8A-4147-A177-3AD203B41FA5}">
                      <a16:colId xmlns:a16="http://schemas.microsoft.com/office/drawing/2014/main" val="559118870"/>
                    </a:ext>
                  </a:extLst>
                </a:gridCol>
              </a:tblGrid>
              <a:tr h="281148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1459365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9366405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442355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0034821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60766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6631329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6626852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3123904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8851857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5780955"/>
                  </a:ext>
                </a:extLst>
              </a:tr>
            </a:tbl>
          </a:graphicData>
        </a:graphic>
      </p:graphicFrame>
      <p:sp>
        <p:nvSpPr>
          <p:cNvPr id="15" name="Down Arrow 14">
            <a:extLst>
              <a:ext uri="{FF2B5EF4-FFF2-40B4-BE49-F238E27FC236}">
                <a16:creationId xmlns:a16="http://schemas.microsoft.com/office/drawing/2014/main" id="{4EB0DB94-AC7E-DE4F-B5EB-83DB5771819C}"/>
              </a:ext>
            </a:extLst>
          </p:cNvPr>
          <p:cNvSpPr/>
          <p:nvPr/>
        </p:nvSpPr>
        <p:spPr>
          <a:xfrm>
            <a:off x="6279805" y="3133883"/>
            <a:ext cx="239376" cy="47665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B6E3DEA-3D55-B84A-B829-3A95E22452AA}"/>
              </a:ext>
            </a:extLst>
          </p:cNvPr>
          <p:cNvGraphicFramePr>
            <a:graphicFrameLocks noGrp="1"/>
          </p:cNvGraphicFramePr>
          <p:nvPr/>
        </p:nvGraphicFramePr>
        <p:xfrm>
          <a:off x="7207970" y="3607309"/>
          <a:ext cx="399915" cy="2811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9915">
                  <a:extLst>
                    <a:ext uri="{9D8B030D-6E8A-4147-A177-3AD203B41FA5}">
                      <a16:colId xmlns:a16="http://schemas.microsoft.com/office/drawing/2014/main" val="559118870"/>
                    </a:ext>
                  </a:extLst>
                </a:gridCol>
              </a:tblGrid>
              <a:tr h="281148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1459365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9366405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442355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0034821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60766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6631329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6626852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3123904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8851857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5780955"/>
                  </a:ext>
                </a:extLst>
              </a:tr>
            </a:tbl>
          </a:graphicData>
        </a:graphic>
      </p:graphicFrame>
      <p:sp>
        <p:nvSpPr>
          <p:cNvPr id="17" name="Down Arrow 16">
            <a:extLst>
              <a:ext uri="{FF2B5EF4-FFF2-40B4-BE49-F238E27FC236}">
                <a16:creationId xmlns:a16="http://schemas.microsoft.com/office/drawing/2014/main" id="{BA71D3D4-C8E1-4A4B-A133-1CBDFE9C1D07}"/>
              </a:ext>
            </a:extLst>
          </p:cNvPr>
          <p:cNvSpPr/>
          <p:nvPr/>
        </p:nvSpPr>
        <p:spPr>
          <a:xfrm>
            <a:off x="7288239" y="3133883"/>
            <a:ext cx="239376" cy="47665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E3149BE7-C1A3-B04F-9D3D-65B5BB7303CF}"/>
              </a:ext>
            </a:extLst>
          </p:cNvPr>
          <p:cNvGraphicFramePr>
            <a:graphicFrameLocks noGrp="1"/>
          </p:cNvGraphicFramePr>
          <p:nvPr/>
        </p:nvGraphicFramePr>
        <p:xfrm>
          <a:off x="8216403" y="3607309"/>
          <a:ext cx="399915" cy="2811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9915">
                  <a:extLst>
                    <a:ext uri="{9D8B030D-6E8A-4147-A177-3AD203B41FA5}">
                      <a16:colId xmlns:a16="http://schemas.microsoft.com/office/drawing/2014/main" val="559118870"/>
                    </a:ext>
                  </a:extLst>
                </a:gridCol>
              </a:tblGrid>
              <a:tr h="281148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1459365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9366405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442355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0034821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60766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6631329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6626852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3123904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8851857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5780955"/>
                  </a:ext>
                </a:extLst>
              </a:tr>
            </a:tbl>
          </a:graphicData>
        </a:graphic>
      </p:graphicFrame>
      <p:sp>
        <p:nvSpPr>
          <p:cNvPr id="19" name="Down Arrow 18">
            <a:extLst>
              <a:ext uri="{FF2B5EF4-FFF2-40B4-BE49-F238E27FC236}">
                <a16:creationId xmlns:a16="http://schemas.microsoft.com/office/drawing/2014/main" id="{455A066A-D714-E44F-8758-D7628129C055}"/>
              </a:ext>
            </a:extLst>
          </p:cNvPr>
          <p:cNvSpPr/>
          <p:nvPr/>
        </p:nvSpPr>
        <p:spPr>
          <a:xfrm>
            <a:off x="8296672" y="3133883"/>
            <a:ext cx="239376" cy="47665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791A33C5-D544-9342-9310-B31FA5D62814}"/>
              </a:ext>
            </a:extLst>
          </p:cNvPr>
          <p:cNvGraphicFramePr>
            <a:graphicFrameLocks noGrp="1"/>
          </p:cNvGraphicFramePr>
          <p:nvPr/>
        </p:nvGraphicFramePr>
        <p:xfrm>
          <a:off x="9185417" y="3607309"/>
          <a:ext cx="399915" cy="2811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9915">
                  <a:extLst>
                    <a:ext uri="{9D8B030D-6E8A-4147-A177-3AD203B41FA5}">
                      <a16:colId xmlns:a16="http://schemas.microsoft.com/office/drawing/2014/main" val="559118870"/>
                    </a:ext>
                  </a:extLst>
                </a:gridCol>
              </a:tblGrid>
              <a:tr h="281148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1459365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9366405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442355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0034821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60766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6631329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6626852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3123904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8851857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5780955"/>
                  </a:ext>
                </a:extLst>
              </a:tr>
            </a:tbl>
          </a:graphicData>
        </a:graphic>
      </p:graphicFrame>
      <p:sp>
        <p:nvSpPr>
          <p:cNvPr id="21" name="Down Arrow 20">
            <a:extLst>
              <a:ext uri="{FF2B5EF4-FFF2-40B4-BE49-F238E27FC236}">
                <a16:creationId xmlns:a16="http://schemas.microsoft.com/office/drawing/2014/main" id="{A4F1998A-F583-6E4D-BBDC-309F70C52447}"/>
              </a:ext>
            </a:extLst>
          </p:cNvPr>
          <p:cNvSpPr/>
          <p:nvPr/>
        </p:nvSpPr>
        <p:spPr>
          <a:xfrm>
            <a:off x="9265686" y="3133883"/>
            <a:ext cx="239376" cy="47665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4FF4DC-1B26-6945-9797-34DDF7F8395F}"/>
              </a:ext>
            </a:extLst>
          </p:cNvPr>
          <p:cNvSpPr txBox="1"/>
          <p:nvPr/>
        </p:nvSpPr>
        <p:spPr>
          <a:xfrm>
            <a:off x="10253292" y="2811265"/>
            <a:ext cx="176715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shared</a:t>
            </a:r>
            <a:br>
              <a:rPr lang="en-US" dirty="0"/>
            </a:br>
            <a:r>
              <a:rPr lang="en-US" dirty="0"/>
              <a:t>array of pointers</a:t>
            </a:r>
            <a:br>
              <a:rPr lang="en-US" dirty="0"/>
            </a:br>
            <a:r>
              <a:rPr lang="en-US" dirty="0"/>
              <a:t>to queues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8DBC62-6B5E-1248-A190-30EB7636EFBC}"/>
              </a:ext>
            </a:extLst>
          </p:cNvPr>
          <p:cNvSpPr txBox="1"/>
          <p:nvPr/>
        </p:nvSpPr>
        <p:spPr>
          <a:xfrm>
            <a:off x="10330775" y="3929974"/>
            <a:ext cx="12195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one queue</a:t>
            </a:r>
            <a:br>
              <a:rPr lang="en-US" dirty="0"/>
            </a:br>
            <a:r>
              <a:rPr lang="en-US" dirty="0"/>
              <a:t>per thread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AB6C8CE-4561-7948-B551-B3D6B187BB33}"/>
              </a:ext>
            </a:extLst>
          </p:cNvPr>
          <p:cNvSpPr/>
          <p:nvPr/>
        </p:nvSpPr>
        <p:spPr>
          <a:xfrm>
            <a:off x="2228612" y="3607309"/>
            <a:ext cx="285098" cy="2545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2127B16-792A-794B-91D3-27617CB81DB2}"/>
              </a:ext>
            </a:extLst>
          </p:cNvPr>
          <p:cNvSpPr/>
          <p:nvPr/>
        </p:nvSpPr>
        <p:spPr>
          <a:xfrm>
            <a:off x="5189672" y="3617036"/>
            <a:ext cx="285098" cy="2545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3341672-57BD-F547-8902-A208DA4B643D}"/>
              </a:ext>
            </a:extLst>
          </p:cNvPr>
          <p:cNvSpPr/>
          <p:nvPr/>
        </p:nvSpPr>
        <p:spPr>
          <a:xfrm>
            <a:off x="2207391" y="3917617"/>
            <a:ext cx="285098" cy="2545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A3B86A5-E1A2-874C-955B-E0589154FFFF}"/>
              </a:ext>
            </a:extLst>
          </p:cNvPr>
          <p:cNvSpPr txBox="1"/>
          <p:nvPr/>
        </p:nvSpPr>
        <p:spPr>
          <a:xfrm>
            <a:off x="10253292" y="293665"/>
            <a:ext cx="1606530" cy="92333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Shared Queue</a:t>
            </a:r>
          </a:p>
          <a:p>
            <a:r>
              <a:rPr lang="en-US" dirty="0"/>
              <a:t>Data Structure</a:t>
            </a:r>
          </a:p>
          <a:p>
            <a:r>
              <a:rPr lang="en-US" dirty="0"/>
              <a:t>Pattern</a:t>
            </a:r>
          </a:p>
        </p:txBody>
      </p:sp>
    </p:spTree>
    <p:extLst>
      <p:ext uri="{BB962C8B-B14F-4D97-AF65-F5344CB8AC3E}">
        <p14:creationId xmlns:p14="http://schemas.microsoft.com/office/powerpoint/2010/main" val="18735888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Title 1">
            <a:extLst>
              <a:ext uri="{FF2B5EF4-FFF2-40B4-BE49-F238E27FC236}">
                <a16:creationId xmlns:a16="http://schemas.microsoft.com/office/drawing/2014/main" id="{8D76B490-7D5E-BB45-849E-0DE28F46D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5189" y="109539"/>
            <a:ext cx="8281987" cy="708025"/>
          </a:xfrm>
        </p:spPr>
        <p:txBody>
          <a:bodyPr/>
          <a:lstStyle/>
          <a:p>
            <a:r>
              <a:rPr lang="en-US" altLang="en-US"/>
              <a:t>Message-Passing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36DE49-BCEC-A646-898F-B0E313063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754DE0F-B57B-C84C-A7AF-CF31745C95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9713561"/>
              </p:ext>
            </p:extLst>
          </p:nvPr>
        </p:nvGraphicFramePr>
        <p:xfrm>
          <a:off x="1441005" y="1556947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321625217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47717226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52616089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07615775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58242967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066318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5565573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309000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702452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60EC55C-C703-FB4C-9572-EC9139ED96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9746425"/>
              </p:ext>
            </p:extLst>
          </p:nvPr>
        </p:nvGraphicFramePr>
        <p:xfrm>
          <a:off x="1781313" y="2160843"/>
          <a:ext cx="399915" cy="2811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9915">
                  <a:extLst>
                    <a:ext uri="{9D8B030D-6E8A-4147-A177-3AD203B41FA5}">
                      <a16:colId xmlns:a16="http://schemas.microsoft.com/office/drawing/2014/main" val="559118870"/>
                    </a:ext>
                  </a:extLst>
                </a:gridCol>
              </a:tblGrid>
              <a:tr h="281148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1459365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9366405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442355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0034821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60766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6631329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6626852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3123904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8851857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5780955"/>
                  </a:ext>
                </a:extLst>
              </a:tr>
            </a:tbl>
          </a:graphicData>
        </a:graphic>
      </p:graphicFrame>
      <p:sp>
        <p:nvSpPr>
          <p:cNvPr id="5" name="Down Arrow 4">
            <a:extLst>
              <a:ext uri="{FF2B5EF4-FFF2-40B4-BE49-F238E27FC236}">
                <a16:creationId xmlns:a16="http://schemas.microsoft.com/office/drawing/2014/main" id="{408FA434-F1A8-4046-A30B-16AA75F878B4}"/>
              </a:ext>
            </a:extLst>
          </p:cNvPr>
          <p:cNvSpPr/>
          <p:nvPr/>
        </p:nvSpPr>
        <p:spPr>
          <a:xfrm>
            <a:off x="1861582" y="1687417"/>
            <a:ext cx="239376" cy="47665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2C2A2AD-1BDE-9F4E-9645-66D0156536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1660656"/>
              </p:ext>
            </p:extLst>
          </p:nvPr>
        </p:nvGraphicFramePr>
        <p:xfrm>
          <a:off x="2789747" y="2160843"/>
          <a:ext cx="399915" cy="2811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9915">
                  <a:extLst>
                    <a:ext uri="{9D8B030D-6E8A-4147-A177-3AD203B41FA5}">
                      <a16:colId xmlns:a16="http://schemas.microsoft.com/office/drawing/2014/main" val="559118870"/>
                    </a:ext>
                  </a:extLst>
                </a:gridCol>
              </a:tblGrid>
              <a:tr h="281148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1459365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9366405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442355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0034821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60766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6631329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6626852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3123904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8851857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5780955"/>
                  </a:ext>
                </a:extLst>
              </a:tr>
            </a:tbl>
          </a:graphicData>
        </a:graphic>
      </p:graphicFrame>
      <p:sp>
        <p:nvSpPr>
          <p:cNvPr id="9" name="Down Arrow 8">
            <a:extLst>
              <a:ext uri="{FF2B5EF4-FFF2-40B4-BE49-F238E27FC236}">
                <a16:creationId xmlns:a16="http://schemas.microsoft.com/office/drawing/2014/main" id="{CA8E6703-7AAF-814D-AAE7-F6D30A091151}"/>
              </a:ext>
            </a:extLst>
          </p:cNvPr>
          <p:cNvSpPr/>
          <p:nvPr/>
        </p:nvSpPr>
        <p:spPr>
          <a:xfrm>
            <a:off x="2870016" y="1687417"/>
            <a:ext cx="239376" cy="47665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A0117C2-41D1-3244-85CD-B7D52C72E2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7115949"/>
              </p:ext>
            </p:extLst>
          </p:nvPr>
        </p:nvGraphicFramePr>
        <p:xfrm>
          <a:off x="3798180" y="2160843"/>
          <a:ext cx="399915" cy="2811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9915">
                  <a:extLst>
                    <a:ext uri="{9D8B030D-6E8A-4147-A177-3AD203B41FA5}">
                      <a16:colId xmlns:a16="http://schemas.microsoft.com/office/drawing/2014/main" val="559118870"/>
                    </a:ext>
                  </a:extLst>
                </a:gridCol>
              </a:tblGrid>
              <a:tr h="281148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1459365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9366405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442355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0034821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60766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6631329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6626852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3123904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8851857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5780955"/>
                  </a:ext>
                </a:extLst>
              </a:tr>
            </a:tbl>
          </a:graphicData>
        </a:graphic>
      </p:graphicFrame>
      <p:sp>
        <p:nvSpPr>
          <p:cNvPr id="11" name="Down Arrow 10">
            <a:extLst>
              <a:ext uri="{FF2B5EF4-FFF2-40B4-BE49-F238E27FC236}">
                <a16:creationId xmlns:a16="http://schemas.microsoft.com/office/drawing/2014/main" id="{1C62AA5C-2EA9-D340-B2F5-4CF39DBF7E8E}"/>
              </a:ext>
            </a:extLst>
          </p:cNvPr>
          <p:cNvSpPr/>
          <p:nvPr/>
        </p:nvSpPr>
        <p:spPr>
          <a:xfrm>
            <a:off x="3878449" y="1687417"/>
            <a:ext cx="239376" cy="47665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7A8F598-1A5A-D24D-A4A4-0D80CBEAE0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3058082"/>
              </p:ext>
            </p:extLst>
          </p:nvPr>
        </p:nvGraphicFramePr>
        <p:xfrm>
          <a:off x="4767194" y="2160843"/>
          <a:ext cx="399915" cy="2811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9915">
                  <a:extLst>
                    <a:ext uri="{9D8B030D-6E8A-4147-A177-3AD203B41FA5}">
                      <a16:colId xmlns:a16="http://schemas.microsoft.com/office/drawing/2014/main" val="559118870"/>
                    </a:ext>
                  </a:extLst>
                </a:gridCol>
              </a:tblGrid>
              <a:tr h="281148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1459365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9366405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442355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0034821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60766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6631329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6626852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3123904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8851857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5780955"/>
                  </a:ext>
                </a:extLst>
              </a:tr>
            </a:tbl>
          </a:graphicData>
        </a:graphic>
      </p:graphicFrame>
      <p:sp>
        <p:nvSpPr>
          <p:cNvPr id="13" name="Down Arrow 12">
            <a:extLst>
              <a:ext uri="{FF2B5EF4-FFF2-40B4-BE49-F238E27FC236}">
                <a16:creationId xmlns:a16="http://schemas.microsoft.com/office/drawing/2014/main" id="{DDF98F87-1819-7E44-B374-4A95C4299154}"/>
              </a:ext>
            </a:extLst>
          </p:cNvPr>
          <p:cNvSpPr/>
          <p:nvPr/>
        </p:nvSpPr>
        <p:spPr>
          <a:xfrm>
            <a:off x="4847463" y="1687417"/>
            <a:ext cx="239376" cy="47665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0074EFB6-E9B6-6645-81D1-F9BE253311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9052788"/>
              </p:ext>
            </p:extLst>
          </p:nvPr>
        </p:nvGraphicFramePr>
        <p:xfrm>
          <a:off x="5816477" y="2160843"/>
          <a:ext cx="399915" cy="2811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9915">
                  <a:extLst>
                    <a:ext uri="{9D8B030D-6E8A-4147-A177-3AD203B41FA5}">
                      <a16:colId xmlns:a16="http://schemas.microsoft.com/office/drawing/2014/main" val="559118870"/>
                    </a:ext>
                  </a:extLst>
                </a:gridCol>
              </a:tblGrid>
              <a:tr h="281148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1459365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9366405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442355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0034821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60766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6631329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6626852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3123904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8851857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5780955"/>
                  </a:ext>
                </a:extLst>
              </a:tr>
            </a:tbl>
          </a:graphicData>
        </a:graphic>
      </p:graphicFrame>
      <p:sp>
        <p:nvSpPr>
          <p:cNvPr id="15" name="Down Arrow 14">
            <a:extLst>
              <a:ext uri="{FF2B5EF4-FFF2-40B4-BE49-F238E27FC236}">
                <a16:creationId xmlns:a16="http://schemas.microsoft.com/office/drawing/2014/main" id="{4EB0DB94-AC7E-DE4F-B5EB-83DB5771819C}"/>
              </a:ext>
            </a:extLst>
          </p:cNvPr>
          <p:cNvSpPr/>
          <p:nvPr/>
        </p:nvSpPr>
        <p:spPr>
          <a:xfrm>
            <a:off x="5896746" y="1687417"/>
            <a:ext cx="239376" cy="47665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B6E3DEA-3D55-B84A-B829-3A95E22452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7724108"/>
              </p:ext>
            </p:extLst>
          </p:nvPr>
        </p:nvGraphicFramePr>
        <p:xfrm>
          <a:off x="6824911" y="2160843"/>
          <a:ext cx="399915" cy="2811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9915">
                  <a:extLst>
                    <a:ext uri="{9D8B030D-6E8A-4147-A177-3AD203B41FA5}">
                      <a16:colId xmlns:a16="http://schemas.microsoft.com/office/drawing/2014/main" val="559118870"/>
                    </a:ext>
                  </a:extLst>
                </a:gridCol>
              </a:tblGrid>
              <a:tr h="281148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1459365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9366405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442355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0034821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60766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6631329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6626852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3123904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8851857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5780955"/>
                  </a:ext>
                </a:extLst>
              </a:tr>
            </a:tbl>
          </a:graphicData>
        </a:graphic>
      </p:graphicFrame>
      <p:sp>
        <p:nvSpPr>
          <p:cNvPr id="17" name="Down Arrow 16">
            <a:extLst>
              <a:ext uri="{FF2B5EF4-FFF2-40B4-BE49-F238E27FC236}">
                <a16:creationId xmlns:a16="http://schemas.microsoft.com/office/drawing/2014/main" id="{BA71D3D4-C8E1-4A4B-A133-1CBDFE9C1D07}"/>
              </a:ext>
            </a:extLst>
          </p:cNvPr>
          <p:cNvSpPr/>
          <p:nvPr/>
        </p:nvSpPr>
        <p:spPr>
          <a:xfrm>
            <a:off x="6905180" y="1687417"/>
            <a:ext cx="239376" cy="47665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E3149BE7-C1A3-B04F-9D3D-65B5BB7303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3627580"/>
              </p:ext>
            </p:extLst>
          </p:nvPr>
        </p:nvGraphicFramePr>
        <p:xfrm>
          <a:off x="7833344" y="2160843"/>
          <a:ext cx="399915" cy="2811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9915">
                  <a:extLst>
                    <a:ext uri="{9D8B030D-6E8A-4147-A177-3AD203B41FA5}">
                      <a16:colId xmlns:a16="http://schemas.microsoft.com/office/drawing/2014/main" val="559118870"/>
                    </a:ext>
                  </a:extLst>
                </a:gridCol>
              </a:tblGrid>
              <a:tr h="281148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1459365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9366405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442355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0034821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60766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6631329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6626852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3123904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8851857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5780955"/>
                  </a:ext>
                </a:extLst>
              </a:tr>
            </a:tbl>
          </a:graphicData>
        </a:graphic>
      </p:graphicFrame>
      <p:sp>
        <p:nvSpPr>
          <p:cNvPr id="19" name="Down Arrow 18">
            <a:extLst>
              <a:ext uri="{FF2B5EF4-FFF2-40B4-BE49-F238E27FC236}">
                <a16:creationId xmlns:a16="http://schemas.microsoft.com/office/drawing/2014/main" id="{455A066A-D714-E44F-8758-D7628129C055}"/>
              </a:ext>
            </a:extLst>
          </p:cNvPr>
          <p:cNvSpPr/>
          <p:nvPr/>
        </p:nvSpPr>
        <p:spPr>
          <a:xfrm>
            <a:off x="7913613" y="1687417"/>
            <a:ext cx="239376" cy="47665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791A33C5-D544-9342-9310-B31FA5D62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5872041"/>
              </p:ext>
            </p:extLst>
          </p:nvPr>
        </p:nvGraphicFramePr>
        <p:xfrm>
          <a:off x="8802358" y="2160843"/>
          <a:ext cx="399915" cy="2811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9915">
                  <a:extLst>
                    <a:ext uri="{9D8B030D-6E8A-4147-A177-3AD203B41FA5}">
                      <a16:colId xmlns:a16="http://schemas.microsoft.com/office/drawing/2014/main" val="559118870"/>
                    </a:ext>
                  </a:extLst>
                </a:gridCol>
              </a:tblGrid>
              <a:tr h="281148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1459365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9366405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442355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0034821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60766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6631329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6626852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3123904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8851857"/>
                  </a:ext>
                </a:extLst>
              </a:tr>
              <a:tr h="281148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5780955"/>
                  </a:ext>
                </a:extLst>
              </a:tr>
            </a:tbl>
          </a:graphicData>
        </a:graphic>
      </p:graphicFrame>
      <p:sp>
        <p:nvSpPr>
          <p:cNvPr id="21" name="Down Arrow 20">
            <a:extLst>
              <a:ext uri="{FF2B5EF4-FFF2-40B4-BE49-F238E27FC236}">
                <a16:creationId xmlns:a16="http://schemas.microsoft.com/office/drawing/2014/main" id="{A4F1998A-F583-6E4D-BBDC-309F70C52447}"/>
              </a:ext>
            </a:extLst>
          </p:cNvPr>
          <p:cNvSpPr/>
          <p:nvPr/>
        </p:nvSpPr>
        <p:spPr>
          <a:xfrm>
            <a:off x="8882627" y="1687417"/>
            <a:ext cx="239376" cy="47665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4FF4DC-1B26-6945-9797-34DDF7F8395F}"/>
              </a:ext>
            </a:extLst>
          </p:cNvPr>
          <p:cNvSpPr txBox="1"/>
          <p:nvPr/>
        </p:nvSpPr>
        <p:spPr>
          <a:xfrm>
            <a:off x="10253292" y="2811265"/>
            <a:ext cx="176715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shared</a:t>
            </a:r>
            <a:br>
              <a:rPr lang="en-US" dirty="0"/>
            </a:br>
            <a:r>
              <a:rPr lang="en-US" dirty="0"/>
              <a:t>array of pointers</a:t>
            </a:r>
            <a:br>
              <a:rPr lang="en-US" dirty="0"/>
            </a:br>
            <a:r>
              <a:rPr lang="en-US" dirty="0"/>
              <a:t>to queues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8DBC62-6B5E-1248-A190-30EB7636EFBC}"/>
              </a:ext>
            </a:extLst>
          </p:cNvPr>
          <p:cNvSpPr txBox="1"/>
          <p:nvPr/>
        </p:nvSpPr>
        <p:spPr>
          <a:xfrm>
            <a:off x="10330775" y="3929974"/>
            <a:ext cx="12195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one queue</a:t>
            </a:r>
            <a:br>
              <a:rPr lang="en-US" dirty="0"/>
            </a:br>
            <a:r>
              <a:rPr lang="en-US" dirty="0"/>
              <a:t>per thread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AB6C8CE-4561-7948-B551-B3D6B187BB33}"/>
              </a:ext>
            </a:extLst>
          </p:cNvPr>
          <p:cNvSpPr/>
          <p:nvPr/>
        </p:nvSpPr>
        <p:spPr>
          <a:xfrm>
            <a:off x="1845553" y="2160843"/>
            <a:ext cx="285098" cy="2545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2127B16-792A-794B-91D3-27617CB81DB2}"/>
              </a:ext>
            </a:extLst>
          </p:cNvPr>
          <p:cNvSpPr/>
          <p:nvPr/>
        </p:nvSpPr>
        <p:spPr>
          <a:xfrm>
            <a:off x="4806613" y="2170570"/>
            <a:ext cx="285098" cy="2545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3341672-57BD-F547-8902-A208DA4B643D}"/>
              </a:ext>
            </a:extLst>
          </p:cNvPr>
          <p:cNvSpPr/>
          <p:nvPr/>
        </p:nvSpPr>
        <p:spPr>
          <a:xfrm>
            <a:off x="1824332" y="2471151"/>
            <a:ext cx="285098" cy="2545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792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Title 1">
            <a:extLst>
              <a:ext uri="{FF2B5EF4-FFF2-40B4-BE49-F238E27FC236}">
                <a16:creationId xmlns:a16="http://schemas.microsoft.com/office/drawing/2014/main" id="{B880F38C-6EC7-4C44-9CC1-523B0E54A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Message-Passing  “test” pseudocode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6E8D420-C1E9-1642-BB8A-2762A92603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3379" y="1020278"/>
            <a:ext cx="9601200" cy="3581400"/>
          </a:xfrm>
        </p:spPr>
        <p:txBody>
          <a:bodyPr/>
          <a:lstStyle/>
          <a:p>
            <a:r>
              <a:rPr lang="en-US" dirty="0"/>
              <a:t>Each thread is executing this code  (SPMD pattern)</a:t>
            </a:r>
          </a:p>
          <a:p>
            <a:pPr lvl="1"/>
            <a:r>
              <a:rPr lang="en-US" dirty="0"/>
              <a:t>each thread is producing and consuming an equal number of messages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9A4C85-3E80-D64F-B66E-47AD66898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  <p:pic>
        <p:nvPicPr>
          <p:cNvPr id="92163" name="Picture 2">
            <a:extLst>
              <a:ext uri="{FF2B5EF4-FFF2-40B4-BE49-F238E27FC236}">
                <a16:creationId xmlns:a16="http://schemas.microsoft.com/office/drawing/2014/main" id="{D080A162-5135-AF49-8538-0650A6626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6962" y="1922647"/>
            <a:ext cx="8228012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6B18D00-5ED1-9F4B-A616-8365FEA0BCB1}"/>
              </a:ext>
            </a:extLst>
          </p:cNvPr>
          <p:cNvSpPr txBox="1"/>
          <p:nvPr/>
        </p:nvSpPr>
        <p:spPr>
          <a:xfrm>
            <a:off x="1260813" y="4446321"/>
            <a:ext cx="4773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This is in main() of </a:t>
            </a:r>
            <a:r>
              <a:rPr lang="en-US" dirty="0" err="1"/>
              <a:t>omp_msgps.c</a:t>
            </a:r>
            <a:r>
              <a:rPr lang="en-US" dirty="0"/>
              <a:t>, </a:t>
            </a:r>
            <a:r>
              <a:rPr lang="en-US" dirty="0" err="1"/>
              <a:t>omp_msglk.c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0A72D0-1A76-4F49-8B6E-A5B20675389B}"/>
              </a:ext>
            </a:extLst>
          </p:cNvPr>
          <p:cNvSpPr txBox="1"/>
          <p:nvPr/>
        </p:nvSpPr>
        <p:spPr>
          <a:xfrm>
            <a:off x="1749601" y="5504047"/>
            <a:ext cx="8568756" cy="646331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omp_msglk.c</a:t>
            </a:r>
            <a:r>
              <a:rPr lang="en-US" dirty="0"/>
              <a:t>  :  uses one form of </a:t>
            </a:r>
            <a:r>
              <a:rPr lang="en-US" dirty="0">
                <a:solidFill>
                  <a:srgbClr val="0070C0"/>
                </a:solidFill>
              </a:rPr>
              <a:t>mutual exclusion </a:t>
            </a:r>
            <a:r>
              <a:rPr lang="en-US" dirty="0"/>
              <a:t>on the queues: locks</a:t>
            </a:r>
          </a:p>
          <a:p>
            <a:r>
              <a:rPr lang="en-US" dirty="0" err="1"/>
              <a:t>omp_msgps.c</a:t>
            </a:r>
            <a:r>
              <a:rPr lang="en-US" dirty="0"/>
              <a:t>:  uses another form of </a:t>
            </a:r>
            <a:r>
              <a:rPr lang="en-US" dirty="0">
                <a:solidFill>
                  <a:srgbClr val="0070C0"/>
                </a:solidFill>
              </a:rPr>
              <a:t>mutual exclusion </a:t>
            </a:r>
            <a:r>
              <a:rPr lang="en-US" dirty="0"/>
              <a:t>on the queues : critical sections</a:t>
            </a:r>
          </a:p>
        </p:txBody>
      </p:sp>
    </p:spTree>
    <p:extLst>
      <p:ext uri="{BB962C8B-B14F-4D97-AF65-F5344CB8AC3E}">
        <p14:creationId xmlns:p14="http://schemas.microsoft.com/office/powerpoint/2010/main" val="19439698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Title 1">
            <a:extLst>
              <a:ext uri="{FF2B5EF4-FFF2-40B4-BE49-F238E27FC236}">
                <a16:creationId xmlns:a16="http://schemas.microsoft.com/office/drawing/2014/main" id="{0D3364B1-5FD3-9B47-890E-7BE7020AD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5189" y="109539"/>
            <a:ext cx="8281987" cy="708025"/>
          </a:xfrm>
        </p:spPr>
        <p:txBody>
          <a:bodyPr/>
          <a:lstStyle/>
          <a:p>
            <a:r>
              <a:rPr lang="en-US" altLang="en-US" dirty="0"/>
              <a:t>Termination Detection [ Done() ]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572946-2EAC-4E41-BF35-B0FBD32C4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  <p:pic>
        <p:nvPicPr>
          <p:cNvPr id="95235" name="Picture 3">
            <a:extLst>
              <a:ext uri="{FF2B5EF4-FFF2-40B4-BE49-F238E27FC236}">
                <a16:creationId xmlns:a16="http://schemas.microsoft.com/office/drawing/2014/main" id="{60E2ACB9-0CC2-6947-975B-FC9CBA5B30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6988" y="1628776"/>
            <a:ext cx="7123112" cy="176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ACE400F-93DA-C749-870F-E8C5023D1708}"/>
              </a:ext>
            </a:extLst>
          </p:cNvPr>
          <p:cNvSpPr/>
          <p:nvPr/>
        </p:nvSpPr>
        <p:spPr>
          <a:xfrm>
            <a:off x="3533689" y="3683508"/>
            <a:ext cx="4572000" cy="70802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sz="2000" dirty="0">
                <a:solidFill>
                  <a:srgbClr val="C00000"/>
                </a:solidFill>
              </a:rPr>
              <a:t>each thread increments this after completing its for loop</a:t>
            </a:r>
          </a:p>
        </p:txBody>
      </p:sp>
      <p:sp>
        <p:nvSpPr>
          <p:cNvPr id="95237" name="Freeform 6">
            <a:extLst>
              <a:ext uri="{FF2B5EF4-FFF2-40B4-BE49-F238E27FC236}">
                <a16:creationId xmlns:a16="http://schemas.microsoft.com/office/drawing/2014/main" id="{41BA3EAA-37FF-804D-A06F-6EB2B09CD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4989" y="2308226"/>
            <a:ext cx="1428362" cy="1435871"/>
          </a:xfrm>
          <a:custGeom>
            <a:avLst/>
            <a:gdLst>
              <a:gd name="T0" fmla="*/ 553962 w 1182915"/>
              <a:gd name="T1" fmla="*/ 0 h 1277258"/>
              <a:gd name="T2" fmla="*/ 89505 w 1182915"/>
              <a:gd name="T3" fmla="*/ 609600 h 1277258"/>
              <a:gd name="T4" fmla="*/ 1090991 w 1182915"/>
              <a:gd name="T5" fmla="*/ 522515 h 1277258"/>
              <a:gd name="T6" fmla="*/ 641048 w 1182915"/>
              <a:gd name="T7" fmla="*/ 1277258 h 1277258"/>
              <a:gd name="T8" fmla="*/ 0 60000 65536"/>
              <a:gd name="T9" fmla="*/ 0 60000 65536"/>
              <a:gd name="T10" fmla="*/ 0 60000 65536"/>
              <a:gd name="T11" fmla="*/ 0 60000 65536"/>
              <a:gd name="T12" fmla="*/ 0 w 1182915"/>
              <a:gd name="T13" fmla="*/ 0 h 1277258"/>
              <a:gd name="T14" fmla="*/ 1182915 w 1182915"/>
              <a:gd name="T15" fmla="*/ 1277258 h 127725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182915" h="1277258">
                <a:moveTo>
                  <a:pt x="553962" y="0"/>
                </a:moveTo>
                <a:cubicBezTo>
                  <a:pt x="276981" y="261257"/>
                  <a:pt x="0" y="522514"/>
                  <a:pt x="89505" y="609600"/>
                </a:cubicBezTo>
                <a:cubicBezTo>
                  <a:pt x="179010" y="696686"/>
                  <a:pt x="999067" y="411239"/>
                  <a:pt x="1090991" y="522515"/>
                </a:cubicBezTo>
                <a:cubicBezTo>
                  <a:pt x="1182915" y="633791"/>
                  <a:pt x="911981" y="955524"/>
                  <a:pt x="641048" y="1277258"/>
                </a:cubicBezTo>
              </a:path>
            </a:pathLst>
          </a:custGeom>
          <a:noFill/>
          <a:ln w="9525" algn="ctr">
            <a:solidFill>
              <a:srgbClr val="C00000"/>
            </a:solidFill>
            <a:round/>
            <a:headEnd type="arrow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9pPr>
          </a:lstStyle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1529558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Title 1">
            <a:extLst>
              <a:ext uri="{FF2B5EF4-FFF2-40B4-BE49-F238E27FC236}">
                <a16:creationId xmlns:a16="http://schemas.microsoft.com/office/drawing/2014/main" id="{6A9CF743-660C-FD49-87DE-9AC4D509C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Sending Messages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CB5C12-E670-CD48-9F1E-909B692C3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  <p:pic>
        <p:nvPicPr>
          <p:cNvPr id="93187" name="Picture 2">
            <a:extLst>
              <a:ext uri="{FF2B5EF4-FFF2-40B4-BE49-F238E27FC236}">
                <a16:creationId xmlns:a16="http://schemas.microsoft.com/office/drawing/2014/main" id="{637AE25E-F169-4F40-A08B-672AA3BE3E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8214" y="1628776"/>
            <a:ext cx="7818437" cy="181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C09F2D0-55C8-664E-A52B-17208B22B67F}"/>
              </a:ext>
            </a:extLst>
          </p:cNvPr>
          <p:cNvSpPr txBox="1"/>
          <p:nvPr/>
        </p:nvSpPr>
        <p:spPr>
          <a:xfrm>
            <a:off x="1233379" y="840260"/>
            <a:ext cx="28816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/>
              <a:t>omp_msgps.c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004069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Title 1">
            <a:extLst>
              <a:ext uri="{FF2B5EF4-FFF2-40B4-BE49-F238E27FC236}">
                <a16:creationId xmlns:a16="http://schemas.microsoft.com/office/drawing/2014/main" id="{6C877453-FFAF-0F47-98A9-82E4DBB08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3379" y="132235"/>
            <a:ext cx="8281987" cy="708025"/>
          </a:xfrm>
        </p:spPr>
        <p:txBody>
          <a:bodyPr/>
          <a:lstStyle/>
          <a:p>
            <a:r>
              <a:rPr lang="en-US" altLang="en-US" dirty="0"/>
              <a:t>Receiving Messages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0B049E-F7B4-EE43-AB24-8D47C4C20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  <p:pic>
        <p:nvPicPr>
          <p:cNvPr id="94211" name="Picture 2">
            <a:extLst>
              <a:ext uri="{FF2B5EF4-FFF2-40B4-BE49-F238E27FC236}">
                <a16:creationId xmlns:a16="http://schemas.microsoft.com/office/drawing/2014/main" id="{CABA1A5A-C897-BB48-8A09-7DB7D634A6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550" y="1557339"/>
            <a:ext cx="6827838" cy="313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E0A5C2D-422D-6F44-A02E-0AE4438B84D2}"/>
              </a:ext>
            </a:extLst>
          </p:cNvPr>
          <p:cNvSpPr txBox="1"/>
          <p:nvPr/>
        </p:nvSpPr>
        <p:spPr>
          <a:xfrm>
            <a:off x="1233379" y="840260"/>
            <a:ext cx="28816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/>
              <a:t>omp_msgps.c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145686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Title 1">
            <a:extLst>
              <a:ext uri="{FF2B5EF4-FFF2-40B4-BE49-F238E27FC236}">
                <a16:creationId xmlns:a16="http://schemas.microsoft.com/office/drawing/2014/main" id="{6C877453-FFAF-0F47-98A9-82E4DBB08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260" y="60189"/>
            <a:ext cx="9601200" cy="428066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Compare these operations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4B65E7-CCFA-BF4B-8695-8D9D4B1662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462621"/>
            <a:ext cx="4443984" cy="823912"/>
          </a:xfrm>
        </p:spPr>
        <p:txBody>
          <a:bodyPr/>
          <a:lstStyle/>
          <a:p>
            <a:r>
              <a:rPr lang="en-US" dirty="0"/>
              <a:t>enqueue, or add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097EC97-954F-A141-A0E8-47F250EE59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25014" y="462621"/>
            <a:ext cx="4443984" cy="823912"/>
          </a:xfrm>
        </p:spPr>
        <p:txBody>
          <a:bodyPr/>
          <a:lstStyle/>
          <a:p>
            <a:r>
              <a:rPr lang="en-US" dirty="0"/>
              <a:t>dequeue, or remove</a:t>
            </a:r>
          </a:p>
        </p:txBody>
      </p:sp>
      <p:pic>
        <p:nvPicPr>
          <p:cNvPr id="94211" name="Picture 2">
            <a:extLst>
              <a:ext uri="{FF2B5EF4-FFF2-40B4-BE49-F238E27FC236}">
                <a16:creationId xmlns:a16="http://schemas.microsoft.com/office/drawing/2014/main" id="{CABA1A5A-C897-BB48-8A09-7DB7D634A6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5512" y="1426964"/>
            <a:ext cx="5506995" cy="25275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72F86BE4-3582-BA49-925E-FA0042D1C2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412" y="1447645"/>
            <a:ext cx="6045642" cy="1406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8C1CE42-C1C5-1C41-BE79-A02AA94671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681" y="3165944"/>
            <a:ext cx="5842079" cy="247531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055F024-0836-6F4E-A70F-B6BC33350980}"/>
              </a:ext>
            </a:extLst>
          </p:cNvPr>
          <p:cNvSpPr txBox="1"/>
          <p:nvPr/>
        </p:nvSpPr>
        <p:spPr>
          <a:xfrm>
            <a:off x="7203989" y="4246849"/>
            <a:ext cx="36624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Only one thread ever dequeues a </a:t>
            </a:r>
            <a:br>
              <a:rPr lang="en-US" dirty="0"/>
            </a:br>
            <a:r>
              <a:rPr lang="en-US" dirty="0"/>
              <a:t>message from its designated queue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3AE09D-8B6F-464C-81BF-2D177E31DAB4}"/>
              </a:ext>
            </a:extLst>
          </p:cNvPr>
          <p:cNvSpPr txBox="1"/>
          <p:nvPr/>
        </p:nvSpPr>
        <p:spPr>
          <a:xfrm>
            <a:off x="273121" y="3506249"/>
            <a:ext cx="640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front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EF3469C-3D8B-0B4A-9498-980DEECCAF4F}"/>
              </a:ext>
            </a:extLst>
          </p:cNvPr>
          <p:cNvSpPr txBox="1"/>
          <p:nvPr/>
        </p:nvSpPr>
        <p:spPr>
          <a:xfrm>
            <a:off x="273121" y="3838510"/>
            <a:ext cx="577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rear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75302AE-4D40-7448-B706-92E6E2315BF8}"/>
              </a:ext>
            </a:extLst>
          </p:cNvPr>
          <p:cNvCxnSpPr>
            <a:cxnSpLocks/>
          </p:cNvCxnSpPr>
          <p:nvPr/>
        </p:nvCxnSpPr>
        <p:spPr>
          <a:xfrm>
            <a:off x="876610" y="3727986"/>
            <a:ext cx="521077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DC929C1-34C9-454F-960D-3CAEC6BB4D41}"/>
              </a:ext>
            </a:extLst>
          </p:cNvPr>
          <p:cNvCxnSpPr/>
          <p:nvPr/>
        </p:nvCxnSpPr>
        <p:spPr>
          <a:xfrm>
            <a:off x="850523" y="3991540"/>
            <a:ext cx="521077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EEE913D-A3E2-A54A-8E01-69832349342A}"/>
              </a:ext>
            </a:extLst>
          </p:cNvPr>
          <p:cNvSpPr txBox="1"/>
          <p:nvPr/>
        </p:nvSpPr>
        <p:spPr>
          <a:xfrm>
            <a:off x="7116918" y="5041090"/>
            <a:ext cx="358373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 long as there are more than</a:t>
            </a:r>
            <a:br>
              <a:rPr lang="en-US" dirty="0"/>
            </a:br>
            <a:r>
              <a:rPr lang="en-US" dirty="0"/>
              <a:t>2 messages on the queue, a call to</a:t>
            </a:r>
            <a:br>
              <a:rPr lang="en-US" dirty="0"/>
            </a:br>
            <a:r>
              <a:rPr lang="en-US" dirty="0"/>
              <a:t>Dequeue won’t conflict with a </a:t>
            </a:r>
            <a:br>
              <a:rPr lang="en-US" dirty="0"/>
            </a:br>
            <a:r>
              <a:rPr lang="en-US" dirty="0"/>
              <a:t>call to Enqueue</a:t>
            </a:r>
          </a:p>
        </p:txBody>
      </p:sp>
    </p:spTree>
    <p:extLst>
      <p:ext uri="{BB962C8B-B14F-4D97-AF65-F5344CB8AC3E}">
        <p14:creationId xmlns:p14="http://schemas.microsoft.com/office/powerpoint/2010/main" val="4009890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Title 1">
            <a:extLst>
              <a:ext uri="{FF2B5EF4-FFF2-40B4-BE49-F238E27FC236}">
                <a16:creationId xmlns:a16="http://schemas.microsoft.com/office/drawing/2014/main" id="{743AD4FC-5601-494D-90E8-6F9D6B719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Startup (1)</a:t>
            </a:r>
          </a:p>
        </p:txBody>
      </p:sp>
      <p:sp>
        <p:nvSpPr>
          <p:cNvPr id="96258" name="Content Placeholder 3">
            <a:extLst>
              <a:ext uri="{FF2B5EF4-FFF2-40B4-BE49-F238E27FC236}">
                <a16:creationId xmlns:a16="http://schemas.microsoft.com/office/drawing/2014/main" id="{F6574328-AF9D-4845-883C-1F3E73147B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3379" y="796034"/>
            <a:ext cx="9601200" cy="3581400"/>
          </a:xfrm>
        </p:spPr>
        <p:txBody>
          <a:bodyPr>
            <a:normAutofit/>
          </a:bodyPr>
          <a:lstStyle/>
          <a:p>
            <a:r>
              <a:rPr lang="en-US" altLang="en-US" sz="2400" dirty="0"/>
              <a:t>When the program begins execution, a single thread, the master thread, will:</a:t>
            </a:r>
          </a:p>
          <a:p>
            <a:pPr lvl="1"/>
            <a:r>
              <a:rPr lang="en-US" altLang="en-US" sz="2400" dirty="0"/>
              <a:t> get command line arguments and </a:t>
            </a:r>
          </a:p>
          <a:p>
            <a:pPr lvl="1"/>
            <a:r>
              <a:rPr lang="en-US" altLang="en-US" sz="2400" dirty="0"/>
              <a:t>allocate an array of </a:t>
            </a:r>
            <a:r>
              <a:rPr lang="en-US" altLang="en-US" sz="2400" u="sng" dirty="0"/>
              <a:t>pointers to message queues</a:t>
            </a:r>
            <a:r>
              <a:rPr lang="en-US" altLang="en-US" sz="2400" dirty="0"/>
              <a:t>: one for each thread. </a:t>
            </a:r>
          </a:p>
          <a:p>
            <a:r>
              <a:rPr lang="en-US" altLang="en-US" sz="2400" dirty="0"/>
              <a:t>This array needs to be shared among the threads, since any thread can send to any other thread, and hence any thread can enqueue a message in any of the queues.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34C26E-A7B6-2349-8452-D1EC170C0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44A62A-D1C1-614B-9FE2-FE02553C9B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7741" y="3978075"/>
            <a:ext cx="5842079" cy="2475311"/>
          </a:xfrm>
          <a:prstGeom prst="rect">
            <a:avLst/>
          </a:prstGeom>
        </p:spPr>
      </p:pic>
      <p:cxnSp>
        <p:nvCxnSpPr>
          <p:cNvPr id="4" name="Curved Connector 3">
            <a:extLst>
              <a:ext uri="{FF2B5EF4-FFF2-40B4-BE49-F238E27FC236}">
                <a16:creationId xmlns:a16="http://schemas.microsoft.com/office/drawing/2014/main" id="{09C640E4-90BC-7F4B-A6C8-5F9D8EEB798D}"/>
              </a:ext>
            </a:extLst>
          </p:cNvPr>
          <p:cNvCxnSpPr>
            <a:cxnSpLocks/>
          </p:cNvCxnSpPr>
          <p:nvPr/>
        </p:nvCxnSpPr>
        <p:spPr>
          <a:xfrm>
            <a:off x="9549291" y="2347784"/>
            <a:ext cx="2016633" cy="1630291"/>
          </a:xfrm>
          <a:prstGeom prst="curvedConnector3">
            <a:avLst>
              <a:gd name="adj1" fmla="val 111275"/>
            </a:avLst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60DEC17-8174-854E-9013-51783B385B0E}"/>
              </a:ext>
            </a:extLst>
          </p:cNvPr>
          <p:cNvSpPr txBox="1"/>
          <p:nvPr/>
        </p:nvSpPr>
        <p:spPr>
          <a:xfrm>
            <a:off x="2893564" y="4030415"/>
            <a:ext cx="1606530" cy="92333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Shared Queue</a:t>
            </a:r>
          </a:p>
          <a:p>
            <a:r>
              <a:rPr lang="en-US" dirty="0"/>
              <a:t>Data Structure</a:t>
            </a:r>
          </a:p>
          <a:p>
            <a:r>
              <a:rPr lang="en-US" dirty="0"/>
              <a:t>Pattern</a:t>
            </a:r>
          </a:p>
        </p:txBody>
      </p:sp>
    </p:spTree>
    <p:extLst>
      <p:ext uri="{BB962C8B-B14F-4D97-AF65-F5344CB8AC3E}">
        <p14:creationId xmlns:p14="http://schemas.microsoft.com/office/powerpoint/2010/main" val="2547991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62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962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962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962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Title 1">
            <a:extLst>
              <a:ext uri="{FF2B5EF4-FFF2-40B4-BE49-F238E27FC236}">
                <a16:creationId xmlns:a16="http://schemas.microsoft.com/office/drawing/2014/main" id="{A611011C-285F-804D-947F-FCCB8CE9A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762" y="117909"/>
            <a:ext cx="11106057" cy="902369"/>
          </a:xfrm>
        </p:spPr>
        <p:txBody>
          <a:bodyPr>
            <a:noAutofit/>
          </a:bodyPr>
          <a:lstStyle/>
          <a:p>
            <a:r>
              <a:rPr lang="en-US" altLang="en-US" sz="3600" dirty="0"/>
              <a:t>Startup (2):  each thread creates its queue in parallel</a:t>
            </a:r>
          </a:p>
        </p:txBody>
      </p:sp>
      <p:sp>
        <p:nvSpPr>
          <p:cNvPr id="97282" name="Content Placeholder 2">
            <a:extLst>
              <a:ext uri="{FF2B5EF4-FFF2-40B4-BE49-F238E27FC236}">
                <a16:creationId xmlns:a16="http://schemas.microsoft.com/office/drawing/2014/main" id="{9BAFB243-937A-2549-BED6-BB47FA4820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One or more threads may finish allocating their queues before some other threads.</a:t>
            </a:r>
          </a:p>
          <a:p>
            <a:r>
              <a:rPr lang="en-US" altLang="en-US"/>
              <a:t>We need an explicit barrier so that when a thread encounters the barrier, it blocks until all the threads in the team have reached the barrier.</a:t>
            </a:r>
          </a:p>
          <a:p>
            <a:r>
              <a:rPr lang="en-US" altLang="en-US"/>
              <a:t>After all the threads have reached the barrier all the threads in the team can proceed.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EDB57F-7B49-FE49-95CB-FF88D6385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  <p:pic>
        <p:nvPicPr>
          <p:cNvPr id="97284" name="Picture 2">
            <a:extLst>
              <a:ext uri="{FF2B5EF4-FFF2-40B4-BE49-F238E27FC236}">
                <a16:creationId xmlns:a16="http://schemas.microsoft.com/office/drawing/2014/main" id="{512AC3F4-4A53-C444-8688-FF1717D301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379" y="3503452"/>
            <a:ext cx="4048125" cy="676275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105083B-343E-AB42-8D4E-23367FEC00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7741" y="3978075"/>
            <a:ext cx="5842079" cy="247531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BB3B16B-8A26-DD44-A211-0D60F73EBB06}"/>
              </a:ext>
            </a:extLst>
          </p:cNvPr>
          <p:cNvSpPr/>
          <p:nvPr/>
        </p:nvSpPr>
        <p:spPr>
          <a:xfrm>
            <a:off x="6153666" y="4374292"/>
            <a:ext cx="654908" cy="2199503"/>
          </a:xfrm>
          <a:prstGeom prst="rect">
            <a:avLst/>
          </a:prstGeom>
          <a:solidFill>
            <a:schemeClr val="accent1">
              <a:alpha val="1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3CFBDA-BDB9-8940-B5EF-745359B0DDFF}"/>
              </a:ext>
            </a:extLst>
          </p:cNvPr>
          <p:cNvSpPr/>
          <p:nvPr/>
        </p:nvSpPr>
        <p:spPr>
          <a:xfrm>
            <a:off x="6865189" y="4374292"/>
            <a:ext cx="654908" cy="2199503"/>
          </a:xfrm>
          <a:prstGeom prst="rect">
            <a:avLst/>
          </a:prstGeom>
          <a:solidFill>
            <a:schemeClr val="accent1">
              <a:alpha val="1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F9E7A4C-9F3E-BE41-9FD7-9B5AC6DCD159}"/>
              </a:ext>
            </a:extLst>
          </p:cNvPr>
          <p:cNvSpPr/>
          <p:nvPr/>
        </p:nvSpPr>
        <p:spPr>
          <a:xfrm>
            <a:off x="7571340" y="4374292"/>
            <a:ext cx="654908" cy="2199503"/>
          </a:xfrm>
          <a:prstGeom prst="rect">
            <a:avLst/>
          </a:prstGeom>
          <a:solidFill>
            <a:schemeClr val="accent1">
              <a:alpha val="1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856B5C8-4552-604B-AA08-FE160739E6BC}"/>
              </a:ext>
            </a:extLst>
          </p:cNvPr>
          <p:cNvSpPr/>
          <p:nvPr/>
        </p:nvSpPr>
        <p:spPr>
          <a:xfrm>
            <a:off x="8282863" y="4374292"/>
            <a:ext cx="654908" cy="2199503"/>
          </a:xfrm>
          <a:prstGeom prst="rect">
            <a:avLst/>
          </a:prstGeom>
          <a:solidFill>
            <a:schemeClr val="accent1">
              <a:alpha val="1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E211EF3-E3E9-1440-B084-AE8DB9159F9B}"/>
              </a:ext>
            </a:extLst>
          </p:cNvPr>
          <p:cNvSpPr/>
          <p:nvPr/>
        </p:nvSpPr>
        <p:spPr>
          <a:xfrm>
            <a:off x="8974809" y="4374292"/>
            <a:ext cx="654908" cy="2199503"/>
          </a:xfrm>
          <a:prstGeom prst="rect">
            <a:avLst/>
          </a:prstGeom>
          <a:solidFill>
            <a:schemeClr val="accent1">
              <a:alpha val="1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C7B2132-8324-4247-8B71-3280B3CC66C3}"/>
              </a:ext>
            </a:extLst>
          </p:cNvPr>
          <p:cNvSpPr/>
          <p:nvPr/>
        </p:nvSpPr>
        <p:spPr>
          <a:xfrm>
            <a:off x="9686332" y="4374292"/>
            <a:ext cx="654908" cy="2199503"/>
          </a:xfrm>
          <a:prstGeom prst="rect">
            <a:avLst/>
          </a:prstGeom>
          <a:solidFill>
            <a:schemeClr val="accent1">
              <a:alpha val="1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EA7DC6-6882-4449-94B7-A681EC8246D4}"/>
              </a:ext>
            </a:extLst>
          </p:cNvPr>
          <p:cNvSpPr/>
          <p:nvPr/>
        </p:nvSpPr>
        <p:spPr>
          <a:xfrm>
            <a:off x="10384297" y="4374292"/>
            <a:ext cx="654908" cy="2199503"/>
          </a:xfrm>
          <a:prstGeom prst="rect">
            <a:avLst/>
          </a:prstGeom>
          <a:solidFill>
            <a:schemeClr val="accent1">
              <a:alpha val="1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26A4914-DFAA-3147-B4E6-1EDA6D65B39B}"/>
              </a:ext>
            </a:extLst>
          </p:cNvPr>
          <p:cNvSpPr/>
          <p:nvPr/>
        </p:nvSpPr>
        <p:spPr>
          <a:xfrm>
            <a:off x="11095820" y="4374292"/>
            <a:ext cx="654908" cy="2199503"/>
          </a:xfrm>
          <a:prstGeom prst="rect">
            <a:avLst/>
          </a:prstGeom>
          <a:solidFill>
            <a:schemeClr val="accent1">
              <a:alpha val="1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4F188C4-EC8F-3348-B441-6758D4E30701}"/>
              </a:ext>
            </a:extLst>
          </p:cNvPr>
          <p:cNvSpPr txBox="1"/>
          <p:nvPr/>
        </p:nvSpPr>
        <p:spPr>
          <a:xfrm>
            <a:off x="2090299" y="4683610"/>
            <a:ext cx="2141420" cy="64633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Barrier Coordination</a:t>
            </a:r>
          </a:p>
          <a:p>
            <a:r>
              <a:rPr lang="en-US" dirty="0"/>
              <a:t>Pattern</a:t>
            </a:r>
          </a:p>
        </p:txBody>
      </p:sp>
    </p:spTree>
    <p:extLst>
      <p:ext uri="{BB962C8B-B14F-4D97-AF65-F5344CB8AC3E}">
        <p14:creationId xmlns:p14="http://schemas.microsoft.com/office/powerpoint/2010/main" val="3945377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0FAD8-9BC4-F54F-8247-FD4053907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386" y="93195"/>
            <a:ext cx="11404613" cy="667591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Example ‘test’ program:  all threads sending messages concurrently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92E871-A41E-734B-B727-BB4968FE2E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7387" y="760786"/>
            <a:ext cx="10493183" cy="5345274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for (</a:t>
            </a:r>
            <a:r>
              <a:rPr lang="en-US" dirty="0" err="1"/>
              <a:t>msg_number</a:t>
            </a:r>
            <a:r>
              <a:rPr lang="en-US" dirty="0"/>
              <a:t> = 0; </a:t>
            </a:r>
            <a:r>
              <a:rPr lang="en-US" dirty="0" err="1"/>
              <a:t>msg_number</a:t>
            </a:r>
            <a:r>
              <a:rPr lang="en-US" dirty="0"/>
              <a:t> &lt; </a:t>
            </a:r>
            <a:r>
              <a:rPr lang="en-US" dirty="0" err="1"/>
              <a:t>send_max</a:t>
            </a:r>
            <a:r>
              <a:rPr lang="en-US" dirty="0"/>
              <a:t>; </a:t>
            </a:r>
            <a:r>
              <a:rPr lang="en-US" dirty="0" err="1"/>
              <a:t>msg_number</a:t>
            </a:r>
            <a:r>
              <a:rPr lang="en-US" dirty="0"/>
              <a:t>++)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       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Send_msg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(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msg_queues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,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my_rank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,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thread_count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,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msg_number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        </a:t>
            </a:r>
            <a:r>
              <a:rPr lang="en-US" dirty="0" err="1"/>
              <a:t>Try_receive</a:t>
            </a:r>
            <a:r>
              <a:rPr lang="en-US" dirty="0"/>
              <a:t>(</a:t>
            </a:r>
            <a:r>
              <a:rPr lang="en-US" dirty="0" err="1"/>
              <a:t>msg_queues</a:t>
            </a:r>
            <a:r>
              <a:rPr lang="en-US" dirty="0"/>
              <a:t>[</a:t>
            </a:r>
            <a:r>
              <a:rPr lang="en-US" dirty="0" err="1"/>
              <a:t>my_rank</a:t>
            </a:r>
            <a:r>
              <a:rPr lang="en-US" dirty="0"/>
              <a:t>], </a:t>
            </a:r>
            <a:r>
              <a:rPr lang="en-US" dirty="0" err="1"/>
              <a:t>my_rank</a:t>
            </a:r>
            <a:r>
              <a:rPr lang="en-US" dirty="0"/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   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#     pragma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omp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atomic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     </a:t>
            </a:r>
            <a:r>
              <a:rPr lang="en-US" dirty="0" err="1"/>
              <a:t>done_sending</a:t>
            </a:r>
            <a:r>
              <a:rPr lang="en-US" dirty="0"/>
              <a:t>++;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#     ifdef DEBUG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     </a:t>
            </a:r>
            <a:r>
              <a:rPr lang="en-US" dirty="0" err="1"/>
              <a:t>printf</a:t>
            </a:r>
            <a:r>
              <a:rPr lang="en-US" dirty="0"/>
              <a:t>("Thread %d &gt; done sending\n", </a:t>
            </a:r>
            <a:r>
              <a:rPr lang="en-US" dirty="0" err="1"/>
              <a:t>my_rank</a:t>
            </a:r>
            <a:r>
              <a:rPr lang="en-US" dirty="0"/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#     endif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     while (!Done(</a:t>
            </a:r>
            <a:r>
              <a:rPr lang="en-US" dirty="0" err="1"/>
              <a:t>msg_queues</a:t>
            </a:r>
            <a:r>
              <a:rPr lang="en-US" dirty="0"/>
              <a:t>[</a:t>
            </a:r>
            <a:r>
              <a:rPr lang="en-US" dirty="0" err="1"/>
              <a:t>my_rank</a:t>
            </a:r>
            <a:r>
              <a:rPr lang="en-US" dirty="0"/>
              <a:t>], </a:t>
            </a:r>
            <a:r>
              <a:rPr lang="en-US" dirty="0" err="1"/>
              <a:t>done_sending</a:t>
            </a:r>
            <a:r>
              <a:rPr lang="en-US" dirty="0"/>
              <a:t>, </a:t>
            </a:r>
            <a:r>
              <a:rPr lang="en-US" dirty="0" err="1"/>
              <a:t>thread_count</a:t>
            </a:r>
            <a:r>
              <a:rPr lang="en-US" dirty="0"/>
              <a:t>))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        </a:t>
            </a:r>
            <a:r>
              <a:rPr lang="en-US" dirty="0" err="1"/>
              <a:t>Try_receive</a:t>
            </a:r>
            <a:r>
              <a:rPr lang="en-US" dirty="0"/>
              <a:t>(</a:t>
            </a:r>
            <a:r>
              <a:rPr lang="en-US" dirty="0" err="1"/>
              <a:t>msg_queues</a:t>
            </a:r>
            <a:r>
              <a:rPr lang="en-US" dirty="0"/>
              <a:t>[</a:t>
            </a:r>
            <a:r>
              <a:rPr lang="en-US" dirty="0" err="1"/>
              <a:t>my_rank</a:t>
            </a:r>
            <a:r>
              <a:rPr lang="en-US" dirty="0"/>
              <a:t>], </a:t>
            </a:r>
            <a:r>
              <a:rPr lang="en-US" dirty="0" err="1"/>
              <a:t>my_rank</a:t>
            </a:r>
            <a:r>
              <a:rPr lang="en-US" dirty="0"/>
              <a:t>);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29B2EA-A9AC-9A4B-BA94-8E909A5505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7812" y="3334008"/>
            <a:ext cx="5204188" cy="1287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B45AE1B-D3F1-944B-9F0B-59503B233DC2}"/>
              </a:ext>
            </a:extLst>
          </p:cNvPr>
          <p:cNvCxnSpPr/>
          <p:nvPr/>
        </p:nvCxnSpPr>
        <p:spPr>
          <a:xfrm flipV="1">
            <a:off x="2730843" y="4201297"/>
            <a:ext cx="4256969" cy="630195"/>
          </a:xfrm>
          <a:prstGeom prst="straightConnector1">
            <a:avLst/>
          </a:prstGeom>
          <a:ln w="666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6503D6C-F9F3-904E-8C58-2E150FFC6BE4}"/>
              </a:ext>
            </a:extLst>
          </p:cNvPr>
          <p:cNvSpPr txBox="1"/>
          <p:nvPr/>
        </p:nvSpPr>
        <p:spPr>
          <a:xfrm>
            <a:off x="4541022" y="2463926"/>
            <a:ext cx="2143983" cy="64633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Mutual Exclusion</a:t>
            </a:r>
          </a:p>
          <a:p>
            <a:r>
              <a:rPr lang="en-US" dirty="0"/>
              <a:t>Pattern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B485FC-CCB4-2E4C-B423-4F537AC88FE3}"/>
              </a:ext>
            </a:extLst>
          </p:cNvPr>
          <p:cNvSpPr txBox="1"/>
          <p:nvPr/>
        </p:nvSpPr>
        <p:spPr>
          <a:xfrm>
            <a:off x="1749600" y="6121074"/>
            <a:ext cx="8568756" cy="646331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omp_msglk.c</a:t>
            </a:r>
            <a:r>
              <a:rPr lang="en-US" dirty="0"/>
              <a:t>  :  uses one form of </a:t>
            </a:r>
            <a:r>
              <a:rPr lang="en-US" dirty="0">
                <a:solidFill>
                  <a:srgbClr val="0070C0"/>
                </a:solidFill>
              </a:rPr>
              <a:t>mutual exclusion </a:t>
            </a:r>
            <a:r>
              <a:rPr lang="en-US" dirty="0"/>
              <a:t>on the queues: locks</a:t>
            </a:r>
          </a:p>
          <a:p>
            <a:r>
              <a:rPr lang="en-US" dirty="0" err="1"/>
              <a:t>omp_msgps.c</a:t>
            </a:r>
            <a:r>
              <a:rPr lang="en-US" dirty="0"/>
              <a:t>:  uses another form of </a:t>
            </a:r>
            <a:r>
              <a:rPr lang="en-US" dirty="0">
                <a:solidFill>
                  <a:srgbClr val="0070C0"/>
                </a:solidFill>
              </a:rPr>
              <a:t>mutual exclusion </a:t>
            </a:r>
            <a:r>
              <a:rPr lang="en-US" dirty="0"/>
              <a:t>on the queues : critical sections</a:t>
            </a:r>
          </a:p>
        </p:txBody>
      </p:sp>
    </p:spTree>
    <p:extLst>
      <p:ext uri="{BB962C8B-B14F-4D97-AF65-F5344CB8AC3E}">
        <p14:creationId xmlns:p14="http://schemas.microsoft.com/office/powerpoint/2010/main" val="735118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Title 1">
            <a:extLst>
              <a:ext uri="{FF2B5EF4-FFF2-40B4-BE49-F238E27FC236}">
                <a16:creationId xmlns:a16="http://schemas.microsoft.com/office/drawing/2014/main" id="{E4BC6617-2E8B-4747-BE02-0F3CAB337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5189" y="109539"/>
            <a:ext cx="8281987" cy="708025"/>
          </a:xfrm>
        </p:spPr>
        <p:txBody>
          <a:bodyPr/>
          <a:lstStyle/>
          <a:p>
            <a:r>
              <a:rPr lang="en-US" altLang="en-US"/>
              <a:t>The Atomic Directive (1)</a:t>
            </a:r>
          </a:p>
        </p:txBody>
      </p:sp>
      <p:sp>
        <p:nvSpPr>
          <p:cNvPr id="98306" name="Content Placeholder 2">
            <a:extLst>
              <a:ext uri="{FF2B5EF4-FFF2-40B4-BE49-F238E27FC236}">
                <a16:creationId xmlns:a16="http://schemas.microsoft.com/office/drawing/2014/main" id="{47E197DE-5DB6-814C-BAA5-7A3C960894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Unlike the critical directive, it can only protect critical sections that consist of a single C assignment statement. </a:t>
            </a:r>
            <a:br>
              <a:rPr lang="en-US" altLang="en-US"/>
            </a:br>
            <a:endParaRPr lang="en-US" altLang="en-US"/>
          </a:p>
          <a:p>
            <a:r>
              <a:rPr lang="en-US" altLang="en-US"/>
              <a:t>Further, the statement must have one of the following forms: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23B0FE-DFDF-B04B-86FB-5DED003CC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  <p:pic>
        <p:nvPicPr>
          <p:cNvPr id="98308" name="Picture 2">
            <a:extLst>
              <a:ext uri="{FF2B5EF4-FFF2-40B4-BE49-F238E27FC236}">
                <a16:creationId xmlns:a16="http://schemas.microsoft.com/office/drawing/2014/main" id="{EDC55671-4F0B-1642-B30D-1EA948D11C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3979" y="1611227"/>
            <a:ext cx="3952875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8309" name="Picture 3">
            <a:extLst>
              <a:ext uri="{FF2B5EF4-FFF2-40B4-BE49-F238E27FC236}">
                <a16:creationId xmlns:a16="http://schemas.microsoft.com/office/drawing/2014/main" id="{A8FC546D-A1F4-A44F-954F-07D5F18113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9890" y="2884069"/>
            <a:ext cx="3743325" cy="187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457778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Title 1">
            <a:extLst>
              <a:ext uri="{FF2B5EF4-FFF2-40B4-BE49-F238E27FC236}">
                <a16:creationId xmlns:a16="http://schemas.microsoft.com/office/drawing/2014/main" id="{2F99F854-7868-B24D-B50E-EADC93C3C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Atomic Directive (2)</a:t>
            </a:r>
          </a:p>
        </p:txBody>
      </p:sp>
      <p:sp>
        <p:nvSpPr>
          <p:cNvPr id="99330" name="Content Placeholder 2">
            <a:extLst>
              <a:ext uri="{FF2B5EF4-FFF2-40B4-BE49-F238E27FC236}">
                <a16:creationId xmlns:a16="http://schemas.microsoft.com/office/drawing/2014/main" id="{416BD34D-9D62-B442-938B-F628814C5D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en-US" sz="3000"/>
              <a:t>Here &lt;op&gt; can be one of the binary operators</a:t>
            </a:r>
            <a:br>
              <a:rPr lang="en-US" altLang="en-US" sz="3000"/>
            </a:br>
            <a:br>
              <a:rPr lang="en-US" altLang="en-US" sz="3000"/>
            </a:br>
            <a:endParaRPr lang="en-US" altLang="en-US" sz="3000"/>
          </a:p>
          <a:p>
            <a:r>
              <a:rPr lang="en-US" altLang="en-US" sz="3000"/>
              <a:t>Many processors provide a special load-modify-store instruction.</a:t>
            </a:r>
          </a:p>
          <a:p>
            <a:r>
              <a:rPr lang="en-US" altLang="en-US" sz="3000"/>
              <a:t>A critical section that only does a load-modify-store can be protected much more efficiently by using this special instruction rather than the constructs that are used to protect more general critical sections.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3CAB23-BC9C-BC45-8C67-236D98232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  <p:pic>
        <p:nvPicPr>
          <p:cNvPr id="99332" name="Picture 2">
            <a:extLst>
              <a:ext uri="{FF2B5EF4-FFF2-40B4-BE49-F238E27FC236}">
                <a16:creationId xmlns:a16="http://schemas.microsoft.com/office/drawing/2014/main" id="{C75C2577-E177-D541-8532-9446F101D5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3564" y="1614311"/>
            <a:ext cx="5934075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262033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0FAD8-9BC4-F54F-8247-FD4053907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386" y="93195"/>
            <a:ext cx="11404613" cy="667591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Example ‘test’ program:  all threads sending messages concurrently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92E871-A41E-734B-B727-BB4968FE2E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7387" y="760786"/>
            <a:ext cx="10493183" cy="5345274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for (</a:t>
            </a:r>
            <a:r>
              <a:rPr lang="en-US" dirty="0" err="1"/>
              <a:t>msg_number</a:t>
            </a:r>
            <a:r>
              <a:rPr lang="en-US" dirty="0"/>
              <a:t> = 0; </a:t>
            </a:r>
            <a:r>
              <a:rPr lang="en-US" dirty="0" err="1"/>
              <a:t>msg_number</a:t>
            </a:r>
            <a:r>
              <a:rPr lang="en-US" dirty="0"/>
              <a:t> &lt; </a:t>
            </a:r>
            <a:r>
              <a:rPr lang="en-US" dirty="0" err="1"/>
              <a:t>send_max</a:t>
            </a:r>
            <a:r>
              <a:rPr lang="en-US" dirty="0"/>
              <a:t>; </a:t>
            </a:r>
            <a:r>
              <a:rPr lang="en-US" dirty="0" err="1"/>
              <a:t>msg_number</a:t>
            </a:r>
            <a:r>
              <a:rPr lang="en-US" dirty="0"/>
              <a:t>++)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       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Send_msg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(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msg_queues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,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my_rank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,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thread_count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,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msg_number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        </a:t>
            </a:r>
            <a:r>
              <a:rPr lang="en-US" dirty="0" err="1"/>
              <a:t>Try_receive</a:t>
            </a:r>
            <a:r>
              <a:rPr lang="en-US" dirty="0"/>
              <a:t>(</a:t>
            </a:r>
            <a:r>
              <a:rPr lang="en-US" dirty="0" err="1"/>
              <a:t>msg_queues</a:t>
            </a:r>
            <a:r>
              <a:rPr lang="en-US" dirty="0"/>
              <a:t>[</a:t>
            </a:r>
            <a:r>
              <a:rPr lang="en-US" dirty="0" err="1"/>
              <a:t>my_rank</a:t>
            </a:r>
            <a:r>
              <a:rPr lang="en-US" dirty="0"/>
              <a:t>], </a:t>
            </a:r>
            <a:r>
              <a:rPr lang="en-US" dirty="0" err="1"/>
              <a:t>my_rank</a:t>
            </a:r>
            <a:r>
              <a:rPr lang="en-US" dirty="0"/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   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#     pragma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omp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atomic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     </a:t>
            </a:r>
            <a:r>
              <a:rPr lang="en-US" dirty="0" err="1"/>
              <a:t>done_sending</a:t>
            </a:r>
            <a:r>
              <a:rPr lang="en-US" dirty="0"/>
              <a:t>++;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#     ifdef DEBUG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     </a:t>
            </a:r>
            <a:r>
              <a:rPr lang="en-US" dirty="0" err="1"/>
              <a:t>printf</a:t>
            </a:r>
            <a:r>
              <a:rPr lang="en-US" dirty="0"/>
              <a:t>("Thread %d &gt; done sending\n", </a:t>
            </a:r>
            <a:r>
              <a:rPr lang="en-US" dirty="0" err="1"/>
              <a:t>my_rank</a:t>
            </a:r>
            <a:r>
              <a:rPr lang="en-US" dirty="0"/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#     endif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     while (!Done(</a:t>
            </a:r>
            <a:r>
              <a:rPr lang="en-US" dirty="0" err="1"/>
              <a:t>msg_queues</a:t>
            </a:r>
            <a:r>
              <a:rPr lang="en-US" dirty="0"/>
              <a:t>[</a:t>
            </a:r>
            <a:r>
              <a:rPr lang="en-US" dirty="0" err="1"/>
              <a:t>my_rank</a:t>
            </a:r>
            <a:r>
              <a:rPr lang="en-US" dirty="0"/>
              <a:t>], </a:t>
            </a:r>
            <a:r>
              <a:rPr lang="en-US" dirty="0" err="1"/>
              <a:t>done_sending</a:t>
            </a:r>
            <a:r>
              <a:rPr lang="en-US" dirty="0"/>
              <a:t>, </a:t>
            </a:r>
            <a:r>
              <a:rPr lang="en-US" dirty="0" err="1"/>
              <a:t>thread_count</a:t>
            </a:r>
            <a:r>
              <a:rPr lang="en-US" dirty="0"/>
              <a:t>))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        </a:t>
            </a:r>
            <a:r>
              <a:rPr lang="en-US" dirty="0" err="1"/>
              <a:t>Try_receive</a:t>
            </a:r>
            <a:r>
              <a:rPr lang="en-US" dirty="0"/>
              <a:t>(</a:t>
            </a:r>
            <a:r>
              <a:rPr lang="en-US" dirty="0" err="1"/>
              <a:t>msg_queues</a:t>
            </a:r>
            <a:r>
              <a:rPr lang="en-US" dirty="0"/>
              <a:t>[</a:t>
            </a:r>
            <a:r>
              <a:rPr lang="en-US" dirty="0" err="1"/>
              <a:t>my_rank</a:t>
            </a:r>
            <a:r>
              <a:rPr lang="en-US" dirty="0"/>
              <a:t>], </a:t>
            </a:r>
            <a:r>
              <a:rPr lang="en-US" dirty="0" err="1"/>
              <a:t>my_rank</a:t>
            </a:r>
            <a:r>
              <a:rPr lang="en-US" dirty="0"/>
              <a:t>);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29B2EA-A9AC-9A4B-BA94-8E909A5505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7812" y="3334008"/>
            <a:ext cx="5204188" cy="1287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B45AE1B-D3F1-944B-9F0B-59503B233DC2}"/>
              </a:ext>
            </a:extLst>
          </p:cNvPr>
          <p:cNvCxnSpPr/>
          <p:nvPr/>
        </p:nvCxnSpPr>
        <p:spPr>
          <a:xfrm flipV="1">
            <a:off x="2730843" y="4201297"/>
            <a:ext cx="4256969" cy="630195"/>
          </a:xfrm>
          <a:prstGeom prst="straightConnector1">
            <a:avLst/>
          </a:prstGeom>
          <a:ln w="666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97814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0FAD8-9BC4-F54F-8247-FD4053907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sending messages using critical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92E871-A41E-734B-B727-BB4968FE2E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3378" y="1020278"/>
            <a:ext cx="10493183" cy="5345274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void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Send_msg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(struct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queue_s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*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msg_queues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[],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int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my_rank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,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    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int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thread_count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,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int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msg_number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)</a:t>
            </a:r>
            <a:r>
              <a:rPr lang="en-US" dirty="0"/>
              <a:t>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//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mesg</a:t>
            </a:r>
            <a:r>
              <a:rPr lang="en-US" dirty="0"/>
              <a:t> = random() % MAX_MSG;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 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mesg</a:t>
            </a:r>
            <a:r>
              <a:rPr lang="en-US" dirty="0"/>
              <a:t> = -</a:t>
            </a:r>
            <a:r>
              <a:rPr lang="en-US" dirty="0" err="1"/>
              <a:t>msg_number</a:t>
            </a:r>
            <a:r>
              <a:rPr lang="en-US" dirty="0"/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 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dest</a:t>
            </a:r>
            <a:r>
              <a:rPr lang="en-US" dirty="0"/>
              <a:t> = random() % </a:t>
            </a:r>
            <a:r>
              <a:rPr lang="en-US" dirty="0" err="1"/>
              <a:t>thread_count</a:t>
            </a:r>
            <a:r>
              <a:rPr lang="en-US" dirty="0"/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#  pragma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omp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critical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  Enqueue(</a:t>
            </a:r>
            <a:r>
              <a:rPr lang="en-US" dirty="0" err="1"/>
              <a:t>msg_queues</a:t>
            </a:r>
            <a:r>
              <a:rPr lang="en-US" dirty="0"/>
              <a:t>[</a:t>
            </a:r>
            <a:r>
              <a:rPr lang="en-US" dirty="0" err="1"/>
              <a:t>dest</a:t>
            </a:r>
            <a:r>
              <a:rPr lang="en-US" dirty="0"/>
              <a:t>], </a:t>
            </a:r>
            <a:r>
              <a:rPr lang="en-US" dirty="0" err="1"/>
              <a:t>my_rank</a:t>
            </a:r>
            <a:r>
              <a:rPr lang="en-US" dirty="0"/>
              <a:t>, </a:t>
            </a:r>
            <a:r>
              <a:rPr lang="en-US" dirty="0" err="1"/>
              <a:t>mesg</a:t>
            </a:r>
            <a:r>
              <a:rPr lang="en-US" dirty="0"/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#  ifdef DEBUG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  </a:t>
            </a:r>
            <a:r>
              <a:rPr lang="en-US" dirty="0" err="1"/>
              <a:t>printf</a:t>
            </a:r>
            <a:r>
              <a:rPr lang="en-US" dirty="0"/>
              <a:t>("Thread %d &gt; sent %d to %d\n", </a:t>
            </a:r>
            <a:r>
              <a:rPr lang="en-US" dirty="0" err="1"/>
              <a:t>my_rank</a:t>
            </a:r>
            <a:r>
              <a:rPr lang="en-US" dirty="0"/>
              <a:t>, </a:t>
            </a:r>
            <a:r>
              <a:rPr lang="en-US" dirty="0" err="1"/>
              <a:t>mesg</a:t>
            </a:r>
            <a:r>
              <a:rPr lang="en-US" dirty="0"/>
              <a:t>, </a:t>
            </a:r>
            <a:r>
              <a:rPr lang="en-US" dirty="0" err="1"/>
              <a:t>dest</a:t>
            </a:r>
            <a:r>
              <a:rPr lang="en-US" dirty="0"/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#  endif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}  /* </a:t>
            </a:r>
            <a:r>
              <a:rPr lang="en-US" dirty="0" err="1"/>
              <a:t>Send_msg</a:t>
            </a:r>
            <a:r>
              <a:rPr lang="en-US" dirty="0"/>
              <a:t> */</a:t>
            </a:r>
          </a:p>
        </p:txBody>
      </p:sp>
    </p:spTree>
    <p:extLst>
      <p:ext uri="{BB962C8B-B14F-4D97-AF65-F5344CB8AC3E}">
        <p14:creationId xmlns:p14="http://schemas.microsoft.com/office/powerpoint/2010/main" val="32368700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Title 1">
            <a:extLst>
              <a:ext uri="{FF2B5EF4-FFF2-40B4-BE49-F238E27FC236}">
                <a16:creationId xmlns:a16="http://schemas.microsoft.com/office/drawing/2014/main" id="{F806401A-A94B-4C4E-BF31-997047236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5189" y="109539"/>
            <a:ext cx="8281987" cy="708025"/>
          </a:xfrm>
        </p:spPr>
        <p:txBody>
          <a:bodyPr/>
          <a:lstStyle/>
          <a:p>
            <a:r>
              <a:rPr lang="en-US" altLang="en-US"/>
              <a:t>Critical Sections</a:t>
            </a:r>
          </a:p>
        </p:txBody>
      </p:sp>
      <p:sp>
        <p:nvSpPr>
          <p:cNvPr id="100354" name="Content Placeholder 2">
            <a:extLst>
              <a:ext uri="{FF2B5EF4-FFF2-40B4-BE49-F238E27FC236}">
                <a16:creationId xmlns:a16="http://schemas.microsoft.com/office/drawing/2014/main" id="{CD9E91E8-B972-0748-B472-424D17BB7F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8214" y="1052513"/>
            <a:ext cx="8270875" cy="5111750"/>
          </a:xfrm>
        </p:spPr>
        <p:txBody>
          <a:bodyPr/>
          <a:lstStyle/>
          <a:p>
            <a:r>
              <a:rPr lang="en-US" altLang="en-US"/>
              <a:t>OpenMP provides the option of adding a name to a critical directive:</a:t>
            </a:r>
            <a:br>
              <a:rPr lang="en-US" altLang="en-US"/>
            </a:br>
            <a:br>
              <a:rPr lang="en-US" altLang="en-US"/>
            </a:br>
            <a:endParaRPr lang="en-US" altLang="en-US"/>
          </a:p>
          <a:p>
            <a:r>
              <a:rPr lang="en-US" altLang="en-US"/>
              <a:t>When we do this, two blocks protected with critical directives with different names can be executed simultaneously.</a:t>
            </a:r>
          </a:p>
          <a:p>
            <a:r>
              <a:rPr lang="en-US" altLang="en-US"/>
              <a:t>However, the names are set during compilation, and we want a different critical section for each thread’s queue.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CD84AF-6220-2648-8C3D-B20076355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  <p:pic>
        <p:nvPicPr>
          <p:cNvPr id="100356" name="Picture 2">
            <a:extLst>
              <a:ext uri="{FF2B5EF4-FFF2-40B4-BE49-F238E27FC236}">
                <a16:creationId xmlns:a16="http://schemas.microsoft.com/office/drawing/2014/main" id="{9508BACB-7F7C-8346-BAF7-4D88E6C539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5067" y="1596855"/>
            <a:ext cx="546735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564215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Title 1">
            <a:extLst>
              <a:ext uri="{FF2B5EF4-FFF2-40B4-BE49-F238E27FC236}">
                <a16:creationId xmlns:a16="http://schemas.microsoft.com/office/drawing/2014/main" id="{EA5BE110-3FCE-4941-B2D6-63DAD8BC3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Locks</a:t>
            </a:r>
          </a:p>
        </p:txBody>
      </p:sp>
      <p:sp>
        <p:nvSpPr>
          <p:cNvPr id="101378" name="Content Placeholder 2">
            <a:extLst>
              <a:ext uri="{FF2B5EF4-FFF2-40B4-BE49-F238E27FC236}">
                <a16:creationId xmlns:a16="http://schemas.microsoft.com/office/drawing/2014/main" id="{7E242F62-E13F-B34D-808B-8DFC77AEA2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A lock consists of a data structure and functions that allow the programmer to explicitly enforce mutual exclusion in a critical section.</a:t>
            </a:r>
          </a:p>
          <a:p>
            <a:endParaRPr lang="en-US" altLang="en-US" dirty="0"/>
          </a:p>
          <a:p>
            <a:r>
              <a:rPr lang="en-US" altLang="en-US" dirty="0"/>
              <a:t>OpenMP provides a </a:t>
            </a:r>
            <a:r>
              <a:rPr lang="en-US" altLang="en-US" b="1" i="1" dirty="0"/>
              <a:t>functional</a:t>
            </a:r>
            <a:r>
              <a:rPr lang="en-US" altLang="en-US" dirty="0"/>
              <a:t> mechanism for this as an alternative to the pragma construct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22223E-CC3B-C846-96BC-29BE9A499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  <p:pic>
        <p:nvPicPr>
          <p:cNvPr id="101380" name="Picture 2" descr="combination locks,households,locks,padlocks,securities">
            <a:extLst>
              <a:ext uri="{FF2B5EF4-FFF2-40B4-BE49-F238E27FC236}">
                <a16:creationId xmlns:a16="http://schemas.microsoft.com/office/drawing/2014/main" id="{1AF77B7E-A0C0-E24C-98DA-E823F0522C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379" y="4028345"/>
            <a:ext cx="2049421" cy="20494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757081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Title 1">
            <a:extLst>
              <a:ext uri="{FF2B5EF4-FFF2-40B4-BE49-F238E27FC236}">
                <a16:creationId xmlns:a16="http://schemas.microsoft.com/office/drawing/2014/main" id="{34462E02-9F9A-0540-94EB-B10737214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Locks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FD3313-6DAB-B143-8CAE-3715E3400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  <p:pic>
        <p:nvPicPr>
          <p:cNvPr id="102403" name="Picture 2">
            <a:extLst>
              <a:ext uri="{FF2B5EF4-FFF2-40B4-BE49-F238E27FC236}">
                <a16:creationId xmlns:a16="http://schemas.microsoft.com/office/drawing/2014/main" id="{EF68066E-B114-BB44-8E33-B4B442A70A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2314" y="1341439"/>
            <a:ext cx="8220075" cy="3805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588579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A5EC027-F72E-4241-872F-B21CFD52B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example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D25BD3-EBC3-594C-9275-9F3C84B7BF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03190" y="1198605"/>
            <a:ext cx="4794422" cy="4668795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#include &lt;</a:t>
            </a:r>
            <a:r>
              <a:rPr lang="en-US" dirty="0" err="1"/>
              <a:t>omp.h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 err="1"/>
              <a:t>lock_t</a:t>
            </a:r>
            <a:r>
              <a:rPr lang="en-US" dirty="0"/>
              <a:t> </a:t>
            </a:r>
            <a:r>
              <a:rPr lang="en-US" dirty="0" err="1"/>
              <a:t>myLock</a:t>
            </a:r>
            <a:r>
              <a:rPr lang="en-US" dirty="0"/>
              <a:t>; </a:t>
            </a:r>
          </a:p>
          <a:p>
            <a:pPr marL="0" indent="0">
              <a:buNone/>
            </a:pPr>
            <a:r>
              <a:rPr lang="en-US" dirty="0" err="1"/>
              <a:t>int</a:t>
            </a:r>
            <a:r>
              <a:rPr lang="en-US" dirty="0"/>
              <a:t> main(….) { </a:t>
            </a:r>
          </a:p>
          <a:p>
            <a:pPr marL="0" indent="0">
              <a:buNone/>
            </a:pPr>
            <a:r>
              <a:rPr lang="en-US" dirty="0"/>
              <a:t>(void) </a:t>
            </a:r>
            <a:r>
              <a:rPr lang="en-US" dirty="0" err="1"/>
              <a:t>omp_init_lock</a:t>
            </a:r>
            <a:r>
              <a:rPr lang="en-US" dirty="0"/>
              <a:t>(&amp;</a:t>
            </a:r>
            <a:r>
              <a:rPr lang="en-US" dirty="0" err="1"/>
              <a:t>myLock</a:t>
            </a:r>
            <a:r>
              <a:rPr lang="en-US" dirty="0"/>
              <a:t>); </a:t>
            </a:r>
          </a:p>
          <a:p>
            <a:pPr marL="0" indent="0">
              <a:buNone/>
            </a:pPr>
            <a:r>
              <a:rPr lang="en-US" dirty="0"/>
              <a:t>#pragma </a:t>
            </a:r>
            <a:r>
              <a:rPr lang="en-US" dirty="0" err="1"/>
              <a:t>omp</a:t>
            </a:r>
            <a:r>
              <a:rPr lang="en-US" dirty="0"/>
              <a:t> parallel </a:t>
            </a:r>
          </a:p>
          <a:p>
            <a:pPr marL="0" indent="0">
              <a:buNone/>
            </a:pPr>
            <a:r>
              <a:rPr lang="en-US" dirty="0"/>
              <a:t>{ </a:t>
            </a:r>
          </a:p>
          <a:p>
            <a:pPr marL="0" indent="0">
              <a:buNone/>
            </a:pPr>
            <a:r>
              <a:rPr lang="en-US" dirty="0"/>
              <a:t>(void)  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TheCookieJar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(); </a:t>
            </a:r>
          </a:p>
          <a:p>
            <a:pPr marL="0" indent="0">
              <a:buNone/>
            </a:pPr>
            <a:r>
              <a:rPr lang="en-US" dirty="0"/>
              <a:t>} // End of parallel region </a:t>
            </a:r>
          </a:p>
          <a:p>
            <a:pPr marL="0" indent="0">
              <a:buNone/>
            </a:pPr>
            <a:r>
              <a:rPr lang="en-US" dirty="0"/>
              <a:t>(void) </a:t>
            </a:r>
            <a:r>
              <a:rPr lang="en-US" dirty="0" err="1"/>
              <a:t>omp_destroy_lock</a:t>
            </a:r>
            <a:r>
              <a:rPr lang="en-US" dirty="0"/>
              <a:t>(&amp;</a:t>
            </a:r>
            <a:r>
              <a:rPr lang="en-US" dirty="0" err="1"/>
              <a:t>myLock</a:t>
            </a:r>
            <a:r>
              <a:rPr lang="en-US" dirty="0"/>
              <a:t>); }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99B1C0F-BE04-B040-9C72-B45E1621CC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45892" y="1198605"/>
            <a:ext cx="6153665" cy="4668795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void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TheCookieJar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() </a:t>
            </a:r>
            <a:r>
              <a:rPr lang="en-US" dirty="0"/>
              <a:t>{ </a:t>
            </a:r>
          </a:p>
          <a:p>
            <a:pPr marL="0" indent="0">
              <a:buNone/>
            </a:pPr>
            <a:r>
              <a:rPr lang="en-US" dirty="0"/>
              <a:t>(void) </a:t>
            </a:r>
            <a:r>
              <a:rPr lang="en-US" dirty="0" err="1"/>
              <a:t>omp_set_lock</a:t>
            </a:r>
            <a:r>
              <a:rPr lang="en-US" dirty="0"/>
              <a:t>(&amp;</a:t>
            </a:r>
            <a:r>
              <a:rPr lang="en-US" dirty="0" err="1"/>
              <a:t>myLock</a:t>
            </a:r>
            <a:r>
              <a:rPr lang="en-US" dirty="0"/>
              <a:t>); // acquire lock </a:t>
            </a:r>
          </a:p>
          <a:p>
            <a:pPr marL="0" indent="0">
              <a:buNone/>
            </a:pPr>
            <a:r>
              <a:rPr lang="en-US" dirty="0"/>
              <a:t>(void) </a:t>
            </a:r>
            <a:r>
              <a:rPr lang="en-US" dirty="0" err="1"/>
              <a:t>grabMyFavouriteCookie</a:t>
            </a:r>
            <a:r>
              <a:rPr lang="en-US" dirty="0"/>
              <a:t>(); // get cookie </a:t>
            </a:r>
          </a:p>
          <a:p>
            <a:pPr marL="0" indent="0">
              <a:buNone/>
            </a:pPr>
            <a:r>
              <a:rPr lang="en-US" dirty="0"/>
              <a:t>(void) </a:t>
            </a:r>
            <a:r>
              <a:rPr lang="en-US" dirty="0" err="1"/>
              <a:t>omp_unset_lock</a:t>
            </a:r>
            <a:r>
              <a:rPr lang="en-US" dirty="0"/>
              <a:t>(&amp;</a:t>
            </a:r>
            <a:r>
              <a:rPr lang="en-US" dirty="0" err="1"/>
              <a:t>myLock</a:t>
            </a:r>
            <a:r>
              <a:rPr lang="en-US" dirty="0"/>
              <a:t>); // release lock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15308224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Title 1">
            <a:extLst>
              <a:ext uri="{FF2B5EF4-FFF2-40B4-BE49-F238E27FC236}">
                <a16:creationId xmlns:a16="http://schemas.microsoft.com/office/drawing/2014/main" id="{4AA53E5A-8A61-064D-A1BC-B2C013AE1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5189" y="1"/>
            <a:ext cx="8281987" cy="1323975"/>
          </a:xfrm>
        </p:spPr>
        <p:txBody>
          <a:bodyPr/>
          <a:lstStyle/>
          <a:p>
            <a:r>
              <a:rPr lang="en-US" altLang="en-US"/>
              <a:t>Using Locks in the Message-Passing Program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7120FA-848F-7147-B0C5-290BA8B69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  <p:pic>
        <p:nvPicPr>
          <p:cNvPr id="103427" name="Picture 2">
            <a:extLst>
              <a:ext uri="{FF2B5EF4-FFF2-40B4-BE49-F238E27FC236}">
                <a16:creationId xmlns:a16="http://schemas.microsoft.com/office/drawing/2014/main" id="{DD479EA7-3A34-0D4C-9D3B-BE4D73A780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751" y="1700213"/>
            <a:ext cx="6219825" cy="148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428" name="Picture 3">
            <a:extLst>
              <a:ext uri="{FF2B5EF4-FFF2-40B4-BE49-F238E27FC236}">
                <a16:creationId xmlns:a16="http://schemas.microsoft.com/office/drawing/2014/main" id="{328C4515-E423-8E4F-9159-27D4EA1BCA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414" y="3573463"/>
            <a:ext cx="5705475" cy="177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03429" name="Straight Connector 6">
            <a:extLst>
              <a:ext uri="{FF2B5EF4-FFF2-40B4-BE49-F238E27FC236}">
                <a16:creationId xmlns:a16="http://schemas.microsoft.com/office/drawing/2014/main" id="{B8EC82C1-C84A-884D-A0F9-8B02E2B7F8CE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 flipV="1">
            <a:off x="2063750" y="1628775"/>
            <a:ext cx="5545138" cy="1512888"/>
          </a:xfrm>
          <a:prstGeom prst="line">
            <a:avLst/>
          </a:prstGeom>
          <a:noFill/>
          <a:ln w="38100" algn="ctr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18262864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Title 1">
            <a:extLst>
              <a:ext uri="{FF2B5EF4-FFF2-40B4-BE49-F238E27FC236}">
                <a16:creationId xmlns:a16="http://schemas.microsoft.com/office/drawing/2014/main" id="{FEC2D7E8-E3E7-B942-8165-707FD74B9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5189" y="1"/>
            <a:ext cx="8281987" cy="1323975"/>
          </a:xfrm>
        </p:spPr>
        <p:txBody>
          <a:bodyPr/>
          <a:lstStyle/>
          <a:p>
            <a:r>
              <a:rPr lang="en-US" altLang="en-US"/>
              <a:t>Using Locks in the Message-Passing Program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0FBD1B-07FD-F54B-AACD-0403E4887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  <p:pic>
        <p:nvPicPr>
          <p:cNvPr id="104451" name="Picture 4">
            <a:extLst>
              <a:ext uri="{FF2B5EF4-FFF2-40B4-BE49-F238E27FC236}">
                <a16:creationId xmlns:a16="http://schemas.microsoft.com/office/drawing/2014/main" id="{C99F9EE5-81A5-3449-BECA-7CA56CD75E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5189" y="1773239"/>
            <a:ext cx="6751637" cy="140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04452" name="Straight Connector 4">
            <a:extLst>
              <a:ext uri="{FF2B5EF4-FFF2-40B4-BE49-F238E27FC236}">
                <a16:creationId xmlns:a16="http://schemas.microsoft.com/office/drawing/2014/main" id="{FAED2A43-CC21-3746-BB7D-A35277F3C26F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 flipV="1">
            <a:off x="2063750" y="1628775"/>
            <a:ext cx="5545138" cy="1512888"/>
          </a:xfrm>
          <a:prstGeom prst="line">
            <a:avLst/>
          </a:prstGeom>
          <a:noFill/>
          <a:ln w="38100" algn="ctr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104453" name="Picture 5">
            <a:extLst>
              <a:ext uri="{FF2B5EF4-FFF2-40B4-BE49-F238E27FC236}">
                <a16:creationId xmlns:a16="http://schemas.microsoft.com/office/drawing/2014/main" id="{20683D99-7309-A34B-AB11-03DEC3FBA2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8439" y="3573463"/>
            <a:ext cx="6238875" cy="179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129171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Title 1">
            <a:extLst>
              <a:ext uri="{FF2B5EF4-FFF2-40B4-BE49-F238E27FC236}">
                <a16:creationId xmlns:a16="http://schemas.microsoft.com/office/drawing/2014/main" id="{640C7268-1311-6645-9867-FCA398590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5189" y="109539"/>
            <a:ext cx="8281987" cy="708025"/>
          </a:xfrm>
        </p:spPr>
        <p:txBody>
          <a:bodyPr/>
          <a:lstStyle/>
          <a:p>
            <a:r>
              <a:rPr lang="en-US" altLang="en-US"/>
              <a:t>Some Caveats</a:t>
            </a:r>
          </a:p>
        </p:txBody>
      </p:sp>
      <p:sp>
        <p:nvSpPr>
          <p:cNvPr id="105474" name="Content Placeholder 2">
            <a:extLst>
              <a:ext uri="{FF2B5EF4-FFF2-40B4-BE49-F238E27FC236}">
                <a16:creationId xmlns:a16="http://schemas.microsoft.com/office/drawing/2014/main" id="{C991642A-20C2-7748-BED8-E3D12C9E3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SzPct val="100000"/>
              <a:buFont typeface="Arial" panose="020B0604020202020204" pitchFamily="34" charset="0"/>
              <a:buAutoNum type="arabicPeriod"/>
            </a:pPr>
            <a:r>
              <a:rPr lang="en-US" altLang="en-US"/>
              <a:t>You shouldn’t mix the different types of mutual exclusion for a single critical section.</a:t>
            </a:r>
          </a:p>
          <a:p>
            <a:pPr marL="514350" indent="-514350">
              <a:buSzPct val="100000"/>
              <a:buFont typeface="Arial" panose="020B0604020202020204" pitchFamily="34" charset="0"/>
              <a:buAutoNum type="arabicPeriod"/>
            </a:pPr>
            <a:r>
              <a:rPr lang="en-US" altLang="en-US"/>
              <a:t>There is no guarantee of fairness in mutual exclusion constructs.</a:t>
            </a:r>
          </a:p>
          <a:p>
            <a:pPr marL="514350" indent="-514350">
              <a:buSzPct val="100000"/>
              <a:buFont typeface="Arial" panose="020B0604020202020204" pitchFamily="34" charset="0"/>
              <a:buAutoNum type="arabicPeriod"/>
            </a:pPr>
            <a:r>
              <a:rPr lang="en-US" altLang="en-US"/>
              <a:t>It can be dangerous to “nest” mutual exclusion constructs.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2EADB8-E48B-2E49-A9BA-D22765862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10280579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7EA2B-7AF2-6344-B1C7-6B550FAF2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Locks vs. critical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8D47A8-6F0E-3846-8EE3-7E67FF15FD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3823" y="1099808"/>
            <a:ext cx="9601200" cy="3581400"/>
          </a:xfrm>
        </p:spPr>
        <p:txBody>
          <a:bodyPr/>
          <a:lstStyle/>
          <a:p>
            <a:r>
              <a:rPr lang="en-US" dirty="0"/>
              <a:t>critical focuses on the code section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locks are about the data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1EC480D3-8EDC-7F4A-A2FE-91D01F35D8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2942" y="1557004"/>
            <a:ext cx="6751637" cy="140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6BCB3754-3992-5F40-A68C-A9700B1D34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4926" y="3493905"/>
            <a:ext cx="6238875" cy="179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8D1852E-9ABD-2643-AFC6-0A4AF853B1EF}"/>
              </a:ext>
            </a:extLst>
          </p:cNvPr>
          <p:cNvSpPr txBox="1"/>
          <p:nvPr/>
        </p:nvSpPr>
        <p:spPr>
          <a:xfrm>
            <a:off x="2154926" y="5451999"/>
            <a:ext cx="75209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real implementation would place the locking inside the Dequeue function:</a:t>
            </a:r>
          </a:p>
          <a:p>
            <a:r>
              <a:rPr lang="en-US" dirty="0"/>
              <a:t>has potential of being more fine-grained (smaller amount of code is locked</a:t>
            </a:r>
          </a:p>
        </p:txBody>
      </p:sp>
    </p:spTree>
    <p:extLst>
      <p:ext uri="{BB962C8B-B14F-4D97-AF65-F5344CB8AC3E}">
        <p14:creationId xmlns:p14="http://schemas.microsoft.com/office/powerpoint/2010/main" val="24832003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6CCF5-5374-5C44-80ED-38D443AA5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Locks are subject to more errors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353636-0583-1343-AF0C-AC202068B1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forgetting to initialize lock variable</a:t>
            </a:r>
          </a:p>
          <a:p>
            <a:r>
              <a:rPr lang="en-US" sz="2800" dirty="0"/>
              <a:t>deadlock</a:t>
            </a:r>
          </a:p>
          <a:p>
            <a:r>
              <a:rPr lang="en-US" sz="2800" dirty="0"/>
              <a:t>unsetting a lock from another thread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907731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E9DAD-6337-9C4A-83DE-1BE2AC958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 try the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70580-A2F8-FB43-A6C4-512C51DED9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Work with a neighbor</a:t>
            </a:r>
          </a:p>
          <a:p>
            <a:endParaRPr lang="en-US" dirty="0"/>
          </a:p>
          <a:p>
            <a:r>
              <a:rPr lang="en-US" dirty="0"/>
              <a:t>shared/activities/</a:t>
            </a:r>
            <a:r>
              <a:rPr lang="en-US" dirty="0" err="1"/>
              <a:t>omp_msg</a:t>
            </a:r>
            <a:endParaRPr lang="en-US" dirty="0"/>
          </a:p>
          <a:p>
            <a:pPr lvl="1"/>
            <a:r>
              <a:rPr lang="en-US" dirty="0"/>
              <a:t>original </a:t>
            </a:r>
            <a:r>
              <a:rPr lang="en-US"/>
              <a:t>code:    examples</a:t>
            </a:r>
            <a:r>
              <a:rPr lang="en-US" dirty="0"/>
              <a:t>/Pacheco-</a:t>
            </a:r>
            <a:r>
              <a:rPr lang="en-US" dirty="0" err="1"/>
              <a:t>ipp</a:t>
            </a:r>
            <a:r>
              <a:rPr lang="en-US" dirty="0"/>
              <a:t>-source/ch5/</a:t>
            </a:r>
            <a:r>
              <a:rPr lang="en-US" dirty="0" err="1"/>
              <a:t>omp_msg</a:t>
            </a:r>
            <a:endParaRPr lang="en-US" dirty="0"/>
          </a:p>
          <a:p>
            <a:endParaRPr lang="en-US" dirty="0"/>
          </a:p>
          <a:p>
            <a:r>
              <a:rPr lang="en-US" dirty="0"/>
              <a:t>Note the two different implementations, which have different queue code files:</a:t>
            </a:r>
          </a:p>
          <a:p>
            <a:pPr lvl="1"/>
            <a:r>
              <a:rPr lang="en-US" dirty="0" err="1"/>
              <a:t>queue.c</a:t>
            </a:r>
            <a:r>
              <a:rPr lang="en-US" dirty="0"/>
              <a:t> and </a:t>
            </a:r>
            <a:r>
              <a:rPr lang="en-US" dirty="0" err="1"/>
              <a:t>queue.h</a:t>
            </a:r>
            <a:endParaRPr lang="en-US" dirty="0"/>
          </a:p>
          <a:p>
            <a:pPr lvl="1"/>
            <a:r>
              <a:rPr lang="en-US" dirty="0" err="1"/>
              <a:t>queue_lk.c</a:t>
            </a:r>
            <a:r>
              <a:rPr lang="en-US" dirty="0"/>
              <a:t> and </a:t>
            </a:r>
            <a:r>
              <a:rPr lang="en-US" dirty="0" err="1"/>
              <a:t>queue_lk.h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65939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0FAD8-9BC4-F54F-8247-FD4053907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‘test’ using </a:t>
            </a:r>
            <a:r>
              <a:rPr lang="en-US" i="1" dirty="0"/>
              <a:t>critical &amp; atomic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92E871-A41E-734B-B727-BB4968FE2E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3378" y="1020278"/>
            <a:ext cx="10493183" cy="5345274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/* File:    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omp_msgps.c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*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* Purpose:  Simulate message-passing using OpenMP.  Uses critical and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*           atomic directives to protect critical sections.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*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* Compile:  </a:t>
            </a:r>
            <a:r>
              <a:rPr lang="en-US" dirty="0" err="1"/>
              <a:t>gcc</a:t>
            </a:r>
            <a:r>
              <a:rPr lang="en-US" dirty="0"/>
              <a:t> -g -Wall -</a:t>
            </a:r>
            <a:r>
              <a:rPr lang="en-US" dirty="0" err="1"/>
              <a:t>fopenmp</a:t>
            </a:r>
            <a:r>
              <a:rPr lang="en-US" dirty="0"/>
              <a:t>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*                 -o </a:t>
            </a:r>
            <a:r>
              <a:rPr lang="en-US" dirty="0" err="1"/>
              <a:t>omp_msgps</a:t>
            </a:r>
            <a:r>
              <a:rPr lang="en-US" dirty="0"/>
              <a:t> </a:t>
            </a:r>
            <a:r>
              <a:rPr lang="en-US" dirty="0" err="1"/>
              <a:t>omp_msgps.c</a:t>
            </a:r>
            <a:r>
              <a:rPr lang="en-US" dirty="0"/>
              <a:t> </a:t>
            </a:r>
            <a:r>
              <a:rPr lang="en-US" dirty="0" err="1"/>
              <a:t>queue.c</a:t>
            </a:r>
            <a:endParaRPr lang="en-US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*           needs </a:t>
            </a:r>
            <a:r>
              <a:rPr lang="en-US" dirty="0" err="1"/>
              <a:t>queue.h</a:t>
            </a:r>
            <a:endParaRPr lang="en-US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* Usage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:    ./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omp_msgps</a:t>
            </a:r>
            <a:r>
              <a:rPr lang="en-US" dirty="0"/>
              <a:t> &lt;number of threads&gt; &lt;number of messages each thread sends&gt;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*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* Input:    None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* Output:   Source, destination and contents of each message received.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*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* Notes: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* 1.  DEBUG flag for more verbose output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*/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381612-6A71-144B-B3CF-95984D5AB1F8}"/>
              </a:ext>
            </a:extLst>
          </p:cNvPr>
          <p:cNvSpPr txBox="1"/>
          <p:nvPr/>
        </p:nvSpPr>
        <p:spPr>
          <a:xfrm>
            <a:off x="8271858" y="835612"/>
            <a:ext cx="22158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uses 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</a:rPr>
              <a:t>queue.c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/h</a:t>
            </a:r>
          </a:p>
        </p:txBody>
      </p:sp>
    </p:spTree>
    <p:extLst>
      <p:ext uri="{BB962C8B-B14F-4D97-AF65-F5344CB8AC3E}">
        <p14:creationId xmlns:p14="http://schemas.microsoft.com/office/powerpoint/2010/main" val="8203270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0FAD8-9BC4-F54F-8247-FD4053907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3378" y="117909"/>
            <a:ext cx="10629107" cy="902369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 ‘test’ using </a:t>
            </a:r>
            <a:r>
              <a:rPr lang="en-US" i="1" dirty="0"/>
              <a:t>OpenMP locks &amp; atomic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92E871-A41E-734B-B727-BB4968FE2E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3378" y="792524"/>
            <a:ext cx="10505540" cy="5422926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/* File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:     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</a:rPr>
              <a:t>omp_msglk.c</a:t>
            </a:r>
            <a:endParaRPr lang="en-US" sz="2000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 *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 * Purpose:  Simulate message-passing using OpenMP.  This version uses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 *           an atomic directive and OpenMP locks to protect critical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 *           sections.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 *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 * Compile:  </a:t>
            </a:r>
            <a:r>
              <a:rPr lang="en-US" sz="2000" dirty="0" err="1"/>
              <a:t>gcc</a:t>
            </a:r>
            <a:r>
              <a:rPr lang="en-US" sz="2000" dirty="0"/>
              <a:t> -g -Wall -</a:t>
            </a:r>
            <a:r>
              <a:rPr lang="en-US" sz="2000" dirty="0" err="1"/>
              <a:t>fopenmp</a:t>
            </a:r>
            <a:r>
              <a:rPr lang="en-US" sz="2000" dirty="0"/>
              <a:t> -o </a:t>
            </a:r>
            <a:r>
              <a:rPr lang="en-US" sz="2000" dirty="0" err="1"/>
              <a:t>omp_msglk</a:t>
            </a:r>
            <a:r>
              <a:rPr lang="en-US" sz="2000" dirty="0"/>
              <a:t> </a:t>
            </a:r>
            <a:r>
              <a:rPr lang="en-US" sz="2000" dirty="0" err="1"/>
              <a:t>omp_msglk.c</a:t>
            </a:r>
            <a:r>
              <a:rPr lang="en-US" sz="2000" dirty="0"/>
              <a:t> </a:t>
            </a:r>
            <a:r>
              <a:rPr lang="en-US" sz="2000" dirty="0" err="1"/>
              <a:t>queue_lk.c</a:t>
            </a:r>
            <a:endParaRPr lang="en-US" sz="20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 *           needs </a:t>
            </a:r>
            <a:r>
              <a:rPr lang="en-US" sz="2000" dirty="0" err="1"/>
              <a:t>queue_lk.h</a:t>
            </a:r>
            <a:endParaRPr lang="en-US" sz="20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 * Usage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:    ./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</a:rPr>
              <a:t>omp_msglk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2000" dirty="0"/>
              <a:t>&lt;number of threads&gt; &lt;number of messages each thread sends&gt;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 *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 * Input:    None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 * Output:   Source, destination and contents of each message received.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 *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 *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 * Notes: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 * 1.  DEBUG flag for more verbose output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 * 2.  This version uses locks to control access to the message queues.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*/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FDD18A-BC66-154C-99F1-338BA8F98DD4}"/>
              </a:ext>
            </a:extLst>
          </p:cNvPr>
          <p:cNvSpPr txBox="1"/>
          <p:nvPr/>
        </p:nvSpPr>
        <p:spPr>
          <a:xfrm>
            <a:off x="8598932" y="794216"/>
            <a:ext cx="25962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uses 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</a:rPr>
              <a:t>queue_lk.c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/h</a:t>
            </a:r>
          </a:p>
        </p:txBody>
      </p:sp>
    </p:spTree>
    <p:extLst>
      <p:ext uri="{BB962C8B-B14F-4D97-AF65-F5344CB8AC3E}">
        <p14:creationId xmlns:p14="http://schemas.microsoft.com/office/powerpoint/2010/main" val="30176082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Title 4">
            <a:extLst>
              <a:ext uri="{FF2B5EF4-FFF2-40B4-BE49-F238E27FC236}">
                <a16:creationId xmlns:a16="http://schemas.microsoft.com/office/drawing/2014/main" id="{42F09BCB-299C-E84C-8A17-AE62636C3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5189" y="109539"/>
            <a:ext cx="8281987" cy="708025"/>
          </a:xfrm>
        </p:spPr>
        <p:txBody>
          <a:bodyPr/>
          <a:lstStyle/>
          <a:p>
            <a:r>
              <a:rPr lang="en-US" altLang="en-US"/>
              <a:t>Matrix-vector multiplication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D32D58-2A64-E845-9A71-3515E80C3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  <p:pic>
        <p:nvPicPr>
          <p:cNvPr id="106499" name="Picture 2">
            <a:extLst>
              <a:ext uri="{FF2B5EF4-FFF2-40B4-BE49-F238E27FC236}">
                <a16:creationId xmlns:a16="http://schemas.microsoft.com/office/drawing/2014/main" id="{20676676-9287-DC42-AAC8-60E76EEE8E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851" y="1628776"/>
            <a:ext cx="8513763" cy="2371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6500" name="Picture 3">
            <a:extLst>
              <a:ext uri="{FF2B5EF4-FFF2-40B4-BE49-F238E27FC236}">
                <a16:creationId xmlns:a16="http://schemas.microsoft.com/office/drawing/2014/main" id="{34599CA5-1002-1C4E-847C-5F4011B70E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1314" y="1196976"/>
            <a:ext cx="3800475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6501" name="Picture 4">
            <a:extLst>
              <a:ext uri="{FF2B5EF4-FFF2-40B4-BE49-F238E27FC236}">
                <a16:creationId xmlns:a16="http://schemas.microsoft.com/office/drawing/2014/main" id="{E77AC74D-2696-D04D-9EFE-84E9C64AEA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5050" y="4365625"/>
            <a:ext cx="3981450" cy="169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630280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Title 1">
            <a:extLst>
              <a:ext uri="{FF2B5EF4-FFF2-40B4-BE49-F238E27FC236}">
                <a16:creationId xmlns:a16="http://schemas.microsoft.com/office/drawing/2014/main" id="{6974EBD0-B38C-C84C-B0A5-34DFABF4E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Matrix-vector multiplication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DBC9E6-2919-354A-A95F-A47C54A00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  <p:pic>
        <p:nvPicPr>
          <p:cNvPr id="108547" name="Picture 2">
            <a:extLst>
              <a:ext uri="{FF2B5EF4-FFF2-40B4-BE49-F238E27FC236}">
                <a16:creationId xmlns:a16="http://schemas.microsoft.com/office/drawing/2014/main" id="{543C4667-43D3-CA4F-9BE4-E42DA62837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750" y="1484313"/>
            <a:ext cx="8085138" cy="2228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8548" name="Picture 3">
            <a:extLst>
              <a:ext uri="{FF2B5EF4-FFF2-40B4-BE49-F238E27FC236}">
                <a16:creationId xmlns:a16="http://schemas.microsoft.com/office/drawing/2014/main" id="{45D4235A-F8E1-F34D-A835-859E08BE9F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2314" y="3716338"/>
            <a:ext cx="6637337" cy="219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E9445D7-EBDF-E546-AE25-C08EA7CF22D5}"/>
              </a:ext>
            </a:extLst>
          </p:cNvPr>
          <p:cNvSpPr txBox="1"/>
          <p:nvPr/>
        </p:nvSpPr>
        <p:spPr>
          <a:xfrm>
            <a:off x="6959601" y="2636838"/>
            <a:ext cx="3085653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  <a:defRPr/>
            </a:pPr>
            <a:r>
              <a:rPr lang="en-US" dirty="0">
                <a:solidFill>
                  <a:srgbClr val="C00000"/>
                </a:solidFill>
              </a:rPr>
              <a:t>Run-times and efficiencies </a:t>
            </a:r>
            <a:br>
              <a:rPr lang="en-US" dirty="0">
                <a:solidFill>
                  <a:srgbClr val="C00000"/>
                </a:solidFill>
              </a:rPr>
            </a:br>
            <a:r>
              <a:rPr lang="en-US" dirty="0">
                <a:solidFill>
                  <a:srgbClr val="C00000"/>
                </a:solidFill>
              </a:rPr>
              <a:t>of matrix-vector multiplication </a:t>
            </a:r>
            <a:br>
              <a:rPr lang="en-US" dirty="0">
                <a:solidFill>
                  <a:srgbClr val="C00000"/>
                </a:solidFill>
              </a:rPr>
            </a:br>
            <a:r>
              <a:rPr lang="en-US" dirty="0">
                <a:solidFill>
                  <a:srgbClr val="C00000"/>
                </a:solidFill>
              </a:rPr>
              <a:t>(times are in seconds)</a:t>
            </a:r>
          </a:p>
        </p:txBody>
      </p:sp>
    </p:spTree>
    <p:extLst>
      <p:ext uri="{BB962C8B-B14F-4D97-AF65-F5344CB8AC3E}">
        <p14:creationId xmlns:p14="http://schemas.microsoft.com/office/powerpoint/2010/main" val="40939767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92A4AC-72CB-9C40-892D-1380646D9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  <p:pic>
        <p:nvPicPr>
          <p:cNvPr id="110594" name="Picture 2">
            <a:extLst>
              <a:ext uri="{FF2B5EF4-FFF2-40B4-BE49-F238E27FC236}">
                <a16:creationId xmlns:a16="http://schemas.microsoft.com/office/drawing/2014/main" id="{5D3E5FAC-253E-9147-A30A-E37D04F7F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8213" y="260350"/>
            <a:ext cx="7937500" cy="6008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0595" name="Rectangle 4">
            <a:extLst>
              <a:ext uri="{FF2B5EF4-FFF2-40B4-BE49-F238E27FC236}">
                <a16:creationId xmlns:a16="http://schemas.microsoft.com/office/drawing/2014/main" id="{97EF8964-6F76-CC43-A098-FF5C3B98AA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2626" y="260350"/>
            <a:ext cx="3344863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itchFamily="2" charset="2"/>
              <a:defRPr sz="3200">
                <a:solidFill>
                  <a:schemeClr val="tx1"/>
                </a:solidFill>
                <a:latin typeface="Arial Black" panose="020B0604020202020204" pitchFamily="34" charset="0"/>
              </a:defRPr>
            </a:lvl9pPr>
          </a:lstStyle>
          <a:p>
            <a:r>
              <a:rPr lang="en-US" altLang="en-US">
                <a:solidFill>
                  <a:srgbClr val="0066FF"/>
                </a:solidFill>
              </a:rPr>
              <a:t>Thread-Safety</a:t>
            </a:r>
          </a:p>
        </p:txBody>
      </p:sp>
    </p:spTree>
    <p:extLst>
      <p:ext uri="{BB962C8B-B14F-4D97-AF65-F5344CB8AC3E}">
        <p14:creationId xmlns:p14="http://schemas.microsoft.com/office/powerpoint/2010/main" val="22495629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Title 1">
            <a:extLst>
              <a:ext uri="{FF2B5EF4-FFF2-40B4-BE49-F238E27FC236}">
                <a16:creationId xmlns:a16="http://schemas.microsoft.com/office/drawing/2014/main" id="{14D81B06-8997-9A4D-ABC9-26C64A2D8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Concluding Remarks (1)</a:t>
            </a:r>
          </a:p>
        </p:txBody>
      </p:sp>
      <p:sp>
        <p:nvSpPr>
          <p:cNvPr id="112642" name="Content Placeholder 2">
            <a:extLst>
              <a:ext uri="{FF2B5EF4-FFF2-40B4-BE49-F238E27FC236}">
                <a16:creationId xmlns:a16="http://schemas.microsoft.com/office/drawing/2014/main" id="{A40FC85F-4D5E-3741-B87D-7A777B36A8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OpenMP is a standard for programming shared-memory systems.</a:t>
            </a:r>
          </a:p>
          <a:p>
            <a:r>
              <a:rPr lang="en-US" altLang="en-US"/>
              <a:t>OpenMP uses both special functions and preprocessor directives called pragmas.</a:t>
            </a:r>
          </a:p>
          <a:p>
            <a:r>
              <a:rPr lang="en-US" altLang="en-US"/>
              <a:t>OpenMP programs start multiple threads rather than multiple processes.</a:t>
            </a:r>
          </a:p>
          <a:p>
            <a:r>
              <a:rPr lang="en-US" altLang="en-US"/>
              <a:t>Many OpenMP directives can be modified by clauses.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F019C5-520F-5A47-AB77-1BD1116B0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336389285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5" name="Title 1">
            <a:extLst>
              <a:ext uri="{FF2B5EF4-FFF2-40B4-BE49-F238E27FC236}">
                <a16:creationId xmlns:a16="http://schemas.microsoft.com/office/drawing/2014/main" id="{70776AFE-EBB5-4F40-9FC6-1DC7917B5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Concluding Remarks (2)</a:t>
            </a:r>
          </a:p>
        </p:txBody>
      </p:sp>
      <p:sp>
        <p:nvSpPr>
          <p:cNvPr id="113666" name="Content Placeholder 2">
            <a:extLst>
              <a:ext uri="{FF2B5EF4-FFF2-40B4-BE49-F238E27FC236}">
                <a16:creationId xmlns:a16="http://schemas.microsoft.com/office/drawing/2014/main" id="{8554A604-4C9D-DB42-B31F-3A946E2EE0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A major problem in the development of shared memory programs is the possibility of race conditions.</a:t>
            </a:r>
          </a:p>
          <a:p>
            <a:r>
              <a:rPr lang="en-US" altLang="en-US"/>
              <a:t>OpenMP provides several mechanisms for insuring mutual exclusion in critical sections.</a:t>
            </a:r>
          </a:p>
          <a:p>
            <a:pPr lvl="1"/>
            <a:r>
              <a:rPr lang="en-US" altLang="en-US"/>
              <a:t>Critical directives</a:t>
            </a:r>
          </a:p>
          <a:p>
            <a:pPr lvl="1"/>
            <a:r>
              <a:rPr lang="en-US" altLang="en-US"/>
              <a:t>Named critical directives</a:t>
            </a:r>
          </a:p>
          <a:p>
            <a:pPr lvl="1"/>
            <a:r>
              <a:rPr lang="en-US" altLang="en-US"/>
              <a:t>Atomic directives</a:t>
            </a:r>
          </a:p>
          <a:p>
            <a:pPr lvl="1"/>
            <a:r>
              <a:rPr lang="en-US" altLang="en-US"/>
              <a:t>Simple locks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B3425F-244E-E145-9771-95DF5B871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345683479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89" name="Title 1">
            <a:extLst>
              <a:ext uri="{FF2B5EF4-FFF2-40B4-BE49-F238E27FC236}">
                <a16:creationId xmlns:a16="http://schemas.microsoft.com/office/drawing/2014/main" id="{A9DCB19C-AF51-2C47-A4CC-7ECC56621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Concluding Remarks (3)</a:t>
            </a:r>
          </a:p>
        </p:txBody>
      </p:sp>
      <p:sp>
        <p:nvSpPr>
          <p:cNvPr id="114690" name="Content Placeholder 2">
            <a:extLst>
              <a:ext uri="{FF2B5EF4-FFF2-40B4-BE49-F238E27FC236}">
                <a16:creationId xmlns:a16="http://schemas.microsoft.com/office/drawing/2014/main" id="{DA215ED1-A8B5-6845-9366-3E72C92643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By default most systems use a block-partitioning of the iterations in a parallelized for loop.</a:t>
            </a:r>
          </a:p>
          <a:p>
            <a:r>
              <a:rPr lang="en-US" altLang="en-US"/>
              <a:t>OpenMP offers a variety of scheduling options.</a:t>
            </a:r>
          </a:p>
          <a:p>
            <a:r>
              <a:rPr lang="en-US" altLang="en-US"/>
              <a:t>In OpenMP the scope of a variable is the collection of threads to which the variable is accessible.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267359-EAF6-644D-9A76-DFFF56C27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88983020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3" name="Title 1">
            <a:extLst>
              <a:ext uri="{FF2B5EF4-FFF2-40B4-BE49-F238E27FC236}">
                <a16:creationId xmlns:a16="http://schemas.microsoft.com/office/drawing/2014/main" id="{F6F2EB28-8BF0-A440-8E15-6AEC67C4E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Concluding Remarks (4)</a:t>
            </a:r>
          </a:p>
        </p:txBody>
      </p:sp>
      <p:sp>
        <p:nvSpPr>
          <p:cNvPr id="115714" name="Content Placeholder 2">
            <a:extLst>
              <a:ext uri="{FF2B5EF4-FFF2-40B4-BE49-F238E27FC236}">
                <a16:creationId xmlns:a16="http://schemas.microsoft.com/office/drawing/2014/main" id="{9D32C273-EAEA-5140-82BE-B146EA8AF1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A reduction is a computation that repeatedly applies the same reduction operator to a sequence of operands in order to get a single result.</a:t>
            </a:r>
          </a:p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4EEBC8-334A-C748-A4BF-8238B718D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Copyright © 2010, Elsevier Inc.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845808021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{51AF2A1B-6FF5-3A4F-8B89-6C86948116B9}tf10001072</Template>
  <TotalTime>342</TotalTime>
  <Words>2570</Words>
  <Application>Microsoft Macintosh PowerPoint</Application>
  <PresentationFormat>Widescreen</PresentationFormat>
  <Paragraphs>337</Paragraphs>
  <Slides>40</Slides>
  <Notes>3</Notes>
  <HiddenSlides>4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8" baseType="lpstr">
      <vt:lpstr>Arial</vt:lpstr>
      <vt:lpstr>Arial Black</vt:lpstr>
      <vt:lpstr>Calibri</vt:lpstr>
      <vt:lpstr>Courier</vt:lpstr>
      <vt:lpstr>Franklin Gothic Book</vt:lpstr>
      <vt:lpstr>Times New Roman</vt:lpstr>
      <vt:lpstr>Wingdings</vt:lpstr>
      <vt:lpstr>Crop</vt:lpstr>
      <vt:lpstr>Shared Queues and Message Passing in OpenMP</vt:lpstr>
      <vt:lpstr>Queues</vt:lpstr>
      <vt:lpstr>Message Passing</vt:lpstr>
      <vt:lpstr>Algorithmic Strategy: Pipeline</vt:lpstr>
      <vt:lpstr>Generic Producer-Consumer</vt:lpstr>
      <vt:lpstr>PowerPoint Presentation</vt:lpstr>
      <vt:lpstr>Message-Passing</vt:lpstr>
      <vt:lpstr>Message-Passing</vt:lpstr>
      <vt:lpstr>Message-Passing</vt:lpstr>
      <vt:lpstr>Message-Passing  “test” pseudocode</vt:lpstr>
      <vt:lpstr>Termination Detection [ Done() ]</vt:lpstr>
      <vt:lpstr>Sending Messages</vt:lpstr>
      <vt:lpstr>Receiving Messages</vt:lpstr>
      <vt:lpstr>Compare these operations</vt:lpstr>
      <vt:lpstr>Startup (1)</vt:lpstr>
      <vt:lpstr>Startup (2):  each thread creates its queue in parallel</vt:lpstr>
      <vt:lpstr>Example ‘test’ program:  all threads sending messages concurrently</vt:lpstr>
      <vt:lpstr>The Atomic Directive (1)</vt:lpstr>
      <vt:lpstr>The Atomic Directive (2)</vt:lpstr>
      <vt:lpstr>Example ‘test’ program:  all threads sending messages concurrently</vt:lpstr>
      <vt:lpstr>sending messages using critical</vt:lpstr>
      <vt:lpstr>Critical Sections</vt:lpstr>
      <vt:lpstr>Locks</vt:lpstr>
      <vt:lpstr>Locks</vt:lpstr>
      <vt:lpstr>Simple example</vt:lpstr>
      <vt:lpstr>Using Locks in the Message-Passing Program</vt:lpstr>
      <vt:lpstr>Using Locks in the Message-Passing Program</vt:lpstr>
      <vt:lpstr>Some Caveats</vt:lpstr>
      <vt:lpstr>Locks vs. critical</vt:lpstr>
      <vt:lpstr>Locks are subject to more errors</vt:lpstr>
      <vt:lpstr>You try the code</vt:lpstr>
      <vt:lpstr>Example ‘test’ using critical &amp; atomic</vt:lpstr>
      <vt:lpstr>Example ‘test’ using OpenMP locks &amp; atomic</vt:lpstr>
      <vt:lpstr>Matrix-vector multiplication</vt:lpstr>
      <vt:lpstr>Matrix-vector multiplication</vt:lpstr>
      <vt:lpstr>PowerPoint Presentation</vt:lpstr>
      <vt:lpstr>Concluding Remarks (1)</vt:lpstr>
      <vt:lpstr>Concluding Remarks (2)</vt:lpstr>
      <vt:lpstr>Concluding Remarks (3)</vt:lpstr>
      <vt:lpstr>Concluding Remarks (4)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Shared Queues and Message Passing in OpenMP</dc:title>
  <dc:creator>Microsoft Office User</dc:creator>
  <cp:lastModifiedBy>Libby Shoop</cp:lastModifiedBy>
  <cp:revision>42</cp:revision>
  <cp:lastPrinted>2019-02-14T20:11:11Z</cp:lastPrinted>
  <dcterms:created xsi:type="dcterms:W3CDTF">2019-02-14T16:17:39Z</dcterms:created>
  <dcterms:modified xsi:type="dcterms:W3CDTF">2020-02-13T20:46:43Z</dcterms:modified>
</cp:coreProperties>
</file>